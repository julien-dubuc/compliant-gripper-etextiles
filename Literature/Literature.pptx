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63"/>
  </p:notesMasterIdLst>
  <p:sldIdLst>
    <p:sldId id="305" r:id="rId5"/>
    <p:sldId id="332" r:id="rId6"/>
    <p:sldId id="341" r:id="rId7"/>
    <p:sldId id="346" r:id="rId8"/>
    <p:sldId id="338" r:id="rId9"/>
    <p:sldId id="347" r:id="rId10"/>
    <p:sldId id="348" r:id="rId11"/>
    <p:sldId id="354" r:id="rId12"/>
    <p:sldId id="349" r:id="rId13"/>
    <p:sldId id="355" r:id="rId14"/>
    <p:sldId id="350" r:id="rId15"/>
    <p:sldId id="351" r:id="rId16"/>
    <p:sldId id="352" r:id="rId17"/>
    <p:sldId id="353" r:id="rId18"/>
    <p:sldId id="344" r:id="rId19"/>
    <p:sldId id="356" r:id="rId20"/>
    <p:sldId id="357" r:id="rId21"/>
    <p:sldId id="337" r:id="rId22"/>
    <p:sldId id="264" r:id="rId23"/>
    <p:sldId id="358" r:id="rId24"/>
    <p:sldId id="360" r:id="rId25"/>
    <p:sldId id="361" r:id="rId26"/>
    <p:sldId id="362" r:id="rId27"/>
    <p:sldId id="359" r:id="rId28"/>
    <p:sldId id="311" r:id="rId29"/>
    <p:sldId id="312" r:id="rId30"/>
    <p:sldId id="313" r:id="rId31"/>
    <p:sldId id="314" r:id="rId32"/>
    <p:sldId id="315" r:id="rId33"/>
    <p:sldId id="316" r:id="rId34"/>
    <p:sldId id="317" r:id="rId35"/>
    <p:sldId id="318" r:id="rId36"/>
    <p:sldId id="319" r:id="rId37"/>
    <p:sldId id="320" r:id="rId38"/>
    <p:sldId id="321" r:id="rId39"/>
    <p:sldId id="322" r:id="rId40"/>
    <p:sldId id="323" r:id="rId41"/>
    <p:sldId id="324" r:id="rId42"/>
    <p:sldId id="325" r:id="rId43"/>
    <p:sldId id="326" r:id="rId44"/>
    <p:sldId id="327" r:id="rId45"/>
    <p:sldId id="328" r:id="rId46"/>
    <p:sldId id="329" r:id="rId47"/>
    <p:sldId id="330" r:id="rId48"/>
    <p:sldId id="333" r:id="rId49"/>
    <p:sldId id="363" r:id="rId50"/>
    <p:sldId id="364" r:id="rId51"/>
    <p:sldId id="365" r:id="rId52"/>
    <p:sldId id="331" r:id="rId53"/>
    <p:sldId id="334" r:id="rId54"/>
    <p:sldId id="335" r:id="rId55"/>
    <p:sldId id="336" r:id="rId56"/>
    <p:sldId id="339" r:id="rId57"/>
    <p:sldId id="340" r:id="rId58"/>
    <p:sldId id="342" r:id="rId59"/>
    <p:sldId id="343" r:id="rId60"/>
    <p:sldId id="345" r:id="rId61"/>
    <p:sldId id="310" r:id="rId6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884" userDrawn="1">
          <p15:clr>
            <a:srgbClr val="A4A3A4"/>
          </p15:clr>
        </p15:guide>
        <p15:guide id="2" pos="279" userDrawn="1">
          <p15:clr>
            <a:srgbClr val="A4A3A4"/>
          </p15:clr>
        </p15:guide>
        <p15:guide id="3" pos="7401"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80F2E"/>
    <a:srgbClr val="D62598"/>
    <a:srgbClr val="FFC72C"/>
    <a:srgbClr val="C8102E"/>
    <a:srgbClr val="5B6770"/>
    <a:srgbClr val="EBECEB"/>
    <a:srgbClr val="1D428B"/>
    <a:srgbClr val="EBEBEB"/>
    <a:srgbClr val="A2AAAD"/>
    <a:srgbClr val="FFEC9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326"/>
    <p:restoredTop sz="95118" autoAdjust="0"/>
  </p:normalViewPr>
  <p:slideViewPr>
    <p:cSldViewPr snapToGrid="0" snapToObjects="1" showGuides="1">
      <p:cViewPr varScale="1">
        <p:scale>
          <a:sx n="105" d="100"/>
          <a:sy n="105" d="100"/>
        </p:scale>
        <p:origin x="984" y="108"/>
      </p:cViewPr>
      <p:guideLst>
        <p:guide orient="horz" pos="3884"/>
        <p:guide pos="279"/>
        <p:guide pos="7401"/>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openxmlformats.org/officeDocument/2006/relationships/notesMaster" Target="notesMasters/notesMaster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theme" Target="theme/theme1.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presProps" Target="presProps.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tableStyles" Target="tableStyle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9C734F5-C09C-034F-8C87-E65835ED0371}" type="datetimeFigureOut">
              <a:rPr lang="en-US" smtClean="0"/>
              <a:t>7/27/2026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E682E16-648E-924D-810D-2A5C398EE405}" type="slidenum">
              <a:rPr lang="en-US" smtClean="0"/>
              <a:t>‹#›</a:t>
            </a:fld>
            <a:endParaRPr lang="en-US"/>
          </a:p>
        </p:txBody>
      </p:sp>
    </p:spTree>
    <p:extLst>
      <p:ext uri="{BB962C8B-B14F-4D97-AF65-F5344CB8AC3E}">
        <p14:creationId xmlns:p14="http://schemas.microsoft.com/office/powerpoint/2010/main" val="19917362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E682E16-648E-924D-810D-2A5C398EE405}" type="slidenum">
              <a:rPr lang="en-US" smtClean="0"/>
              <a:t>1</a:t>
            </a:fld>
            <a:endParaRPr lang="en-US"/>
          </a:p>
        </p:txBody>
      </p:sp>
    </p:spTree>
    <p:extLst>
      <p:ext uri="{BB962C8B-B14F-4D97-AF65-F5344CB8AC3E}">
        <p14:creationId xmlns:p14="http://schemas.microsoft.com/office/powerpoint/2010/main" val="309970823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E682E16-648E-924D-810D-2A5C398EE405}" type="slidenum">
              <a:rPr lang="en-US" smtClean="0"/>
              <a:t>58</a:t>
            </a:fld>
            <a:endParaRPr lang="en-US"/>
          </a:p>
        </p:txBody>
      </p:sp>
    </p:spTree>
    <p:extLst>
      <p:ext uri="{BB962C8B-B14F-4D97-AF65-F5344CB8AC3E}">
        <p14:creationId xmlns:p14="http://schemas.microsoft.com/office/powerpoint/2010/main" val="338128382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7.jpe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7.jpe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7.jpe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image" Target="../media/image1.jpeg"/><Relationship Id="rId1" Type="http://schemas.openxmlformats.org/officeDocument/2006/relationships/slideMaster" Target="../slideMasters/slideMaster1.xml"/><Relationship Id="rId6" Type="http://schemas.openxmlformats.org/officeDocument/2006/relationships/image" Target="../media/image4.png"/><Relationship Id="rId11" Type="http://schemas.openxmlformats.org/officeDocument/2006/relationships/image" Target="../media/image16.png"/><Relationship Id="rId5" Type="http://schemas.openxmlformats.org/officeDocument/2006/relationships/image" Target="../media/image3.png"/><Relationship Id="rId10" Type="http://schemas.openxmlformats.org/officeDocument/2006/relationships/image" Target="../media/image15.png"/><Relationship Id="rId4" Type="http://schemas.openxmlformats.org/officeDocument/2006/relationships/image" Target="../media/image2.png"/><Relationship Id="rId9" Type="http://schemas.openxmlformats.org/officeDocument/2006/relationships/image" Target="../media/image14.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blue">
    <p:spTree>
      <p:nvGrpSpPr>
        <p:cNvPr id="1" name=""/>
        <p:cNvGrpSpPr/>
        <p:nvPr/>
      </p:nvGrpSpPr>
      <p:grpSpPr>
        <a:xfrm>
          <a:off x="0" y="0"/>
          <a:ext cx="0" cy="0"/>
          <a:chOff x="0" y="0"/>
          <a:chExt cx="0" cy="0"/>
        </a:xfrm>
      </p:grpSpPr>
      <p:pic>
        <p:nvPicPr>
          <p:cNvPr id="13" name="External_background.jpg" descr="External_background.jpg">
            <a:extLst>
              <a:ext uri="{FF2B5EF4-FFF2-40B4-BE49-F238E27FC236}">
                <a16:creationId xmlns:a16="http://schemas.microsoft.com/office/drawing/2014/main" id="{1ACEB51D-E552-4F4F-815D-F9BA3D48EBE5}"/>
              </a:ext>
            </a:extLst>
          </p:cNvPr>
          <p:cNvPicPr>
            <a:picLocks noChangeAspect="1"/>
          </p:cNvPicPr>
          <p:nvPr userDrawn="1"/>
        </p:nvPicPr>
        <p:blipFill rotWithShape="1">
          <a:blip r:embed="rId2"/>
          <a:srcRect b="19565"/>
          <a:stretch/>
        </p:blipFill>
        <p:spPr>
          <a:xfrm>
            <a:off x="0" y="0"/>
            <a:ext cx="12192000" cy="5516218"/>
          </a:xfrm>
          <a:prstGeom prst="rect">
            <a:avLst/>
          </a:prstGeom>
          <a:ln w="12700">
            <a:miter lim="400000"/>
          </a:ln>
        </p:spPr>
      </p:pic>
      <p:sp>
        <p:nvSpPr>
          <p:cNvPr id="2" name="Title 1">
            <a:extLst>
              <a:ext uri="{FF2B5EF4-FFF2-40B4-BE49-F238E27FC236}">
                <a16:creationId xmlns:a16="http://schemas.microsoft.com/office/drawing/2014/main" id="{A449B12F-BE85-AE4C-93B3-49E88920C900}"/>
              </a:ext>
            </a:extLst>
          </p:cNvPr>
          <p:cNvSpPr>
            <a:spLocks noGrp="1"/>
          </p:cNvSpPr>
          <p:nvPr>
            <p:ph type="ctrTitle" hasCustomPrompt="1"/>
          </p:nvPr>
        </p:nvSpPr>
        <p:spPr>
          <a:xfrm>
            <a:off x="467091" y="1565564"/>
            <a:ext cx="10856635" cy="2202817"/>
          </a:xfrm>
        </p:spPr>
        <p:txBody>
          <a:bodyPr anchor="b">
            <a:normAutofit/>
          </a:bodyPr>
          <a:lstStyle>
            <a:lvl1pPr algn="l">
              <a:defRPr sz="3400">
                <a:solidFill>
                  <a:schemeClr val="bg1"/>
                </a:solidFill>
              </a:defRPr>
            </a:lvl1pPr>
          </a:lstStyle>
          <a:p>
            <a:r>
              <a:rPr lang="en-US" dirty="0"/>
              <a:t>Title slide for long titles</a:t>
            </a:r>
          </a:p>
        </p:txBody>
      </p:sp>
      <p:sp>
        <p:nvSpPr>
          <p:cNvPr id="3" name="Subtitle 2">
            <a:extLst>
              <a:ext uri="{FF2B5EF4-FFF2-40B4-BE49-F238E27FC236}">
                <a16:creationId xmlns:a16="http://schemas.microsoft.com/office/drawing/2014/main" id="{DB50A203-99BB-8245-A168-582F8C50E851}"/>
              </a:ext>
            </a:extLst>
          </p:cNvPr>
          <p:cNvSpPr>
            <a:spLocks noGrp="1"/>
          </p:cNvSpPr>
          <p:nvPr>
            <p:ph type="subTitle" idx="1" hasCustomPrompt="1"/>
          </p:nvPr>
        </p:nvSpPr>
        <p:spPr>
          <a:xfrm>
            <a:off x="467091" y="3860456"/>
            <a:ext cx="10856635" cy="1431980"/>
          </a:xfrm>
        </p:spPr>
        <p:txBody>
          <a:bodyPr>
            <a:norm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latin typeface="Calibri" panose="020F0502020204030204" pitchFamily="34" charset="0"/>
                <a:cs typeface="Calibri" panose="020F0502020204030204" pitchFamily="34" charset="0"/>
              </a:rPr>
              <a:t>Sub-heading</a:t>
            </a:r>
          </a:p>
        </p:txBody>
      </p:sp>
      <p:grpSp>
        <p:nvGrpSpPr>
          <p:cNvPr id="14" name="Group 13">
            <a:extLst>
              <a:ext uri="{FF2B5EF4-FFF2-40B4-BE49-F238E27FC236}">
                <a16:creationId xmlns:a16="http://schemas.microsoft.com/office/drawing/2014/main" id="{A242C8CB-47AA-5944-878D-0A9BB42B0148}"/>
              </a:ext>
            </a:extLst>
          </p:cNvPr>
          <p:cNvGrpSpPr/>
          <p:nvPr userDrawn="1"/>
        </p:nvGrpSpPr>
        <p:grpSpPr>
          <a:xfrm>
            <a:off x="7371732" y="5856270"/>
            <a:ext cx="4820268" cy="618382"/>
            <a:chOff x="7812442" y="7321127"/>
            <a:chExt cx="9899621" cy="1270001"/>
          </a:xfrm>
        </p:grpSpPr>
        <p:sp>
          <p:nvSpPr>
            <p:cNvPr id="15" name="Rectangle">
              <a:extLst>
                <a:ext uri="{FF2B5EF4-FFF2-40B4-BE49-F238E27FC236}">
                  <a16:creationId xmlns:a16="http://schemas.microsoft.com/office/drawing/2014/main" id="{68AAA108-70C2-6B40-9064-1253F12DD8D0}"/>
                </a:ext>
              </a:extLst>
            </p:cNvPr>
            <p:cNvSpPr/>
            <p:nvPr/>
          </p:nvSpPr>
          <p:spPr>
            <a:xfrm>
              <a:off x="7812442" y="7321127"/>
              <a:ext cx="9899621" cy="1270001"/>
            </a:xfrm>
            <a:prstGeom prst="rect">
              <a:avLst/>
            </a:prstGeom>
            <a:solidFill>
              <a:srgbClr val="FFFFFF"/>
            </a:solidFill>
            <a:ln w="12700">
              <a:miter lim="400000"/>
            </a:ln>
          </p:spPr>
          <p:txBody>
            <a:bodyPr lIns="71437" tIns="71437" rIns="71437" bIns="71437" anchor="ctr"/>
            <a:lstStyle/>
            <a:p>
              <a:pPr algn="ctr">
                <a:spcBef>
                  <a:spcPts val="0"/>
                </a:spcBef>
                <a:defRPr sz="3000">
                  <a:solidFill>
                    <a:srgbClr val="FFFFFF"/>
                  </a:solidFill>
                  <a:latin typeface="Helvetica Neue Medium"/>
                  <a:ea typeface="Helvetica Neue Medium"/>
                  <a:cs typeface="Helvetica Neue Medium"/>
                  <a:sym typeface="Helvetica Neue Medium"/>
                </a:defRPr>
              </a:pPr>
              <a:endParaRPr dirty="0"/>
            </a:p>
          </p:txBody>
        </p:sp>
        <p:pic>
          <p:nvPicPr>
            <p:cNvPr id="16" name="LogoESIF_Col_Landscape.png" descr="LogoESIF_Col_Landscape.png">
              <a:extLst>
                <a:ext uri="{FF2B5EF4-FFF2-40B4-BE49-F238E27FC236}">
                  <a16:creationId xmlns:a16="http://schemas.microsoft.com/office/drawing/2014/main" id="{09864050-CCC2-7F49-8CBF-88CB1D10DEB7}"/>
                </a:ext>
              </a:extLst>
            </p:cNvPr>
            <p:cNvPicPr>
              <a:picLocks noChangeAspect="1"/>
            </p:cNvPicPr>
            <p:nvPr/>
          </p:nvPicPr>
          <p:blipFill>
            <a:blip r:embed="rId3"/>
            <a:stretch>
              <a:fillRect/>
            </a:stretch>
          </p:blipFill>
          <p:spPr>
            <a:xfrm>
              <a:off x="13933383" y="7638102"/>
              <a:ext cx="2839675" cy="636051"/>
            </a:xfrm>
            <a:prstGeom prst="rect">
              <a:avLst/>
            </a:prstGeom>
            <a:ln w="12700">
              <a:miter lim="400000"/>
            </a:ln>
          </p:spPr>
        </p:pic>
        <p:pic>
          <p:nvPicPr>
            <p:cNvPr id="17" name="Irelands_EU_SIFP_2014_2020_CMYK_3-01.png" descr="Irelands_EU_SIFP_2014_2020_CMYK_3-01.png">
              <a:extLst>
                <a:ext uri="{FF2B5EF4-FFF2-40B4-BE49-F238E27FC236}">
                  <a16:creationId xmlns:a16="http://schemas.microsoft.com/office/drawing/2014/main" id="{E5DFC7C5-7D07-9441-B252-C48D3CCB46E8}"/>
                </a:ext>
              </a:extLst>
            </p:cNvPr>
            <p:cNvPicPr>
              <a:picLocks noChangeAspect="1"/>
            </p:cNvPicPr>
            <p:nvPr/>
          </p:nvPicPr>
          <p:blipFill>
            <a:blip r:embed="rId4"/>
            <a:stretch>
              <a:fillRect/>
            </a:stretch>
          </p:blipFill>
          <p:spPr>
            <a:xfrm>
              <a:off x="11503903" y="7632092"/>
              <a:ext cx="2074965" cy="648072"/>
            </a:xfrm>
            <a:prstGeom prst="rect">
              <a:avLst/>
            </a:prstGeom>
            <a:ln w="12700">
              <a:miter lim="400000"/>
            </a:ln>
          </p:spPr>
        </p:pic>
        <p:pic>
          <p:nvPicPr>
            <p:cNvPr id="18" name="project 2040.png" descr="project 2040.png">
              <a:extLst>
                <a:ext uri="{FF2B5EF4-FFF2-40B4-BE49-F238E27FC236}">
                  <a16:creationId xmlns:a16="http://schemas.microsoft.com/office/drawing/2014/main" id="{EEF22BB7-0F5F-3B40-A68F-2755C9A208C1}"/>
                </a:ext>
              </a:extLst>
            </p:cNvPr>
            <p:cNvPicPr>
              <a:picLocks noChangeAspect="1"/>
            </p:cNvPicPr>
            <p:nvPr/>
          </p:nvPicPr>
          <p:blipFill>
            <a:blip r:embed="rId5"/>
            <a:stretch>
              <a:fillRect/>
            </a:stretch>
          </p:blipFill>
          <p:spPr>
            <a:xfrm>
              <a:off x="7869525" y="7414385"/>
              <a:ext cx="3321117" cy="1083486"/>
            </a:xfrm>
            <a:prstGeom prst="rect">
              <a:avLst/>
            </a:prstGeom>
            <a:ln w="12700">
              <a:miter lim="400000"/>
            </a:ln>
          </p:spPr>
        </p:pic>
      </p:grpSp>
      <p:pic>
        <p:nvPicPr>
          <p:cNvPr id="19" name="UCC-LOGO.png" descr="UCC-LOGO.png">
            <a:extLst>
              <a:ext uri="{FF2B5EF4-FFF2-40B4-BE49-F238E27FC236}">
                <a16:creationId xmlns:a16="http://schemas.microsoft.com/office/drawing/2014/main" id="{98781A96-A5A7-9D45-A592-C39ACFC96CED}"/>
              </a:ext>
            </a:extLst>
          </p:cNvPr>
          <p:cNvPicPr>
            <a:picLocks noChangeAspect="1"/>
          </p:cNvPicPr>
          <p:nvPr userDrawn="1"/>
        </p:nvPicPr>
        <p:blipFill>
          <a:blip r:embed="rId6"/>
          <a:stretch>
            <a:fillRect/>
          </a:stretch>
        </p:blipFill>
        <p:spPr>
          <a:xfrm>
            <a:off x="467091" y="5959310"/>
            <a:ext cx="998577" cy="500091"/>
          </a:xfrm>
          <a:prstGeom prst="rect">
            <a:avLst/>
          </a:prstGeom>
          <a:ln w="12700">
            <a:miter lim="400000"/>
          </a:ln>
        </p:spPr>
      </p:pic>
      <p:sp>
        <p:nvSpPr>
          <p:cNvPr id="20" name="Rectangle 19">
            <a:extLst>
              <a:ext uri="{FF2B5EF4-FFF2-40B4-BE49-F238E27FC236}">
                <a16:creationId xmlns:a16="http://schemas.microsoft.com/office/drawing/2014/main" id="{1D8CA0B7-02C2-984A-84A6-A897BA095057}"/>
              </a:ext>
            </a:extLst>
          </p:cNvPr>
          <p:cNvSpPr/>
          <p:nvPr userDrawn="1"/>
        </p:nvSpPr>
        <p:spPr>
          <a:xfrm>
            <a:off x="299928" y="-1"/>
            <a:ext cx="2318052" cy="139372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v</a:t>
            </a:r>
          </a:p>
        </p:txBody>
      </p:sp>
      <p:pic>
        <p:nvPicPr>
          <p:cNvPr id="24" name="Tyndall-Logo-RGB.png" descr="Tyndall-Logo-RGB.png">
            <a:extLst>
              <a:ext uri="{FF2B5EF4-FFF2-40B4-BE49-F238E27FC236}">
                <a16:creationId xmlns:a16="http://schemas.microsoft.com/office/drawing/2014/main" id="{D605E1BE-4593-B04D-8B62-5E07014A1648}"/>
              </a:ext>
            </a:extLst>
          </p:cNvPr>
          <p:cNvPicPr>
            <a:picLocks noChangeAspect="1"/>
          </p:cNvPicPr>
          <p:nvPr userDrawn="1"/>
        </p:nvPicPr>
        <p:blipFill>
          <a:blip r:embed="rId7"/>
          <a:stretch>
            <a:fillRect/>
          </a:stretch>
        </p:blipFill>
        <p:spPr>
          <a:xfrm>
            <a:off x="405467" y="460233"/>
            <a:ext cx="2277469" cy="883318"/>
          </a:xfrm>
          <a:prstGeom prst="rect">
            <a:avLst/>
          </a:prstGeom>
          <a:ln w="12700">
            <a:miter lim="400000"/>
          </a:ln>
        </p:spPr>
      </p:pic>
    </p:spTree>
    <p:extLst>
      <p:ext uri="{BB962C8B-B14F-4D97-AF65-F5344CB8AC3E}">
        <p14:creationId xmlns:p14="http://schemas.microsoft.com/office/powerpoint/2010/main" val="38119365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Slide pink">
    <p:spTree>
      <p:nvGrpSpPr>
        <p:cNvPr id="1" name=""/>
        <p:cNvGrpSpPr/>
        <p:nvPr/>
      </p:nvGrpSpPr>
      <p:grpSpPr>
        <a:xfrm>
          <a:off x="0" y="0"/>
          <a:ext cx="0" cy="0"/>
          <a:chOff x="0" y="0"/>
          <a:chExt cx="0" cy="0"/>
        </a:xfrm>
      </p:grpSpPr>
      <p:pic>
        <p:nvPicPr>
          <p:cNvPr id="12" name="Background.jpg" descr="Background.jpg">
            <a:extLst>
              <a:ext uri="{FF2B5EF4-FFF2-40B4-BE49-F238E27FC236}">
                <a16:creationId xmlns:a16="http://schemas.microsoft.com/office/drawing/2014/main" id="{6A4D3049-7738-4E42-9C10-5A8B6BC1A0CF}"/>
              </a:ext>
            </a:extLst>
          </p:cNvPr>
          <p:cNvPicPr>
            <a:picLocks noChangeAspect="1"/>
          </p:cNvPicPr>
          <p:nvPr userDrawn="1"/>
        </p:nvPicPr>
        <p:blipFill rotWithShape="1">
          <a:blip r:embed="rId2"/>
          <a:srcRect b="19565"/>
          <a:stretch/>
        </p:blipFill>
        <p:spPr>
          <a:xfrm>
            <a:off x="0" y="-1"/>
            <a:ext cx="12192000" cy="5516218"/>
          </a:xfrm>
          <a:prstGeom prst="rect">
            <a:avLst/>
          </a:prstGeom>
          <a:ln w="12700">
            <a:miter lim="400000"/>
          </a:ln>
        </p:spPr>
      </p:pic>
      <p:sp>
        <p:nvSpPr>
          <p:cNvPr id="2" name="Title 1">
            <a:extLst>
              <a:ext uri="{FF2B5EF4-FFF2-40B4-BE49-F238E27FC236}">
                <a16:creationId xmlns:a16="http://schemas.microsoft.com/office/drawing/2014/main" id="{A449B12F-BE85-AE4C-93B3-49E88920C900}"/>
              </a:ext>
            </a:extLst>
          </p:cNvPr>
          <p:cNvSpPr>
            <a:spLocks noGrp="1"/>
          </p:cNvSpPr>
          <p:nvPr>
            <p:ph type="ctrTitle" hasCustomPrompt="1"/>
          </p:nvPr>
        </p:nvSpPr>
        <p:spPr>
          <a:xfrm>
            <a:off x="467091" y="1545139"/>
            <a:ext cx="10856635" cy="2223242"/>
          </a:xfrm>
        </p:spPr>
        <p:txBody>
          <a:bodyPr anchor="b">
            <a:normAutofit/>
          </a:bodyPr>
          <a:lstStyle>
            <a:lvl1pPr algn="l">
              <a:defRPr sz="3400">
                <a:solidFill>
                  <a:schemeClr val="bg1"/>
                </a:solidFill>
              </a:defRPr>
            </a:lvl1pPr>
          </a:lstStyle>
          <a:p>
            <a:r>
              <a:rPr lang="en-US" dirty="0"/>
              <a:t>Internal use only title slide for long titles</a:t>
            </a:r>
          </a:p>
        </p:txBody>
      </p:sp>
      <p:sp>
        <p:nvSpPr>
          <p:cNvPr id="3" name="Subtitle 2">
            <a:extLst>
              <a:ext uri="{FF2B5EF4-FFF2-40B4-BE49-F238E27FC236}">
                <a16:creationId xmlns:a16="http://schemas.microsoft.com/office/drawing/2014/main" id="{DB50A203-99BB-8245-A168-582F8C50E851}"/>
              </a:ext>
            </a:extLst>
          </p:cNvPr>
          <p:cNvSpPr>
            <a:spLocks noGrp="1"/>
          </p:cNvSpPr>
          <p:nvPr>
            <p:ph type="subTitle" idx="1" hasCustomPrompt="1"/>
          </p:nvPr>
        </p:nvSpPr>
        <p:spPr>
          <a:xfrm>
            <a:off x="467091" y="3860456"/>
            <a:ext cx="10856635" cy="1452405"/>
          </a:xfrm>
        </p:spPr>
        <p:txBody>
          <a:bodyPr>
            <a:norm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latin typeface="Calibri" panose="020F0502020204030204" pitchFamily="34" charset="0"/>
                <a:cs typeface="Calibri" panose="020F0502020204030204" pitchFamily="34" charset="0"/>
              </a:rPr>
              <a:t>Sub-heading</a:t>
            </a:r>
          </a:p>
        </p:txBody>
      </p:sp>
      <p:grpSp>
        <p:nvGrpSpPr>
          <p:cNvPr id="14" name="Group 13">
            <a:extLst>
              <a:ext uri="{FF2B5EF4-FFF2-40B4-BE49-F238E27FC236}">
                <a16:creationId xmlns:a16="http://schemas.microsoft.com/office/drawing/2014/main" id="{A242C8CB-47AA-5944-878D-0A9BB42B0148}"/>
              </a:ext>
            </a:extLst>
          </p:cNvPr>
          <p:cNvGrpSpPr/>
          <p:nvPr userDrawn="1"/>
        </p:nvGrpSpPr>
        <p:grpSpPr>
          <a:xfrm>
            <a:off x="7371732" y="5856270"/>
            <a:ext cx="4820268" cy="618382"/>
            <a:chOff x="7812442" y="7321127"/>
            <a:chExt cx="9899621" cy="1270001"/>
          </a:xfrm>
        </p:grpSpPr>
        <p:sp>
          <p:nvSpPr>
            <p:cNvPr id="15" name="Rectangle">
              <a:extLst>
                <a:ext uri="{FF2B5EF4-FFF2-40B4-BE49-F238E27FC236}">
                  <a16:creationId xmlns:a16="http://schemas.microsoft.com/office/drawing/2014/main" id="{68AAA108-70C2-6B40-9064-1253F12DD8D0}"/>
                </a:ext>
              </a:extLst>
            </p:cNvPr>
            <p:cNvSpPr/>
            <p:nvPr/>
          </p:nvSpPr>
          <p:spPr>
            <a:xfrm>
              <a:off x="7812442" y="7321127"/>
              <a:ext cx="9899621" cy="1270001"/>
            </a:xfrm>
            <a:prstGeom prst="rect">
              <a:avLst/>
            </a:prstGeom>
            <a:solidFill>
              <a:srgbClr val="FFFFFF"/>
            </a:solidFill>
            <a:ln w="12700">
              <a:miter lim="400000"/>
            </a:ln>
          </p:spPr>
          <p:txBody>
            <a:bodyPr lIns="71437" tIns="71437" rIns="71437" bIns="71437" anchor="ctr"/>
            <a:lstStyle/>
            <a:p>
              <a:pPr algn="ctr">
                <a:spcBef>
                  <a:spcPts val="0"/>
                </a:spcBef>
                <a:defRPr sz="3000">
                  <a:solidFill>
                    <a:srgbClr val="FFFFFF"/>
                  </a:solidFill>
                  <a:latin typeface="Helvetica Neue Medium"/>
                  <a:ea typeface="Helvetica Neue Medium"/>
                  <a:cs typeface="Helvetica Neue Medium"/>
                  <a:sym typeface="Helvetica Neue Medium"/>
                </a:defRPr>
              </a:pPr>
              <a:endParaRPr dirty="0"/>
            </a:p>
          </p:txBody>
        </p:sp>
        <p:pic>
          <p:nvPicPr>
            <p:cNvPr id="16" name="LogoESIF_Col_Landscape.png" descr="LogoESIF_Col_Landscape.png">
              <a:extLst>
                <a:ext uri="{FF2B5EF4-FFF2-40B4-BE49-F238E27FC236}">
                  <a16:creationId xmlns:a16="http://schemas.microsoft.com/office/drawing/2014/main" id="{09864050-CCC2-7F49-8CBF-88CB1D10DEB7}"/>
                </a:ext>
              </a:extLst>
            </p:cNvPr>
            <p:cNvPicPr>
              <a:picLocks noChangeAspect="1"/>
            </p:cNvPicPr>
            <p:nvPr/>
          </p:nvPicPr>
          <p:blipFill>
            <a:blip r:embed="rId3"/>
            <a:stretch>
              <a:fillRect/>
            </a:stretch>
          </p:blipFill>
          <p:spPr>
            <a:xfrm>
              <a:off x="13933383" y="7638102"/>
              <a:ext cx="2839675" cy="636051"/>
            </a:xfrm>
            <a:prstGeom prst="rect">
              <a:avLst/>
            </a:prstGeom>
            <a:ln w="12700">
              <a:miter lim="400000"/>
            </a:ln>
          </p:spPr>
        </p:pic>
        <p:pic>
          <p:nvPicPr>
            <p:cNvPr id="17" name="Irelands_EU_SIFP_2014_2020_CMYK_3-01.png" descr="Irelands_EU_SIFP_2014_2020_CMYK_3-01.png">
              <a:extLst>
                <a:ext uri="{FF2B5EF4-FFF2-40B4-BE49-F238E27FC236}">
                  <a16:creationId xmlns:a16="http://schemas.microsoft.com/office/drawing/2014/main" id="{E5DFC7C5-7D07-9441-B252-C48D3CCB46E8}"/>
                </a:ext>
              </a:extLst>
            </p:cNvPr>
            <p:cNvPicPr>
              <a:picLocks noChangeAspect="1"/>
            </p:cNvPicPr>
            <p:nvPr/>
          </p:nvPicPr>
          <p:blipFill>
            <a:blip r:embed="rId4"/>
            <a:stretch>
              <a:fillRect/>
            </a:stretch>
          </p:blipFill>
          <p:spPr>
            <a:xfrm>
              <a:off x="11503903" y="7632092"/>
              <a:ext cx="2074965" cy="648072"/>
            </a:xfrm>
            <a:prstGeom prst="rect">
              <a:avLst/>
            </a:prstGeom>
            <a:ln w="12700">
              <a:miter lim="400000"/>
            </a:ln>
          </p:spPr>
        </p:pic>
        <p:pic>
          <p:nvPicPr>
            <p:cNvPr id="18" name="project 2040.png" descr="project 2040.png">
              <a:extLst>
                <a:ext uri="{FF2B5EF4-FFF2-40B4-BE49-F238E27FC236}">
                  <a16:creationId xmlns:a16="http://schemas.microsoft.com/office/drawing/2014/main" id="{EEF22BB7-0F5F-3B40-A68F-2755C9A208C1}"/>
                </a:ext>
              </a:extLst>
            </p:cNvPr>
            <p:cNvPicPr>
              <a:picLocks noChangeAspect="1"/>
            </p:cNvPicPr>
            <p:nvPr/>
          </p:nvPicPr>
          <p:blipFill>
            <a:blip r:embed="rId5"/>
            <a:stretch>
              <a:fillRect/>
            </a:stretch>
          </p:blipFill>
          <p:spPr>
            <a:xfrm>
              <a:off x="7869525" y="7414385"/>
              <a:ext cx="3321117" cy="1083486"/>
            </a:xfrm>
            <a:prstGeom prst="rect">
              <a:avLst/>
            </a:prstGeom>
            <a:ln w="12700">
              <a:miter lim="400000"/>
            </a:ln>
          </p:spPr>
        </p:pic>
      </p:grpSp>
      <p:pic>
        <p:nvPicPr>
          <p:cNvPr id="13" name="UCC-LOGO.png" descr="UCC-LOGO.png">
            <a:extLst>
              <a:ext uri="{FF2B5EF4-FFF2-40B4-BE49-F238E27FC236}">
                <a16:creationId xmlns:a16="http://schemas.microsoft.com/office/drawing/2014/main" id="{C95DB139-0ED8-784A-B11D-FF3DEA6EBE3F}"/>
              </a:ext>
            </a:extLst>
          </p:cNvPr>
          <p:cNvPicPr>
            <a:picLocks noChangeAspect="1"/>
          </p:cNvPicPr>
          <p:nvPr userDrawn="1"/>
        </p:nvPicPr>
        <p:blipFill>
          <a:blip r:embed="rId6"/>
          <a:stretch>
            <a:fillRect/>
          </a:stretch>
        </p:blipFill>
        <p:spPr>
          <a:xfrm>
            <a:off x="467091" y="5959310"/>
            <a:ext cx="998577" cy="500091"/>
          </a:xfrm>
          <a:prstGeom prst="rect">
            <a:avLst/>
          </a:prstGeom>
          <a:ln w="12700">
            <a:miter lim="400000"/>
          </a:ln>
        </p:spPr>
      </p:pic>
      <p:sp>
        <p:nvSpPr>
          <p:cNvPr id="19" name="Rectangle 18">
            <a:extLst>
              <a:ext uri="{FF2B5EF4-FFF2-40B4-BE49-F238E27FC236}">
                <a16:creationId xmlns:a16="http://schemas.microsoft.com/office/drawing/2014/main" id="{BDB79E6E-09E6-6443-9F3C-76D446F344AD}"/>
              </a:ext>
            </a:extLst>
          </p:cNvPr>
          <p:cNvSpPr/>
          <p:nvPr userDrawn="1"/>
        </p:nvSpPr>
        <p:spPr>
          <a:xfrm>
            <a:off x="299928" y="-1"/>
            <a:ext cx="2318052" cy="139372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v</a:t>
            </a:r>
          </a:p>
        </p:txBody>
      </p:sp>
      <p:pic>
        <p:nvPicPr>
          <p:cNvPr id="20" name="Tyndall-Logo-RGB.png" descr="Tyndall-Logo-RGB.png">
            <a:extLst>
              <a:ext uri="{FF2B5EF4-FFF2-40B4-BE49-F238E27FC236}">
                <a16:creationId xmlns:a16="http://schemas.microsoft.com/office/drawing/2014/main" id="{420A3742-8376-6548-A166-BD396D88F21D}"/>
              </a:ext>
            </a:extLst>
          </p:cNvPr>
          <p:cNvPicPr>
            <a:picLocks noChangeAspect="1"/>
          </p:cNvPicPr>
          <p:nvPr userDrawn="1"/>
        </p:nvPicPr>
        <p:blipFill>
          <a:blip r:embed="rId7"/>
          <a:stretch>
            <a:fillRect/>
          </a:stretch>
        </p:blipFill>
        <p:spPr>
          <a:xfrm>
            <a:off x="405467" y="460233"/>
            <a:ext cx="2277469" cy="883318"/>
          </a:xfrm>
          <a:prstGeom prst="rect">
            <a:avLst/>
          </a:prstGeom>
          <a:ln w="12700">
            <a:miter lim="400000"/>
          </a:ln>
        </p:spPr>
      </p:pic>
    </p:spTree>
    <p:extLst>
      <p:ext uri="{BB962C8B-B14F-4D97-AF65-F5344CB8AC3E}">
        <p14:creationId xmlns:p14="http://schemas.microsoft.com/office/powerpoint/2010/main" val="223183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Title Slide whi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49B12F-BE85-AE4C-93B3-49E88920C900}"/>
              </a:ext>
            </a:extLst>
          </p:cNvPr>
          <p:cNvSpPr>
            <a:spLocks noGrp="1"/>
          </p:cNvSpPr>
          <p:nvPr>
            <p:ph type="ctrTitle" hasCustomPrompt="1"/>
          </p:nvPr>
        </p:nvSpPr>
        <p:spPr>
          <a:xfrm>
            <a:off x="467091" y="1380781"/>
            <a:ext cx="10856635" cy="2387600"/>
          </a:xfrm>
        </p:spPr>
        <p:txBody>
          <a:bodyPr anchor="b">
            <a:normAutofit/>
          </a:bodyPr>
          <a:lstStyle>
            <a:lvl1pPr algn="l">
              <a:defRPr sz="3400">
                <a:solidFill>
                  <a:srgbClr val="1D428B"/>
                </a:solidFill>
              </a:defRPr>
            </a:lvl1pPr>
          </a:lstStyle>
          <a:p>
            <a:r>
              <a:rPr lang="en-US" dirty="0"/>
              <a:t>Title slide for long titles</a:t>
            </a:r>
          </a:p>
        </p:txBody>
      </p:sp>
      <p:sp>
        <p:nvSpPr>
          <p:cNvPr id="3" name="Subtitle 2">
            <a:extLst>
              <a:ext uri="{FF2B5EF4-FFF2-40B4-BE49-F238E27FC236}">
                <a16:creationId xmlns:a16="http://schemas.microsoft.com/office/drawing/2014/main" id="{DB50A203-99BB-8245-A168-582F8C50E851}"/>
              </a:ext>
            </a:extLst>
          </p:cNvPr>
          <p:cNvSpPr>
            <a:spLocks noGrp="1"/>
          </p:cNvSpPr>
          <p:nvPr>
            <p:ph type="subTitle" idx="1" hasCustomPrompt="1"/>
          </p:nvPr>
        </p:nvSpPr>
        <p:spPr>
          <a:xfrm>
            <a:off x="467091" y="3860456"/>
            <a:ext cx="10856635" cy="1655762"/>
          </a:xfrm>
        </p:spPr>
        <p:txBody>
          <a:bodyPr>
            <a:normAutofit/>
          </a:bodyPr>
          <a:lstStyle>
            <a:lvl1pPr marL="0" indent="0" algn="l">
              <a:buNone/>
              <a:defRPr sz="2000">
                <a:solidFill>
                  <a:srgbClr val="5B6770"/>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latin typeface="Calibri" panose="020F0502020204030204" pitchFamily="34" charset="0"/>
                <a:cs typeface="Calibri" panose="020F0502020204030204" pitchFamily="34" charset="0"/>
              </a:rPr>
              <a:t>Sub-heading</a:t>
            </a:r>
          </a:p>
        </p:txBody>
      </p:sp>
      <p:grpSp>
        <p:nvGrpSpPr>
          <p:cNvPr id="14" name="Group 13">
            <a:extLst>
              <a:ext uri="{FF2B5EF4-FFF2-40B4-BE49-F238E27FC236}">
                <a16:creationId xmlns:a16="http://schemas.microsoft.com/office/drawing/2014/main" id="{A242C8CB-47AA-5944-878D-0A9BB42B0148}"/>
              </a:ext>
            </a:extLst>
          </p:cNvPr>
          <p:cNvGrpSpPr/>
          <p:nvPr userDrawn="1"/>
        </p:nvGrpSpPr>
        <p:grpSpPr>
          <a:xfrm>
            <a:off x="7371732" y="5856270"/>
            <a:ext cx="4820268" cy="618382"/>
            <a:chOff x="7812442" y="7321127"/>
            <a:chExt cx="9899621" cy="1270001"/>
          </a:xfrm>
        </p:grpSpPr>
        <p:sp>
          <p:nvSpPr>
            <p:cNvPr id="15" name="Rectangle">
              <a:extLst>
                <a:ext uri="{FF2B5EF4-FFF2-40B4-BE49-F238E27FC236}">
                  <a16:creationId xmlns:a16="http://schemas.microsoft.com/office/drawing/2014/main" id="{68AAA108-70C2-6B40-9064-1253F12DD8D0}"/>
                </a:ext>
              </a:extLst>
            </p:cNvPr>
            <p:cNvSpPr/>
            <p:nvPr/>
          </p:nvSpPr>
          <p:spPr>
            <a:xfrm>
              <a:off x="7812442" y="7321127"/>
              <a:ext cx="9899621" cy="1270001"/>
            </a:xfrm>
            <a:prstGeom prst="rect">
              <a:avLst/>
            </a:prstGeom>
            <a:solidFill>
              <a:srgbClr val="FFFFFF"/>
            </a:solidFill>
            <a:ln w="12700">
              <a:miter lim="400000"/>
            </a:ln>
          </p:spPr>
          <p:txBody>
            <a:bodyPr lIns="71437" tIns="71437" rIns="71437" bIns="71437" anchor="ctr"/>
            <a:lstStyle/>
            <a:p>
              <a:pPr algn="ctr">
                <a:spcBef>
                  <a:spcPts val="0"/>
                </a:spcBef>
                <a:defRPr sz="3000">
                  <a:solidFill>
                    <a:srgbClr val="FFFFFF"/>
                  </a:solidFill>
                  <a:latin typeface="Helvetica Neue Medium"/>
                  <a:ea typeface="Helvetica Neue Medium"/>
                  <a:cs typeface="Helvetica Neue Medium"/>
                  <a:sym typeface="Helvetica Neue Medium"/>
                </a:defRPr>
              </a:pPr>
              <a:endParaRPr dirty="0"/>
            </a:p>
          </p:txBody>
        </p:sp>
        <p:pic>
          <p:nvPicPr>
            <p:cNvPr id="16" name="LogoESIF_Col_Landscape.png" descr="LogoESIF_Col_Landscape.png">
              <a:extLst>
                <a:ext uri="{FF2B5EF4-FFF2-40B4-BE49-F238E27FC236}">
                  <a16:creationId xmlns:a16="http://schemas.microsoft.com/office/drawing/2014/main" id="{09864050-CCC2-7F49-8CBF-88CB1D10DEB7}"/>
                </a:ext>
              </a:extLst>
            </p:cNvPr>
            <p:cNvPicPr>
              <a:picLocks noChangeAspect="1"/>
            </p:cNvPicPr>
            <p:nvPr/>
          </p:nvPicPr>
          <p:blipFill>
            <a:blip r:embed="rId2"/>
            <a:stretch>
              <a:fillRect/>
            </a:stretch>
          </p:blipFill>
          <p:spPr>
            <a:xfrm>
              <a:off x="13933383" y="7638102"/>
              <a:ext cx="2839675" cy="636051"/>
            </a:xfrm>
            <a:prstGeom prst="rect">
              <a:avLst/>
            </a:prstGeom>
            <a:ln w="12700">
              <a:miter lim="400000"/>
            </a:ln>
          </p:spPr>
        </p:pic>
        <p:pic>
          <p:nvPicPr>
            <p:cNvPr id="17" name="Irelands_EU_SIFP_2014_2020_CMYK_3-01.png" descr="Irelands_EU_SIFP_2014_2020_CMYK_3-01.png">
              <a:extLst>
                <a:ext uri="{FF2B5EF4-FFF2-40B4-BE49-F238E27FC236}">
                  <a16:creationId xmlns:a16="http://schemas.microsoft.com/office/drawing/2014/main" id="{E5DFC7C5-7D07-9441-B252-C48D3CCB46E8}"/>
                </a:ext>
              </a:extLst>
            </p:cNvPr>
            <p:cNvPicPr>
              <a:picLocks noChangeAspect="1"/>
            </p:cNvPicPr>
            <p:nvPr/>
          </p:nvPicPr>
          <p:blipFill>
            <a:blip r:embed="rId3"/>
            <a:stretch>
              <a:fillRect/>
            </a:stretch>
          </p:blipFill>
          <p:spPr>
            <a:xfrm>
              <a:off x="11503903" y="7632092"/>
              <a:ext cx="2074965" cy="648072"/>
            </a:xfrm>
            <a:prstGeom prst="rect">
              <a:avLst/>
            </a:prstGeom>
            <a:ln w="12700">
              <a:miter lim="400000"/>
            </a:ln>
          </p:spPr>
        </p:pic>
        <p:pic>
          <p:nvPicPr>
            <p:cNvPr id="18" name="project 2040.png" descr="project 2040.png">
              <a:extLst>
                <a:ext uri="{FF2B5EF4-FFF2-40B4-BE49-F238E27FC236}">
                  <a16:creationId xmlns:a16="http://schemas.microsoft.com/office/drawing/2014/main" id="{EEF22BB7-0F5F-3B40-A68F-2755C9A208C1}"/>
                </a:ext>
              </a:extLst>
            </p:cNvPr>
            <p:cNvPicPr>
              <a:picLocks noChangeAspect="1"/>
            </p:cNvPicPr>
            <p:nvPr/>
          </p:nvPicPr>
          <p:blipFill>
            <a:blip r:embed="rId4"/>
            <a:stretch>
              <a:fillRect/>
            </a:stretch>
          </p:blipFill>
          <p:spPr>
            <a:xfrm>
              <a:off x="7869525" y="7414385"/>
              <a:ext cx="3321117" cy="1083486"/>
            </a:xfrm>
            <a:prstGeom prst="rect">
              <a:avLst/>
            </a:prstGeom>
            <a:ln w="12700">
              <a:miter lim="400000"/>
            </a:ln>
          </p:spPr>
        </p:pic>
      </p:grpSp>
      <p:pic>
        <p:nvPicPr>
          <p:cNvPr id="11" name="UCC-LOGO.png" descr="UCC-LOGO.png">
            <a:extLst>
              <a:ext uri="{FF2B5EF4-FFF2-40B4-BE49-F238E27FC236}">
                <a16:creationId xmlns:a16="http://schemas.microsoft.com/office/drawing/2014/main" id="{52CEE4B0-7E25-4142-8C62-9128E286F61E}"/>
              </a:ext>
            </a:extLst>
          </p:cNvPr>
          <p:cNvPicPr>
            <a:picLocks noChangeAspect="1"/>
          </p:cNvPicPr>
          <p:nvPr userDrawn="1"/>
        </p:nvPicPr>
        <p:blipFill>
          <a:blip r:embed="rId5"/>
          <a:stretch>
            <a:fillRect/>
          </a:stretch>
        </p:blipFill>
        <p:spPr>
          <a:xfrm>
            <a:off x="467091" y="5959310"/>
            <a:ext cx="998577" cy="500091"/>
          </a:xfrm>
          <a:prstGeom prst="rect">
            <a:avLst/>
          </a:prstGeom>
          <a:ln w="12700">
            <a:miter lim="400000"/>
          </a:ln>
        </p:spPr>
      </p:pic>
      <p:pic>
        <p:nvPicPr>
          <p:cNvPr id="19" name="Tyndall-Logo-RGB.png" descr="Tyndall-Logo-RGB.png">
            <a:extLst>
              <a:ext uri="{FF2B5EF4-FFF2-40B4-BE49-F238E27FC236}">
                <a16:creationId xmlns:a16="http://schemas.microsoft.com/office/drawing/2014/main" id="{DAEC9994-AE91-114A-805E-D1E5C02F91F5}"/>
              </a:ext>
            </a:extLst>
          </p:cNvPr>
          <p:cNvPicPr>
            <a:picLocks noChangeAspect="1"/>
          </p:cNvPicPr>
          <p:nvPr userDrawn="1"/>
        </p:nvPicPr>
        <p:blipFill>
          <a:blip r:embed="rId6"/>
          <a:stretch>
            <a:fillRect/>
          </a:stretch>
        </p:blipFill>
        <p:spPr>
          <a:xfrm>
            <a:off x="405467" y="460233"/>
            <a:ext cx="2277469" cy="883318"/>
          </a:xfrm>
          <a:prstGeom prst="rect">
            <a:avLst/>
          </a:prstGeom>
          <a:ln w="12700">
            <a:miter lim="400000"/>
          </a:ln>
        </p:spPr>
      </p:pic>
    </p:spTree>
    <p:extLst>
      <p:ext uri="{BB962C8B-B14F-4D97-AF65-F5344CB8AC3E}">
        <p14:creationId xmlns:p14="http://schemas.microsoft.com/office/powerpoint/2010/main" val="26186313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Slide blue with image">
    <p:spTree>
      <p:nvGrpSpPr>
        <p:cNvPr id="1" name=""/>
        <p:cNvGrpSpPr/>
        <p:nvPr/>
      </p:nvGrpSpPr>
      <p:grpSpPr>
        <a:xfrm>
          <a:off x="0" y="0"/>
          <a:ext cx="0" cy="0"/>
          <a:chOff x="0" y="0"/>
          <a:chExt cx="0" cy="0"/>
        </a:xfrm>
      </p:grpSpPr>
      <p:pic>
        <p:nvPicPr>
          <p:cNvPr id="7" name="External_background.jpg" descr="External_background.jpg">
            <a:extLst>
              <a:ext uri="{FF2B5EF4-FFF2-40B4-BE49-F238E27FC236}">
                <a16:creationId xmlns:a16="http://schemas.microsoft.com/office/drawing/2014/main" id="{289A03EE-692F-5747-96DE-AAEF94A062F8}"/>
              </a:ext>
            </a:extLst>
          </p:cNvPr>
          <p:cNvPicPr>
            <a:picLocks noChangeAspect="1"/>
          </p:cNvPicPr>
          <p:nvPr userDrawn="1"/>
        </p:nvPicPr>
        <p:blipFill rotWithShape="1">
          <a:blip r:embed="rId2"/>
          <a:srcRect b="19565"/>
          <a:stretch/>
        </p:blipFill>
        <p:spPr>
          <a:xfrm>
            <a:off x="0" y="0"/>
            <a:ext cx="12192000" cy="5516218"/>
          </a:xfrm>
          <a:prstGeom prst="rect">
            <a:avLst/>
          </a:prstGeom>
          <a:ln w="12700">
            <a:miter lim="400000"/>
          </a:ln>
        </p:spPr>
      </p:pic>
      <p:sp>
        <p:nvSpPr>
          <p:cNvPr id="16" name="Picture Placeholder 15">
            <a:extLst>
              <a:ext uri="{FF2B5EF4-FFF2-40B4-BE49-F238E27FC236}">
                <a16:creationId xmlns:a16="http://schemas.microsoft.com/office/drawing/2014/main" id="{2283A113-6404-FC44-AB56-A72C57937D0E}"/>
              </a:ext>
            </a:extLst>
          </p:cNvPr>
          <p:cNvSpPr>
            <a:spLocks noGrp="1"/>
          </p:cNvSpPr>
          <p:nvPr>
            <p:ph type="pic" sz="quarter" idx="10"/>
          </p:nvPr>
        </p:nvSpPr>
        <p:spPr>
          <a:xfrm>
            <a:off x="7036904" y="0"/>
            <a:ext cx="5155096" cy="5516218"/>
          </a:xfrm>
        </p:spPr>
        <p:txBody>
          <a:bodyPr/>
          <a:lstStyle/>
          <a:p>
            <a:endParaRPr lang="en-US" dirty="0"/>
          </a:p>
        </p:txBody>
      </p:sp>
      <p:sp>
        <p:nvSpPr>
          <p:cNvPr id="2" name="Title 1">
            <a:extLst>
              <a:ext uri="{FF2B5EF4-FFF2-40B4-BE49-F238E27FC236}">
                <a16:creationId xmlns:a16="http://schemas.microsoft.com/office/drawing/2014/main" id="{A449B12F-BE85-AE4C-93B3-49E88920C900}"/>
              </a:ext>
            </a:extLst>
          </p:cNvPr>
          <p:cNvSpPr>
            <a:spLocks noGrp="1"/>
          </p:cNvSpPr>
          <p:nvPr>
            <p:ph type="ctrTitle" hasCustomPrompt="1"/>
          </p:nvPr>
        </p:nvSpPr>
        <p:spPr>
          <a:xfrm>
            <a:off x="459255" y="1658687"/>
            <a:ext cx="6213008" cy="2109693"/>
          </a:xfrm>
        </p:spPr>
        <p:txBody>
          <a:bodyPr anchor="b">
            <a:normAutofit/>
          </a:bodyPr>
          <a:lstStyle>
            <a:lvl1pPr algn="l">
              <a:defRPr sz="3400">
                <a:solidFill>
                  <a:schemeClr val="bg1"/>
                </a:solidFill>
              </a:defRPr>
            </a:lvl1pPr>
          </a:lstStyle>
          <a:p>
            <a:r>
              <a:rPr lang="en-US" dirty="0"/>
              <a:t>Title slide</a:t>
            </a:r>
          </a:p>
        </p:txBody>
      </p:sp>
      <p:sp>
        <p:nvSpPr>
          <p:cNvPr id="3" name="Subtitle 2">
            <a:extLst>
              <a:ext uri="{FF2B5EF4-FFF2-40B4-BE49-F238E27FC236}">
                <a16:creationId xmlns:a16="http://schemas.microsoft.com/office/drawing/2014/main" id="{DB50A203-99BB-8245-A168-582F8C50E851}"/>
              </a:ext>
            </a:extLst>
          </p:cNvPr>
          <p:cNvSpPr>
            <a:spLocks noGrp="1"/>
          </p:cNvSpPr>
          <p:nvPr>
            <p:ph type="subTitle" idx="1" hasCustomPrompt="1"/>
          </p:nvPr>
        </p:nvSpPr>
        <p:spPr>
          <a:xfrm>
            <a:off x="459255" y="3860456"/>
            <a:ext cx="6213008" cy="1338857"/>
          </a:xfrm>
        </p:spPr>
        <p:txBody>
          <a:bodyPr>
            <a:norm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latin typeface="Calibri" panose="020F0502020204030204" pitchFamily="34" charset="0"/>
                <a:cs typeface="Calibri" panose="020F0502020204030204" pitchFamily="34" charset="0"/>
              </a:rPr>
              <a:t>Sub-heading</a:t>
            </a:r>
          </a:p>
        </p:txBody>
      </p:sp>
      <p:grpSp>
        <p:nvGrpSpPr>
          <p:cNvPr id="14" name="Group 13">
            <a:extLst>
              <a:ext uri="{FF2B5EF4-FFF2-40B4-BE49-F238E27FC236}">
                <a16:creationId xmlns:a16="http://schemas.microsoft.com/office/drawing/2014/main" id="{F0AEEAC7-8FE9-CE48-B882-1D867D416DE8}"/>
              </a:ext>
            </a:extLst>
          </p:cNvPr>
          <p:cNvGrpSpPr/>
          <p:nvPr userDrawn="1"/>
        </p:nvGrpSpPr>
        <p:grpSpPr>
          <a:xfrm>
            <a:off x="7371732" y="5856270"/>
            <a:ext cx="4820268" cy="618382"/>
            <a:chOff x="7812442" y="7321127"/>
            <a:chExt cx="9899621" cy="1270001"/>
          </a:xfrm>
        </p:grpSpPr>
        <p:sp>
          <p:nvSpPr>
            <p:cNvPr id="15" name="Rectangle">
              <a:extLst>
                <a:ext uri="{FF2B5EF4-FFF2-40B4-BE49-F238E27FC236}">
                  <a16:creationId xmlns:a16="http://schemas.microsoft.com/office/drawing/2014/main" id="{93DF050A-B8F0-5944-AA80-062B4E1145BC}"/>
                </a:ext>
              </a:extLst>
            </p:cNvPr>
            <p:cNvSpPr/>
            <p:nvPr/>
          </p:nvSpPr>
          <p:spPr>
            <a:xfrm>
              <a:off x="7812442" y="7321127"/>
              <a:ext cx="9899621" cy="1270001"/>
            </a:xfrm>
            <a:prstGeom prst="rect">
              <a:avLst/>
            </a:prstGeom>
            <a:solidFill>
              <a:srgbClr val="FFFFFF"/>
            </a:solidFill>
            <a:ln w="12700">
              <a:miter lim="400000"/>
            </a:ln>
          </p:spPr>
          <p:txBody>
            <a:bodyPr lIns="71437" tIns="71437" rIns="71437" bIns="71437" anchor="ctr"/>
            <a:lstStyle/>
            <a:p>
              <a:pPr algn="ctr">
                <a:spcBef>
                  <a:spcPts val="0"/>
                </a:spcBef>
                <a:defRPr sz="3000">
                  <a:solidFill>
                    <a:srgbClr val="FFFFFF"/>
                  </a:solidFill>
                  <a:latin typeface="Helvetica Neue Medium"/>
                  <a:ea typeface="Helvetica Neue Medium"/>
                  <a:cs typeface="Helvetica Neue Medium"/>
                  <a:sym typeface="Helvetica Neue Medium"/>
                </a:defRPr>
              </a:pPr>
              <a:endParaRPr dirty="0"/>
            </a:p>
          </p:txBody>
        </p:sp>
        <p:pic>
          <p:nvPicPr>
            <p:cNvPr id="17" name="LogoESIF_Col_Landscape.png" descr="LogoESIF_Col_Landscape.png">
              <a:extLst>
                <a:ext uri="{FF2B5EF4-FFF2-40B4-BE49-F238E27FC236}">
                  <a16:creationId xmlns:a16="http://schemas.microsoft.com/office/drawing/2014/main" id="{C21280A5-9499-A746-84C8-315B12406375}"/>
                </a:ext>
              </a:extLst>
            </p:cNvPr>
            <p:cNvPicPr>
              <a:picLocks noChangeAspect="1"/>
            </p:cNvPicPr>
            <p:nvPr/>
          </p:nvPicPr>
          <p:blipFill>
            <a:blip r:embed="rId3"/>
            <a:stretch>
              <a:fillRect/>
            </a:stretch>
          </p:blipFill>
          <p:spPr>
            <a:xfrm>
              <a:off x="13933383" y="7638102"/>
              <a:ext cx="2839675" cy="636051"/>
            </a:xfrm>
            <a:prstGeom prst="rect">
              <a:avLst/>
            </a:prstGeom>
            <a:ln w="12700">
              <a:miter lim="400000"/>
            </a:ln>
          </p:spPr>
        </p:pic>
        <p:pic>
          <p:nvPicPr>
            <p:cNvPr id="18" name="Irelands_EU_SIFP_2014_2020_CMYK_3-01.png" descr="Irelands_EU_SIFP_2014_2020_CMYK_3-01.png">
              <a:extLst>
                <a:ext uri="{FF2B5EF4-FFF2-40B4-BE49-F238E27FC236}">
                  <a16:creationId xmlns:a16="http://schemas.microsoft.com/office/drawing/2014/main" id="{EF6CE0D6-ABF5-4848-9DC4-4D3009D7DF48}"/>
                </a:ext>
              </a:extLst>
            </p:cNvPr>
            <p:cNvPicPr>
              <a:picLocks noChangeAspect="1"/>
            </p:cNvPicPr>
            <p:nvPr/>
          </p:nvPicPr>
          <p:blipFill>
            <a:blip r:embed="rId4"/>
            <a:stretch>
              <a:fillRect/>
            </a:stretch>
          </p:blipFill>
          <p:spPr>
            <a:xfrm>
              <a:off x="11503903" y="7632092"/>
              <a:ext cx="2074965" cy="648072"/>
            </a:xfrm>
            <a:prstGeom prst="rect">
              <a:avLst/>
            </a:prstGeom>
            <a:ln w="12700">
              <a:miter lim="400000"/>
            </a:ln>
          </p:spPr>
        </p:pic>
        <p:pic>
          <p:nvPicPr>
            <p:cNvPr id="19" name="project 2040.png" descr="project 2040.png">
              <a:extLst>
                <a:ext uri="{FF2B5EF4-FFF2-40B4-BE49-F238E27FC236}">
                  <a16:creationId xmlns:a16="http://schemas.microsoft.com/office/drawing/2014/main" id="{9C92F6CF-1E2B-8849-9A5C-1C0A54B71483}"/>
                </a:ext>
              </a:extLst>
            </p:cNvPr>
            <p:cNvPicPr>
              <a:picLocks noChangeAspect="1"/>
            </p:cNvPicPr>
            <p:nvPr/>
          </p:nvPicPr>
          <p:blipFill>
            <a:blip r:embed="rId5"/>
            <a:stretch>
              <a:fillRect/>
            </a:stretch>
          </p:blipFill>
          <p:spPr>
            <a:xfrm>
              <a:off x="7869525" y="7414385"/>
              <a:ext cx="3321117" cy="1083486"/>
            </a:xfrm>
            <a:prstGeom prst="rect">
              <a:avLst/>
            </a:prstGeom>
            <a:ln w="12700">
              <a:miter lim="400000"/>
            </a:ln>
          </p:spPr>
        </p:pic>
      </p:grpSp>
      <p:pic>
        <p:nvPicPr>
          <p:cNvPr id="21" name="UCC-LOGO.png" descr="UCC-LOGO.png">
            <a:extLst>
              <a:ext uri="{FF2B5EF4-FFF2-40B4-BE49-F238E27FC236}">
                <a16:creationId xmlns:a16="http://schemas.microsoft.com/office/drawing/2014/main" id="{D15B8469-13C4-6A43-BC79-70B9DFD87C38}"/>
              </a:ext>
            </a:extLst>
          </p:cNvPr>
          <p:cNvPicPr>
            <a:picLocks noChangeAspect="1"/>
          </p:cNvPicPr>
          <p:nvPr userDrawn="1"/>
        </p:nvPicPr>
        <p:blipFill>
          <a:blip r:embed="rId6"/>
          <a:stretch>
            <a:fillRect/>
          </a:stretch>
        </p:blipFill>
        <p:spPr>
          <a:xfrm>
            <a:off x="467091" y="5959310"/>
            <a:ext cx="998577" cy="500091"/>
          </a:xfrm>
          <a:prstGeom prst="rect">
            <a:avLst/>
          </a:prstGeom>
          <a:ln w="12700">
            <a:miter lim="400000"/>
          </a:ln>
        </p:spPr>
      </p:pic>
      <p:sp>
        <p:nvSpPr>
          <p:cNvPr id="22" name="Rectangle 21">
            <a:extLst>
              <a:ext uri="{FF2B5EF4-FFF2-40B4-BE49-F238E27FC236}">
                <a16:creationId xmlns:a16="http://schemas.microsoft.com/office/drawing/2014/main" id="{9B1692A4-8AD2-BC4C-B200-9058DFB38840}"/>
              </a:ext>
            </a:extLst>
          </p:cNvPr>
          <p:cNvSpPr/>
          <p:nvPr userDrawn="1"/>
        </p:nvSpPr>
        <p:spPr>
          <a:xfrm>
            <a:off x="299928" y="-1"/>
            <a:ext cx="2318052" cy="139372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v</a:t>
            </a:r>
          </a:p>
        </p:txBody>
      </p:sp>
      <p:pic>
        <p:nvPicPr>
          <p:cNvPr id="23" name="Tyndall-Logo-RGB.png" descr="Tyndall-Logo-RGB.png">
            <a:extLst>
              <a:ext uri="{FF2B5EF4-FFF2-40B4-BE49-F238E27FC236}">
                <a16:creationId xmlns:a16="http://schemas.microsoft.com/office/drawing/2014/main" id="{FC1726BB-E9A5-6A4F-BE11-FEA61B952A1E}"/>
              </a:ext>
            </a:extLst>
          </p:cNvPr>
          <p:cNvPicPr>
            <a:picLocks noChangeAspect="1"/>
          </p:cNvPicPr>
          <p:nvPr userDrawn="1"/>
        </p:nvPicPr>
        <p:blipFill>
          <a:blip r:embed="rId7"/>
          <a:stretch>
            <a:fillRect/>
          </a:stretch>
        </p:blipFill>
        <p:spPr>
          <a:xfrm>
            <a:off x="405467" y="460233"/>
            <a:ext cx="2277469" cy="883318"/>
          </a:xfrm>
          <a:prstGeom prst="rect">
            <a:avLst/>
          </a:prstGeom>
          <a:ln w="12700">
            <a:miter lim="400000"/>
          </a:ln>
        </p:spPr>
      </p:pic>
    </p:spTree>
    <p:extLst>
      <p:ext uri="{BB962C8B-B14F-4D97-AF65-F5344CB8AC3E}">
        <p14:creationId xmlns:p14="http://schemas.microsoft.com/office/powerpoint/2010/main" val="4110443014"/>
      </p:ext>
    </p:extLst>
  </p:cSld>
  <p:clrMapOvr>
    <a:masterClrMapping/>
  </p:clrMapOvr>
  <p:extLst>
    <p:ext uri="{DCECCB84-F9BA-43D5-87BE-67443E8EF086}">
      <p15:sldGuideLst xmlns:p15="http://schemas.microsoft.com/office/powerpoint/2012/main">
        <p15:guide id="1" pos="279" userDrawn="1">
          <p15:clr>
            <a:srgbClr val="FBAE40"/>
          </p15:clr>
        </p15:guide>
        <p15:guide id="2" pos="4203"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Slide blue with image 2">
    <p:spTree>
      <p:nvGrpSpPr>
        <p:cNvPr id="1" name=""/>
        <p:cNvGrpSpPr/>
        <p:nvPr/>
      </p:nvGrpSpPr>
      <p:grpSpPr>
        <a:xfrm>
          <a:off x="0" y="0"/>
          <a:ext cx="0" cy="0"/>
          <a:chOff x="0" y="0"/>
          <a:chExt cx="0" cy="0"/>
        </a:xfrm>
      </p:grpSpPr>
      <p:pic>
        <p:nvPicPr>
          <p:cNvPr id="13" name="External_background.jpg" descr="External_background.jpg">
            <a:extLst>
              <a:ext uri="{FF2B5EF4-FFF2-40B4-BE49-F238E27FC236}">
                <a16:creationId xmlns:a16="http://schemas.microsoft.com/office/drawing/2014/main" id="{BD3F9851-282A-E049-8513-E1AE70DA034E}"/>
              </a:ext>
            </a:extLst>
          </p:cNvPr>
          <p:cNvPicPr>
            <a:picLocks noChangeAspect="1"/>
          </p:cNvPicPr>
          <p:nvPr userDrawn="1"/>
        </p:nvPicPr>
        <p:blipFill rotWithShape="1">
          <a:blip r:embed="rId2"/>
          <a:srcRect b="19565"/>
          <a:stretch/>
        </p:blipFill>
        <p:spPr>
          <a:xfrm>
            <a:off x="0" y="0"/>
            <a:ext cx="12192000" cy="5516218"/>
          </a:xfrm>
          <a:prstGeom prst="rect">
            <a:avLst/>
          </a:prstGeom>
          <a:ln w="12700">
            <a:miter lim="400000"/>
          </a:ln>
        </p:spPr>
      </p:pic>
      <p:sp>
        <p:nvSpPr>
          <p:cNvPr id="20" name="Picture Placeholder 15">
            <a:extLst>
              <a:ext uri="{FF2B5EF4-FFF2-40B4-BE49-F238E27FC236}">
                <a16:creationId xmlns:a16="http://schemas.microsoft.com/office/drawing/2014/main" id="{545DEBC4-9299-0049-9D8A-AC3FBC5ADCEE}"/>
              </a:ext>
            </a:extLst>
          </p:cNvPr>
          <p:cNvSpPr>
            <a:spLocks noGrp="1"/>
          </p:cNvSpPr>
          <p:nvPr>
            <p:ph type="pic" sz="quarter" idx="10"/>
          </p:nvPr>
        </p:nvSpPr>
        <p:spPr>
          <a:xfrm>
            <a:off x="7036904" y="0"/>
            <a:ext cx="5155096" cy="5516218"/>
          </a:xfrm>
        </p:spPr>
        <p:txBody>
          <a:bodyPr/>
          <a:lstStyle/>
          <a:p>
            <a:endParaRPr lang="en-US" dirty="0"/>
          </a:p>
        </p:txBody>
      </p:sp>
      <p:sp>
        <p:nvSpPr>
          <p:cNvPr id="2" name="Title 1">
            <a:extLst>
              <a:ext uri="{FF2B5EF4-FFF2-40B4-BE49-F238E27FC236}">
                <a16:creationId xmlns:a16="http://schemas.microsoft.com/office/drawing/2014/main" id="{A449B12F-BE85-AE4C-93B3-49E88920C900}"/>
              </a:ext>
            </a:extLst>
          </p:cNvPr>
          <p:cNvSpPr>
            <a:spLocks noGrp="1"/>
          </p:cNvSpPr>
          <p:nvPr>
            <p:ph type="ctrTitle" hasCustomPrompt="1"/>
          </p:nvPr>
        </p:nvSpPr>
        <p:spPr>
          <a:xfrm>
            <a:off x="467091" y="1695895"/>
            <a:ext cx="6187709" cy="2072485"/>
          </a:xfrm>
        </p:spPr>
        <p:txBody>
          <a:bodyPr anchor="b">
            <a:normAutofit/>
          </a:bodyPr>
          <a:lstStyle>
            <a:lvl1pPr algn="l">
              <a:defRPr sz="3400">
                <a:solidFill>
                  <a:schemeClr val="bg1"/>
                </a:solidFill>
              </a:defRPr>
            </a:lvl1pPr>
          </a:lstStyle>
          <a:p>
            <a:r>
              <a:rPr lang="en-US" dirty="0"/>
              <a:t>Title slide</a:t>
            </a:r>
          </a:p>
        </p:txBody>
      </p:sp>
      <p:sp>
        <p:nvSpPr>
          <p:cNvPr id="3" name="Subtitle 2">
            <a:extLst>
              <a:ext uri="{FF2B5EF4-FFF2-40B4-BE49-F238E27FC236}">
                <a16:creationId xmlns:a16="http://schemas.microsoft.com/office/drawing/2014/main" id="{DB50A203-99BB-8245-A168-582F8C50E851}"/>
              </a:ext>
            </a:extLst>
          </p:cNvPr>
          <p:cNvSpPr>
            <a:spLocks noGrp="1"/>
          </p:cNvSpPr>
          <p:nvPr>
            <p:ph type="subTitle" idx="1" hasCustomPrompt="1"/>
          </p:nvPr>
        </p:nvSpPr>
        <p:spPr>
          <a:xfrm>
            <a:off x="467091" y="3860456"/>
            <a:ext cx="6187709" cy="1301649"/>
          </a:xfrm>
        </p:spPr>
        <p:txBody>
          <a:bodyPr>
            <a:norm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latin typeface="Calibri" panose="020F0502020204030204" pitchFamily="34" charset="0"/>
                <a:cs typeface="Calibri" panose="020F0502020204030204" pitchFamily="34" charset="0"/>
              </a:rPr>
              <a:t>Sub-heading</a:t>
            </a:r>
          </a:p>
        </p:txBody>
      </p:sp>
      <p:grpSp>
        <p:nvGrpSpPr>
          <p:cNvPr id="14" name="Group 13">
            <a:extLst>
              <a:ext uri="{FF2B5EF4-FFF2-40B4-BE49-F238E27FC236}">
                <a16:creationId xmlns:a16="http://schemas.microsoft.com/office/drawing/2014/main" id="{54C3AF10-CFB3-6840-BB91-8F983828C37D}"/>
              </a:ext>
            </a:extLst>
          </p:cNvPr>
          <p:cNvGrpSpPr/>
          <p:nvPr userDrawn="1"/>
        </p:nvGrpSpPr>
        <p:grpSpPr>
          <a:xfrm>
            <a:off x="7371732" y="5856270"/>
            <a:ext cx="4820268" cy="618382"/>
            <a:chOff x="7812442" y="7321127"/>
            <a:chExt cx="9899621" cy="1270001"/>
          </a:xfrm>
        </p:grpSpPr>
        <p:sp>
          <p:nvSpPr>
            <p:cNvPr id="15" name="Rectangle">
              <a:extLst>
                <a:ext uri="{FF2B5EF4-FFF2-40B4-BE49-F238E27FC236}">
                  <a16:creationId xmlns:a16="http://schemas.microsoft.com/office/drawing/2014/main" id="{32596769-85CB-954E-8C52-199F9283526C}"/>
                </a:ext>
              </a:extLst>
            </p:cNvPr>
            <p:cNvSpPr/>
            <p:nvPr/>
          </p:nvSpPr>
          <p:spPr>
            <a:xfrm>
              <a:off x="7812442" y="7321127"/>
              <a:ext cx="9899621" cy="1270001"/>
            </a:xfrm>
            <a:prstGeom prst="rect">
              <a:avLst/>
            </a:prstGeom>
            <a:solidFill>
              <a:srgbClr val="FFFFFF"/>
            </a:solidFill>
            <a:ln w="12700">
              <a:miter lim="400000"/>
            </a:ln>
          </p:spPr>
          <p:txBody>
            <a:bodyPr lIns="71437" tIns="71437" rIns="71437" bIns="71437" anchor="ctr"/>
            <a:lstStyle/>
            <a:p>
              <a:pPr algn="ctr">
                <a:spcBef>
                  <a:spcPts val="0"/>
                </a:spcBef>
                <a:defRPr sz="3000">
                  <a:solidFill>
                    <a:srgbClr val="FFFFFF"/>
                  </a:solidFill>
                  <a:latin typeface="Helvetica Neue Medium"/>
                  <a:ea typeface="Helvetica Neue Medium"/>
                  <a:cs typeface="Helvetica Neue Medium"/>
                  <a:sym typeface="Helvetica Neue Medium"/>
                </a:defRPr>
              </a:pPr>
              <a:endParaRPr dirty="0"/>
            </a:p>
          </p:txBody>
        </p:sp>
        <p:pic>
          <p:nvPicPr>
            <p:cNvPr id="17" name="LogoESIF_Col_Landscape.png" descr="LogoESIF_Col_Landscape.png">
              <a:extLst>
                <a:ext uri="{FF2B5EF4-FFF2-40B4-BE49-F238E27FC236}">
                  <a16:creationId xmlns:a16="http://schemas.microsoft.com/office/drawing/2014/main" id="{034CD78D-C3DF-3B48-A339-FB04E0F1BC4C}"/>
                </a:ext>
              </a:extLst>
            </p:cNvPr>
            <p:cNvPicPr>
              <a:picLocks noChangeAspect="1"/>
            </p:cNvPicPr>
            <p:nvPr/>
          </p:nvPicPr>
          <p:blipFill>
            <a:blip r:embed="rId3"/>
            <a:stretch>
              <a:fillRect/>
            </a:stretch>
          </p:blipFill>
          <p:spPr>
            <a:xfrm>
              <a:off x="13933383" y="7638102"/>
              <a:ext cx="2839675" cy="636051"/>
            </a:xfrm>
            <a:prstGeom prst="rect">
              <a:avLst/>
            </a:prstGeom>
            <a:ln w="12700">
              <a:miter lim="400000"/>
            </a:ln>
          </p:spPr>
        </p:pic>
        <p:pic>
          <p:nvPicPr>
            <p:cNvPr id="18" name="Irelands_EU_SIFP_2014_2020_CMYK_3-01.png" descr="Irelands_EU_SIFP_2014_2020_CMYK_3-01.png">
              <a:extLst>
                <a:ext uri="{FF2B5EF4-FFF2-40B4-BE49-F238E27FC236}">
                  <a16:creationId xmlns:a16="http://schemas.microsoft.com/office/drawing/2014/main" id="{388BDDF4-6E20-9A43-BF4F-0144502F620B}"/>
                </a:ext>
              </a:extLst>
            </p:cNvPr>
            <p:cNvPicPr>
              <a:picLocks noChangeAspect="1"/>
            </p:cNvPicPr>
            <p:nvPr/>
          </p:nvPicPr>
          <p:blipFill>
            <a:blip r:embed="rId4"/>
            <a:stretch>
              <a:fillRect/>
            </a:stretch>
          </p:blipFill>
          <p:spPr>
            <a:xfrm>
              <a:off x="11503903" y="7632092"/>
              <a:ext cx="2074965" cy="648072"/>
            </a:xfrm>
            <a:prstGeom prst="rect">
              <a:avLst/>
            </a:prstGeom>
            <a:ln w="12700">
              <a:miter lim="400000"/>
            </a:ln>
          </p:spPr>
        </p:pic>
        <p:pic>
          <p:nvPicPr>
            <p:cNvPr id="19" name="project 2040.png" descr="project 2040.png">
              <a:extLst>
                <a:ext uri="{FF2B5EF4-FFF2-40B4-BE49-F238E27FC236}">
                  <a16:creationId xmlns:a16="http://schemas.microsoft.com/office/drawing/2014/main" id="{38E5F1C3-5F8F-2B4E-96D9-31DAACBFC86D}"/>
                </a:ext>
              </a:extLst>
            </p:cNvPr>
            <p:cNvPicPr>
              <a:picLocks noChangeAspect="1"/>
            </p:cNvPicPr>
            <p:nvPr/>
          </p:nvPicPr>
          <p:blipFill>
            <a:blip r:embed="rId5"/>
            <a:stretch>
              <a:fillRect/>
            </a:stretch>
          </p:blipFill>
          <p:spPr>
            <a:xfrm>
              <a:off x="7869525" y="7414385"/>
              <a:ext cx="3321117" cy="1083486"/>
            </a:xfrm>
            <a:prstGeom prst="rect">
              <a:avLst/>
            </a:prstGeom>
            <a:ln w="12700">
              <a:miter lim="400000"/>
            </a:ln>
          </p:spPr>
        </p:pic>
      </p:grpSp>
      <p:pic>
        <p:nvPicPr>
          <p:cNvPr id="16" name="UCC-LOGO.png" descr="UCC-LOGO.png">
            <a:extLst>
              <a:ext uri="{FF2B5EF4-FFF2-40B4-BE49-F238E27FC236}">
                <a16:creationId xmlns:a16="http://schemas.microsoft.com/office/drawing/2014/main" id="{C0A878A5-406E-3147-9306-784B12C26156}"/>
              </a:ext>
            </a:extLst>
          </p:cNvPr>
          <p:cNvPicPr>
            <a:picLocks noChangeAspect="1"/>
          </p:cNvPicPr>
          <p:nvPr userDrawn="1"/>
        </p:nvPicPr>
        <p:blipFill>
          <a:blip r:embed="rId6"/>
          <a:stretch>
            <a:fillRect/>
          </a:stretch>
        </p:blipFill>
        <p:spPr>
          <a:xfrm>
            <a:off x="467091" y="5959310"/>
            <a:ext cx="998577" cy="500091"/>
          </a:xfrm>
          <a:prstGeom prst="rect">
            <a:avLst/>
          </a:prstGeom>
          <a:ln w="12700">
            <a:miter lim="400000"/>
          </a:ln>
        </p:spPr>
      </p:pic>
      <p:sp>
        <p:nvSpPr>
          <p:cNvPr id="21" name="Rectangle 20">
            <a:extLst>
              <a:ext uri="{FF2B5EF4-FFF2-40B4-BE49-F238E27FC236}">
                <a16:creationId xmlns:a16="http://schemas.microsoft.com/office/drawing/2014/main" id="{9E3075AC-945F-1B4F-9375-E5AEE66CED88}"/>
              </a:ext>
            </a:extLst>
          </p:cNvPr>
          <p:cNvSpPr/>
          <p:nvPr userDrawn="1"/>
        </p:nvSpPr>
        <p:spPr>
          <a:xfrm>
            <a:off x="299928" y="-1"/>
            <a:ext cx="2318052" cy="139372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v</a:t>
            </a:r>
          </a:p>
        </p:txBody>
      </p:sp>
      <p:pic>
        <p:nvPicPr>
          <p:cNvPr id="22" name="Tyndall-Logo-RGB.png" descr="Tyndall-Logo-RGB.png">
            <a:extLst>
              <a:ext uri="{FF2B5EF4-FFF2-40B4-BE49-F238E27FC236}">
                <a16:creationId xmlns:a16="http://schemas.microsoft.com/office/drawing/2014/main" id="{29C6501F-AC63-B449-8510-E9C3DCA04285}"/>
              </a:ext>
            </a:extLst>
          </p:cNvPr>
          <p:cNvPicPr>
            <a:picLocks noChangeAspect="1"/>
          </p:cNvPicPr>
          <p:nvPr userDrawn="1"/>
        </p:nvPicPr>
        <p:blipFill>
          <a:blip r:embed="rId7"/>
          <a:stretch>
            <a:fillRect/>
          </a:stretch>
        </p:blipFill>
        <p:spPr>
          <a:xfrm>
            <a:off x="405467" y="460233"/>
            <a:ext cx="2277469" cy="883318"/>
          </a:xfrm>
          <a:prstGeom prst="rect">
            <a:avLst/>
          </a:prstGeom>
          <a:ln w="12700">
            <a:miter lim="400000"/>
          </a:ln>
        </p:spPr>
      </p:pic>
    </p:spTree>
    <p:extLst>
      <p:ext uri="{BB962C8B-B14F-4D97-AF65-F5344CB8AC3E}">
        <p14:creationId xmlns:p14="http://schemas.microsoft.com/office/powerpoint/2010/main" val="33724570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lide pink with image">
    <p:spTree>
      <p:nvGrpSpPr>
        <p:cNvPr id="1" name=""/>
        <p:cNvGrpSpPr/>
        <p:nvPr/>
      </p:nvGrpSpPr>
      <p:grpSpPr>
        <a:xfrm>
          <a:off x="0" y="0"/>
          <a:ext cx="0" cy="0"/>
          <a:chOff x="0" y="0"/>
          <a:chExt cx="0" cy="0"/>
        </a:xfrm>
      </p:grpSpPr>
      <p:pic>
        <p:nvPicPr>
          <p:cNvPr id="14" name="Background.jpg" descr="Background.jpg">
            <a:extLst>
              <a:ext uri="{FF2B5EF4-FFF2-40B4-BE49-F238E27FC236}">
                <a16:creationId xmlns:a16="http://schemas.microsoft.com/office/drawing/2014/main" id="{9EA92D42-B1DE-5D44-ABFE-84993FDC333B}"/>
              </a:ext>
            </a:extLst>
          </p:cNvPr>
          <p:cNvPicPr>
            <a:picLocks noChangeAspect="1"/>
          </p:cNvPicPr>
          <p:nvPr userDrawn="1"/>
        </p:nvPicPr>
        <p:blipFill rotWithShape="1">
          <a:blip r:embed="rId2"/>
          <a:srcRect b="19565"/>
          <a:stretch/>
        </p:blipFill>
        <p:spPr>
          <a:xfrm>
            <a:off x="0" y="-1"/>
            <a:ext cx="12192000" cy="5516218"/>
          </a:xfrm>
          <a:prstGeom prst="rect">
            <a:avLst/>
          </a:prstGeom>
          <a:ln w="12700">
            <a:miter lim="400000"/>
          </a:ln>
        </p:spPr>
      </p:pic>
      <p:sp>
        <p:nvSpPr>
          <p:cNvPr id="15" name="Picture Placeholder 15">
            <a:extLst>
              <a:ext uri="{FF2B5EF4-FFF2-40B4-BE49-F238E27FC236}">
                <a16:creationId xmlns:a16="http://schemas.microsoft.com/office/drawing/2014/main" id="{B99E1A16-150C-B845-8DBB-4683A547F369}"/>
              </a:ext>
            </a:extLst>
          </p:cNvPr>
          <p:cNvSpPr>
            <a:spLocks noGrp="1"/>
          </p:cNvSpPr>
          <p:nvPr>
            <p:ph type="pic" sz="quarter" idx="10"/>
          </p:nvPr>
        </p:nvSpPr>
        <p:spPr>
          <a:xfrm>
            <a:off x="7036904" y="0"/>
            <a:ext cx="5155096" cy="5516218"/>
          </a:xfrm>
        </p:spPr>
        <p:txBody>
          <a:bodyPr/>
          <a:lstStyle/>
          <a:p>
            <a:endParaRPr lang="en-US" dirty="0"/>
          </a:p>
        </p:txBody>
      </p:sp>
      <p:sp>
        <p:nvSpPr>
          <p:cNvPr id="2" name="Title 1">
            <a:extLst>
              <a:ext uri="{FF2B5EF4-FFF2-40B4-BE49-F238E27FC236}">
                <a16:creationId xmlns:a16="http://schemas.microsoft.com/office/drawing/2014/main" id="{A449B12F-BE85-AE4C-93B3-49E88920C900}"/>
              </a:ext>
            </a:extLst>
          </p:cNvPr>
          <p:cNvSpPr>
            <a:spLocks noGrp="1"/>
          </p:cNvSpPr>
          <p:nvPr>
            <p:ph type="ctrTitle" hasCustomPrompt="1"/>
          </p:nvPr>
        </p:nvSpPr>
        <p:spPr>
          <a:xfrm>
            <a:off x="467091" y="1708837"/>
            <a:ext cx="6187709" cy="2059543"/>
          </a:xfrm>
        </p:spPr>
        <p:txBody>
          <a:bodyPr anchor="b">
            <a:normAutofit/>
          </a:bodyPr>
          <a:lstStyle>
            <a:lvl1pPr algn="l">
              <a:defRPr sz="3400">
                <a:solidFill>
                  <a:schemeClr val="bg1"/>
                </a:solidFill>
              </a:defRPr>
            </a:lvl1pPr>
          </a:lstStyle>
          <a:p>
            <a:r>
              <a:rPr lang="en-US" dirty="0"/>
              <a:t>Internal use only title</a:t>
            </a:r>
          </a:p>
        </p:txBody>
      </p:sp>
      <p:sp>
        <p:nvSpPr>
          <p:cNvPr id="3" name="Subtitle 2">
            <a:extLst>
              <a:ext uri="{FF2B5EF4-FFF2-40B4-BE49-F238E27FC236}">
                <a16:creationId xmlns:a16="http://schemas.microsoft.com/office/drawing/2014/main" id="{DB50A203-99BB-8245-A168-582F8C50E851}"/>
              </a:ext>
            </a:extLst>
          </p:cNvPr>
          <p:cNvSpPr>
            <a:spLocks noGrp="1"/>
          </p:cNvSpPr>
          <p:nvPr>
            <p:ph type="subTitle" idx="1" hasCustomPrompt="1"/>
          </p:nvPr>
        </p:nvSpPr>
        <p:spPr>
          <a:xfrm>
            <a:off x="474927" y="3860457"/>
            <a:ext cx="6187709" cy="1288706"/>
          </a:xfrm>
        </p:spPr>
        <p:txBody>
          <a:bodyPr>
            <a:norm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latin typeface="Calibri" panose="020F0502020204030204" pitchFamily="34" charset="0"/>
                <a:cs typeface="Calibri" panose="020F0502020204030204" pitchFamily="34" charset="0"/>
              </a:rPr>
              <a:t>Sub-heading</a:t>
            </a:r>
          </a:p>
        </p:txBody>
      </p:sp>
      <p:grpSp>
        <p:nvGrpSpPr>
          <p:cNvPr id="17" name="Group 16">
            <a:extLst>
              <a:ext uri="{FF2B5EF4-FFF2-40B4-BE49-F238E27FC236}">
                <a16:creationId xmlns:a16="http://schemas.microsoft.com/office/drawing/2014/main" id="{2383DF64-48E3-3D41-A47E-507AAB375C2B}"/>
              </a:ext>
            </a:extLst>
          </p:cNvPr>
          <p:cNvGrpSpPr/>
          <p:nvPr userDrawn="1"/>
        </p:nvGrpSpPr>
        <p:grpSpPr>
          <a:xfrm>
            <a:off x="7371732" y="5856270"/>
            <a:ext cx="4820268" cy="618382"/>
            <a:chOff x="7812442" y="7321127"/>
            <a:chExt cx="9899621" cy="1270001"/>
          </a:xfrm>
        </p:grpSpPr>
        <p:sp>
          <p:nvSpPr>
            <p:cNvPr id="18" name="Rectangle">
              <a:extLst>
                <a:ext uri="{FF2B5EF4-FFF2-40B4-BE49-F238E27FC236}">
                  <a16:creationId xmlns:a16="http://schemas.microsoft.com/office/drawing/2014/main" id="{99B38AAB-5C7D-0843-9D2C-1FFB0618A16B}"/>
                </a:ext>
              </a:extLst>
            </p:cNvPr>
            <p:cNvSpPr/>
            <p:nvPr/>
          </p:nvSpPr>
          <p:spPr>
            <a:xfrm>
              <a:off x="7812442" y="7321127"/>
              <a:ext cx="9899621" cy="1270001"/>
            </a:xfrm>
            <a:prstGeom prst="rect">
              <a:avLst/>
            </a:prstGeom>
            <a:solidFill>
              <a:srgbClr val="FFFFFF"/>
            </a:solidFill>
            <a:ln w="12700">
              <a:miter lim="400000"/>
            </a:ln>
          </p:spPr>
          <p:txBody>
            <a:bodyPr lIns="71437" tIns="71437" rIns="71437" bIns="71437" anchor="ctr"/>
            <a:lstStyle/>
            <a:p>
              <a:pPr algn="ctr">
                <a:spcBef>
                  <a:spcPts val="0"/>
                </a:spcBef>
                <a:defRPr sz="3000">
                  <a:solidFill>
                    <a:srgbClr val="FFFFFF"/>
                  </a:solidFill>
                  <a:latin typeface="Helvetica Neue Medium"/>
                  <a:ea typeface="Helvetica Neue Medium"/>
                  <a:cs typeface="Helvetica Neue Medium"/>
                  <a:sym typeface="Helvetica Neue Medium"/>
                </a:defRPr>
              </a:pPr>
              <a:endParaRPr dirty="0"/>
            </a:p>
          </p:txBody>
        </p:sp>
        <p:pic>
          <p:nvPicPr>
            <p:cNvPr id="19" name="LogoESIF_Col_Landscape.png" descr="LogoESIF_Col_Landscape.png">
              <a:extLst>
                <a:ext uri="{FF2B5EF4-FFF2-40B4-BE49-F238E27FC236}">
                  <a16:creationId xmlns:a16="http://schemas.microsoft.com/office/drawing/2014/main" id="{29C03A53-5A4B-6442-B6EE-138C5D934FC4}"/>
                </a:ext>
              </a:extLst>
            </p:cNvPr>
            <p:cNvPicPr>
              <a:picLocks noChangeAspect="1"/>
            </p:cNvPicPr>
            <p:nvPr/>
          </p:nvPicPr>
          <p:blipFill>
            <a:blip r:embed="rId3"/>
            <a:stretch>
              <a:fillRect/>
            </a:stretch>
          </p:blipFill>
          <p:spPr>
            <a:xfrm>
              <a:off x="13933383" y="7638102"/>
              <a:ext cx="2839675" cy="636051"/>
            </a:xfrm>
            <a:prstGeom prst="rect">
              <a:avLst/>
            </a:prstGeom>
            <a:ln w="12700">
              <a:miter lim="400000"/>
            </a:ln>
          </p:spPr>
        </p:pic>
        <p:pic>
          <p:nvPicPr>
            <p:cNvPr id="20" name="Irelands_EU_SIFP_2014_2020_CMYK_3-01.png" descr="Irelands_EU_SIFP_2014_2020_CMYK_3-01.png">
              <a:extLst>
                <a:ext uri="{FF2B5EF4-FFF2-40B4-BE49-F238E27FC236}">
                  <a16:creationId xmlns:a16="http://schemas.microsoft.com/office/drawing/2014/main" id="{B4026CC8-C719-2F48-997A-A5A089CDC406}"/>
                </a:ext>
              </a:extLst>
            </p:cNvPr>
            <p:cNvPicPr>
              <a:picLocks noChangeAspect="1"/>
            </p:cNvPicPr>
            <p:nvPr/>
          </p:nvPicPr>
          <p:blipFill>
            <a:blip r:embed="rId4"/>
            <a:stretch>
              <a:fillRect/>
            </a:stretch>
          </p:blipFill>
          <p:spPr>
            <a:xfrm>
              <a:off x="11503903" y="7632092"/>
              <a:ext cx="2074965" cy="648072"/>
            </a:xfrm>
            <a:prstGeom prst="rect">
              <a:avLst/>
            </a:prstGeom>
            <a:ln w="12700">
              <a:miter lim="400000"/>
            </a:ln>
          </p:spPr>
        </p:pic>
        <p:pic>
          <p:nvPicPr>
            <p:cNvPr id="21" name="project 2040.png" descr="project 2040.png">
              <a:extLst>
                <a:ext uri="{FF2B5EF4-FFF2-40B4-BE49-F238E27FC236}">
                  <a16:creationId xmlns:a16="http://schemas.microsoft.com/office/drawing/2014/main" id="{294FFCAD-4EDC-C743-95C0-8782AC9715D9}"/>
                </a:ext>
              </a:extLst>
            </p:cNvPr>
            <p:cNvPicPr>
              <a:picLocks noChangeAspect="1"/>
            </p:cNvPicPr>
            <p:nvPr/>
          </p:nvPicPr>
          <p:blipFill>
            <a:blip r:embed="rId5"/>
            <a:stretch>
              <a:fillRect/>
            </a:stretch>
          </p:blipFill>
          <p:spPr>
            <a:xfrm>
              <a:off x="7869525" y="7414385"/>
              <a:ext cx="3321117" cy="1083486"/>
            </a:xfrm>
            <a:prstGeom prst="rect">
              <a:avLst/>
            </a:prstGeom>
            <a:ln w="12700">
              <a:miter lim="400000"/>
            </a:ln>
          </p:spPr>
        </p:pic>
      </p:grpSp>
      <p:pic>
        <p:nvPicPr>
          <p:cNvPr id="16" name="UCC-LOGO.png" descr="UCC-LOGO.png">
            <a:extLst>
              <a:ext uri="{FF2B5EF4-FFF2-40B4-BE49-F238E27FC236}">
                <a16:creationId xmlns:a16="http://schemas.microsoft.com/office/drawing/2014/main" id="{22CA3EEA-628F-7044-9A0F-8A936986BD7B}"/>
              </a:ext>
            </a:extLst>
          </p:cNvPr>
          <p:cNvPicPr>
            <a:picLocks noChangeAspect="1"/>
          </p:cNvPicPr>
          <p:nvPr userDrawn="1"/>
        </p:nvPicPr>
        <p:blipFill>
          <a:blip r:embed="rId6"/>
          <a:stretch>
            <a:fillRect/>
          </a:stretch>
        </p:blipFill>
        <p:spPr>
          <a:xfrm>
            <a:off x="467091" y="5959310"/>
            <a:ext cx="998577" cy="500091"/>
          </a:xfrm>
          <a:prstGeom prst="rect">
            <a:avLst/>
          </a:prstGeom>
          <a:ln w="12700">
            <a:miter lim="400000"/>
          </a:ln>
        </p:spPr>
      </p:pic>
      <p:sp>
        <p:nvSpPr>
          <p:cNvPr id="22" name="Rectangle 21">
            <a:extLst>
              <a:ext uri="{FF2B5EF4-FFF2-40B4-BE49-F238E27FC236}">
                <a16:creationId xmlns:a16="http://schemas.microsoft.com/office/drawing/2014/main" id="{58786591-7914-6749-B0C7-CF97A8363951}"/>
              </a:ext>
            </a:extLst>
          </p:cNvPr>
          <p:cNvSpPr/>
          <p:nvPr userDrawn="1"/>
        </p:nvSpPr>
        <p:spPr>
          <a:xfrm>
            <a:off x="299928" y="-1"/>
            <a:ext cx="2318052" cy="139372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v</a:t>
            </a:r>
          </a:p>
        </p:txBody>
      </p:sp>
      <p:pic>
        <p:nvPicPr>
          <p:cNvPr id="23" name="Tyndall-Logo-RGB.png" descr="Tyndall-Logo-RGB.png">
            <a:extLst>
              <a:ext uri="{FF2B5EF4-FFF2-40B4-BE49-F238E27FC236}">
                <a16:creationId xmlns:a16="http://schemas.microsoft.com/office/drawing/2014/main" id="{D3D03194-4B33-804C-AA51-3B8B1BE622AC}"/>
              </a:ext>
            </a:extLst>
          </p:cNvPr>
          <p:cNvPicPr>
            <a:picLocks noChangeAspect="1"/>
          </p:cNvPicPr>
          <p:nvPr userDrawn="1"/>
        </p:nvPicPr>
        <p:blipFill>
          <a:blip r:embed="rId7"/>
          <a:stretch>
            <a:fillRect/>
          </a:stretch>
        </p:blipFill>
        <p:spPr>
          <a:xfrm>
            <a:off x="405467" y="460233"/>
            <a:ext cx="2277469" cy="883318"/>
          </a:xfrm>
          <a:prstGeom prst="rect">
            <a:avLst/>
          </a:prstGeom>
          <a:ln w="12700">
            <a:miter lim="400000"/>
          </a:ln>
        </p:spPr>
      </p:pic>
    </p:spTree>
    <p:extLst>
      <p:ext uri="{BB962C8B-B14F-4D97-AF65-F5344CB8AC3E}">
        <p14:creationId xmlns:p14="http://schemas.microsoft.com/office/powerpoint/2010/main" val="38101070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Slide pink with image 2">
    <p:spTree>
      <p:nvGrpSpPr>
        <p:cNvPr id="1" name=""/>
        <p:cNvGrpSpPr/>
        <p:nvPr/>
      </p:nvGrpSpPr>
      <p:grpSpPr>
        <a:xfrm>
          <a:off x="0" y="0"/>
          <a:ext cx="0" cy="0"/>
          <a:chOff x="0" y="0"/>
          <a:chExt cx="0" cy="0"/>
        </a:xfrm>
      </p:grpSpPr>
      <p:pic>
        <p:nvPicPr>
          <p:cNvPr id="13" name="Background.jpg" descr="Background.jpg">
            <a:extLst>
              <a:ext uri="{FF2B5EF4-FFF2-40B4-BE49-F238E27FC236}">
                <a16:creationId xmlns:a16="http://schemas.microsoft.com/office/drawing/2014/main" id="{67024D2E-B782-5B4D-B31D-1D2E4C725F62}"/>
              </a:ext>
            </a:extLst>
          </p:cNvPr>
          <p:cNvPicPr>
            <a:picLocks noChangeAspect="1"/>
          </p:cNvPicPr>
          <p:nvPr userDrawn="1"/>
        </p:nvPicPr>
        <p:blipFill rotWithShape="1">
          <a:blip r:embed="rId2"/>
          <a:srcRect b="19565"/>
          <a:stretch/>
        </p:blipFill>
        <p:spPr>
          <a:xfrm>
            <a:off x="0" y="-1"/>
            <a:ext cx="12192000" cy="5516218"/>
          </a:xfrm>
          <a:prstGeom prst="rect">
            <a:avLst/>
          </a:prstGeom>
          <a:ln w="12700">
            <a:miter lim="400000"/>
          </a:ln>
        </p:spPr>
      </p:pic>
      <p:sp>
        <p:nvSpPr>
          <p:cNvPr id="15" name="Picture Placeholder 15">
            <a:extLst>
              <a:ext uri="{FF2B5EF4-FFF2-40B4-BE49-F238E27FC236}">
                <a16:creationId xmlns:a16="http://schemas.microsoft.com/office/drawing/2014/main" id="{71278A4F-C094-2447-9AC6-5B7C1EB8B6B1}"/>
              </a:ext>
            </a:extLst>
          </p:cNvPr>
          <p:cNvSpPr>
            <a:spLocks noGrp="1"/>
          </p:cNvSpPr>
          <p:nvPr>
            <p:ph type="pic" sz="quarter" idx="10"/>
          </p:nvPr>
        </p:nvSpPr>
        <p:spPr>
          <a:xfrm>
            <a:off x="7036904" y="0"/>
            <a:ext cx="5155096" cy="5516218"/>
          </a:xfrm>
        </p:spPr>
        <p:txBody>
          <a:bodyPr/>
          <a:lstStyle/>
          <a:p>
            <a:endParaRPr lang="en-US" dirty="0"/>
          </a:p>
        </p:txBody>
      </p:sp>
      <p:sp>
        <p:nvSpPr>
          <p:cNvPr id="2" name="Title 1">
            <a:extLst>
              <a:ext uri="{FF2B5EF4-FFF2-40B4-BE49-F238E27FC236}">
                <a16:creationId xmlns:a16="http://schemas.microsoft.com/office/drawing/2014/main" id="{A449B12F-BE85-AE4C-93B3-49E88920C900}"/>
              </a:ext>
            </a:extLst>
          </p:cNvPr>
          <p:cNvSpPr>
            <a:spLocks noGrp="1"/>
          </p:cNvSpPr>
          <p:nvPr>
            <p:ph type="ctrTitle" hasCustomPrompt="1"/>
          </p:nvPr>
        </p:nvSpPr>
        <p:spPr>
          <a:xfrm>
            <a:off x="467091" y="1662545"/>
            <a:ext cx="6187709" cy="2105836"/>
          </a:xfrm>
        </p:spPr>
        <p:txBody>
          <a:bodyPr anchor="b">
            <a:normAutofit/>
          </a:bodyPr>
          <a:lstStyle>
            <a:lvl1pPr algn="l">
              <a:defRPr sz="3400">
                <a:solidFill>
                  <a:schemeClr val="bg1"/>
                </a:solidFill>
              </a:defRPr>
            </a:lvl1pPr>
          </a:lstStyle>
          <a:p>
            <a:r>
              <a:rPr lang="en-US" dirty="0"/>
              <a:t>Internal use only title</a:t>
            </a:r>
          </a:p>
        </p:txBody>
      </p:sp>
      <p:sp>
        <p:nvSpPr>
          <p:cNvPr id="3" name="Subtitle 2">
            <a:extLst>
              <a:ext uri="{FF2B5EF4-FFF2-40B4-BE49-F238E27FC236}">
                <a16:creationId xmlns:a16="http://schemas.microsoft.com/office/drawing/2014/main" id="{DB50A203-99BB-8245-A168-582F8C50E851}"/>
              </a:ext>
            </a:extLst>
          </p:cNvPr>
          <p:cNvSpPr>
            <a:spLocks noGrp="1"/>
          </p:cNvSpPr>
          <p:nvPr>
            <p:ph type="subTitle" idx="1" hasCustomPrompt="1"/>
          </p:nvPr>
        </p:nvSpPr>
        <p:spPr>
          <a:xfrm>
            <a:off x="467091" y="3860456"/>
            <a:ext cx="6187709" cy="1334999"/>
          </a:xfrm>
        </p:spPr>
        <p:txBody>
          <a:bodyPr>
            <a:norm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latin typeface="Calibri" panose="020F0502020204030204" pitchFamily="34" charset="0"/>
                <a:cs typeface="Calibri" panose="020F0502020204030204" pitchFamily="34" charset="0"/>
              </a:rPr>
              <a:t>Sub-heading</a:t>
            </a:r>
          </a:p>
        </p:txBody>
      </p:sp>
      <p:grpSp>
        <p:nvGrpSpPr>
          <p:cNvPr id="17" name="Group 16">
            <a:extLst>
              <a:ext uri="{FF2B5EF4-FFF2-40B4-BE49-F238E27FC236}">
                <a16:creationId xmlns:a16="http://schemas.microsoft.com/office/drawing/2014/main" id="{047029A1-25DC-CC4B-8AAB-62F87D82EB47}"/>
              </a:ext>
            </a:extLst>
          </p:cNvPr>
          <p:cNvGrpSpPr/>
          <p:nvPr userDrawn="1"/>
        </p:nvGrpSpPr>
        <p:grpSpPr>
          <a:xfrm>
            <a:off x="7371732" y="5856270"/>
            <a:ext cx="4820268" cy="618382"/>
            <a:chOff x="7812442" y="7321127"/>
            <a:chExt cx="9899621" cy="1270001"/>
          </a:xfrm>
        </p:grpSpPr>
        <p:sp>
          <p:nvSpPr>
            <p:cNvPr id="18" name="Rectangle">
              <a:extLst>
                <a:ext uri="{FF2B5EF4-FFF2-40B4-BE49-F238E27FC236}">
                  <a16:creationId xmlns:a16="http://schemas.microsoft.com/office/drawing/2014/main" id="{B0D4ABC2-7CC3-6342-ADBE-93954C847ABA}"/>
                </a:ext>
              </a:extLst>
            </p:cNvPr>
            <p:cNvSpPr/>
            <p:nvPr/>
          </p:nvSpPr>
          <p:spPr>
            <a:xfrm>
              <a:off x="7812442" y="7321127"/>
              <a:ext cx="9899621" cy="1270001"/>
            </a:xfrm>
            <a:prstGeom prst="rect">
              <a:avLst/>
            </a:prstGeom>
            <a:solidFill>
              <a:srgbClr val="FFFFFF"/>
            </a:solidFill>
            <a:ln w="12700">
              <a:miter lim="400000"/>
            </a:ln>
          </p:spPr>
          <p:txBody>
            <a:bodyPr lIns="71437" tIns="71437" rIns="71437" bIns="71437" anchor="ctr"/>
            <a:lstStyle/>
            <a:p>
              <a:pPr algn="ctr">
                <a:spcBef>
                  <a:spcPts val="0"/>
                </a:spcBef>
                <a:defRPr sz="3000">
                  <a:solidFill>
                    <a:srgbClr val="FFFFFF"/>
                  </a:solidFill>
                  <a:latin typeface="Helvetica Neue Medium"/>
                  <a:ea typeface="Helvetica Neue Medium"/>
                  <a:cs typeface="Helvetica Neue Medium"/>
                  <a:sym typeface="Helvetica Neue Medium"/>
                </a:defRPr>
              </a:pPr>
              <a:endParaRPr dirty="0"/>
            </a:p>
          </p:txBody>
        </p:sp>
        <p:pic>
          <p:nvPicPr>
            <p:cNvPr id="19" name="LogoESIF_Col_Landscape.png" descr="LogoESIF_Col_Landscape.png">
              <a:extLst>
                <a:ext uri="{FF2B5EF4-FFF2-40B4-BE49-F238E27FC236}">
                  <a16:creationId xmlns:a16="http://schemas.microsoft.com/office/drawing/2014/main" id="{F5E68E45-169E-A84F-93E3-E55537A9FCDA}"/>
                </a:ext>
              </a:extLst>
            </p:cNvPr>
            <p:cNvPicPr>
              <a:picLocks noChangeAspect="1"/>
            </p:cNvPicPr>
            <p:nvPr/>
          </p:nvPicPr>
          <p:blipFill>
            <a:blip r:embed="rId3"/>
            <a:stretch>
              <a:fillRect/>
            </a:stretch>
          </p:blipFill>
          <p:spPr>
            <a:xfrm>
              <a:off x="13933383" y="7638102"/>
              <a:ext cx="2839675" cy="636051"/>
            </a:xfrm>
            <a:prstGeom prst="rect">
              <a:avLst/>
            </a:prstGeom>
            <a:ln w="12700">
              <a:miter lim="400000"/>
            </a:ln>
          </p:spPr>
        </p:pic>
        <p:pic>
          <p:nvPicPr>
            <p:cNvPr id="20" name="Irelands_EU_SIFP_2014_2020_CMYK_3-01.png" descr="Irelands_EU_SIFP_2014_2020_CMYK_3-01.png">
              <a:extLst>
                <a:ext uri="{FF2B5EF4-FFF2-40B4-BE49-F238E27FC236}">
                  <a16:creationId xmlns:a16="http://schemas.microsoft.com/office/drawing/2014/main" id="{28DD9994-2D4F-FA48-B816-59922049E961}"/>
                </a:ext>
              </a:extLst>
            </p:cNvPr>
            <p:cNvPicPr>
              <a:picLocks noChangeAspect="1"/>
            </p:cNvPicPr>
            <p:nvPr/>
          </p:nvPicPr>
          <p:blipFill>
            <a:blip r:embed="rId4"/>
            <a:stretch>
              <a:fillRect/>
            </a:stretch>
          </p:blipFill>
          <p:spPr>
            <a:xfrm>
              <a:off x="11503903" y="7632092"/>
              <a:ext cx="2074965" cy="648072"/>
            </a:xfrm>
            <a:prstGeom prst="rect">
              <a:avLst/>
            </a:prstGeom>
            <a:ln w="12700">
              <a:miter lim="400000"/>
            </a:ln>
          </p:spPr>
        </p:pic>
        <p:pic>
          <p:nvPicPr>
            <p:cNvPr id="21" name="project 2040.png" descr="project 2040.png">
              <a:extLst>
                <a:ext uri="{FF2B5EF4-FFF2-40B4-BE49-F238E27FC236}">
                  <a16:creationId xmlns:a16="http://schemas.microsoft.com/office/drawing/2014/main" id="{6999AA18-4221-4E4C-B9C0-228F3C2A61E8}"/>
                </a:ext>
              </a:extLst>
            </p:cNvPr>
            <p:cNvPicPr>
              <a:picLocks noChangeAspect="1"/>
            </p:cNvPicPr>
            <p:nvPr/>
          </p:nvPicPr>
          <p:blipFill>
            <a:blip r:embed="rId5"/>
            <a:stretch>
              <a:fillRect/>
            </a:stretch>
          </p:blipFill>
          <p:spPr>
            <a:xfrm>
              <a:off x="7869525" y="7414385"/>
              <a:ext cx="3321117" cy="1083486"/>
            </a:xfrm>
            <a:prstGeom prst="rect">
              <a:avLst/>
            </a:prstGeom>
            <a:ln w="12700">
              <a:miter lim="400000"/>
            </a:ln>
          </p:spPr>
        </p:pic>
      </p:grpSp>
      <p:pic>
        <p:nvPicPr>
          <p:cNvPr id="14" name="UCC-LOGO.png" descr="UCC-LOGO.png">
            <a:extLst>
              <a:ext uri="{FF2B5EF4-FFF2-40B4-BE49-F238E27FC236}">
                <a16:creationId xmlns:a16="http://schemas.microsoft.com/office/drawing/2014/main" id="{802B84D5-98BA-9944-ACF4-B6F14508898D}"/>
              </a:ext>
            </a:extLst>
          </p:cNvPr>
          <p:cNvPicPr>
            <a:picLocks noChangeAspect="1"/>
          </p:cNvPicPr>
          <p:nvPr userDrawn="1"/>
        </p:nvPicPr>
        <p:blipFill>
          <a:blip r:embed="rId6"/>
          <a:stretch>
            <a:fillRect/>
          </a:stretch>
        </p:blipFill>
        <p:spPr>
          <a:xfrm>
            <a:off x="467091" y="5959310"/>
            <a:ext cx="998577" cy="500091"/>
          </a:xfrm>
          <a:prstGeom prst="rect">
            <a:avLst/>
          </a:prstGeom>
          <a:ln w="12700">
            <a:miter lim="400000"/>
          </a:ln>
        </p:spPr>
      </p:pic>
      <p:sp>
        <p:nvSpPr>
          <p:cNvPr id="16" name="Rectangle 15">
            <a:extLst>
              <a:ext uri="{FF2B5EF4-FFF2-40B4-BE49-F238E27FC236}">
                <a16:creationId xmlns:a16="http://schemas.microsoft.com/office/drawing/2014/main" id="{C3218B6E-8182-7C4C-9A4E-FF44DABB2C09}"/>
              </a:ext>
            </a:extLst>
          </p:cNvPr>
          <p:cNvSpPr/>
          <p:nvPr userDrawn="1"/>
        </p:nvSpPr>
        <p:spPr>
          <a:xfrm>
            <a:off x="299928" y="-1"/>
            <a:ext cx="2318052" cy="139372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v</a:t>
            </a:r>
          </a:p>
        </p:txBody>
      </p:sp>
      <p:pic>
        <p:nvPicPr>
          <p:cNvPr id="22" name="Tyndall-Logo-RGB.png" descr="Tyndall-Logo-RGB.png">
            <a:extLst>
              <a:ext uri="{FF2B5EF4-FFF2-40B4-BE49-F238E27FC236}">
                <a16:creationId xmlns:a16="http://schemas.microsoft.com/office/drawing/2014/main" id="{758EC6FC-55EA-B843-B80E-D306D4DEB761}"/>
              </a:ext>
            </a:extLst>
          </p:cNvPr>
          <p:cNvPicPr>
            <a:picLocks noChangeAspect="1"/>
          </p:cNvPicPr>
          <p:nvPr userDrawn="1"/>
        </p:nvPicPr>
        <p:blipFill>
          <a:blip r:embed="rId7"/>
          <a:stretch>
            <a:fillRect/>
          </a:stretch>
        </p:blipFill>
        <p:spPr>
          <a:xfrm>
            <a:off x="405467" y="460233"/>
            <a:ext cx="2277469" cy="883318"/>
          </a:xfrm>
          <a:prstGeom prst="rect">
            <a:avLst/>
          </a:prstGeom>
          <a:ln w="12700">
            <a:miter lim="400000"/>
          </a:ln>
        </p:spPr>
      </p:pic>
    </p:spTree>
    <p:extLst>
      <p:ext uri="{BB962C8B-B14F-4D97-AF65-F5344CB8AC3E}">
        <p14:creationId xmlns:p14="http://schemas.microsoft.com/office/powerpoint/2010/main" val="22822247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Title Slide white with image">
    <p:spTree>
      <p:nvGrpSpPr>
        <p:cNvPr id="1" name=""/>
        <p:cNvGrpSpPr/>
        <p:nvPr/>
      </p:nvGrpSpPr>
      <p:grpSpPr>
        <a:xfrm>
          <a:off x="0" y="0"/>
          <a:ext cx="0" cy="0"/>
          <a:chOff x="0" y="0"/>
          <a:chExt cx="0" cy="0"/>
        </a:xfrm>
      </p:grpSpPr>
      <p:sp>
        <p:nvSpPr>
          <p:cNvPr id="16" name="Picture Placeholder 15">
            <a:extLst>
              <a:ext uri="{FF2B5EF4-FFF2-40B4-BE49-F238E27FC236}">
                <a16:creationId xmlns:a16="http://schemas.microsoft.com/office/drawing/2014/main" id="{2283A113-6404-FC44-AB56-A72C57937D0E}"/>
              </a:ext>
            </a:extLst>
          </p:cNvPr>
          <p:cNvSpPr>
            <a:spLocks noGrp="1"/>
          </p:cNvSpPr>
          <p:nvPr>
            <p:ph type="pic" sz="quarter" idx="10"/>
          </p:nvPr>
        </p:nvSpPr>
        <p:spPr>
          <a:xfrm>
            <a:off x="7036904" y="0"/>
            <a:ext cx="5155096" cy="5516218"/>
          </a:xfrm>
        </p:spPr>
        <p:txBody>
          <a:bodyPr/>
          <a:lstStyle/>
          <a:p>
            <a:endParaRPr lang="en-US" dirty="0"/>
          </a:p>
        </p:txBody>
      </p:sp>
      <p:sp>
        <p:nvSpPr>
          <p:cNvPr id="2" name="Title 1">
            <a:extLst>
              <a:ext uri="{FF2B5EF4-FFF2-40B4-BE49-F238E27FC236}">
                <a16:creationId xmlns:a16="http://schemas.microsoft.com/office/drawing/2014/main" id="{A449B12F-BE85-AE4C-93B3-49E88920C900}"/>
              </a:ext>
            </a:extLst>
          </p:cNvPr>
          <p:cNvSpPr>
            <a:spLocks noGrp="1"/>
          </p:cNvSpPr>
          <p:nvPr>
            <p:ph type="ctrTitle" hasCustomPrompt="1"/>
          </p:nvPr>
        </p:nvSpPr>
        <p:spPr>
          <a:xfrm>
            <a:off x="467091" y="1380781"/>
            <a:ext cx="6187709" cy="2387600"/>
          </a:xfrm>
        </p:spPr>
        <p:txBody>
          <a:bodyPr anchor="b">
            <a:normAutofit/>
          </a:bodyPr>
          <a:lstStyle>
            <a:lvl1pPr algn="l">
              <a:defRPr sz="3400">
                <a:solidFill>
                  <a:srgbClr val="1D428B"/>
                </a:solidFill>
              </a:defRPr>
            </a:lvl1pPr>
          </a:lstStyle>
          <a:p>
            <a:r>
              <a:rPr lang="en-US" dirty="0"/>
              <a:t>Title slide</a:t>
            </a:r>
          </a:p>
        </p:txBody>
      </p:sp>
      <p:sp>
        <p:nvSpPr>
          <p:cNvPr id="3" name="Subtitle 2">
            <a:extLst>
              <a:ext uri="{FF2B5EF4-FFF2-40B4-BE49-F238E27FC236}">
                <a16:creationId xmlns:a16="http://schemas.microsoft.com/office/drawing/2014/main" id="{DB50A203-99BB-8245-A168-582F8C50E851}"/>
              </a:ext>
            </a:extLst>
          </p:cNvPr>
          <p:cNvSpPr>
            <a:spLocks noGrp="1"/>
          </p:cNvSpPr>
          <p:nvPr>
            <p:ph type="subTitle" idx="1" hasCustomPrompt="1"/>
          </p:nvPr>
        </p:nvSpPr>
        <p:spPr>
          <a:xfrm>
            <a:off x="467091" y="3860456"/>
            <a:ext cx="6187709" cy="1655762"/>
          </a:xfrm>
        </p:spPr>
        <p:txBody>
          <a:bodyPr>
            <a:normAutofit/>
          </a:bodyPr>
          <a:lstStyle>
            <a:lvl1pPr marL="0" indent="0" algn="l">
              <a:buNone/>
              <a:defRPr sz="2000">
                <a:solidFill>
                  <a:srgbClr val="5B6770"/>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latin typeface="Calibri" panose="020F0502020204030204" pitchFamily="34" charset="0"/>
                <a:cs typeface="Calibri" panose="020F0502020204030204" pitchFamily="34" charset="0"/>
              </a:rPr>
              <a:t>Sub-heading</a:t>
            </a:r>
          </a:p>
        </p:txBody>
      </p:sp>
      <p:grpSp>
        <p:nvGrpSpPr>
          <p:cNvPr id="14" name="Group 13">
            <a:extLst>
              <a:ext uri="{FF2B5EF4-FFF2-40B4-BE49-F238E27FC236}">
                <a16:creationId xmlns:a16="http://schemas.microsoft.com/office/drawing/2014/main" id="{F0AEEAC7-8FE9-CE48-B882-1D867D416DE8}"/>
              </a:ext>
            </a:extLst>
          </p:cNvPr>
          <p:cNvGrpSpPr/>
          <p:nvPr userDrawn="1"/>
        </p:nvGrpSpPr>
        <p:grpSpPr>
          <a:xfrm>
            <a:off x="7371732" y="5856270"/>
            <a:ext cx="4820268" cy="618382"/>
            <a:chOff x="7812442" y="7321127"/>
            <a:chExt cx="9899621" cy="1270001"/>
          </a:xfrm>
        </p:grpSpPr>
        <p:sp>
          <p:nvSpPr>
            <p:cNvPr id="15" name="Rectangle">
              <a:extLst>
                <a:ext uri="{FF2B5EF4-FFF2-40B4-BE49-F238E27FC236}">
                  <a16:creationId xmlns:a16="http://schemas.microsoft.com/office/drawing/2014/main" id="{93DF050A-B8F0-5944-AA80-062B4E1145BC}"/>
                </a:ext>
              </a:extLst>
            </p:cNvPr>
            <p:cNvSpPr/>
            <p:nvPr/>
          </p:nvSpPr>
          <p:spPr>
            <a:xfrm>
              <a:off x="7812442" y="7321127"/>
              <a:ext cx="9899621" cy="1270001"/>
            </a:xfrm>
            <a:prstGeom prst="rect">
              <a:avLst/>
            </a:prstGeom>
            <a:solidFill>
              <a:srgbClr val="FFFFFF"/>
            </a:solidFill>
            <a:ln w="12700">
              <a:miter lim="400000"/>
            </a:ln>
          </p:spPr>
          <p:txBody>
            <a:bodyPr lIns="71437" tIns="71437" rIns="71437" bIns="71437" anchor="ctr"/>
            <a:lstStyle/>
            <a:p>
              <a:pPr algn="ctr">
                <a:spcBef>
                  <a:spcPts val="0"/>
                </a:spcBef>
                <a:defRPr sz="3000">
                  <a:solidFill>
                    <a:srgbClr val="FFFFFF"/>
                  </a:solidFill>
                  <a:latin typeface="Helvetica Neue Medium"/>
                  <a:ea typeface="Helvetica Neue Medium"/>
                  <a:cs typeface="Helvetica Neue Medium"/>
                  <a:sym typeface="Helvetica Neue Medium"/>
                </a:defRPr>
              </a:pPr>
              <a:endParaRPr dirty="0"/>
            </a:p>
          </p:txBody>
        </p:sp>
        <p:pic>
          <p:nvPicPr>
            <p:cNvPr id="17" name="LogoESIF_Col_Landscape.png" descr="LogoESIF_Col_Landscape.png">
              <a:extLst>
                <a:ext uri="{FF2B5EF4-FFF2-40B4-BE49-F238E27FC236}">
                  <a16:creationId xmlns:a16="http://schemas.microsoft.com/office/drawing/2014/main" id="{C21280A5-9499-A746-84C8-315B12406375}"/>
                </a:ext>
              </a:extLst>
            </p:cNvPr>
            <p:cNvPicPr>
              <a:picLocks noChangeAspect="1"/>
            </p:cNvPicPr>
            <p:nvPr/>
          </p:nvPicPr>
          <p:blipFill>
            <a:blip r:embed="rId2"/>
            <a:stretch>
              <a:fillRect/>
            </a:stretch>
          </p:blipFill>
          <p:spPr>
            <a:xfrm>
              <a:off x="13933383" y="7638102"/>
              <a:ext cx="2839675" cy="636051"/>
            </a:xfrm>
            <a:prstGeom prst="rect">
              <a:avLst/>
            </a:prstGeom>
            <a:ln w="12700">
              <a:miter lim="400000"/>
            </a:ln>
          </p:spPr>
        </p:pic>
        <p:pic>
          <p:nvPicPr>
            <p:cNvPr id="18" name="Irelands_EU_SIFP_2014_2020_CMYK_3-01.png" descr="Irelands_EU_SIFP_2014_2020_CMYK_3-01.png">
              <a:extLst>
                <a:ext uri="{FF2B5EF4-FFF2-40B4-BE49-F238E27FC236}">
                  <a16:creationId xmlns:a16="http://schemas.microsoft.com/office/drawing/2014/main" id="{EF6CE0D6-ABF5-4848-9DC4-4D3009D7DF48}"/>
                </a:ext>
              </a:extLst>
            </p:cNvPr>
            <p:cNvPicPr>
              <a:picLocks noChangeAspect="1"/>
            </p:cNvPicPr>
            <p:nvPr/>
          </p:nvPicPr>
          <p:blipFill>
            <a:blip r:embed="rId3"/>
            <a:stretch>
              <a:fillRect/>
            </a:stretch>
          </p:blipFill>
          <p:spPr>
            <a:xfrm>
              <a:off x="11503903" y="7632092"/>
              <a:ext cx="2074965" cy="648072"/>
            </a:xfrm>
            <a:prstGeom prst="rect">
              <a:avLst/>
            </a:prstGeom>
            <a:ln w="12700">
              <a:miter lim="400000"/>
            </a:ln>
          </p:spPr>
        </p:pic>
        <p:pic>
          <p:nvPicPr>
            <p:cNvPr id="19" name="project 2040.png" descr="project 2040.png">
              <a:extLst>
                <a:ext uri="{FF2B5EF4-FFF2-40B4-BE49-F238E27FC236}">
                  <a16:creationId xmlns:a16="http://schemas.microsoft.com/office/drawing/2014/main" id="{9C92F6CF-1E2B-8849-9A5C-1C0A54B71483}"/>
                </a:ext>
              </a:extLst>
            </p:cNvPr>
            <p:cNvPicPr>
              <a:picLocks noChangeAspect="1"/>
            </p:cNvPicPr>
            <p:nvPr/>
          </p:nvPicPr>
          <p:blipFill>
            <a:blip r:embed="rId4"/>
            <a:stretch>
              <a:fillRect/>
            </a:stretch>
          </p:blipFill>
          <p:spPr>
            <a:xfrm>
              <a:off x="7869525" y="7414385"/>
              <a:ext cx="3321117" cy="1083486"/>
            </a:xfrm>
            <a:prstGeom prst="rect">
              <a:avLst/>
            </a:prstGeom>
            <a:ln w="12700">
              <a:miter lim="400000"/>
            </a:ln>
          </p:spPr>
        </p:pic>
      </p:grpSp>
      <p:pic>
        <p:nvPicPr>
          <p:cNvPr id="12" name="UCC-LOGO.png" descr="UCC-LOGO.png">
            <a:extLst>
              <a:ext uri="{FF2B5EF4-FFF2-40B4-BE49-F238E27FC236}">
                <a16:creationId xmlns:a16="http://schemas.microsoft.com/office/drawing/2014/main" id="{17A64194-63D4-5045-A5DD-FE5D42D12E58}"/>
              </a:ext>
            </a:extLst>
          </p:cNvPr>
          <p:cNvPicPr>
            <a:picLocks noChangeAspect="1"/>
          </p:cNvPicPr>
          <p:nvPr userDrawn="1"/>
        </p:nvPicPr>
        <p:blipFill>
          <a:blip r:embed="rId5"/>
          <a:stretch>
            <a:fillRect/>
          </a:stretch>
        </p:blipFill>
        <p:spPr>
          <a:xfrm>
            <a:off x="467091" y="5959310"/>
            <a:ext cx="998577" cy="500091"/>
          </a:xfrm>
          <a:prstGeom prst="rect">
            <a:avLst/>
          </a:prstGeom>
          <a:ln w="12700">
            <a:miter lim="400000"/>
          </a:ln>
        </p:spPr>
      </p:pic>
      <p:pic>
        <p:nvPicPr>
          <p:cNvPr id="20" name="Tyndall-Logo-RGB.png" descr="Tyndall-Logo-RGB.png">
            <a:extLst>
              <a:ext uri="{FF2B5EF4-FFF2-40B4-BE49-F238E27FC236}">
                <a16:creationId xmlns:a16="http://schemas.microsoft.com/office/drawing/2014/main" id="{E27F25BD-9FD7-6F41-B4A9-8DCD51E459D9}"/>
              </a:ext>
            </a:extLst>
          </p:cNvPr>
          <p:cNvPicPr>
            <a:picLocks noChangeAspect="1"/>
          </p:cNvPicPr>
          <p:nvPr userDrawn="1"/>
        </p:nvPicPr>
        <p:blipFill>
          <a:blip r:embed="rId6"/>
          <a:stretch>
            <a:fillRect/>
          </a:stretch>
        </p:blipFill>
        <p:spPr>
          <a:xfrm>
            <a:off x="405467" y="460233"/>
            <a:ext cx="2277469" cy="883318"/>
          </a:xfrm>
          <a:prstGeom prst="rect">
            <a:avLst/>
          </a:prstGeom>
          <a:ln w="12700">
            <a:miter lim="400000"/>
          </a:ln>
        </p:spPr>
      </p:pic>
    </p:spTree>
    <p:extLst>
      <p:ext uri="{BB962C8B-B14F-4D97-AF65-F5344CB8AC3E}">
        <p14:creationId xmlns:p14="http://schemas.microsoft.com/office/powerpoint/2010/main" val="12560423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9454C-FCC4-8E46-BF9B-03946AD9F940}"/>
              </a:ext>
            </a:extLst>
          </p:cNvPr>
          <p:cNvSpPr>
            <a:spLocks noGrp="1"/>
          </p:cNvSpPr>
          <p:nvPr>
            <p:ph type="title"/>
          </p:nvPr>
        </p:nvSpPr>
        <p:spPr/>
        <p:txBody>
          <a:bodyPr/>
          <a:lstStyle/>
          <a:p>
            <a:r>
              <a:rPr lang="en-GB" dirty="0"/>
              <a:t>Click to edit Master title style</a:t>
            </a:r>
            <a:endParaRPr lang="en-US" dirty="0"/>
          </a:p>
        </p:txBody>
      </p:sp>
      <p:sp>
        <p:nvSpPr>
          <p:cNvPr id="3" name="Content Placeholder 2">
            <a:extLst>
              <a:ext uri="{FF2B5EF4-FFF2-40B4-BE49-F238E27FC236}">
                <a16:creationId xmlns:a16="http://schemas.microsoft.com/office/drawing/2014/main" id="{9B32C37A-6144-1849-B0A6-7D2493F325C9}"/>
              </a:ext>
            </a:extLst>
          </p:cNvPr>
          <p:cNvSpPr>
            <a:spLocks noGrp="1"/>
          </p:cNvSpPr>
          <p:nvPr>
            <p:ph idx="1"/>
          </p:nvPr>
        </p:nvSpPr>
        <p:spPr/>
        <p:txBody>
          <a:bodyPr/>
          <a:lstStyle>
            <a:lvl1pPr>
              <a:defRPr>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5" name="Footer Placeholder 4">
            <a:extLst>
              <a:ext uri="{FF2B5EF4-FFF2-40B4-BE49-F238E27FC236}">
                <a16:creationId xmlns:a16="http://schemas.microsoft.com/office/drawing/2014/main" id="{919FFC38-6A3C-204E-89FA-33C05DDB17F0}"/>
              </a:ext>
            </a:extLst>
          </p:cNvPr>
          <p:cNvSpPr>
            <a:spLocks noGrp="1"/>
          </p:cNvSpPr>
          <p:nvPr>
            <p:ph type="ftr" sz="quarter" idx="11"/>
          </p:nvPr>
        </p:nvSpPr>
        <p:spPr>
          <a:xfrm>
            <a:off x="450000" y="6356350"/>
            <a:ext cx="7703400" cy="365125"/>
          </a:xfrm>
        </p:spPr>
        <p:txBody>
          <a:bodyPr/>
          <a:lstStyle>
            <a:lvl1pPr>
              <a:defRPr>
                <a:latin typeface="+mj-lt"/>
              </a:defRPr>
            </a:lvl1pPr>
          </a:lstStyle>
          <a:p>
            <a:endParaRPr lang="en-US" dirty="0"/>
          </a:p>
        </p:txBody>
      </p:sp>
      <p:sp>
        <p:nvSpPr>
          <p:cNvPr id="6" name="Slide Number Placeholder 5">
            <a:extLst>
              <a:ext uri="{FF2B5EF4-FFF2-40B4-BE49-F238E27FC236}">
                <a16:creationId xmlns:a16="http://schemas.microsoft.com/office/drawing/2014/main" id="{82BE163E-6F73-1A49-8E62-72EE5697E134}"/>
              </a:ext>
            </a:extLst>
          </p:cNvPr>
          <p:cNvSpPr>
            <a:spLocks noGrp="1"/>
          </p:cNvSpPr>
          <p:nvPr>
            <p:ph type="sldNum" sz="quarter" idx="12"/>
          </p:nvPr>
        </p:nvSpPr>
        <p:spPr>
          <a:xfrm>
            <a:off x="8610600" y="6356350"/>
            <a:ext cx="3131400" cy="365125"/>
          </a:xfrm>
        </p:spPr>
        <p:txBody>
          <a:bodyPr/>
          <a:lstStyle>
            <a:lvl1pPr>
              <a:defRPr>
                <a:latin typeface="+mj-lt"/>
              </a:defRPr>
            </a:lvl1pPr>
          </a:lstStyle>
          <a:p>
            <a:fld id="{8ABE9924-9C5E-0140-A59E-99F9AC1E36CD}" type="slidenum">
              <a:rPr lang="en-US" smtClean="0"/>
              <a:pPr/>
              <a:t>‹#›</a:t>
            </a:fld>
            <a:endParaRPr lang="en-US" dirty="0"/>
          </a:p>
        </p:txBody>
      </p:sp>
      <p:pic>
        <p:nvPicPr>
          <p:cNvPr id="9" name="Tyndall-Logo-RGB.png" descr="Tyndall-Logo-RGB.png">
            <a:extLst>
              <a:ext uri="{FF2B5EF4-FFF2-40B4-BE49-F238E27FC236}">
                <a16:creationId xmlns:a16="http://schemas.microsoft.com/office/drawing/2014/main" id="{87937261-52F6-344D-8C30-85EF59C50716}"/>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0095903" y="239341"/>
            <a:ext cx="1842907" cy="713626"/>
          </a:xfrm>
          <a:prstGeom prst="rect">
            <a:avLst/>
          </a:prstGeom>
          <a:ln w="12700">
            <a:miter lim="400000"/>
          </a:ln>
        </p:spPr>
      </p:pic>
    </p:spTree>
    <p:extLst>
      <p:ext uri="{BB962C8B-B14F-4D97-AF65-F5344CB8AC3E}">
        <p14:creationId xmlns:p14="http://schemas.microsoft.com/office/powerpoint/2010/main" val="4114153952"/>
      </p:ext>
    </p:extLst>
  </p:cSld>
  <p:clrMapOvr>
    <a:masterClrMapping/>
  </p:clrMapOvr>
  <p:extLst>
    <p:ext uri="{DCECCB84-F9BA-43D5-87BE-67443E8EF086}">
      <p15:sldGuideLst xmlns:p15="http://schemas.microsoft.com/office/powerpoint/2012/main">
        <p15:guide id="1" orient="horz" pos="232"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Title and Content blue">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9454C-FCC4-8E46-BF9B-03946AD9F940}"/>
              </a:ext>
            </a:extLst>
          </p:cNvPr>
          <p:cNvSpPr>
            <a:spLocks noGrp="1"/>
          </p:cNvSpPr>
          <p:nvPr>
            <p:ph type="title"/>
          </p:nvPr>
        </p:nvSpPr>
        <p:spPr/>
        <p:txBody>
          <a:bodyPr/>
          <a:lstStyle>
            <a:lvl1pPr>
              <a:defRPr>
                <a:solidFill>
                  <a:schemeClr val="accent1"/>
                </a:solidFill>
              </a:defRPr>
            </a:lvl1pPr>
          </a:lstStyle>
          <a:p>
            <a:r>
              <a:rPr lang="en-GB" dirty="0"/>
              <a:t>Click to edit Master title style</a:t>
            </a:r>
            <a:endParaRPr lang="en-US" dirty="0"/>
          </a:p>
        </p:txBody>
      </p:sp>
      <p:sp>
        <p:nvSpPr>
          <p:cNvPr id="3" name="Content Placeholder 2">
            <a:extLst>
              <a:ext uri="{FF2B5EF4-FFF2-40B4-BE49-F238E27FC236}">
                <a16:creationId xmlns:a16="http://schemas.microsoft.com/office/drawing/2014/main" id="{9B32C37A-6144-1849-B0A6-7D2493F325C9}"/>
              </a:ext>
            </a:extLst>
          </p:cNvPr>
          <p:cNvSpPr>
            <a:spLocks noGrp="1"/>
          </p:cNvSpPr>
          <p:nvPr>
            <p:ph idx="1"/>
          </p:nvPr>
        </p:nvSpPr>
        <p:spPr/>
        <p:txBody>
          <a:bodyPr/>
          <a:lstStyle>
            <a:lvl1pPr>
              <a:buClr>
                <a:schemeClr val="bg1"/>
              </a:buClr>
              <a:defRPr>
                <a:solidFill>
                  <a:schemeClr val="bg1"/>
                </a:solidFill>
                <a:latin typeface="+mj-lt"/>
              </a:defRPr>
            </a:lvl1pPr>
            <a:lvl2pPr>
              <a:buClr>
                <a:schemeClr val="bg1"/>
              </a:buClr>
              <a:defRPr>
                <a:solidFill>
                  <a:schemeClr val="bg1"/>
                </a:solidFill>
                <a:latin typeface="+mj-lt"/>
              </a:defRPr>
            </a:lvl2pPr>
            <a:lvl3pPr>
              <a:buClr>
                <a:schemeClr val="bg1"/>
              </a:buClr>
              <a:defRPr>
                <a:solidFill>
                  <a:schemeClr val="bg1"/>
                </a:solidFill>
                <a:latin typeface="+mj-lt"/>
              </a:defRPr>
            </a:lvl3pPr>
            <a:lvl4pPr>
              <a:buClr>
                <a:schemeClr val="bg1"/>
              </a:buClr>
              <a:defRPr>
                <a:solidFill>
                  <a:schemeClr val="bg1"/>
                </a:solidFill>
                <a:latin typeface="+mj-lt"/>
              </a:defRPr>
            </a:lvl4pPr>
            <a:lvl5pPr>
              <a:buClr>
                <a:schemeClr val="bg1"/>
              </a:buClr>
              <a:defRPr>
                <a:solidFill>
                  <a:schemeClr val="bg1"/>
                </a:solidFill>
                <a:latin typeface="+mj-lt"/>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5" name="Footer Placeholder 4">
            <a:extLst>
              <a:ext uri="{FF2B5EF4-FFF2-40B4-BE49-F238E27FC236}">
                <a16:creationId xmlns:a16="http://schemas.microsoft.com/office/drawing/2014/main" id="{919FFC38-6A3C-204E-89FA-33C05DDB17F0}"/>
              </a:ext>
            </a:extLst>
          </p:cNvPr>
          <p:cNvSpPr>
            <a:spLocks noGrp="1"/>
          </p:cNvSpPr>
          <p:nvPr>
            <p:ph type="ftr" sz="quarter" idx="11"/>
          </p:nvPr>
        </p:nvSpPr>
        <p:spPr>
          <a:xfrm>
            <a:off x="450000" y="6356350"/>
            <a:ext cx="7703400" cy="365125"/>
          </a:xfrm>
        </p:spPr>
        <p:txBody>
          <a:bodyPr/>
          <a:lstStyle>
            <a:lvl1pPr>
              <a:defRPr>
                <a:solidFill>
                  <a:schemeClr val="bg1"/>
                </a:solidFill>
                <a:latin typeface="+mj-lt"/>
              </a:defRPr>
            </a:lvl1pPr>
          </a:lstStyle>
          <a:p>
            <a:endParaRPr lang="en-US" dirty="0"/>
          </a:p>
        </p:txBody>
      </p:sp>
      <p:sp>
        <p:nvSpPr>
          <p:cNvPr id="6" name="Slide Number Placeholder 5">
            <a:extLst>
              <a:ext uri="{FF2B5EF4-FFF2-40B4-BE49-F238E27FC236}">
                <a16:creationId xmlns:a16="http://schemas.microsoft.com/office/drawing/2014/main" id="{82BE163E-6F73-1A49-8E62-72EE5697E134}"/>
              </a:ext>
            </a:extLst>
          </p:cNvPr>
          <p:cNvSpPr>
            <a:spLocks noGrp="1"/>
          </p:cNvSpPr>
          <p:nvPr>
            <p:ph type="sldNum" sz="quarter" idx="12"/>
          </p:nvPr>
        </p:nvSpPr>
        <p:spPr>
          <a:xfrm>
            <a:off x="8610600" y="6356350"/>
            <a:ext cx="3131400" cy="365125"/>
          </a:xfrm>
        </p:spPr>
        <p:txBody>
          <a:bodyPr/>
          <a:lstStyle>
            <a:lvl1pPr>
              <a:defRPr>
                <a:solidFill>
                  <a:schemeClr val="bg1"/>
                </a:solidFill>
                <a:latin typeface="+mj-lt"/>
              </a:defRPr>
            </a:lvl1pPr>
          </a:lstStyle>
          <a:p>
            <a:fld id="{8ABE9924-9C5E-0140-A59E-99F9AC1E36CD}" type="slidenum">
              <a:rPr lang="en-US" smtClean="0"/>
              <a:pPr/>
              <a:t>‹#›</a:t>
            </a:fld>
            <a:endParaRPr lang="en-US" dirty="0"/>
          </a:p>
        </p:txBody>
      </p:sp>
      <p:pic>
        <p:nvPicPr>
          <p:cNvPr id="9" name="Tyndall-Logo-White.png" descr="Tyndall-Logo-White.png">
            <a:extLst>
              <a:ext uri="{FF2B5EF4-FFF2-40B4-BE49-F238E27FC236}">
                <a16:creationId xmlns:a16="http://schemas.microsoft.com/office/drawing/2014/main" id="{F06E1B25-02A4-C24A-A4D0-5F60A61610CD}"/>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0095903" y="239341"/>
            <a:ext cx="1842907" cy="713626"/>
          </a:xfrm>
          <a:prstGeom prst="rect">
            <a:avLst/>
          </a:prstGeom>
          <a:ln w="12700">
            <a:miter lim="400000"/>
          </a:ln>
        </p:spPr>
      </p:pic>
    </p:spTree>
    <p:extLst>
      <p:ext uri="{BB962C8B-B14F-4D97-AF65-F5344CB8AC3E}">
        <p14:creationId xmlns:p14="http://schemas.microsoft.com/office/powerpoint/2010/main" val="10543679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Title and Content green">
    <p:bg>
      <p:bgPr>
        <a:solidFill>
          <a:schemeClr val="accent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9454C-FCC4-8E46-BF9B-03946AD9F940}"/>
              </a:ext>
            </a:extLst>
          </p:cNvPr>
          <p:cNvSpPr>
            <a:spLocks noGrp="1"/>
          </p:cNvSpPr>
          <p:nvPr>
            <p:ph type="title"/>
          </p:nvPr>
        </p:nvSpPr>
        <p:spPr/>
        <p:txBody>
          <a:bodyPr/>
          <a:lstStyle>
            <a:lvl1pPr>
              <a:defRPr>
                <a:solidFill>
                  <a:schemeClr val="bg1"/>
                </a:solidFill>
              </a:defRPr>
            </a:lvl1pPr>
          </a:lstStyle>
          <a:p>
            <a:r>
              <a:rPr lang="en-GB" dirty="0"/>
              <a:t>Click to edit Master title style</a:t>
            </a:r>
            <a:endParaRPr lang="en-US" dirty="0"/>
          </a:p>
        </p:txBody>
      </p:sp>
      <p:sp>
        <p:nvSpPr>
          <p:cNvPr id="3" name="Content Placeholder 2">
            <a:extLst>
              <a:ext uri="{FF2B5EF4-FFF2-40B4-BE49-F238E27FC236}">
                <a16:creationId xmlns:a16="http://schemas.microsoft.com/office/drawing/2014/main" id="{9B32C37A-6144-1849-B0A6-7D2493F325C9}"/>
              </a:ext>
            </a:extLst>
          </p:cNvPr>
          <p:cNvSpPr>
            <a:spLocks noGrp="1"/>
          </p:cNvSpPr>
          <p:nvPr>
            <p:ph idx="1"/>
          </p:nvPr>
        </p:nvSpPr>
        <p:spPr/>
        <p:txBody>
          <a:bodyPr/>
          <a:lstStyle>
            <a:lvl1pPr>
              <a:buClr>
                <a:schemeClr val="bg1"/>
              </a:buClr>
              <a:defRPr>
                <a:solidFill>
                  <a:schemeClr val="bg1"/>
                </a:solidFill>
                <a:latin typeface="+mj-lt"/>
              </a:defRPr>
            </a:lvl1pPr>
            <a:lvl2pPr>
              <a:buClr>
                <a:schemeClr val="bg1"/>
              </a:buClr>
              <a:defRPr>
                <a:solidFill>
                  <a:schemeClr val="bg1"/>
                </a:solidFill>
                <a:latin typeface="+mj-lt"/>
              </a:defRPr>
            </a:lvl2pPr>
            <a:lvl3pPr>
              <a:buClr>
                <a:schemeClr val="bg1"/>
              </a:buClr>
              <a:defRPr>
                <a:solidFill>
                  <a:schemeClr val="bg1"/>
                </a:solidFill>
                <a:latin typeface="+mj-lt"/>
              </a:defRPr>
            </a:lvl3pPr>
            <a:lvl4pPr>
              <a:buClr>
                <a:schemeClr val="bg1"/>
              </a:buClr>
              <a:defRPr>
                <a:solidFill>
                  <a:schemeClr val="bg1"/>
                </a:solidFill>
                <a:latin typeface="+mj-lt"/>
              </a:defRPr>
            </a:lvl4pPr>
            <a:lvl5pPr>
              <a:buClr>
                <a:schemeClr val="bg1"/>
              </a:buClr>
              <a:defRPr>
                <a:solidFill>
                  <a:schemeClr val="bg1"/>
                </a:solidFill>
                <a:latin typeface="+mj-lt"/>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5" name="Footer Placeholder 4">
            <a:extLst>
              <a:ext uri="{FF2B5EF4-FFF2-40B4-BE49-F238E27FC236}">
                <a16:creationId xmlns:a16="http://schemas.microsoft.com/office/drawing/2014/main" id="{919FFC38-6A3C-204E-89FA-33C05DDB17F0}"/>
              </a:ext>
            </a:extLst>
          </p:cNvPr>
          <p:cNvSpPr>
            <a:spLocks noGrp="1"/>
          </p:cNvSpPr>
          <p:nvPr>
            <p:ph type="ftr" sz="quarter" idx="11"/>
          </p:nvPr>
        </p:nvSpPr>
        <p:spPr>
          <a:xfrm>
            <a:off x="450000" y="6356350"/>
            <a:ext cx="7703400" cy="365125"/>
          </a:xfrm>
        </p:spPr>
        <p:txBody>
          <a:bodyPr/>
          <a:lstStyle>
            <a:lvl1pPr>
              <a:defRPr>
                <a:solidFill>
                  <a:schemeClr val="bg1"/>
                </a:solidFill>
                <a:latin typeface="+mj-lt"/>
              </a:defRPr>
            </a:lvl1pPr>
          </a:lstStyle>
          <a:p>
            <a:endParaRPr lang="en-US" dirty="0"/>
          </a:p>
        </p:txBody>
      </p:sp>
      <p:sp>
        <p:nvSpPr>
          <p:cNvPr id="6" name="Slide Number Placeholder 5">
            <a:extLst>
              <a:ext uri="{FF2B5EF4-FFF2-40B4-BE49-F238E27FC236}">
                <a16:creationId xmlns:a16="http://schemas.microsoft.com/office/drawing/2014/main" id="{82BE163E-6F73-1A49-8E62-72EE5697E134}"/>
              </a:ext>
            </a:extLst>
          </p:cNvPr>
          <p:cNvSpPr>
            <a:spLocks noGrp="1"/>
          </p:cNvSpPr>
          <p:nvPr>
            <p:ph type="sldNum" sz="quarter" idx="12"/>
          </p:nvPr>
        </p:nvSpPr>
        <p:spPr>
          <a:xfrm>
            <a:off x="8610600" y="6356350"/>
            <a:ext cx="3131400" cy="365125"/>
          </a:xfrm>
        </p:spPr>
        <p:txBody>
          <a:bodyPr/>
          <a:lstStyle>
            <a:lvl1pPr>
              <a:defRPr>
                <a:solidFill>
                  <a:schemeClr val="bg1"/>
                </a:solidFill>
                <a:latin typeface="+mj-lt"/>
              </a:defRPr>
            </a:lvl1pPr>
          </a:lstStyle>
          <a:p>
            <a:fld id="{8ABE9924-9C5E-0140-A59E-99F9AC1E36CD}" type="slidenum">
              <a:rPr lang="en-US" smtClean="0"/>
              <a:pPr/>
              <a:t>‹#›</a:t>
            </a:fld>
            <a:endParaRPr lang="en-US" dirty="0"/>
          </a:p>
        </p:txBody>
      </p:sp>
      <p:pic>
        <p:nvPicPr>
          <p:cNvPr id="10" name="Tyndall-Logo-White.png" descr="Tyndall-Logo-White.png">
            <a:extLst>
              <a:ext uri="{FF2B5EF4-FFF2-40B4-BE49-F238E27FC236}">
                <a16:creationId xmlns:a16="http://schemas.microsoft.com/office/drawing/2014/main" id="{DF7387B3-1C3E-2944-8DCF-257293C1ED74}"/>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0095903" y="239341"/>
            <a:ext cx="1842907" cy="713626"/>
          </a:xfrm>
          <a:prstGeom prst="rect">
            <a:avLst/>
          </a:prstGeom>
          <a:ln w="12700">
            <a:miter lim="400000"/>
          </a:ln>
        </p:spPr>
      </p:pic>
    </p:spTree>
    <p:extLst>
      <p:ext uri="{BB962C8B-B14F-4D97-AF65-F5344CB8AC3E}">
        <p14:creationId xmlns:p14="http://schemas.microsoft.com/office/powerpoint/2010/main" val="81788464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Title and Content yellow">
    <p:bg>
      <p:bgPr>
        <a:solidFill>
          <a:srgbClr val="FFEC9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9454C-FCC4-8E46-BF9B-03946AD9F940}"/>
              </a:ext>
            </a:extLst>
          </p:cNvPr>
          <p:cNvSpPr>
            <a:spLocks noGrp="1"/>
          </p:cNvSpPr>
          <p:nvPr>
            <p:ph type="title"/>
          </p:nvPr>
        </p:nvSpPr>
        <p:spPr/>
        <p:txBody>
          <a:bodyPr/>
          <a:lstStyle>
            <a:lvl1pPr>
              <a:defRPr>
                <a:solidFill>
                  <a:schemeClr val="accent1"/>
                </a:solidFill>
              </a:defRPr>
            </a:lvl1pPr>
          </a:lstStyle>
          <a:p>
            <a:r>
              <a:rPr lang="en-GB" dirty="0"/>
              <a:t>Click to edit Master title style</a:t>
            </a:r>
            <a:endParaRPr lang="en-US" dirty="0"/>
          </a:p>
        </p:txBody>
      </p:sp>
      <p:sp>
        <p:nvSpPr>
          <p:cNvPr id="3" name="Content Placeholder 2">
            <a:extLst>
              <a:ext uri="{FF2B5EF4-FFF2-40B4-BE49-F238E27FC236}">
                <a16:creationId xmlns:a16="http://schemas.microsoft.com/office/drawing/2014/main" id="{9B32C37A-6144-1849-B0A6-7D2493F325C9}"/>
              </a:ext>
            </a:extLst>
          </p:cNvPr>
          <p:cNvSpPr>
            <a:spLocks noGrp="1"/>
          </p:cNvSpPr>
          <p:nvPr>
            <p:ph idx="1"/>
          </p:nvPr>
        </p:nvSpPr>
        <p:spPr/>
        <p:txBody>
          <a:bodyPr/>
          <a:lstStyle>
            <a:lvl1pPr>
              <a:buClr>
                <a:schemeClr val="accent2"/>
              </a:buClr>
              <a:defRPr>
                <a:solidFill>
                  <a:schemeClr val="tx1"/>
                </a:solidFill>
              </a:defRPr>
            </a:lvl1pPr>
            <a:lvl2pPr>
              <a:buClr>
                <a:schemeClr val="accent2"/>
              </a:buClr>
              <a:defRPr>
                <a:solidFill>
                  <a:schemeClr val="tx1"/>
                </a:solidFill>
              </a:defRPr>
            </a:lvl2pPr>
            <a:lvl3pPr>
              <a:buClr>
                <a:schemeClr val="accent2"/>
              </a:buClr>
              <a:defRPr>
                <a:solidFill>
                  <a:schemeClr val="tx1"/>
                </a:solidFill>
              </a:defRPr>
            </a:lvl3pPr>
            <a:lvl4pPr>
              <a:buClr>
                <a:schemeClr val="accent2"/>
              </a:buClr>
              <a:defRPr>
                <a:solidFill>
                  <a:schemeClr val="tx1"/>
                </a:solidFill>
              </a:defRPr>
            </a:lvl4pPr>
            <a:lvl5pPr>
              <a:buClr>
                <a:schemeClr val="accent2"/>
              </a:buClr>
              <a:defRPr>
                <a:solidFill>
                  <a:schemeClr val="tx1"/>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5" name="Footer Placeholder 4">
            <a:extLst>
              <a:ext uri="{FF2B5EF4-FFF2-40B4-BE49-F238E27FC236}">
                <a16:creationId xmlns:a16="http://schemas.microsoft.com/office/drawing/2014/main" id="{919FFC38-6A3C-204E-89FA-33C05DDB17F0}"/>
              </a:ext>
            </a:extLst>
          </p:cNvPr>
          <p:cNvSpPr>
            <a:spLocks noGrp="1"/>
          </p:cNvSpPr>
          <p:nvPr>
            <p:ph type="ftr" sz="quarter" idx="11"/>
          </p:nvPr>
        </p:nvSpPr>
        <p:spPr>
          <a:xfrm>
            <a:off x="450000" y="6356350"/>
            <a:ext cx="7703400" cy="365125"/>
          </a:xfrm>
        </p:spPr>
        <p:txBody>
          <a:bodyPr/>
          <a:lstStyle>
            <a:lvl1pPr>
              <a:defRPr>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82BE163E-6F73-1A49-8E62-72EE5697E134}"/>
              </a:ext>
            </a:extLst>
          </p:cNvPr>
          <p:cNvSpPr>
            <a:spLocks noGrp="1"/>
          </p:cNvSpPr>
          <p:nvPr>
            <p:ph type="sldNum" sz="quarter" idx="12"/>
          </p:nvPr>
        </p:nvSpPr>
        <p:spPr>
          <a:xfrm>
            <a:off x="8610600" y="6356350"/>
            <a:ext cx="3131400" cy="365125"/>
          </a:xfrm>
        </p:spPr>
        <p:txBody>
          <a:bodyPr/>
          <a:lstStyle>
            <a:lvl1pPr>
              <a:defRPr>
                <a:solidFill>
                  <a:schemeClr val="tx1"/>
                </a:solidFill>
              </a:defRPr>
            </a:lvl1pPr>
          </a:lstStyle>
          <a:p>
            <a:fld id="{8ABE9924-9C5E-0140-A59E-99F9AC1E36CD}" type="slidenum">
              <a:rPr lang="en-US" smtClean="0"/>
              <a:pPr/>
              <a:t>‹#›</a:t>
            </a:fld>
            <a:endParaRPr lang="en-US" dirty="0"/>
          </a:p>
        </p:txBody>
      </p:sp>
      <p:pic>
        <p:nvPicPr>
          <p:cNvPr id="11" name="Tyndall-Logo-RGB.png" descr="Tyndall-Logo-RGB.png">
            <a:extLst>
              <a:ext uri="{FF2B5EF4-FFF2-40B4-BE49-F238E27FC236}">
                <a16:creationId xmlns:a16="http://schemas.microsoft.com/office/drawing/2014/main" id="{624717C3-1E57-A44B-ACFF-6F3440D0E0B9}"/>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0095903" y="239341"/>
            <a:ext cx="1842907" cy="713626"/>
          </a:xfrm>
          <a:prstGeom prst="rect">
            <a:avLst/>
          </a:prstGeom>
          <a:ln w="12700">
            <a:miter lim="400000"/>
          </a:ln>
        </p:spPr>
      </p:pic>
    </p:spTree>
    <p:extLst>
      <p:ext uri="{BB962C8B-B14F-4D97-AF65-F5344CB8AC3E}">
        <p14:creationId xmlns:p14="http://schemas.microsoft.com/office/powerpoint/2010/main" val="239873840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with image">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FD8C498E-B84E-F04A-96D2-1FE5905C753B}"/>
              </a:ext>
            </a:extLst>
          </p:cNvPr>
          <p:cNvSpPr>
            <a:spLocks noGrp="1"/>
          </p:cNvSpPr>
          <p:nvPr>
            <p:ph type="pic" sz="quarter" idx="13"/>
          </p:nvPr>
        </p:nvSpPr>
        <p:spPr>
          <a:xfrm>
            <a:off x="7299325" y="0"/>
            <a:ext cx="4892675" cy="6858000"/>
          </a:xfrm>
        </p:spPr>
        <p:txBody>
          <a:bodyPr/>
          <a:lstStyle/>
          <a:p>
            <a:endParaRPr lang="en-US" dirty="0"/>
          </a:p>
        </p:txBody>
      </p:sp>
      <p:sp>
        <p:nvSpPr>
          <p:cNvPr id="2" name="Title 1">
            <a:extLst>
              <a:ext uri="{FF2B5EF4-FFF2-40B4-BE49-F238E27FC236}">
                <a16:creationId xmlns:a16="http://schemas.microsoft.com/office/drawing/2014/main" id="{9549454C-FCC4-8E46-BF9B-03946AD9F940}"/>
              </a:ext>
            </a:extLst>
          </p:cNvPr>
          <p:cNvSpPr>
            <a:spLocks noGrp="1"/>
          </p:cNvSpPr>
          <p:nvPr>
            <p:ph type="title"/>
          </p:nvPr>
        </p:nvSpPr>
        <p:spPr>
          <a:xfrm>
            <a:off x="450000" y="242418"/>
            <a:ext cx="6111221" cy="787314"/>
          </a:xfrm>
        </p:spPr>
        <p:txBody>
          <a:bodyPr/>
          <a:lstStyle/>
          <a:p>
            <a:r>
              <a:rPr lang="en-GB" dirty="0"/>
              <a:t>Click to edit Master title style</a:t>
            </a:r>
            <a:endParaRPr lang="en-US" dirty="0"/>
          </a:p>
        </p:txBody>
      </p:sp>
      <p:sp>
        <p:nvSpPr>
          <p:cNvPr id="3" name="Content Placeholder 2">
            <a:extLst>
              <a:ext uri="{FF2B5EF4-FFF2-40B4-BE49-F238E27FC236}">
                <a16:creationId xmlns:a16="http://schemas.microsoft.com/office/drawing/2014/main" id="{9B32C37A-6144-1849-B0A6-7D2493F325C9}"/>
              </a:ext>
            </a:extLst>
          </p:cNvPr>
          <p:cNvSpPr>
            <a:spLocks noGrp="1"/>
          </p:cNvSpPr>
          <p:nvPr>
            <p:ph idx="1"/>
          </p:nvPr>
        </p:nvSpPr>
        <p:spPr>
          <a:xfrm>
            <a:off x="450000" y="1152439"/>
            <a:ext cx="6111221" cy="5024524"/>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5" name="Footer Placeholder 4">
            <a:extLst>
              <a:ext uri="{FF2B5EF4-FFF2-40B4-BE49-F238E27FC236}">
                <a16:creationId xmlns:a16="http://schemas.microsoft.com/office/drawing/2014/main" id="{919FFC38-6A3C-204E-89FA-33C05DDB17F0}"/>
              </a:ext>
            </a:extLst>
          </p:cNvPr>
          <p:cNvSpPr>
            <a:spLocks noGrp="1"/>
          </p:cNvSpPr>
          <p:nvPr>
            <p:ph type="ftr" sz="quarter" idx="11"/>
          </p:nvPr>
        </p:nvSpPr>
        <p:spPr>
          <a:xfrm>
            <a:off x="450000" y="6356350"/>
            <a:ext cx="6111221" cy="365125"/>
          </a:xfrm>
        </p:spPr>
        <p:txBody>
          <a:bodyPr/>
          <a:lstStyle/>
          <a:p>
            <a:endParaRPr lang="en-US" dirty="0"/>
          </a:p>
        </p:txBody>
      </p:sp>
      <p:sp>
        <p:nvSpPr>
          <p:cNvPr id="6" name="Slide Number Placeholder 5">
            <a:extLst>
              <a:ext uri="{FF2B5EF4-FFF2-40B4-BE49-F238E27FC236}">
                <a16:creationId xmlns:a16="http://schemas.microsoft.com/office/drawing/2014/main" id="{82BE163E-6F73-1A49-8E62-72EE5697E134}"/>
              </a:ext>
            </a:extLst>
          </p:cNvPr>
          <p:cNvSpPr>
            <a:spLocks noGrp="1"/>
          </p:cNvSpPr>
          <p:nvPr>
            <p:ph type="sldNum" sz="quarter" idx="12"/>
          </p:nvPr>
        </p:nvSpPr>
        <p:spPr>
          <a:xfrm>
            <a:off x="8610600" y="6356350"/>
            <a:ext cx="3131400" cy="365125"/>
          </a:xfrm>
        </p:spPr>
        <p:txBody>
          <a:bodyPr/>
          <a:lstStyle/>
          <a:p>
            <a:fld id="{8ABE9924-9C5E-0140-A59E-99F9AC1E36CD}" type="slidenum">
              <a:rPr lang="en-US" smtClean="0"/>
              <a:t>‹#›</a:t>
            </a:fld>
            <a:endParaRPr lang="en-US" dirty="0"/>
          </a:p>
        </p:txBody>
      </p:sp>
    </p:spTree>
    <p:extLst>
      <p:ext uri="{BB962C8B-B14F-4D97-AF65-F5344CB8AC3E}">
        <p14:creationId xmlns:p14="http://schemas.microsoft.com/office/powerpoint/2010/main" val="249786155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with image blue">
    <p:bg>
      <p:bgPr>
        <a:solidFill>
          <a:schemeClr val="accent2"/>
        </a:solidFill>
        <a:effectLst/>
      </p:bgPr>
    </p:bg>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A4D321AA-831C-E348-9E4B-5A12B8DA63E2}"/>
              </a:ext>
            </a:extLst>
          </p:cNvPr>
          <p:cNvSpPr>
            <a:spLocks noGrp="1"/>
          </p:cNvSpPr>
          <p:nvPr>
            <p:ph type="pic" sz="quarter" idx="13"/>
          </p:nvPr>
        </p:nvSpPr>
        <p:spPr>
          <a:xfrm>
            <a:off x="7299325" y="0"/>
            <a:ext cx="4892675" cy="6858000"/>
          </a:xfrm>
        </p:spPr>
        <p:txBody>
          <a:bodyPr/>
          <a:lstStyle/>
          <a:p>
            <a:endParaRPr lang="en-US" dirty="0"/>
          </a:p>
        </p:txBody>
      </p:sp>
      <p:sp>
        <p:nvSpPr>
          <p:cNvPr id="3" name="Content Placeholder 2">
            <a:extLst>
              <a:ext uri="{FF2B5EF4-FFF2-40B4-BE49-F238E27FC236}">
                <a16:creationId xmlns:a16="http://schemas.microsoft.com/office/drawing/2014/main" id="{9B32C37A-6144-1849-B0A6-7D2493F325C9}"/>
              </a:ext>
            </a:extLst>
          </p:cNvPr>
          <p:cNvSpPr>
            <a:spLocks noGrp="1"/>
          </p:cNvSpPr>
          <p:nvPr>
            <p:ph idx="1"/>
          </p:nvPr>
        </p:nvSpPr>
        <p:spPr>
          <a:xfrm>
            <a:off x="450000" y="1140209"/>
            <a:ext cx="6111221" cy="5036754"/>
          </a:xfrm>
        </p:spPr>
        <p:txBody>
          <a:bodyPr/>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5" name="Footer Placeholder 4">
            <a:extLst>
              <a:ext uri="{FF2B5EF4-FFF2-40B4-BE49-F238E27FC236}">
                <a16:creationId xmlns:a16="http://schemas.microsoft.com/office/drawing/2014/main" id="{919FFC38-6A3C-204E-89FA-33C05DDB17F0}"/>
              </a:ext>
            </a:extLst>
          </p:cNvPr>
          <p:cNvSpPr>
            <a:spLocks noGrp="1"/>
          </p:cNvSpPr>
          <p:nvPr>
            <p:ph type="ftr" sz="quarter" idx="11"/>
          </p:nvPr>
        </p:nvSpPr>
        <p:spPr>
          <a:xfrm>
            <a:off x="450000" y="6356350"/>
            <a:ext cx="6111221" cy="365125"/>
          </a:xfrm>
        </p:spPr>
        <p:txBody>
          <a:bodyPr/>
          <a:lstStyle>
            <a:lvl1pPr>
              <a:defRPr>
                <a:solidFill>
                  <a:schemeClr val="bg1"/>
                </a:solidFill>
              </a:defRPr>
            </a:lvl1pPr>
          </a:lstStyle>
          <a:p>
            <a:endParaRPr lang="en-US" dirty="0"/>
          </a:p>
        </p:txBody>
      </p:sp>
      <p:sp>
        <p:nvSpPr>
          <p:cNvPr id="6" name="Slide Number Placeholder 5">
            <a:extLst>
              <a:ext uri="{FF2B5EF4-FFF2-40B4-BE49-F238E27FC236}">
                <a16:creationId xmlns:a16="http://schemas.microsoft.com/office/drawing/2014/main" id="{82BE163E-6F73-1A49-8E62-72EE5697E134}"/>
              </a:ext>
            </a:extLst>
          </p:cNvPr>
          <p:cNvSpPr>
            <a:spLocks noGrp="1"/>
          </p:cNvSpPr>
          <p:nvPr>
            <p:ph type="sldNum" sz="quarter" idx="12"/>
          </p:nvPr>
        </p:nvSpPr>
        <p:spPr>
          <a:xfrm>
            <a:off x="8610600" y="6356350"/>
            <a:ext cx="3131400" cy="365125"/>
          </a:xfrm>
        </p:spPr>
        <p:txBody>
          <a:bodyPr/>
          <a:lstStyle>
            <a:lvl1pPr>
              <a:defRPr>
                <a:solidFill>
                  <a:schemeClr val="bg1"/>
                </a:solidFill>
              </a:defRPr>
            </a:lvl1pPr>
          </a:lstStyle>
          <a:p>
            <a:fld id="{8ABE9924-9C5E-0140-A59E-99F9AC1E36CD}" type="slidenum">
              <a:rPr lang="en-US" smtClean="0"/>
              <a:pPr/>
              <a:t>‹#›</a:t>
            </a:fld>
            <a:endParaRPr lang="en-US" dirty="0"/>
          </a:p>
        </p:txBody>
      </p:sp>
      <p:sp>
        <p:nvSpPr>
          <p:cNvPr id="7" name="Title 1">
            <a:extLst>
              <a:ext uri="{FF2B5EF4-FFF2-40B4-BE49-F238E27FC236}">
                <a16:creationId xmlns:a16="http://schemas.microsoft.com/office/drawing/2014/main" id="{3201195E-2981-7B4A-811A-603C735FC2D2}"/>
              </a:ext>
            </a:extLst>
          </p:cNvPr>
          <p:cNvSpPr txBox="1">
            <a:spLocks/>
          </p:cNvSpPr>
          <p:nvPr userDrawn="1"/>
        </p:nvSpPr>
        <p:spPr>
          <a:xfrm>
            <a:off x="838200" y="365125"/>
            <a:ext cx="5723021"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b="1" kern="1200">
                <a:solidFill>
                  <a:schemeClr val="accent1"/>
                </a:solidFill>
                <a:latin typeface="+mn-lt"/>
                <a:ea typeface="+mj-ea"/>
                <a:cs typeface="+mj-cs"/>
              </a:defRPr>
            </a:lvl1pPr>
          </a:lstStyle>
          <a:p>
            <a:endParaRPr lang="en-US" dirty="0"/>
          </a:p>
        </p:txBody>
      </p:sp>
      <p:sp>
        <p:nvSpPr>
          <p:cNvPr id="4" name="Title 3">
            <a:extLst>
              <a:ext uri="{FF2B5EF4-FFF2-40B4-BE49-F238E27FC236}">
                <a16:creationId xmlns:a16="http://schemas.microsoft.com/office/drawing/2014/main" id="{134A0026-7F86-4541-A0EE-1ECB1000FEA5}"/>
              </a:ext>
            </a:extLst>
          </p:cNvPr>
          <p:cNvSpPr>
            <a:spLocks noGrp="1"/>
          </p:cNvSpPr>
          <p:nvPr>
            <p:ph type="title"/>
          </p:nvPr>
        </p:nvSpPr>
        <p:spPr>
          <a:xfrm>
            <a:off x="450000" y="242418"/>
            <a:ext cx="6111221" cy="775084"/>
          </a:xfrm>
        </p:spPr>
        <p:txBody>
          <a:bodyPr/>
          <a:lstStyle/>
          <a:p>
            <a:r>
              <a:rPr lang="en-GB" dirty="0"/>
              <a:t>Click to edit Master title style</a:t>
            </a:r>
            <a:endParaRPr lang="en-US" dirty="0"/>
          </a:p>
        </p:txBody>
      </p:sp>
    </p:spTree>
    <p:extLst>
      <p:ext uri="{BB962C8B-B14F-4D97-AF65-F5344CB8AC3E}">
        <p14:creationId xmlns:p14="http://schemas.microsoft.com/office/powerpoint/2010/main" val="44794214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with image green">
    <p:bg>
      <p:bgPr>
        <a:solidFill>
          <a:schemeClr val="accent5"/>
        </a:solidFill>
        <a:effectLst/>
      </p:bgPr>
    </p:bg>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64C144F1-FD66-9044-97E9-C2BD851771D8}"/>
              </a:ext>
            </a:extLst>
          </p:cNvPr>
          <p:cNvSpPr>
            <a:spLocks noGrp="1"/>
          </p:cNvSpPr>
          <p:nvPr>
            <p:ph type="pic" sz="quarter" idx="13"/>
          </p:nvPr>
        </p:nvSpPr>
        <p:spPr>
          <a:xfrm>
            <a:off x="7299325" y="0"/>
            <a:ext cx="4892675" cy="6858000"/>
          </a:xfrm>
        </p:spPr>
        <p:txBody>
          <a:bodyPr/>
          <a:lstStyle/>
          <a:p>
            <a:endParaRPr lang="en-US" dirty="0"/>
          </a:p>
        </p:txBody>
      </p:sp>
      <p:sp>
        <p:nvSpPr>
          <p:cNvPr id="2" name="Title 1">
            <a:extLst>
              <a:ext uri="{FF2B5EF4-FFF2-40B4-BE49-F238E27FC236}">
                <a16:creationId xmlns:a16="http://schemas.microsoft.com/office/drawing/2014/main" id="{9549454C-FCC4-8E46-BF9B-03946AD9F940}"/>
              </a:ext>
            </a:extLst>
          </p:cNvPr>
          <p:cNvSpPr>
            <a:spLocks noGrp="1"/>
          </p:cNvSpPr>
          <p:nvPr>
            <p:ph type="title"/>
          </p:nvPr>
        </p:nvSpPr>
        <p:spPr>
          <a:xfrm>
            <a:off x="450000" y="239342"/>
            <a:ext cx="6111221" cy="775084"/>
          </a:xfrm>
        </p:spPr>
        <p:txBody>
          <a:bodyPr/>
          <a:lstStyle>
            <a:lvl1pPr>
              <a:defRPr>
                <a:solidFill>
                  <a:schemeClr val="bg1"/>
                </a:solidFill>
              </a:defRPr>
            </a:lvl1pPr>
          </a:lstStyle>
          <a:p>
            <a:r>
              <a:rPr lang="en-GB" dirty="0"/>
              <a:t>Click to edit Master title style</a:t>
            </a:r>
            <a:endParaRPr lang="en-US" dirty="0"/>
          </a:p>
        </p:txBody>
      </p:sp>
      <p:sp>
        <p:nvSpPr>
          <p:cNvPr id="3" name="Content Placeholder 2">
            <a:extLst>
              <a:ext uri="{FF2B5EF4-FFF2-40B4-BE49-F238E27FC236}">
                <a16:creationId xmlns:a16="http://schemas.microsoft.com/office/drawing/2014/main" id="{9B32C37A-6144-1849-B0A6-7D2493F325C9}"/>
              </a:ext>
            </a:extLst>
          </p:cNvPr>
          <p:cNvSpPr>
            <a:spLocks noGrp="1"/>
          </p:cNvSpPr>
          <p:nvPr>
            <p:ph idx="1"/>
          </p:nvPr>
        </p:nvSpPr>
        <p:spPr>
          <a:xfrm>
            <a:off x="450000" y="1140209"/>
            <a:ext cx="6111221" cy="5036754"/>
          </a:xfrm>
        </p:spPr>
        <p:txBody>
          <a:bodyPr/>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5" name="Footer Placeholder 4">
            <a:extLst>
              <a:ext uri="{FF2B5EF4-FFF2-40B4-BE49-F238E27FC236}">
                <a16:creationId xmlns:a16="http://schemas.microsoft.com/office/drawing/2014/main" id="{919FFC38-6A3C-204E-89FA-33C05DDB17F0}"/>
              </a:ext>
            </a:extLst>
          </p:cNvPr>
          <p:cNvSpPr>
            <a:spLocks noGrp="1"/>
          </p:cNvSpPr>
          <p:nvPr>
            <p:ph type="ftr" sz="quarter" idx="11"/>
          </p:nvPr>
        </p:nvSpPr>
        <p:spPr>
          <a:xfrm>
            <a:off x="450000" y="6356350"/>
            <a:ext cx="6111221" cy="365125"/>
          </a:xfrm>
        </p:spPr>
        <p:txBody>
          <a:bodyPr/>
          <a:lstStyle>
            <a:lvl1pPr>
              <a:defRPr>
                <a:solidFill>
                  <a:schemeClr val="bg1"/>
                </a:solidFill>
              </a:defRPr>
            </a:lvl1pPr>
          </a:lstStyle>
          <a:p>
            <a:endParaRPr lang="en-US" dirty="0"/>
          </a:p>
        </p:txBody>
      </p:sp>
      <p:sp>
        <p:nvSpPr>
          <p:cNvPr id="6" name="Slide Number Placeholder 5">
            <a:extLst>
              <a:ext uri="{FF2B5EF4-FFF2-40B4-BE49-F238E27FC236}">
                <a16:creationId xmlns:a16="http://schemas.microsoft.com/office/drawing/2014/main" id="{82BE163E-6F73-1A49-8E62-72EE5697E134}"/>
              </a:ext>
            </a:extLst>
          </p:cNvPr>
          <p:cNvSpPr>
            <a:spLocks noGrp="1"/>
          </p:cNvSpPr>
          <p:nvPr>
            <p:ph type="sldNum" sz="quarter" idx="12"/>
          </p:nvPr>
        </p:nvSpPr>
        <p:spPr>
          <a:xfrm>
            <a:off x="8610600" y="6356350"/>
            <a:ext cx="3131400" cy="365125"/>
          </a:xfrm>
        </p:spPr>
        <p:txBody>
          <a:bodyPr/>
          <a:lstStyle>
            <a:lvl1pPr>
              <a:defRPr>
                <a:solidFill>
                  <a:schemeClr val="bg1"/>
                </a:solidFill>
              </a:defRPr>
            </a:lvl1pPr>
          </a:lstStyle>
          <a:p>
            <a:fld id="{8ABE9924-9C5E-0140-A59E-99F9AC1E36CD}" type="slidenum">
              <a:rPr lang="en-US" smtClean="0"/>
              <a:pPr/>
              <a:t>‹#›</a:t>
            </a:fld>
            <a:endParaRPr lang="en-US" dirty="0"/>
          </a:p>
        </p:txBody>
      </p:sp>
    </p:spTree>
    <p:extLst>
      <p:ext uri="{BB962C8B-B14F-4D97-AF65-F5344CB8AC3E}">
        <p14:creationId xmlns:p14="http://schemas.microsoft.com/office/powerpoint/2010/main" val="10595924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Double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9454C-FCC4-8E46-BF9B-03946AD9F940}"/>
              </a:ext>
            </a:extLst>
          </p:cNvPr>
          <p:cNvSpPr>
            <a:spLocks noGrp="1"/>
          </p:cNvSpPr>
          <p:nvPr>
            <p:ph type="title"/>
          </p:nvPr>
        </p:nvSpPr>
        <p:spPr/>
        <p:txBody>
          <a:bodyPr/>
          <a:lstStyle/>
          <a:p>
            <a:r>
              <a:rPr lang="en-GB" dirty="0"/>
              <a:t>Click to edit Master title style</a:t>
            </a:r>
            <a:endParaRPr lang="en-US" dirty="0"/>
          </a:p>
        </p:txBody>
      </p:sp>
      <p:sp>
        <p:nvSpPr>
          <p:cNvPr id="3" name="Content Placeholder 2">
            <a:extLst>
              <a:ext uri="{FF2B5EF4-FFF2-40B4-BE49-F238E27FC236}">
                <a16:creationId xmlns:a16="http://schemas.microsoft.com/office/drawing/2014/main" id="{9B32C37A-6144-1849-B0A6-7D2493F325C9}"/>
              </a:ext>
            </a:extLst>
          </p:cNvPr>
          <p:cNvSpPr>
            <a:spLocks noGrp="1"/>
          </p:cNvSpPr>
          <p:nvPr>
            <p:ph idx="1"/>
          </p:nvPr>
        </p:nvSpPr>
        <p:spPr>
          <a:xfrm>
            <a:off x="449999" y="1152439"/>
            <a:ext cx="11305395" cy="5024524"/>
          </a:xfrm>
        </p:spPr>
        <p:txBody>
          <a:bodyPr numCol="2"/>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Footer Placeholder 4">
            <a:extLst>
              <a:ext uri="{FF2B5EF4-FFF2-40B4-BE49-F238E27FC236}">
                <a16:creationId xmlns:a16="http://schemas.microsoft.com/office/drawing/2014/main" id="{919FFC38-6A3C-204E-89FA-33C05DDB17F0}"/>
              </a:ext>
            </a:extLst>
          </p:cNvPr>
          <p:cNvSpPr>
            <a:spLocks noGrp="1"/>
          </p:cNvSpPr>
          <p:nvPr>
            <p:ph type="ftr" sz="quarter" idx="11"/>
          </p:nvPr>
        </p:nvSpPr>
        <p:spPr>
          <a:xfrm>
            <a:off x="450000" y="6356350"/>
            <a:ext cx="7703400" cy="365125"/>
          </a:xfrm>
        </p:spPr>
        <p:txBody>
          <a:bodyPr/>
          <a:lstStyle/>
          <a:p>
            <a:endParaRPr lang="en-US" dirty="0"/>
          </a:p>
        </p:txBody>
      </p:sp>
      <p:sp>
        <p:nvSpPr>
          <p:cNvPr id="6" name="Slide Number Placeholder 5">
            <a:extLst>
              <a:ext uri="{FF2B5EF4-FFF2-40B4-BE49-F238E27FC236}">
                <a16:creationId xmlns:a16="http://schemas.microsoft.com/office/drawing/2014/main" id="{82BE163E-6F73-1A49-8E62-72EE5697E134}"/>
              </a:ext>
            </a:extLst>
          </p:cNvPr>
          <p:cNvSpPr>
            <a:spLocks noGrp="1"/>
          </p:cNvSpPr>
          <p:nvPr>
            <p:ph type="sldNum" sz="quarter" idx="12"/>
          </p:nvPr>
        </p:nvSpPr>
        <p:spPr>
          <a:xfrm>
            <a:off x="8610600" y="6356350"/>
            <a:ext cx="3144794" cy="365125"/>
          </a:xfrm>
        </p:spPr>
        <p:txBody>
          <a:bodyPr/>
          <a:lstStyle/>
          <a:p>
            <a:fld id="{8ABE9924-9C5E-0140-A59E-99F9AC1E36CD}" type="slidenum">
              <a:rPr lang="en-US" smtClean="0"/>
              <a:t>‹#›</a:t>
            </a:fld>
            <a:endParaRPr lang="en-US" dirty="0"/>
          </a:p>
        </p:txBody>
      </p:sp>
      <p:pic>
        <p:nvPicPr>
          <p:cNvPr id="8" name="Tyndall-Logo-RGB.png" descr="Tyndall-Logo-RGB.png">
            <a:extLst>
              <a:ext uri="{FF2B5EF4-FFF2-40B4-BE49-F238E27FC236}">
                <a16:creationId xmlns:a16="http://schemas.microsoft.com/office/drawing/2014/main" id="{2C9E771C-E915-9B44-B8EE-47B4345A833C}"/>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0095903" y="239341"/>
            <a:ext cx="1842907" cy="713626"/>
          </a:xfrm>
          <a:prstGeom prst="rect">
            <a:avLst/>
          </a:prstGeom>
          <a:ln w="12700">
            <a:miter lim="400000"/>
          </a:ln>
        </p:spPr>
      </p:pic>
    </p:spTree>
    <p:extLst>
      <p:ext uri="{BB962C8B-B14F-4D97-AF65-F5344CB8AC3E}">
        <p14:creationId xmlns:p14="http://schemas.microsoft.com/office/powerpoint/2010/main" val="126956895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9454C-FCC4-8E46-BF9B-03946AD9F940}"/>
              </a:ext>
            </a:extLst>
          </p:cNvPr>
          <p:cNvSpPr>
            <a:spLocks noGrp="1"/>
          </p:cNvSpPr>
          <p:nvPr>
            <p:ph type="title"/>
          </p:nvPr>
        </p:nvSpPr>
        <p:spPr/>
        <p:txBody>
          <a:bodyPr/>
          <a:lstStyle/>
          <a:p>
            <a:r>
              <a:rPr lang="en-GB"/>
              <a:t>Click to edit Master title style</a:t>
            </a:r>
            <a:endParaRPr lang="en-US"/>
          </a:p>
        </p:txBody>
      </p:sp>
      <p:sp>
        <p:nvSpPr>
          <p:cNvPr id="5" name="Footer Placeholder 4">
            <a:extLst>
              <a:ext uri="{FF2B5EF4-FFF2-40B4-BE49-F238E27FC236}">
                <a16:creationId xmlns:a16="http://schemas.microsoft.com/office/drawing/2014/main" id="{919FFC38-6A3C-204E-89FA-33C05DDB17F0}"/>
              </a:ext>
            </a:extLst>
          </p:cNvPr>
          <p:cNvSpPr>
            <a:spLocks noGrp="1"/>
          </p:cNvSpPr>
          <p:nvPr>
            <p:ph type="ftr" sz="quarter" idx="11"/>
          </p:nvPr>
        </p:nvSpPr>
        <p:spPr>
          <a:xfrm>
            <a:off x="450000" y="6356350"/>
            <a:ext cx="7703400" cy="365125"/>
          </a:xfrm>
        </p:spPr>
        <p:txBody>
          <a:bodyPr/>
          <a:lstStyle/>
          <a:p>
            <a:endParaRPr lang="en-US" dirty="0"/>
          </a:p>
        </p:txBody>
      </p:sp>
      <p:sp>
        <p:nvSpPr>
          <p:cNvPr id="6" name="Slide Number Placeholder 5">
            <a:extLst>
              <a:ext uri="{FF2B5EF4-FFF2-40B4-BE49-F238E27FC236}">
                <a16:creationId xmlns:a16="http://schemas.microsoft.com/office/drawing/2014/main" id="{82BE163E-6F73-1A49-8E62-72EE5697E134}"/>
              </a:ext>
            </a:extLst>
          </p:cNvPr>
          <p:cNvSpPr>
            <a:spLocks noGrp="1"/>
          </p:cNvSpPr>
          <p:nvPr>
            <p:ph type="sldNum" sz="quarter" idx="12"/>
          </p:nvPr>
        </p:nvSpPr>
        <p:spPr>
          <a:xfrm>
            <a:off x="8610600" y="6356350"/>
            <a:ext cx="3131400" cy="365125"/>
          </a:xfrm>
        </p:spPr>
        <p:txBody>
          <a:bodyPr/>
          <a:lstStyle/>
          <a:p>
            <a:fld id="{8ABE9924-9C5E-0140-A59E-99F9AC1E36CD}" type="slidenum">
              <a:rPr lang="en-US" smtClean="0"/>
              <a:t>‹#›</a:t>
            </a:fld>
            <a:endParaRPr lang="en-US" dirty="0"/>
          </a:p>
        </p:txBody>
      </p:sp>
      <p:pic>
        <p:nvPicPr>
          <p:cNvPr id="9" name="Tyndall-Logo-RGB.png" descr="Tyndall-Logo-RGB.png">
            <a:extLst>
              <a:ext uri="{FF2B5EF4-FFF2-40B4-BE49-F238E27FC236}">
                <a16:creationId xmlns:a16="http://schemas.microsoft.com/office/drawing/2014/main" id="{CDB02896-C3AD-E146-A3E8-A1AFFA91DE5D}"/>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0095903" y="239341"/>
            <a:ext cx="1842907" cy="713626"/>
          </a:xfrm>
          <a:prstGeom prst="rect">
            <a:avLst/>
          </a:prstGeom>
          <a:ln w="12700">
            <a:miter lim="400000"/>
          </a:ln>
        </p:spPr>
      </p:pic>
    </p:spTree>
    <p:extLst>
      <p:ext uri="{BB962C8B-B14F-4D97-AF65-F5344CB8AC3E}">
        <p14:creationId xmlns:p14="http://schemas.microsoft.com/office/powerpoint/2010/main" val="217625381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har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9454C-FCC4-8E46-BF9B-03946AD9F940}"/>
              </a:ext>
            </a:extLst>
          </p:cNvPr>
          <p:cNvSpPr>
            <a:spLocks noGrp="1"/>
          </p:cNvSpPr>
          <p:nvPr>
            <p:ph type="title"/>
          </p:nvPr>
        </p:nvSpPr>
        <p:spPr>
          <a:xfrm>
            <a:off x="450000" y="242418"/>
            <a:ext cx="8934631" cy="787314"/>
          </a:xfrm>
        </p:spPr>
        <p:txBody>
          <a:bodyPr/>
          <a:lstStyle/>
          <a:p>
            <a:r>
              <a:rPr lang="en-GB" dirty="0"/>
              <a:t>Click to edit Master title style</a:t>
            </a:r>
            <a:endParaRPr lang="en-US" dirty="0"/>
          </a:p>
        </p:txBody>
      </p:sp>
      <p:sp>
        <p:nvSpPr>
          <p:cNvPr id="5" name="Footer Placeholder 4">
            <a:extLst>
              <a:ext uri="{FF2B5EF4-FFF2-40B4-BE49-F238E27FC236}">
                <a16:creationId xmlns:a16="http://schemas.microsoft.com/office/drawing/2014/main" id="{919FFC38-6A3C-204E-89FA-33C05DDB17F0}"/>
              </a:ext>
            </a:extLst>
          </p:cNvPr>
          <p:cNvSpPr>
            <a:spLocks noGrp="1"/>
          </p:cNvSpPr>
          <p:nvPr>
            <p:ph type="ftr" sz="quarter" idx="11"/>
          </p:nvPr>
        </p:nvSpPr>
        <p:spPr>
          <a:xfrm>
            <a:off x="450000" y="6356350"/>
            <a:ext cx="6111221" cy="365125"/>
          </a:xfrm>
        </p:spPr>
        <p:txBody>
          <a:bodyPr/>
          <a:lstStyle/>
          <a:p>
            <a:endParaRPr lang="en-US" dirty="0"/>
          </a:p>
        </p:txBody>
      </p:sp>
      <p:sp>
        <p:nvSpPr>
          <p:cNvPr id="6" name="Slide Number Placeholder 5">
            <a:extLst>
              <a:ext uri="{FF2B5EF4-FFF2-40B4-BE49-F238E27FC236}">
                <a16:creationId xmlns:a16="http://schemas.microsoft.com/office/drawing/2014/main" id="{82BE163E-6F73-1A49-8E62-72EE5697E134}"/>
              </a:ext>
            </a:extLst>
          </p:cNvPr>
          <p:cNvSpPr>
            <a:spLocks noGrp="1"/>
          </p:cNvSpPr>
          <p:nvPr>
            <p:ph type="sldNum" sz="quarter" idx="12"/>
          </p:nvPr>
        </p:nvSpPr>
        <p:spPr>
          <a:xfrm>
            <a:off x="8610600" y="6356350"/>
            <a:ext cx="3131400" cy="365125"/>
          </a:xfrm>
        </p:spPr>
        <p:txBody>
          <a:bodyPr/>
          <a:lstStyle/>
          <a:p>
            <a:fld id="{8ABE9924-9C5E-0140-A59E-99F9AC1E36CD}" type="slidenum">
              <a:rPr lang="en-US" smtClean="0"/>
              <a:t>‹#›</a:t>
            </a:fld>
            <a:endParaRPr lang="en-US" dirty="0"/>
          </a:p>
        </p:txBody>
      </p:sp>
      <p:sp>
        <p:nvSpPr>
          <p:cNvPr id="9" name="Chart Placeholder 8">
            <a:extLst>
              <a:ext uri="{FF2B5EF4-FFF2-40B4-BE49-F238E27FC236}">
                <a16:creationId xmlns:a16="http://schemas.microsoft.com/office/drawing/2014/main" id="{92337434-64E5-9E47-980F-B77D9BC5ACCB}"/>
              </a:ext>
            </a:extLst>
          </p:cNvPr>
          <p:cNvSpPr>
            <a:spLocks noGrp="1"/>
          </p:cNvSpPr>
          <p:nvPr>
            <p:ph type="chart" sz="quarter" idx="14"/>
          </p:nvPr>
        </p:nvSpPr>
        <p:spPr>
          <a:xfrm>
            <a:off x="436604" y="1152439"/>
            <a:ext cx="11305395" cy="5024524"/>
          </a:xfrm>
        </p:spPr>
        <p:txBody>
          <a:bodyPr/>
          <a:lstStyle/>
          <a:p>
            <a:endParaRPr lang="en-US" dirty="0"/>
          </a:p>
        </p:txBody>
      </p:sp>
      <p:pic>
        <p:nvPicPr>
          <p:cNvPr id="10" name="Tyndall-Logo-RGB.png" descr="Tyndall-Logo-RGB.png">
            <a:extLst>
              <a:ext uri="{FF2B5EF4-FFF2-40B4-BE49-F238E27FC236}">
                <a16:creationId xmlns:a16="http://schemas.microsoft.com/office/drawing/2014/main" id="{6C595C07-28AC-5B44-A09E-F0A6D9F93CC5}"/>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0095903" y="239341"/>
            <a:ext cx="1842907" cy="713626"/>
          </a:xfrm>
          <a:prstGeom prst="rect">
            <a:avLst/>
          </a:prstGeom>
          <a:ln w="12700">
            <a:miter lim="400000"/>
          </a:ln>
        </p:spPr>
      </p:pic>
    </p:spTree>
    <p:extLst>
      <p:ext uri="{BB962C8B-B14F-4D97-AF65-F5344CB8AC3E}">
        <p14:creationId xmlns:p14="http://schemas.microsoft.com/office/powerpoint/2010/main" val="399601648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hart with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9454C-FCC4-8E46-BF9B-03946AD9F940}"/>
              </a:ext>
            </a:extLst>
          </p:cNvPr>
          <p:cNvSpPr>
            <a:spLocks noGrp="1"/>
          </p:cNvSpPr>
          <p:nvPr>
            <p:ph type="title"/>
          </p:nvPr>
        </p:nvSpPr>
        <p:spPr>
          <a:xfrm>
            <a:off x="451021" y="241556"/>
            <a:ext cx="8546431" cy="787314"/>
          </a:xfrm>
        </p:spPr>
        <p:txBody>
          <a:bodyPr/>
          <a:lstStyle/>
          <a:p>
            <a:r>
              <a:rPr lang="en-GB" dirty="0"/>
              <a:t>Click to edit Master title style</a:t>
            </a:r>
            <a:endParaRPr lang="en-US" dirty="0"/>
          </a:p>
        </p:txBody>
      </p:sp>
      <p:sp>
        <p:nvSpPr>
          <p:cNvPr id="3" name="Content Placeholder 2">
            <a:extLst>
              <a:ext uri="{FF2B5EF4-FFF2-40B4-BE49-F238E27FC236}">
                <a16:creationId xmlns:a16="http://schemas.microsoft.com/office/drawing/2014/main" id="{9B32C37A-6144-1849-B0A6-7D2493F325C9}"/>
              </a:ext>
            </a:extLst>
          </p:cNvPr>
          <p:cNvSpPr>
            <a:spLocks noGrp="1"/>
          </p:cNvSpPr>
          <p:nvPr>
            <p:ph idx="1"/>
          </p:nvPr>
        </p:nvSpPr>
        <p:spPr>
          <a:xfrm>
            <a:off x="450000" y="1152439"/>
            <a:ext cx="3817202" cy="5024524"/>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5" name="Footer Placeholder 4">
            <a:extLst>
              <a:ext uri="{FF2B5EF4-FFF2-40B4-BE49-F238E27FC236}">
                <a16:creationId xmlns:a16="http://schemas.microsoft.com/office/drawing/2014/main" id="{919FFC38-6A3C-204E-89FA-33C05DDB17F0}"/>
              </a:ext>
            </a:extLst>
          </p:cNvPr>
          <p:cNvSpPr>
            <a:spLocks noGrp="1"/>
          </p:cNvSpPr>
          <p:nvPr>
            <p:ph type="ftr" sz="quarter" idx="11"/>
          </p:nvPr>
        </p:nvSpPr>
        <p:spPr>
          <a:xfrm>
            <a:off x="450000" y="6356350"/>
            <a:ext cx="6111222" cy="365125"/>
          </a:xfrm>
        </p:spPr>
        <p:txBody>
          <a:bodyPr/>
          <a:lstStyle/>
          <a:p>
            <a:endParaRPr lang="en-US" dirty="0"/>
          </a:p>
        </p:txBody>
      </p:sp>
      <p:sp>
        <p:nvSpPr>
          <p:cNvPr id="6" name="Slide Number Placeholder 5">
            <a:extLst>
              <a:ext uri="{FF2B5EF4-FFF2-40B4-BE49-F238E27FC236}">
                <a16:creationId xmlns:a16="http://schemas.microsoft.com/office/drawing/2014/main" id="{82BE163E-6F73-1A49-8E62-72EE5697E134}"/>
              </a:ext>
            </a:extLst>
          </p:cNvPr>
          <p:cNvSpPr>
            <a:spLocks noGrp="1"/>
          </p:cNvSpPr>
          <p:nvPr>
            <p:ph type="sldNum" sz="quarter" idx="12"/>
          </p:nvPr>
        </p:nvSpPr>
        <p:spPr>
          <a:xfrm>
            <a:off x="8610600" y="6356350"/>
            <a:ext cx="3131400" cy="365125"/>
          </a:xfrm>
        </p:spPr>
        <p:txBody>
          <a:bodyPr/>
          <a:lstStyle/>
          <a:p>
            <a:fld id="{8ABE9924-9C5E-0140-A59E-99F9AC1E36CD}" type="slidenum">
              <a:rPr lang="en-US" smtClean="0"/>
              <a:t>‹#›</a:t>
            </a:fld>
            <a:endParaRPr lang="en-US" dirty="0"/>
          </a:p>
        </p:txBody>
      </p:sp>
      <p:sp>
        <p:nvSpPr>
          <p:cNvPr id="9" name="Chart Placeholder 8">
            <a:extLst>
              <a:ext uri="{FF2B5EF4-FFF2-40B4-BE49-F238E27FC236}">
                <a16:creationId xmlns:a16="http://schemas.microsoft.com/office/drawing/2014/main" id="{92337434-64E5-9E47-980F-B77D9BC5ACCB}"/>
              </a:ext>
            </a:extLst>
          </p:cNvPr>
          <p:cNvSpPr>
            <a:spLocks noGrp="1"/>
          </p:cNvSpPr>
          <p:nvPr>
            <p:ph type="chart" sz="quarter" idx="14"/>
          </p:nvPr>
        </p:nvSpPr>
        <p:spPr>
          <a:xfrm>
            <a:off x="4748463" y="1152439"/>
            <a:ext cx="6993537" cy="5024524"/>
          </a:xfrm>
        </p:spPr>
        <p:txBody>
          <a:bodyPr/>
          <a:lstStyle/>
          <a:p>
            <a:endParaRPr lang="en-US" dirty="0"/>
          </a:p>
        </p:txBody>
      </p:sp>
      <p:pic>
        <p:nvPicPr>
          <p:cNvPr id="8" name="Tyndall-Logo-RGB.png" descr="Tyndall-Logo-RGB.png">
            <a:extLst>
              <a:ext uri="{FF2B5EF4-FFF2-40B4-BE49-F238E27FC236}">
                <a16:creationId xmlns:a16="http://schemas.microsoft.com/office/drawing/2014/main" id="{C5170D93-4B50-A842-BF1A-1837F31F81C0}"/>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0095903" y="239341"/>
            <a:ext cx="1842907" cy="713626"/>
          </a:xfrm>
          <a:prstGeom prst="rect">
            <a:avLst/>
          </a:prstGeom>
          <a:ln w="12700">
            <a:miter lim="400000"/>
          </a:ln>
        </p:spPr>
      </p:pic>
    </p:spTree>
    <p:extLst>
      <p:ext uri="{BB962C8B-B14F-4D97-AF65-F5344CB8AC3E}">
        <p14:creationId xmlns:p14="http://schemas.microsoft.com/office/powerpoint/2010/main" val="78513545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hart with image">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4A2B5B30-26E9-CB47-9FDF-3B8AAA83925F}"/>
              </a:ext>
            </a:extLst>
          </p:cNvPr>
          <p:cNvSpPr>
            <a:spLocks noGrp="1"/>
          </p:cNvSpPr>
          <p:nvPr>
            <p:ph type="pic" sz="quarter" idx="13"/>
          </p:nvPr>
        </p:nvSpPr>
        <p:spPr>
          <a:xfrm>
            <a:off x="7299325" y="0"/>
            <a:ext cx="4892675" cy="6858000"/>
          </a:xfrm>
        </p:spPr>
        <p:txBody>
          <a:bodyPr/>
          <a:lstStyle/>
          <a:p>
            <a:endParaRPr lang="en-US" dirty="0"/>
          </a:p>
        </p:txBody>
      </p:sp>
      <p:sp>
        <p:nvSpPr>
          <p:cNvPr id="2" name="Title 1">
            <a:extLst>
              <a:ext uri="{FF2B5EF4-FFF2-40B4-BE49-F238E27FC236}">
                <a16:creationId xmlns:a16="http://schemas.microsoft.com/office/drawing/2014/main" id="{9549454C-FCC4-8E46-BF9B-03946AD9F940}"/>
              </a:ext>
            </a:extLst>
          </p:cNvPr>
          <p:cNvSpPr>
            <a:spLocks noGrp="1"/>
          </p:cNvSpPr>
          <p:nvPr>
            <p:ph type="title"/>
          </p:nvPr>
        </p:nvSpPr>
        <p:spPr>
          <a:xfrm>
            <a:off x="451021" y="242417"/>
            <a:ext cx="6398957" cy="787315"/>
          </a:xfrm>
        </p:spPr>
        <p:txBody>
          <a:bodyPr/>
          <a:lstStyle/>
          <a:p>
            <a:r>
              <a:rPr lang="en-GB" dirty="0"/>
              <a:t>Click to edit Master title style</a:t>
            </a:r>
            <a:endParaRPr lang="en-US" dirty="0"/>
          </a:p>
        </p:txBody>
      </p:sp>
      <p:sp>
        <p:nvSpPr>
          <p:cNvPr id="5" name="Footer Placeholder 4">
            <a:extLst>
              <a:ext uri="{FF2B5EF4-FFF2-40B4-BE49-F238E27FC236}">
                <a16:creationId xmlns:a16="http://schemas.microsoft.com/office/drawing/2014/main" id="{919FFC38-6A3C-204E-89FA-33C05DDB17F0}"/>
              </a:ext>
            </a:extLst>
          </p:cNvPr>
          <p:cNvSpPr>
            <a:spLocks noGrp="1"/>
          </p:cNvSpPr>
          <p:nvPr>
            <p:ph type="ftr" sz="quarter" idx="11"/>
          </p:nvPr>
        </p:nvSpPr>
        <p:spPr>
          <a:xfrm>
            <a:off x="450000" y="6356350"/>
            <a:ext cx="6111221" cy="365125"/>
          </a:xfrm>
        </p:spPr>
        <p:txBody>
          <a:bodyPr/>
          <a:lstStyle/>
          <a:p>
            <a:endParaRPr lang="en-US" dirty="0"/>
          </a:p>
        </p:txBody>
      </p:sp>
      <p:sp>
        <p:nvSpPr>
          <p:cNvPr id="6" name="Slide Number Placeholder 5">
            <a:extLst>
              <a:ext uri="{FF2B5EF4-FFF2-40B4-BE49-F238E27FC236}">
                <a16:creationId xmlns:a16="http://schemas.microsoft.com/office/drawing/2014/main" id="{82BE163E-6F73-1A49-8E62-72EE5697E134}"/>
              </a:ext>
            </a:extLst>
          </p:cNvPr>
          <p:cNvSpPr>
            <a:spLocks noGrp="1"/>
          </p:cNvSpPr>
          <p:nvPr>
            <p:ph type="sldNum" sz="quarter" idx="12"/>
          </p:nvPr>
        </p:nvSpPr>
        <p:spPr>
          <a:xfrm>
            <a:off x="8610600" y="6356350"/>
            <a:ext cx="3131400" cy="365125"/>
          </a:xfrm>
        </p:spPr>
        <p:txBody>
          <a:bodyPr/>
          <a:lstStyle/>
          <a:p>
            <a:fld id="{8ABE9924-9C5E-0140-A59E-99F9AC1E36CD}" type="slidenum">
              <a:rPr lang="en-US" smtClean="0"/>
              <a:t>‹#›</a:t>
            </a:fld>
            <a:endParaRPr lang="en-US" dirty="0"/>
          </a:p>
        </p:txBody>
      </p:sp>
      <p:sp>
        <p:nvSpPr>
          <p:cNvPr id="9" name="Chart Placeholder 8">
            <a:extLst>
              <a:ext uri="{FF2B5EF4-FFF2-40B4-BE49-F238E27FC236}">
                <a16:creationId xmlns:a16="http://schemas.microsoft.com/office/drawing/2014/main" id="{92337434-64E5-9E47-980F-B77D9BC5ACCB}"/>
              </a:ext>
            </a:extLst>
          </p:cNvPr>
          <p:cNvSpPr>
            <a:spLocks noGrp="1"/>
          </p:cNvSpPr>
          <p:nvPr>
            <p:ph type="chart" sz="quarter" idx="14"/>
          </p:nvPr>
        </p:nvSpPr>
        <p:spPr>
          <a:xfrm>
            <a:off x="451022" y="1152439"/>
            <a:ext cx="6398958" cy="5024524"/>
          </a:xfrm>
        </p:spPr>
        <p:txBody>
          <a:bodyPr/>
          <a:lstStyle/>
          <a:p>
            <a:endParaRPr lang="en-US" dirty="0"/>
          </a:p>
        </p:txBody>
      </p:sp>
    </p:spTree>
    <p:extLst>
      <p:ext uri="{BB962C8B-B14F-4D97-AF65-F5344CB8AC3E}">
        <p14:creationId xmlns:p14="http://schemas.microsoft.com/office/powerpoint/2010/main" val="182522668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919FFC38-6A3C-204E-89FA-33C05DDB17F0}"/>
              </a:ext>
            </a:extLst>
          </p:cNvPr>
          <p:cNvSpPr>
            <a:spLocks noGrp="1"/>
          </p:cNvSpPr>
          <p:nvPr>
            <p:ph type="ftr" sz="quarter" idx="11"/>
          </p:nvPr>
        </p:nvSpPr>
        <p:spPr>
          <a:xfrm>
            <a:off x="450000" y="6356350"/>
            <a:ext cx="6111221" cy="365125"/>
          </a:xfrm>
        </p:spPr>
        <p:txBody>
          <a:bodyPr/>
          <a:lstStyle/>
          <a:p>
            <a:endParaRPr lang="en-US" dirty="0"/>
          </a:p>
        </p:txBody>
      </p:sp>
      <p:sp>
        <p:nvSpPr>
          <p:cNvPr id="6" name="Slide Number Placeholder 5">
            <a:extLst>
              <a:ext uri="{FF2B5EF4-FFF2-40B4-BE49-F238E27FC236}">
                <a16:creationId xmlns:a16="http://schemas.microsoft.com/office/drawing/2014/main" id="{82BE163E-6F73-1A49-8E62-72EE5697E134}"/>
              </a:ext>
            </a:extLst>
          </p:cNvPr>
          <p:cNvSpPr>
            <a:spLocks noGrp="1"/>
          </p:cNvSpPr>
          <p:nvPr>
            <p:ph type="sldNum" sz="quarter" idx="12"/>
          </p:nvPr>
        </p:nvSpPr>
        <p:spPr>
          <a:xfrm>
            <a:off x="8610600" y="6356350"/>
            <a:ext cx="3131400" cy="365125"/>
          </a:xfrm>
        </p:spPr>
        <p:txBody>
          <a:bodyPr/>
          <a:lstStyle/>
          <a:p>
            <a:fld id="{8ABE9924-9C5E-0140-A59E-99F9AC1E36CD}" type="slidenum">
              <a:rPr lang="en-US" smtClean="0"/>
              <a:t>‹#›</a:t>
            </a:fld>
            <a:endParaRPr lang="en-US" dirty="0"/>
          </a:p>
        </p:txBody>
      </p:sp>
      <p:pic>
        <p:nvPicPr>
          <p:cNvPr id="8" name="Tyndall-Logo-RGB.png" descr="Tyndall-Logo-RGB.png">
            <a:extLst>
              <a:ext uri="{FF2B5EF4-FFF2-40B4-BE49-F238E27FC236}">
                <a16:creationId xmlns:a16="http://schemas.microsoft.com/office/drawing/2014/main" id="{EFBF1593-9B7E-1A4B-B140-2F50E895E515}"/>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0095903" y="239341"/>
            <a:ext cx="1842907" cy="713626"/>
          </a:xfrm>
          <a:prstGeom prst="rect">
            <a:avLst/>
          </a:prstGeom>
          <a:ln w="12700">
            <a:miter lim="400000"/>
          </a:ln>
        </p:spPr>
      </p:pic>
    </p:spTree>
    <p:extLst>
      <p:ext uri="{BB962C8B-B14F-4D97-AF65-F5344CB8AC3E}">
        <p14:creationId xmlns:p14="http://schemas.microsoft.com/office/powerpoint/2010/main" val="10013739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Divider pink">
    <p:bg>
      <p:bgPr>
        <a:solidFill>
          <a:schemeClr val="accent5"/>
        </a:solidFill>
        <a:effectLst/>
      </p:bgPr>
    </p:bg>
    <p:spTree>
      <p:nvGrpSpPr>
        <p:cNvPr id="1" name=""/>
        <p:cNvGrpSpPr/>
        <p:nvPr/>
      </p:nvGrpSpPr>
      <p:grpSpPr>
        <a:xfrm>
          <a:off x="0" y="0"/>
          <a:ext cx="0" cy="0"/>
          <a:chOff x="0" y="0"/>
          <a:chExt cx="0" cy="0"/>
        </a:xfrm>
      </p:grpSpPr>
      <p:pic>
        <p:nvPicPr>
          <p:cNvPr id="10" name="Background.jpg" descr="Background.jpg">
            <a:extLst>
              <a:ext uri="{FF2B5EF4-FFF2-40B4-BE49-F238E27FC236}">
                <a16:creationId xmlns:a16="http://schemas.microsoft.com/office/drawing/2014/main" id="{CC6DCAB7-69A6-9246-B23C-83B1776CED59}"/>
              </a:ext>
            </a:extLst>
          </p:cNvPr>
          <p:cNvPicPr>
            <a:picLocks noChangeAspect="1"/>
          </p:cNvPicPr>
          <p:nvPr userDrawn="1"/>
        </p:nvPicPr>
        <p:blipFill>
          <a:blip r:embed="rId2"/>
          <a:stretch>
            <a:fillRect/>
          </a:stretch>
        </p:blipFill>
        <p:spPr>
          <a:xfrm>
            <a:off x="0" y="0"/>
            <a:ext cx="12192000" cy="6858000"/>
          </a:xfrm>
          <a:prstGeom prst="rect">
            <a:avLst/>
          </a:prstGeom>
          <a:ln w="12700">
            <a:miter lim="400000"/>
          </a:ln>
        </p:spPr>
      </p:pic>
      <p:sp>
        <p:nvSpPr>
          <p:cNvPr id="3" name="Content Placeholder 2">
            <a:extLst>
              <a:ext uri="{FF2B5EF4-FFF2-40B4-BE49-F238E27FC236}">
                <a16:creationId xmlns:a16="http://schemas.microsoft.com/office/drawing/2014/main" id="{9B32C37A-6144-1849-B0A6-7D2493F325C9}"/>
              </a:ext>
            </a:extLst>
          </p:cNvPr>
          <p:cNvSpPr>
            <a:spLocks noGrp="1"/>
          </p:cNvSpPr>
          <p:nvPr>
            <p:ph idx="1"/>
          </p:nvPr>
        </p:nvSpPr>
        <p:spPr>
          <a:xfrm>
            <a:off x="2037347" y="1253331"/>
            <a:ext cx="8117305" cy="4351338"/>
          </a:xfrm>
        </p:spPr>
        <p:txBody>
          <a:bodyPr anchor="ctr">
            <a:normAutofit/>
          </a:bodyPr>
          <a:lstStyle>
            <a:lvl1pPr algn="ctr">
              <a:buClr>
                <a:schemeClr val="bg1"/>
              </a:buClr>
              <a:defRPr sz="2800" b="1">
                <a:solidFill>
                  <a:schemeClr val="bg1"/>
                </a:solidFill>
                <a:latin typeface="+mn-lt"/>
              </a:defRPr>
            </a:lvl1pPr>
            <a:lvl2pPr algn="ctr">
              <a:buClr>
                <a:schemeClr val="bg1"/>
              </a:buClr>
              <a:defRPr sz="2800" b="1">
                <a:solidFill>
                  <a:schemeClr val="bg1"/>
                </a:solidFill>
                <a:latin typeface="+mn-lt"/>
              </a:defRPr>
            </a:lvl2pPr>
            <a:lvl3pPr algn="ctr">
              <a:buClr>
                <a:schemeClr val="bg1"/>
              </a:buClr>
              <a:defRPr sz="2800" b="1">
                <a:solidFill>
                  <a:schemeClr val="bg1"/>
                </a:solidFill>
                <a:latin typeface="+mn-lt"/>
              </a:defRPr>
            </a:lvl3pPr>
            <a:lvl4pPr algn="ctr">
              <a:buClr>
                <a:schemeClr val="bg1"/>
              </a:buClr>
              <a:defRPr sz="2800" b="1">
                <a:solidFill>
                  <a:schemeClr val="bg1"/>
                </a:solidFill>
                <a:latin typeface="+mn-lt"/>
              </a:defRPr>
            </a:lvl4pPr>
            <a:lvl5pPr algn="ctr">
              <a:buClr>
                <a:schemeClr val="bg1"/>
              </a:buClr>
              <a:defRPr sz="2800" b="1">
                <a:solidFill>
                  <a:schemeClr val="bg1"/>
                </a:solidFill>
                <a:latin typeface="+mn-lt"/>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5" name="Footer Placeholder 4">
            <a:extLst>
              <a:ext uri="{FF2B5EF4-FFF2-40B4-BE49-F238E27FC236}">
                <a16:creationId xmlns:a16="http://schemas.microsoft.com/office/drawing/2014/main" id="{919FFC38-6A3C-204E-89FA-33C05DDB17F0}"/>
              </a:ext>
            </a:extLst>
          </p:cNvPr>
          <p:cNvSpPr>
            <a:spLocks noGrp="1"/>
          </p:cNvSpPr>
          <p:nvPr>
            <p:ph type="ftr" sz="quarter" idx="11"/>
          </p:nvPr>
        </p:nvSpPr>
        <p:spPr>
          <a:xfrm>
            <a:off x="500450" y="6356350"/>
            <a:ext cx="6060771" cy="365125"/>
          </a:xfrm>
        </p:spPr>
        <p:txBody>
          <a:bodyPr/>
          <a:lstStyle>
            <a:lvl1pPr>
              <a:defRPr>
                <a:solidFill>
                  <a:schemeClr val="bg1"/>
                </a:solidFill>
              </a:defRPr>
            </a:lvl1pPr>
          </a:lstStyle>
          <a:p>
            <a:endParaRPr lang="en-US" dirty="0"/>
          </a:p>
        </p:txBody>
      </p:sp>
      <p:sp>
        <p:nvSpPr>
          <p:cNvPr id="6" name="Slide Number Placeholder 5">
            <a:extLst>
              <a:ext uri="{FF2B5EF4-FFF2-40B4-BE49-F238E27FC236}">
                <a16:creationId xmlns:a16="http://schemas.microsoft.com/office/drawing/2014/main" id="{82BE163E-6F73-1A49-8E62-72EE5697E134}"/>
              </a:ext>
            </a:extLst>
          </p:cNvPr>
          <p:cNvSpPr>
            <a:spLocks noGrp="1"/>
          </p:cNvSpPr>
          <p:nvPr>
            <p:ph type="sldNum" sz="quarter" idx="12"/>
          </p:nvPr>
        </p:nvSpPr>
        <p:spPr>
          <a:xfrm>
            <a:off x="8610600" y="6356350"/>
            <a:ext cx="3131400" cy="365125"/>
          </a:xfrm>
        </p:spPr>
        <p:txBody>
          <a:bodyPr/>
          <a:lstStyle>
            <a:lvl1pPr>
              <a:defRPr>
                <a:solidFill>
                  <a:schemeClr val="bg1"/>
                </a:solidFill>
              </a:defRPr>
            </a:lvl1pPr>
          </a:lstStyle>
          <a:p>
            <a:fld id="{8ABE9924-9C5E-0140-A59E-99F9AC1E36CD}" type="slidenum">
              <a:rPr lang="en-US" smtClean="0"/>
              <a:pPr/>
              <a:t>‹#›</a:t>
            </a:fld>
            <a:endParaRPr lang="en-US" dirty="0"/>
          </a:p>
        </p:txBody>
      </p:sp>
    </p:spTree>
    <p:extLst>
      <p:ext uri="{BB962C8B-B14F-4D97-AF65-F5344CB8AC3E}">
        <p14:creationId xmlns:p14="http://schemas.microsoft.com/office/powerpoint/2010/main" val="422574312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Divider blue">
    <p:bg>
      <p:bgPr>
        <a:solidFill>
          <a:schemeClr val="accent5"/>
        </a:solidFill>
        <a:effectLst/>
      </p:bgPr>
    </p:bg>
    <p:spTree>
      <p:nvGrpSpPr>
        <p:cNvPr id="1" name=""/>
        <p:cNvGrpSpPr/>
        <p:nvPr/>
      </p:nvGrpSpPr>
      <p:grpSpPr>
        <a:xfrm>
          <a:off x="0" y="0"/>
          <a:ext cx="0" cy="0"/>
          <a:chOff x="0" y="0"/>
          <a:chExt cx="0" cy="0"/>
        </a:xfrm>
      </p:grpSpPr>
      <p:pic>
        <p:nvPicPr>
          <p:cNvPr id="7" name="External_background.jpg" descr="External_background.jpg">
            <a:extLst>
              <a:ext uri="{FF2B5EF4-FFF2-40B4-BE49-F238E27FC236}">
                <a16:creationId xmlns:a16="http://schemas.microsoft.com/office/drawing/2014/main" id="{6753A41B-83B2-634D-A6D4-AF76EC3A6424}"/>
              </a:ext>
            </a:extLst>
          </p:cNvPr>
          <p:cNvPicPr>
            <a:picLocks noChangeAspect="1"/>
          </p:cNvPicPr>
          <p:nvPr userDrawn="1"/>
        </p:nvPicPr>
        <p:blipFill>
          <a:blip r:embed="rId2"/>
          <a:stretch>
            <a:fillRect/>
          </a:stretch>
        </p:blipFill>
        <p:spPr>
          <a:xfrm>
            <a:off x="0" y="0"/>
            <a:ext cx="12192000" cy="6858000"/>
          </a:xfrm>
          <a:prstGeom prst="rect">
            <a:avLst/>
          </a:prstGeom>
          <a:ln w="12700">
            <a:miter lim="400000"/>
          </a:ln>
        </p:spPr>
      </p:pic>
      <p:sp>
        <p:nvSpPr>
          <p:cNvPr id="3" name="Content Placeholder 2">
            <a:extLst>
              <a:ext uri="{FF2B5EF4-FFF2-40B4-BE49-F238E27FC236}">
                <a16:creationId xmlns:a16="http://schemas.microsoft.com/office/drawing/2014/main" id="{9B32C37A-6144-1849-B0A6-7D2493F325C9}"/>
              </a:ext>
            </a:extLst>
          </p:cNvPr>
          <p:cNvSpPr>
            <a:spLocks noGrp="1"/>
          </p:cNvSpPr>
          <p:nvPr>
            <p:ph idx="1"/>
          </p:nvPr>
        </p:nvSpPr>
        <p:spPr>
          <a:xfrm>
            <a:off x="2037347" y="1253331"/>
            <a:ext cx="8117305" cy="4351338"/>
          </a:xfrm>
        </p:spPr>
        <p:txBody>
          <a:bodyPr anchor="ctr">
            <a:normAutofit/>
          </a:bodyPr>
          <a:lstStyle>
            <a:lvl1pPr algn="ctr">
              <a:buClr>
                <a:schemeClr val="bg1"/>
              </a:buClr>
              <a:defRPr sz="2800" b="1">
                <a:solidFill>
                  <a:schemeClr val="bg1"/>
                </a:solidFill>
                <a:latin typeface="+mn-lt"/>
              </a:defRPr>
            </a:lvl1pPr>
            <a:lvl2pPr algn="ctr">
              <a:buClr>
                <a:schemeClr val="bg1"/>
              </a:buClr>
              <a:defRPr sz="2800" b="1">
                <a:solidFill>
                  <a:schemeClr val="bg1"/>
                </a:solidFill>
                <a:latin typeface="+mn-lt"/>
              </a:defRPr>
            </a:lvl2pPr>
            <a:lvl3pPr algn="ctr">
              <a:buClr>
                <a:schemeClr val="bg1"/>
              </a:buClr>
              <a:defRPr sz="2800" b="1">
                <a:solidFill>
                  <a:schemeClr val="bg1"/>
                </a:solidFill>
                <a:latin typeface="+mn-lt"/>
              </a:defRPr>
            </a:lvl3pPr>
            <a:lvl4pPr algn="ctr">
              <a:buClr>
                <a:schemeClr val="bg1"/>
              </a:buClr>
              <a:defRPr sz="2800" b="1">
                <a:solidFill>
                  <a:schemeClr val="bg1"/>
                </a:solidFill>
                <a:latin typeface="+mn-lt"/>
              </a:defRPr>
            </a:lvl4pPr>
            <a:lvl5pPr algn="ctr">
              <a:buClr>
                <a:schemeClr val="bg1"/>
              </a:buClr>
              <a:defRPr sz="2800" b="1">
                <a:solidFill>
                  <a:schemeClr val="bg1"/>
                </a:solidFill>
                <a:latin typeface="+mn-lt"/>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5" name="Footer Placeholder 4">
            <a:extLst>
              <a:ext uri="{FF2B5EF4-FFF2-40B4-BE49-F238E27FC236}">
                <a16:creationId xmlns:a16="http://schemas.microsoft.com/office/drawing/2014/main" id="{919FFC38-6A3C-204E-89FA-33C05DDB17F0}"/>
              </a:ext>
            </a:extLst>
          </p:cNvPr>
          <p:cNvSpPr>
            <a:spLocks noGrp="1"/>
          </p:cNvSpPr>
          <p:nvPr>
            <p:ph type="ftr" sz="quarter" idx="11"/>
          </p:nvPr>
        </p:nvSpPr>
        <p:spPr>
          <a:xfrm>
            <a:off x="500450" y="6356350"/>
            <a:ext cx="6060771" cy="365125"/>
          </a:xfrm>
        </p:spPr>
        <p:txBody>
          <a:bodyPr/>
          <a:lstStyle>
            <a:lvl1pPr>
              <a:defRPr>
                <a:solidFill>
                  <a:schemeClr val="bg1"/>
                </a:solidFill>
              </a:defRPr>
            </a:lvl1pPr>
          </a:lstStyle>
          <a:p>
            <a:endParaRPr lang="en-US" dirty="0"/>
          </a:p>
        </p:txBody>
      </p:sp>
      <p:sp>
        <p:nvSpPr>
          <p:cNvPr id="6" name="Slide Number Placeholder 5">
            <a:extLst>
              <a:ext uri="{FF2B5EF4-FFF2-40B4-BE49-F238E27FC236}">
                <a16:creationId xmlns:a16="http://schemas.microsoft.com/office/drawing/2014/main" id="{82BE163E-6F73-1A49-8E62-72EE5697E134}"/>
              </a:ext>
            </a:extLst>
          </p:cNvPr>
          <p:cNvSpPr>
            <a:spLocks noGrp="1"/>
          </p:cNvSpPr>
          <p:nvPr>
            <p:ph type="sldNum" sz="quarter" idx="12"/>
          </p:nvPr>
        </p:nvSpPr>
        <p:spPr>
          <a:xfrm>
            <a:off x="8610600" y="6356350"/>
            <a:ext cx="3131400" cy="365125"/>
          </a:xfrm>
        </p:spPr>
        <p:txBody>
          <a:bodyPr/>
          <a:lstStyle>
            <a:lvl1pPr>
              <a:defRPr>
                <a:solidFill>
                  <a:schemeClr val="bg1"/>
                </a:solidFill>
              </a:defRPr>
            </a:lvl1pPr>
          </a:lstStyle>
          <a:p>
            <a:fld id="{8ABE9924-9C5E-0140-A59E-99F9AC1E36CD}" type="slidenum">
              <a:rPr lang="en-US" smtClean="0"/>
              <a:pPr/>
              <a:t>‹#›</a:t>
            </a:fld>
            <a:endParaRPr lang="en-US" dirty="0"/>
          </a:p>
        </p:txBody>
      </p:sp>
    </p:spTree>
    <p:extLst>
      <p:ext uri="{BB962C8B-B14F-4D97-AF65-F5344CB8AC3E}">
        <p14:creationId xmlns:p14="http://schemas.microsoft.com/office/powerpoint/2010/main" val="53177943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moving Divider">
    <p:bg>
      <p:bgPr>
        <a:solidFill>
          <a:schemeClr val="accent5"/>
        </a:solidFill>
        <a:effectLst/>
      </p:bgPr>
    </p:bg>
    <p:spTree>
      <p:nvGrpSpPr>
        <p:cNvPr id="1" name=""/>
        <p:cNvGrpSpPr/>
        <p:nvPr/>
      </p:nvGrpSpPr>
      <p:grpSpPr>
        <a:xfrm>
          <a:off x="0" y="0"/>
          <a:ext cx="0" cy="0"/>
          <a:chOff x="0" y="0"/>
          <a:chExt cx="0" cy="0"/>
        </a:xfrm>
      </p:grpSpPr>
      <p:pic>
        <p:nvPicPr>
          <p:cNvPr id="7" name="2025_Goals_values slides_vs.33.jpeg" descr="2025_Goals_values slides_vs.33.jpeg">
            <a:extLst>
              <a:ext uri="{FF2B5EF4-FFF2-40B4-BE49-F238E27FC236}">
                <a16:creationId xmlns:a16="http://schemas.microsoft.com/office/drawing/2014/main" id="{D327B661-AE1D-9B4D-BA7F-CE1980F0065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a:fillRect/>
          </a:stretch>
        </p:blipFill>
        <p:spPr>
          <a:xfrm>
            <a:off x="-5283199" y="-48048"/>
            <a:ext cx="17475200" cy="6905646"/>
          </a:xfrm>
          <a:prstGeom prst="rect">
            <a:avLst/>
          </a:prstGeom>
          <a:ln w="12700">
            <a:miter lim="400000"/>
          </a:ln>
        </p:spPr>
      </p:pic>
      <p:sp>
        <p:nvSpPr>
          <p:cNvPr id="3" name="Content Placeholder 2">
            <a:extLst>
              <a:ext uri="{FF2B5EF4-FFF2-40B4-BE49-F238E27FC236}">
                <a16:creationId xmlns:a16="http://schemas.microsoft.com/office/drawing/2014/main" id="{9B32C37A-6144-1849-B0A6-7D2493F325C9}"/>
              </a:ext>
            </a:extLst>
          </p:cNvPr>
          <p:cNvSpPr>
            <a:spLocks noGrp="1"/>
          </p:cNvSpPr>
          <p:nvPr>
            <p:ph idx="1"/>
          </p:nvPr>
        </p:nvSpPr>
        <p:spPr>
          <a:xfrm>
            <a:off x="2037347" y="1253331"/>
            <a:ext cx="8117305" cy="4351338"/>
          </a:xfrm>
        </p:spPr>
        <p:txBody>
          <a:bodyPr anchor="ctr">
            <a:normAutofit/>
          </a:bodyPr>
          <a:lstStyle>
            <a:lvl1pPr algn="ctr">
              <a:buClr>
                <a:schemeClr val="bg1"/>
              </a:buClr>
              <a:defRPr sz="2800" b="1">
                <a:solidFill>
                  <a:schemeClr val="bg1"/>
                </a:solidFill>
                <a:latin typeface="+mn-lt"/>
              </a:defRPr>
            </a:lvl1pPr>
            <a:lvl2pPr algn="ctr">
              <a:buClr>
                <a:schemeClr val="bg1"/>
              </a:buClr>
              <a:defRPr sz="2800" b="1">
                <a:solidFill>
                  <a:schemeClr val="bg1"/>
                </a:solidFill>
                <a:latin typeface="+mn-lt"/>
              </a:defRPr>
            </a:lvl2pPr>
            <a:lvl3pPr algn="ctr">
              <a:buClr>
                <a:schemeClr val="bg1"/>
              </a:buClr>
              <a:defRPr sz="2800" b="1">
                <a:solidFill>
                  <a:schemeClr val="bg1"/>
                </a:solidFill>
                <a:latin typeface="+mn-lt"/>
              </a:defRPr>
            </a:lvl3pPr>
            <a:lvl4pPr algn="ctr">
              <a:buClr>
                <a:schemeClr val="bg1"/>
              </a:buClr>
              <a:defRPr sz="2800" b="1">
                <a:solidFill>
                  <a:schemeClr val="bg1"/>
                </a:solidFill>
                <a:latin typeface="+mn-lt"/>
              </a:defRPr>
            </a:lvl4pPr>
            <a:lvl5pPr algn="ctr">
              <a:buClr>
                <a:schemeClr val="bg1"/>
              </a:buClr>
              <a:defRPr sz="2800" b="1">
                <a:solidFill>
                  <a:schemeClr val="bg1"/>
                </a:solidFill>
                <a:latin typeface="+mn-lt"/>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5" name="Footer Placeholder 4">
            <a:extLst>
              <a:ext uri="{FF2B5EF4-FFF2-40B4-BE49-F238E27FC236}">
                <a16:creationId xmlns:a16="http://schemas.microsoft.com/office/drawing/2014/main" id="{919FFC38-6A3C-204E-89FA-33C05DDB17F0}"/>
              </a:ext>
            </a:extLst>
          </p:cNvPr>
          <p:cNvSpPr>
            <a:spLocks noGrp="1"/>
          </p:cNvSpPr>
          <p:nvPr>
            <p:ph type="ftr" sz="quarter" idx="11"/>
          </p:nvPr>
        </p:nvSpPr>
        <p:spPr>
          <a:xfrm>
            <a:off x="500450" y="6356350"/>
            <a:ext cx="6060771" cy="365125"/>
          </a:xfrm>
        </p:spPr>
        <p:txBody>
          <a:bodyPr/>
          <a:lstStyle>
            <a:lvl1pPr>
              <a:defRPr>
                <a:solidFill>
                  <a:schemeClr val="bg1"/>
                </a:solidFill>
              </a:defRPr>
            </a:lvl1pPr>
          </a:lstStyle>
          <a:p>
            <a:endParaRPr lang="en-US" dirty="0"/>
          </a:p>
        </p:txBody>
      </p:sp>
      <p:sp>
        <p:nvSpPr>
          <p:cNvPr id="6" name="Slide Number Placeholder 5">
            <a:extLst>
              <a:ext uri="{FF2B5EF4-FFF2-40B4-BE49-F238E27FC236}">
                <a16:creationId xmlns:a16="http://schemas.microsoft.com/office/drawing/2014/main" id="{82BE163E-6F73-1A49-8E62-72EE5697E134}"/>
              </a:ext>
            </a:extLst>
          </p:cNvPr>
          <p:cNvSpPr>
            <a:spLocks noGrp="1"/>
          </p:cNvSpPr>
          <p:nvPr>
            <p:ph type="sldNum" sz="quarter" idx="12"/>
          </p:nvPr>
        </p:nvSpPr>
        <p:spPr>
          <a:xfrm>
            <a:off x="8610600" y="6356350"/>
            <a:ext cx="3131400" cy="365125"/>
          </a:xfrm>
        </p:spPr>
        <p:txBody>
          <a:bodyPr/>
          <a:lstStyle>
            <a:lvl1pPr>
              <a:defRPr>
                <a:solidFill>
                  <a:schemeClr val="bg1"/>
                </a:solidFill>
              </a:defRPr>
            </a:lvl1pPr>
          </a:lstStyle>
          <a:p>
            <a:fld id="{8ABE9924-9C5E-0140-A59E-99F9AC1E36CD}" type="slidenum">
              <a:rPr lang="en-US" smtClean="0"/>
              <a:pPr/>
              <a:t>‹#›</a:t>
            </a:fld>
            <a:endParaRPr lang="en-US" dirty="0"/>
          </a:p>
        </p:txBody>
      </p:sp>
    </p:spTree>
    <p:extLst>
      <p:ext uri="{BB962C8B-B14F-4D97-AF65-F5344CB8AC3E}">
        <p14:creationId xmlns:p14="http://schemas.microsoft.com/office/powerpoint/2010/main" val="39040581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path" presetSubtype="0" repeatCount="indefinite" fill="hold" nodeType="withEffect">
                                  <p:stCondLst>
                                    <p:cond delay="0"/>
                                  </p:stCondLst>
                                  <p:endCondLst>
                                    <p:cond evt="onNext" delay="0">
                                      <p:tgtEl>
                                        <p:sldTgt/>
                                      </p:tgtEl>
                                    </p:cond>
                                  </p:endCondLst>
                                  <p:childTnLst>
                                    <p:animMotion origin="layout" path="M -3.33333E-6 2.22222E-6 L 0.42292 2.22222E-6 " pathEditMode="relative" rAng="0" ptsTypes="AA">
                                      <p:cBhvr>
                                        <p:cTn id="6" dur="45000" fill="hold"/>
                                        <p:tgtEl>
                                          <p:spTgt spid="7"/>
                                        </p:tgtEl>
                                        <p:attrNameLst>
                                          <p:attrName>ppt_x</p:attrName>
                                          <p:attrName>ppt_y</p:attrName>
                                        </p:attrNameLst>
                                      </p:cBhvr>
                                      <p:rCtr x="21146"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Divider yellow">
    <p:bg>
      <p:bgPr>
        <a:solidFill>
          <a:schemeClr val="accent5"/>
        </a:solidFill>
        <a:effectLst/>
      </p:bgPr>
    </p:bg>
    <p:spTree>
      <p:nvGrpSpPr>
        <p:cNvPr id="1" name=""/>
        <p:cNvGrpSpPr/>
        <p:nvPr/>
      </p:nvGrpSpPr>
      <p:grpSpPr>
        <a:xfrm>
          <a:off x="0" y="0"/>
          <a:ext cx="0" cy="0"/>
          <a:chOff x="0" y="0"/>
          <a:chExt cx="0" cy="0"/>
        </a:xfrm>
      </p:grpSpPr>
      <p:pic>
        <p:nvPicPr>
          <p:cNvPr id="7" name="Picture 6" descr="A close up of a tree&#10;&#10;Description automatically generated">
            <a:extLst>
              <a:ext uri="{FF2B5EF4-FFF2-40B4-BE49-F238E27FC236}">
                <a16:creationId xmlns:a16="http://schemas.microsoft.com/office/drawing/2014/main" id="{784D917A-6BDA-364C-AD9D-90FE689733F7}"/>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140"/>
            <a:ext cx="12192000" cy="6857720"/>
          </a:xfrm>
          <a:prstGeom prst="rect">
            <a:avLst/>
          </a:prstGeom>
        </p:spPr>
      </p:pic>
      <p:sp>
        <p:nvSpPr>
          <p:cNvPr id="8" name="Rectangle 7">
            <a:extLst>
              <a:ext uri="{FF2B5EF4-FFF2-40B4-BE49-F238E27FC236}">
                <a16:creationId xmlns:a16="http://schemas.microsoft.com/office/drawing/2014/main" id="{7FAE6F72-25CC-E244-B01F-2F560C770203}"/>
              </a:ext>
            </a:extLst>
          </p:cNvPr>
          <p:cNvSpPr/>
          <p:nvPr userDrawn="1"/>
        </p:nvSpPr>
        <p:spPr>
          <a:xfrm>
            <a:off x="0" y="529389"/>
            <a:ext cx="9192126" cy="5277853"/>
          </a:xfrm>
          <a:prstGeom prst="rect">
            <a:avLst/>
          </a:prstGeom>
          <a:solidFill>
            <a:srgbClr val="FFEC9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9B32C37A-6144-1849-B0A6-7D2493F325C9}"/>
              </a:ext>
            </a:extLst>
          </p:cNvPr>
          <p:cNvSpPr>
            <a:spLocks noGrp="1"/>
          </p:cNvSpPr>
          <p:nvPr>
            <p:ph idx="1"/>
          </p:nvPr>
        </p:nvSpPr>
        <p:spPr>
          <a:xfrm>
            <a:off x="481265" y="952967"/>
            <a:ext cx="8325852" cy="4453222"/>
          </a:xfrm>
        </p:spPr>
        <p:txBody>
          <a:bodyPr anchor="ctr">
            <a:normAutofit/>
          </a:bodyPr>
          <a:lstStyle>
            <a:lvl1pPr marL="0" indent="0" algn="l">
              <a:buClr>
                <a:schemeClr val="accent2"/>
              </a:buClr>
              <a:buFont typeface="Arial" panose="020B0604020202020204" pitchFamily="34" charset="0"/>
              <a:buNone/>
              <a:defRPr sz="2800" b="1">
                <a:solidFill>
                  <a:schemeClr val="accent1"/>
                </a:solidFill>
                <a:latin typeface="+mn-lt"/>
              </a:defRPr>
            </a:lvl1pPr>
            <a:lvl2pPr marL="457200" indent="0" algn="l">
              <a:buClr>
                <a:schemeClr val="accent2"/>
              </a:buClr>
              <a:buFont typeface="Arial" panose="020B0604020202020204" pitchFamily="34" charset="0"/>
              <a:buNone/>
              <a:defRPr sz="2800" b="1">
                <a:solidFill>
                  <a:schemeClr val="accent1"/>
                </a:solidFill>
                <a:latin typeface="+mn-lt"/>
              </a:defRPr>
            </a:lvl2pPr>
            <a:lvl3pPr marL="914400" indent="0" algn="l">
              <a:buClr>
                <a:schemeClr val="accent2"/>
              </a:buClr>
              <a:buFont typeface="Arial" panose="020B0604020202020204" pitchFamily="34" charset="0"/>
              <a:buNone/>
              <a:defRPr sz="2800" b="1">
                <a:solidFill>
                  <a:schemeClr val="accent1"/>
                </a:solidFill>
                <a:latin typeface="+mn-lt"/>
              </a:defRPr>
            </a:lvl3pPr>
            <a:lvl4pPr marL="1371600" indent="0" algn="l">
              <a:buClr>
                <a:schemeClr val="accent2"/>
              </a:buClr>
              <a:buFont typeface="Arial" panose="020B0604020202020204" pitchFamily="34" charset="0"/>
              <a:buNone/>
              <a:defRPr sz="2800" b="1">
                <a:solidFill>
                  <a:schemeClr val="accent1"/>
                </a:solidFill>
                <a:latin typeface="+mn-lt"/>
              </a:defRPr>
            </a:lvl4pPr>
            <a:lvl5pPr marL="1828800" indent="0" algn="l">
              <a:buClr>
                <a:schemeClr val="accent2"/>
              </a:buClr>
              <a:buFont typeface="Arial" panose="020B0604020202020204" pitchFamily="34" charset="0"/>
              <a:buNone/>
              <a:defRPr sz="2800" b="1">
                <a:solidFill>
                  <a:schemeClr val="accent1"/>
                </a:solidFill>
                <a:latin typeface="+mn-lt"/>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5" name="Footer Placeholder 4">
            <a:extLst>
              <a:ext uri="{FF2B5EF4-FFF2-40B4-BE49-F238E27FC236}">
                <a16:creationId xmlns:a16="http://schemas.microsoft.com/office/drawing/2014/main" id="{919FFC38-6A3C-204E-89FA-33C05DDB17F0}"/>
              </a:ext>
            </a:extLst>
          </p:cNvPr>
          <p:cNvSpPr>
            <a:spLocks noGrp="1"/>
          </p:cNvSpPr>
          <p:nvPr>
            <p:ph type="ftr" sz="quarter" idx="11"/>
          </p:nvPr>
        </p:nvSpPr>
        <p:spPr>
          <a:xfrm>
            <a:off x="481264" y="6356350"/>
            <a:ext cx="6079957" cy="365125"/>
          </a:xfrm>
        </p:spPr>
        <p:txBody>
          <a:bodyPr/>
          <a:lstStyle>
            <a:lvl1pPr>
              <a:defRPr>
                <a:solidFill>
                  <a:schemeClr val="bg1"/>
                </a:solidFill>
              </a:defRPr>
            </a:lvl1pPr>
          </a:lstStyle>
          <a:p>
            <a:endParaRPr lang="en-US" dirty="0"/>
          </a:p>
        </p:txBody>
      </p:sp>
      <p:sp>
        <p:nvSpPr>
          <p:cNvPr id="6" name="Slide Number Placeholder 5">
            <a:extLst>
              <a:ext uri="{FF2B5EF4-FFF2-40B4-BE49-F238E27FC236}">
                <a16:creationId xmlns:a16="http://schemas.microsoft.com/office/drawing/2014/main" id="{82BE163E-6F73-1A49-8E62-72EE5697E134}"/>
              </a:ext>
            </a:extLst>
          </p:cNvPr>
          <p:cNvSpPr>
            <a:spLocks noGrp="1"/>
          </p:cNvSpPr>
          <p:nvPr>
            <p:ph type="sldNum" sz="quarter" idx="12"/>
          </p:nvPr>
        </p:nvSpPr>
        <p:spPr>
          <a:xfrm>
            <a:off x="8610600" y="6356350"/>
            <a:ext cx="3131400" cy="365125"/>
          </a:xfrm>
        </p:spPr>
        <p:txBody>
          <a:bodyPr/>
          <a:lstStyle>
            <a:lvl1pPr>
              <a:defRPr>
                <a:solidFill>
                  <a:schemeClr val="bg1"/>
                </a:solidFill>
              </a:defRPr>
            </a:lvl1pPr>
          </a:lstStyle>
          <a:p>
            <a:fld id="{8ABE9924-9C5E-0140-A59E-99F9AC1E36CD}" type="slidenum">
              <a:rPr lang="en-US" smtClean="0"/>
              <a:pPr/>
              <a:t>‹#›</a:t>
            </a:fld>
            <a:endParaRPr lang="en-US" dirty="0"/>
          </a:p>
        </p:txBody>
      </p:sp>
    </p:spTree>
    <p:extLst>
      <p:ext uri="{BB962C8B-B14F-4D97-AF65-F5344CB8AC3E}">
        <p14:creationId xmlns:p14="http://schemas.microsoft.com/office/powerpoint/2010/main" val="391740317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moving quote">
    <p:bg>
      <p:bgPr>
        <a:solidFill>
          <a:schemeClr val="accent5"/>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9BC7DA2-A041-5947-A9E7-284E3D371424}"/>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4098140"/>
            <a:ext cx="12191999" cy="18281657"/>
          </a:xfrm>
          <a:prstGeom prst="rect">
            <a:avLst/>
          </a:prstGeom>
        </p:spPr>
      </p:pic>
      <p:sp>
        <p:nvSpPr>
          <p:cNvPr id="3" name="Content Placeholder 2">
            <a:extLst>
              <a:ext uri="{FF2B5EF4-FFF2-40B4-BE49-F238E27FC236}">
                <a16:creationId xmlns:a16="http://schemas.microsoft.com/office/drawing/2014/main" id="{9B32C37A-6144-1849-B0A6-7D2493F325C9}"/>
              </a:ext>
            </a:extLst>
          </p:cNvPr>
          <p:cNvSpPr>
            <a:spLocks noGrp="1"/>
          </p:cNvSpPr>
          <p:nvPr>
            <p:ph idx="1"/>
          </p:nvPr>
        </p:nvSpPr>
        <p:spPr>
          <a:xfrm>
            <a:off x="2037347" y="1253331"/>
            <a:ext cx="8117305" cy="4351338"/>
          </a:xfrm>
        </p:spPr>
        <p:txBody>
          <a:bodyPr anchor="ctr">
            <a:normAutofit/>
          </a:bodyPr>
          <a:lstStyle>
            <a:lvl1pPr algn="ctr">
              <a:buClr>
                <a:schemeClr val="bg1"/>
              </a:buClr>
              <a:defRPr sz="3600" b="1">
                <a:solidFill>
                  <a:schemeClr val="bg1"/>
                </a:solidFill>
                <a:latin typeface="+mn-lt"/>
              </a:defRPr>
            </a:lvl1pPr>
            <a:lvl2pPr algn="ctr">
              <a:buClr>
                <a:schemeClr val="bg1"/>
              </a:buClr>
              <a:defRPr sz="3600" b="1">
                <a:solidFill>
                  <a:schemeClr val="bg1"/>
                </a:solidFill>
                <a:latin typeface="+mn-lt"/>
              </a:defRPr>
            </a:lvl2pPr>
            <a:lvl3pPr algn="ctr">
              <a:buClr>
                <a:schemeClr val="bg1"/>
              </a:buClr>
              <a:defRPr sz="3600" b="1">
                <a:solidFill>
                  <a:schemeClr val="bg1"/>
                </a:solidFill>
                <a:latin typeface="+mn-lt"/>
              </a:defRPr>
            </a:lvl3pPr>
            <a:lvl4pPr algn="ctr">
              <a:buClr>
                <a:schemeClr val="bg1"/>
              </a:buClr>
              <a:defRPr sz="3600" b="1">
                <a:solidFill>
                  <a:schemeClr val="bg1"/>
                </a:solidFill>
                <a:latin typeface="+mn-lt"/>
              </a:defRPr>
            </a:lvl4pPr>
            <a:lvl5pPr algn="ctr">
              <a:buClr>
                <a:schemeClr val="bg1"/>
              </a:buClr>
              <a:defRPr sz="3600" b="1">
                <a:solidFill>
                  <a:schemeClr val="bg1"/>
                </a:solidFill>
                <a:latin typeface="+mn-lt"/>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5" name="Footer Placeholder 4">
            <a:extLst>
              <a:ext uri="{FF2B5EF4-FFF2-40B4-BE49-F238E27FC236}">
                <a16:creationId xmlns:a16="http://schemas.microsoft.com/office/drawing/2014/main" id="{919FFC38-6A3C-204E-89FA-33C05DDB17F0}"/>
              </a:ext>
            </a:extLst>
          </p:cNvPr>
          <p:cNvSpPr>
            <a:spLocks noGrp="1"/>
          </p:cNvSpPr>
          <p:nvPr>
            <p:ph type="ftr" sz="quarter" idx="11"/>
          </p:nvPr>
        </p:nvSpPr>
        <p:spPr>
          <a:xfrm>
            <a:off x="500450" y="6356350"/>
            <a:ext cx="6060771" cy="365125"/>
          </a:xfrm>
        </p:spPr>
        <p:txBody>
          <a:bodyPr/>
          <a:lstStyle>
            <a:lvl1pPr>
              <a:defRPr>
                <a:solidFill>
                  <a:schemeClr val="bg1"/>
                </a:solidFill>
              </a:defRPr>
            </a:lvl1pPr>
          </a:lstStyle>
          <a:p>
            <a:endParaRPr lang="en-US" dirty="0"/>
          </a:p>
        </p:txBody>
      </p:sp>
      <p:sp>
        <p:nvSpPr>
          <p:cNvPr id="6" name="Slide Number Placeholder 5">
            <a:extLst>
              <a:ext uri="{FF2B5EF4-FFF2-40B4-BE49-F238E27FC236}">
                <a16:creationId xmlns:a16="http://schemas.microsoft.com/office/drawing/2014/main" id="{82BE163E-6F73-1A49-8E62-72EE5697E134}"/>
              </a:ext>
            </a:extLst>
          </p:cNvPr>
          <p:cNvSpPr>
            <a:spLocks noGrp="1"/>
          </p:cNvSpPr>
          <p:nvPr>
            <p:ph type="sldNum" sz="quarter" idx="12"/>
          </p:nvPr>
        </p:nvSpPr>
        <p:spPr>
          <a:xfrm>
            <a:off x="8610600" y="6356350"/>
            <a:ext cx="3131400" cy="365125"/>
          </a:xfrm>
        </p:spPr>
        <p:txBody>
          <a:bodyPr/>
          <a:lstStyle>
            <a:lvl1pPr>
              <a:defRPr>
                <a:solidFill>
                  <a:schemeClr val="bg1"/>
                </a:solidFill>
              </a:defRPr>
            </a:lvl1pPr>
          </a:lstStyle>
          <a:p>
            <a:fld id="{8ABE9924-9C5E-0140-A59E-99F9AC1E36CD}" type="slidenum">
              <a:rPr lang="en-US" smtClean="0"/>
              <a:pPr/>
              <a:t>‹#›</a:t>
            </a:fld>
            <a:endParaRPr lang="en-US" dirty="0"/>
          </a:p>
        </p:txBody>
      </p:sp>
    </p:spTree>
    <p:extLst>
      <p:ext uri="{BB962C8B-B14F-4D97-AF65-F5344CB8AC3E}">
        <p14:creationId xmlns:p14="http://schemas.microsoft.com/office/powerpoint/2010/main" val="800455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path" presetSubtype="0" repeatCount="indefinite" fill="remove" nodeType="withEffect">
                                  <p:stCondLst>
                                    <p:cond delay="0"/>
                                  </p:stCondLst>
                                  <p:endCondLst>
                                    <p:cond evt="onNext" delay="0">
                                      <p:tgtEl>
                                        <p:sldTgt/>
                                      </p:tgtEl>
                                    </p:cond>
                                  </p:endCondLst>
                                  <p:childTnLst>
                                    <p:animMotion origin="layout" path="M 0 4.81481E-6 L 0 0.57986 " pathEditMode="relative" rAng="0" ptsTypes="AA">
                                      <p:cBhvr>
                                        <p:cTn id="6" dur="90000" fill="hold"/>
                                        <p:tgtEl>
                                          <p:spTgt spid="7"/>
                                        </p:tgtEl>
                                        <p:attrNameLst>
                                          <p:attrName>ppt_x</p:attrName>
                                          <p:attrName>ppt_y</p:attrName>
                                        </p:attrNameLst>
                                      </p:cBhvr>
                                      <p:rCtr x="0" y="28981"/>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Final slide">
    <p:spTree>
      <p:nvGrpSpPr>
        <p:cNvPr id="1" name=""/>
        <p:cNvGrpSpPr/>
        <p:nvPr/>
      </p:nvGrpSpPr>
      <p:grpSpPr>
        <a:xfrm>
          <a:off x="0" y="0"/>
          <a:ext cx="0" cy="0"/>
          <a:chOff x="0" y="0"/>
          <a:chExt cx="0" cy="0"/>
        </a:xfrm>
      </p:grpSpPr>
      <p:pic>
        <p:nvPicPr>
          <p:cNvPr id="7" name="External_background.jpg" descr="External_background.jpg">
            <a:extLst>
              <a:ext uri="{FF2B5EF4-FFF2-40B4-BE49-F238E27FC236}">
                <a16:creationId xmlns:a16="http://schemas.microsoft.com/office/drawing/2014/main" id="{289A03EE-692F-5747-96DE-AAEF94A062F8}"/>
              </a:ext>
            </a:extLst>
          </p:cNvPr>
          <p:cNvPicPr>
            <a:picLocks noChangeAspect="1"/>
          </p:cNvPicPr>
          <p:nvPr userDrawn="1"/>
        </p:nvPicPr>
        <p:blipFill>
          <a:blip r:embed="rId2"/>
          <a:stretch>
            <a:fillRect/>
          </a:stretch>
        </p:blipFill>
        <p:spPr>
          <a:xfrm>
            <a:off x="0" y="0"/>
            <a:ext cx="12192000" cy="6858000"/>
          </a:xfrm>
          <a:prstGeom prst="rect">
            <a:avLst/>
          </a:prstGeom>
          <a:ln w="12700">
            <a:miter lim="400000"/>
          </a:ln>
        </p:spPr>
      </p:pic>
      <p:sp>
        <p:nvSpPr>
          <p:cNvPr id="14" name="Subtitle 2">
            <a:extLst>
              <a:ext uri="{FF2B5EF4-FFF2-40B4-BE49-F238E27FC236}">
                <a16:creationId xmlns:a16="http://schemas.microsoft.com/office/drawing/2014/main" id="{70AB7283-9BD8-9F4F-896C-4DC51ED86A0A}"/>
              </a:ext>
            </a:extLst>
          </p:cNvPr>
          <p:cNvSpPr>
            <a:spLocks noGrp="1"/>
          </p:cNvSpPr>
          <p:nvPr>
            <p:ph type="subTitle" idx="1" hasCustomPrompt="1"/>
          </p:nvPr>
        </p:nvSpPr>
        <p:spPr>
          <a:xfrm>
            <a:off x="1360814" y="3441032"/>
            <a:ext cx="9836714" cy="1862488"/>
          </a:xfrm>
        </p:spPr>
        <p:txBody>
          <a:bodyPr numCol="3">
            <a:noAutofit/>
          </a:bodyPr>
          <a:lstStyle>
            <a:lvl1pPr marL="0" indent="0" algn="l">
              <a:lnSpc>
                <a:spcPct val="100000"/>
              </a:lnSpc>
              <a:spcBef>
                <a:spcPts val="400"/>
              </a:spcBef>
              <a:spcAft>
                <a:spcPts val="0"/>
              </a:spcAft>
              <a:buNone/>
              <a:defRPr lang="en-US" b="1" smtClean="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Tyndall National Institute, </a:t>
            </a:r>
          </a:p>
          <a:p>
            <a:r>
              <a:rPr lang="en-US" dirty="0"/>
              <a:t>Lee Maltings, </a:t>
            </a:r>
          </a:p>
          <a:p>
            <a:r>
              <a:rPr lang="en-US" dirty="0"/>
              <a:t>Dyke Parade, </a:t>
            </a:r>
          </a:p>
          <a:p>
            <a:r>
              <a:rPr lang="en-US" dirty="0"/>
              <a:t>Cork, </a:t>
            </a:r>
          </a:p>
          <a:p>
            <a:r>
              <a:rPr lang="en-US" dirty="0"/>
              <a:t>Ireland.</a:t>
            </a:r>
          </a:p>
          <a:p>
            <a:r>
              <a:rPr lang="en-US" dirty="0"/>
              <a:t>T12 R5CP</a:t>
            </a:r>
          </a:p>
          <a:p>
            <a:r>
              <a:rPr lang="en-US" b="1" dirty="0">
                <a:solidFill>
                  <a:schemeClr val="accent2"/>
                </a:solidFill>
                <a:latin typeface="+mn-lt"/>
              </a:rPr>
              <a:t>t: </a:t>
            </a:r>
            <a:r>
              <a:rPr lang="en-US" dirty="0"/>
              <a:t>+353 21 490 4177 </a:t>
            </a:r>
          </a:p>
          <a:p>
            <a:r>
              <a:rPr lang="en-US" b="1" dirty="0">
                <a:solidFill>
                  <a:schemeClr val="accent2"/>
                </a:solidFill>
                <a:latin typeface="+mn-lt"/>
              </a:rPr>
              <a:t>e: </a:t>
            </a:r>
            <a:r>
              <a:rPr lang="en-US" dirty="0" err="1"/>
              <a:t>info@tyndall.ie</a:t>
            </a:r>
            <a:r>
              <a:rPr lang="en-US" dirty="0"/>
              <a:t>  </a:t>
            </a:r>
          </a:p>
          <a:p>
            <a:r>
              <a:rPr lang="en-US" b="1" dirty="0" err="1">
                <a:solidFill>
                  <a:schemeClr val="accent2"/>
                </a:solidFill>
                <a:latin typeface="+mn-lt"/>
              </a:rPr>
              <a:t>tyndall.ie</a:t>
            </a:r>
            <a:endParaRPr lang="en-US" b="1" dirty="0">
              <a:solidFill>
                <a:schemeClr val="accent2"/>
              </a:solidFill>
              <a:latin typeface="+mn-lt"/>
            </a:endParaRPr>
          </a:p>
          <a:p>
            <a:endParaRPr lang="en-US" b="1" dirty="0">
              <a:solidFill>
                <a:schemeClr val="accent2"/>
              </a:solidFill>
              <a:latin typeface="+mn-lt"/>
            </a:endParaRPr>
          </a:p>
          <a:p>
            <a:endParaRPr lang="en-US" b="1" dirty="0">
              <a:solidFill>
                <a:schemeClr val="accent2"/>
              </a:solidFill>
              <a:latin typeface="+mn-lt"/>
            </a:endParaRPr>
          </a:p>
          <a:p>
            <a:endParaRPr lang="en-US" b="1" dirty="0">
              <a:solidFill>
                <a:schemeClr val="accent2"/>
              </a:solidFill>
              <a:latin typeface="+mn-lt"/>
            </a:endParaRPr>
          </a:p>
          <a:p>
            <a:r>
              <a:rPr lang="en-IE" dirty="0"/>
              <a:t>@</a:t>
            </a:r>
            <a:r>
              <a:rPr lang="en-IE" dirty="0" err="1"/>
              <a:t>tyndall</a:t>
            </a:r>
            <a:r>
              <a:rPr lang="en-IE" dirty="0"/>
              <a:t>-national-institute</a:t>
            </a:r>
            <a:br>
              <a:rPr lang="en-IE" dirty="0"/>
            </a:br>
            <a:r>
              <a:rPr lang="en-IE" dirty="0"/>
              <a:t>@</a:t>
            </a:r>
            <a:r>
              <a:rPr lang="en-IE" dirty="0" err="1"/>
              <a:t>TyndallInstitut</a:t>
            </a:r>
            <a:endParaRPr lang="en-IE" dirty="0"/>
          </a:p>
          <a:p>
            <a:r>
              <a:rPr lang="en-IE" dirty="0"/>
              <a:t>@</a:t>
            </a:r>
            <a:r>
              <a:rPr lang="en-IE" dirty="0" err="1"/>
              <a:t>tyndall_institute</a:t>
            </a:r>
            <a:endParaRPr lang="en-IE" dirty="0"/>
          </a:p>
          <a:p>
            <a:r>
              <a:rPr lang="en-IE" dirty="0"/>
              <a:t>@</a:t>
            </a:r>
            <a:r>
              <a:rPr lang="en-IE" dirty="0" err="1"/>
              <a:t>TyndallInstitute</a:t>
            </a:r>
            <a:endParaRPr lang="en-IE" dirty="0"/>
          </a:p>
        </p:txBody>
      </p:sp>
      <p:pic>
        <p:nvPicPr>
          <p:cNvPr id="15" name="Tyndall-Logo-White.png" descr="Tyndall-Logo-White.png">
            <a:extLst>
              <a:ext uri="{FF2B5EF4-FFF2-40B4-BE49-F238E27FC236}">
                <a16:creationId xmlns:a16="http://schemas.microsoft.com/office/drawing/2014/main" id="{8DC6F2FA-4F26-4440-A47A-FC19B03ADAC2}"/>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393273" y="2005263"/>
            <a:ext cx="2298032" cy="889863"/>
          </a:xfrm>
          <a:prstGeom prst="rect">
            <a:avLst/>
          </a:prstGeom>
          <a:ln w="12700">
            <a:miter lim="400000"/>
          </a:ln>
        </p:spPr>
      </p:pic>
      <p:grpSp>
        <p:nvGrpSpPr>
          <p:cNvPr id="16" name="Group 15">
            <a:extLst>
              <a:ext uri="{FF2B5EF4-FFF2-40B4-BE49-F238E27FC236}">
                <a16:creationId xmlns:a16="http://schemas.microsoft.com/office/drawing/2014/main" id="{C523564C-754D-314F-8B6A-468E19D29185}"/>
              </a:ext>
            </a:extLst>
          </p:cNvPr>
          <p:cNvGrpSpPr/>
          <p:nvPr userDrawn="1"/>
        </p:nvGrpSpPr>
        <p:grpSpPr>
          <a:xfrm>
            <a:off x="7371732" y="5856270"/>
            <a:ext cx="4820268" cy="618382"/>
            <a:chOff x="7812442" y="7321127"/>
            <a:chExt cx="9899621" cy="1270001"/>
          </a:xfrm>
        </p:grpSpPr>
        <p:sp>
          <p:nvSpPr>
            <p:cNvPr id="17" name="Rectangle">
              <a:extLst>
                <a:ext uri="{FF2B5EF4-FFF2-40B4-BE49-F238E27FC236}">
                  <a16:creationId xmlns:a16="http://schemas.microsoft.com/office/drawing/2014/main" id="{47A53120-3237-9249-878F-EF5F2BFF70DF}"/>
                </a:ext>
              </a:extLst>
            </p:cNvPr>
            <p:cNvSpPr/>
            <p:nvPr/>
          </p:nvSpPr>
          <p:spPr>
            <a:xfrm>
              <a:off x="7812442" y="7321127"/>
              <a:ext cx="9899621" cy="1270001"/>
            </a:xfrm>
            <a:prstGeom prst="rect">
              <a:avLst/>
            </a:prstGeom>
            <a:solidFill>
              <a:srgbClr val="FFFFFF"/>
            </a:solidFill>
            <a:ln w="12700">
              <a:miter lim="400000"/>
            </a:ln>
          </p:spPr>
          <p:txBody>
            <a:bodyPr lIns="71437" tIns="71437" rIns="71437" bIns="71437" anchor="ctr"/>
            <a:lstStyle/>
            <a:p>
              <a:pPr algn="ctr">
                <a:spcBef>
                  <a:spcPts val="0"/>
                </a:spcBef>
                <a:defRPr sz="3000">
                  <a:solidFill>
                    <a:srgbClr val="FFFFFF"/>
                  </a:solidFill>
                  <a:latin typeface="Helvetica Neue Medium"/>
                  <a:ea typeface="Helvetica Neue Medium"/>
                  <a:cs typeface="Helvetica Neue Medium"/>
                  <a:sym typeface="Helvetica Neue Medium"/>
                </a:defRPr>
              </a:pPr>
              <a:endParaRPr dirty="0"/>
            </a:p>
          </p:txBody>
        </p:sp>
        <p:pic>
          <p:nvPicPr>
            <p:cNvPr id="18" name="LogoESIF_Col_Landscape.png" descr="LogoESIF_Col_Landscape.png">
              <a:extLst>
                <a:ext uri="{FF2B5EF4-FFF2-40B4-BE49-F238E27FC236}">
                  <a16:creationId xmlns:a16="http://schemas.microsoft.com/office/drawing/2014/main" id="{0B720D89-757C-9645-934C-98C5411FD50C}"/>
                </a:ext>
              </a:extLst>
            </p:cNvPr>
            <p:cNvPicPr>
              <a:picLocks noChangeAspect="1"/>
            </p:cNvPicPr>
            <p:nvPr/>
          </p:nvPicPr>
          <p:blipFill>
            <a:blip r:embed="rId4"/>
            <a:stretch>
              <a:fillRect/>
            </a:stretch>
          </p:blipFill>
          <p:spPr>
            <a:xfrm>
              <a:off x="13933383" y="7638102"/>
              <a:ext cx="2839675" cy="636051"/>
            </a:xfrm>
            <a:prstGeom prst="rect">
              <a:avLst/>
            </a:prstGeom>
            <a:ln w="12700">
              <a:miter lim="400000"/>
            </a:ln>
          </p:spPr>
        </p:pic>
        <p:pic>
          <p:nvPicPr>
            <p:cNvPr id="19" name="Irelands_EU_SIFP_2014_2020_CMYK_3-01.png" descr="Irelands_EU_SIFP_2014_2020_CMYK_3-01.png">
              <a:extLst>
                <a:ext uri="{FF2B5EF4-FFF2-40B4-BE49-F238E27FC236}">
                  <a16:creationId xmlns:a16="http://schemas.microsoft.com/office/drawing/2014/main" id="{D9DBAC69-CB2E-1A47-8BE9-F864BC3C6735}"/>
                </a:ext>
              </a:extLst>
            </p:cNvPr>
            <p:cNvPicPr>
              <a:picLocks noChangeAspect="1"/>
            </p:cNvPicPr>
            <p:nvPr/>
          </p:nvPicPr>
          <p:blipFill>
            <a:blip r:embed="rId5"/>
            <a:stretch>
              <a:fillRect/>
            </a:stretch>
          </p:blipFill>
          <p:spPr>
            <a:xfrm>
              <a:off x="11503903" y="7632092"/>
              <a:ext cx="2074965" cy="648072"/>
            </a:xfrm>
            <a:prstGeom prst="rect">
              <a:avLst/>
            </a:prstGeom>
            <a:ln w="12700">
              <a:miter lim="400000"/>
            </a:ln>
          </p:spPr>
        </p:pic>
        <p:pic>
          <p:nvPicPr>
            <p:cNvPr id="20" name="project 2040.png" descr="project 2040.png">
              <a:extLst>
                <a:ext uri="{FF2B5EF4-FFF2-40B4-BE49-F238E27FC236}">
                  <a16:creationId xmlns:a16="http://schemas.microsoft.com/office/drawing/2014/main" id="{13A012FB-A68F-254C-928E-2BDD1598B43F}"/>
                </a:ext>
              </a:extLst>
            </p:cNvPr>
            <p:cNvPicPr>
              <a:picLocks noChangeAspect="1"/>
            </p:cNvPicPr>
            <p:nvPr/>
          </p:nvPicPr>
          <p:blipFill>
            <a:blip r:embed="rId6"/>
            <a:stretch>
              <a:fillRect/>
            </a:stretch>
          </p:blipFill>
          <p:spPr>
            <a:xfrm>
              <a:off x="7869525" y="7414385"/>
              <a:ext cx="3321117" cy="1083486"/>
            </a:xfrm>
            <a:prstGeom prst="rect">
              <a:avLst/>
            </a:prstGeom>
            <a:ln w="12700">
              <a:miter lim="400000"/>
            </a:ln>
          </p:spPr>
        </p:pic>
      </p:grpSp>
      <p:pic>
        <p:nvPicPr>
          <p:cNvPr id="21" name="Picture 20" descr="Icon&#10;&#10;Description automatically generated">
            <a:extLst>
              <a:ext uri="{FF2B5EF4-FFF2-40B4-BE49-F238E27FC236}">
                <a16:creationId xmlns:a16="http://schemas.microsoft.com/office/drawing/2014/main" id="{F6F2183F-A6E3-7F47-8199-016F111DEB0A}"/>
              </a:ext>
            </a:extLst>
          </p:cNvPr>
          <p:cNvPicPr>
            <a:picLocks noChangeAspect="1"/>
          </p:cNvPicPr>
          <p:nvPr userDrawn="1"/>
        </p:nvPicPr>
        <p:blipFill>
          <a:blip r:embed="rId7"/>
          <a:stretch>
            <a:fillRect/>
          </a:stretch>
        </p:blipFill>
        <p:spPr>
          <a:xfrm>
            <a:off x="7598410" y="4246278"/>
            <a:ext cx="223390" cy="223390"/>
          </a:xfrm>
          <a:prstGeom prst="rect">
            <a:avLst/>
          </a:prstGeom>
        </p:spPr>
      </p:pic>
      <p:pic>
        <p:nvPicPr>
          <p:cNvPr id="22" name="Picture 21">
            <a:extLst>
              <a:ext uri="{FF2B5EF4-FFF2-40B4-BE49-F238E27FC236}">
                <a16:creationId xmlns:a16="http://schemas.microsoft.com/office/drawing/2014/main" id="{E808A698-DEBD-904D-8E1D-34BDF8F53878}"/>
              </a:ext>
            </a:extLst>
          </p:cNvPr>
          <p:cNvPicPr>
            <a:picLocks noChangeAspect="1"/>
          </p:cNvPicPr>
          <p:nvPr userDrawn="1"/>
        </p:nvPicPr>
        <p:blipFill>
          <a:blip r:embed="rId8"/>
          <a:stretch>
            <a:fillRect/>
          </a:stretch>
        </p:blipFill>
        <p:spPr>
          <a:xfrm>
            <a:off x="7598410" y="3733925"/>
            <a:ext cx="223390" cy="223390"/>
          </a:xfrm>
          <a:prstGeom prst="rect">
            <a:avLst/>
          </a:prstGeom>
        </p:spPr>
      </p:pic>
      <p:pic>
        <p:nvPicPr>
          <p:cNvPr id="23" name="Picture 22" descr="Icon&#10;&#10;Description automatically generated">
            <a:extLst>
              <a:ext uri="{FF2B5EF4-FFF2-40B4-BE49-F238E27FC236}">
                <a16:creationId xmlns:a16="http://schemas.microsoft.com/office/drawing/2014/main" id="{652E92EB-E71C-944C-A1A4-6FB3BF234D67}"/>
              </a:ext>
            </a:extLst>
          </p:cNvPr>
          <p:cNvPicPr>
            <a:picLocks noChangeAspect="1"/>
          </p:cNvPicPr>
          <p:nvPr userDrawn="1"/>
        </p:nvPicPr>
        <p:blipFill>
          <a:blip r:embed="rId9"/>
          <a:stretch>
            <a:fillRect/>
          </a:stretch>
        </p:blipFill>
        <p:spPr>
          <a:xfrm>
            <a:off x="7598410" y="3990101"/>
            <a:ext cx="223390" cy="223390"/>
          </a:xfrm>
          <a:prstGeom prst="rect">
            <a:avLst/>
          </a:prstGeom>
        </p:spPr>
      </p:pic>
      <p:pic>
        <p:nvPicPr>
          <p:cNvPr id="24" name="Picture 23" descr="Icon&#10;&#10;Description automatically generated">
            <a:extLst>
              <a:ext uri="{FF2B5EF4-FFF2-40B4-BE49-F238E27FC236}">
                <a16:creationId xmlns:a16="http://schemas.microsoft.com/office/drawing/2014/main" id="{CC5D8A47-920E-9F44-88C6-C925A9408D36}"/>
              </a:ext>
            </a:extLst>
          </p:cNvPr>
          <p:cNvPicPr>
            <a:picLocks noChangeAspect="1"/>
          </p:cNvPicPr>
          <p:nvPr userDrawn="1"/>
        </p:nvPicPr>
        <p:blipFill>
          <a:blip r:embed="rId10"/>
          <a:stretch>
            <a:fillRect/>
          </a:stretch>
        </p:blipFill>
        <p:spPr>
          <a:xfrm>
            <a:off x="7598410" y="3477749"/>
            <a:ext cx="223390" cy="223390"/>
          </a:xfrm>
          <a:prstGeom prst="rect">
            <a:avLst/>
          </a:prstGeom>
        </p:spPr>
      </p:pic>
      <p:pic>
        <p:nvPicPr>
          <p:cNvPr id="25" name="Picture 24" descr="Text, logo, company name&#10;&#10;Description automatically generated">
            <a:extLst>
              <a:ext uri="{FF2B5EF4-FFF2-40B4-BE49-F238E27FC236}">
                <a16:creationId xmlns:a16="http://schemas.microsoft.com/office/drawing/2014/main" id="{7A4B3A66-BEF8-6D4E-AF76-9277E82E59A6}"/>
              </a:ext>
            </a:extLst>
          </p:cNvPr>
          <p:cNvPicPr>
            <a:picLocks noChangeAspect="1"/>
          </p:cNvPicPr>
          <p:nvPr userDrawn="1"/>
        </p:nvPicPr>
        <p:blipFill>
          <a:blip r:embed="rId11"/>
          <a:stretch>
            <a:fillRect/>
          </a:stretch>
        </p:blipFill>
        <p:spPr>
          <a:xfrm>
            <a:off x="471404" y="5974611"/>
            <a:ext cx="983884" cy="469488"/>
          </a:xfrm>
          <a:prstGeom prst="rect">
            <a:avLst/>
          </a:prstGeom>
        </p:spPr>
      </p:pic>
    </p:spTree>
    <p:extLst>
      <p:ext uri="{BB962C8B-B14F-4D97-AF65-F5344CB8AC3E}">
        <p14:creationId xmlns:p14="http://schemas.microsoft.com/office/powerpoint/2010/main" val="2761761759"/>
      </p:ext>
    </p:extLst>
  </p:cSld>
  <p:clrMapOvr>
    <a:masterClrMapping/>
  </p:clrMapOvr>
  <p:extLst>
    <p:ext uri="{DCECCB84-F9BA-43D5-87BE-67443E8EF086}">
      <p15:sldGuideLst xmlns:p15="http://schemas.microsoft.com/office/powerpoint/2012/main">
        <p15:guide id="1" orient="horz" pos="3974" userDrawn="1">
          <p15:clr>
            <a:srgbClr val="FBAE40"/>
          </p15:clr>
        </p15:guide>
        <p15:guide id="2" pos="279"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BBBCFF2-CCD6-E543-A578-4941CFE0660D}"/>
              </a:ext>
            </a:extLst>
          </p:cNvPr>
          <p:cNvSpPr>
            <a:spLocks noGrp="1"/>
          </p:cNvSpPr>
          <p:nvPr>
            <p:ph type="title"/>
          </p:nvPr>
        </p:nvSpPr>
        <p:spPr>
          <a:xfrm>
            <a:off x="450000" y="242418"/>
            <a:ext cx="9064390" cy="787314"/>
          </a:xfrm>
          <a:prstGeom prst="rect">
            <a:avLst/>
          </a:prstGeom>
        </p:spPr>
        <p:txBody>
          <a:bodyPr vert="horz" lIns="91440" tIns="45720" rIns="91440" bIns="45720" rtlCol="0" anchor="t">
            <a:normAutofit/>
          </a:bodyPr>
          <a:lstStyle/>
          <a:p>
            <a:r>
              <a:rPr lang="en-GB" dirty="0"/>
              <a:t>Click to edit Master title style</a:t>
            </a:r>
            <a:endParaRPr lang="en-US" dirty="0"/>
          </a:p>
        </p:txBody>
      </p:sp>
      <p:sp>
        <p:nvSpPr>
          <p:cNvPr id="3" name="Text Placeholder 2">
            <a:extLst>
              <a:ext uri="{FF2B5EF4-FFF2-40B4-BE49-F238E27FC236}">
                <a16:creationId xmlns:a16="http://schemas.microsoft.com/office/drawing/2014/main" id="{F99044BE-3E67-7B4A-84E2-206AFA3A6784}"/>
              </a:ext>
            </a:extLst>
          </p:cNvPr>
          <p:cNvSpPr>
            <a:spLocks noGrp="1"/>
          </p:cNvSpPr>
          <p:nvPr>
            <p:ph type="body" idx="1"/>
          </p:nvPr>
        </p:nvSpPr>
        <p:spPr>
          <a:xfrm>
            <a:off x="450000" y="1152439"/>
            <a:ext cx="9064390" cy="5024524"/>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5" name="Footer Placeholder 4">
            <a:extLst>
              <a:ext uri="{FF2B5EF4-FFF2-40B4-BE49-F238E27FC236}">
                <a16:creationId xmlns:a16="http://schemas.microsoft.com/office/drawing/2014/main" id="{43605894-96E7-344E-98EC-93726ADE49D4}"/>
              </a:ext>
            </a:extLst>
          </p:cNvPr>
          <p:cNvSpPr>
            <a:spLocks noGrp="1"/>
          </p:cNvSpPr>
          <p:nvPr>
            <p:ph type="ftr" sz="quarter" idx="3"/>
          </p:nvPr>
        </p:nvSpPr>
        <p:spPr>
          <a:xfrm>
            <a:off x="450000" y="6356350"/>
            <a:ext cx="7703400" cy="365125"/>
          </a:xfrm>
          <a:prstGeom prst="rect">
            <a:avLst/>
          </a:prstGeom>
        </p:spPr>
        <p:txBody>
          <a:bodyPr vert="horz" lIns="91440" tIns="45720" rIns="91440" bIns="45720" rtlCol="0" anchor="ctr"/>
          <a:lstStyle>
            <a:lvl1pPr algn="l">
              <a:defRPr sz="1000">
                <a:solidFill>
                  <a:schemeClr val="accent2"/>
                </a:solidFill>
                <a:latin typeface="+mj-lt"/>
              </a:defRPr>
            </a:lvl1pPr>
          </a:lstStyle>
          <a:p>
            <a:endParaRPr lang="en-US" sz="1000" dirty="0"/>
          </a:p>
        </p:txBody>
      </p:sp>
      <p:sp>
        <p:nvSpPr>
          <p:cNvPr id="6" name="Slide Number Placeholder 5">
            <a:extLst>
              <a:ext uri="{FF2B5EF4-FFF2-40B4-BE49-F238E27FC236}">
                <a16:creationId xmlns:a16="http://schemas.microsoft.com/office/drawing/2014/main" id="{A0481772-3EC6-8945-AFFB-4D562BA7592E}"/>
              </a:ext>
            </a:extLst>
          </p:cNvPr>
          <p:cNvSpPr>
            <a:spLocks noGrp="1"/>
          </p:cNvSpPr>
          <p:nvPr>
            <p:ph type="sldNum" sz="quarter" idx="4"/>
          </p:nvPr>
        </p:nvSpPr>
        <p:spPr>
          <a:xfrm>
            <a:off x="8610600" y="6356350"/>
            <a:ext cx="3131400" cy="365125"/>
          </a:xfrm>
          <a:prstGeom prst="rect">
            <a:avLst/>
          </a:prstGeom>
        </p:spPr>
        <p:txBody>
          <a:bodyPr vert="horz" lIns="91440" tIns="45720" rIns="91440" bIns="45720" rtlCol="0" anchor="ctr"/>
          <a:lstStyle>
            <a:lvl1pPr algn="r">
              <a:defRPr sz="1000">
                <a:solidFill>
                  <a:schemeClr val="accent2"/>
                </a:solidFill>
                <a:latin typeface="+mj-lt"/>
              </a:defRPr>
            </a:lvl1pPr>
          </a:lstStyle>
          <a:p>
            <a:fld id="{8ABE9924-9C5E-0140-A59E-99F9AC1E36CD}" type="slidenum">
              <a:rPr lang="en-US" smtClean="0"/>
              <a:pPr/>
              <a:t>‹#›</a:t>
            </a:fld>
            <a:endParaRPr lang="en-US" sz="1000" dirty="0"/>
          </a:p>
        </p:txBody>
      </p:sp>
    </p:spTree>
    <p:extLst>
      <p:ext uri="{BB962C8B-B14F-4D97-AF65-F5344CB8AC3E}">
        <p14:creationId xmlns:p14="http://schemas.microsoft.com/office/powerpoint/2010/main" val="2271187119"/>
      </p:ext>
    </p:extLst>
  </p:cSld>
  <p:clrMap bg1="lt1" tx1="dk1" bg2="lt2" tx2="dk2" accent1="accent1" accent2="accent2" accent3="accent3" accent4="accent4" accent5="accent5" accent6="accent6" hlink="hlink" folHlink="folHlink"/>
  <p:sldLayoutIdLst>
    <p:sldLayoutId id="2147483663" r:id="rId1"/>
    <p:sldLayoutId id="2147483685" r:id="rId2"/>
    <p:sldLayoutId id="2147483687" r:id="rId3"/>
    <p:sldLayoutId id="2147483649" r:id="rId4"/>
    <p:sldLayoutId id="2147483660" r:id="rId5"/>
    <p:sldLayoutId id="2147483661" r:id="rId6"/>
    <p:sldLayoutId id="2147483662" r:id="rId7"/>
    <p:sldLayoutId id="2147483686" r:id="rId8"/>
    <p:sldLayoutId id="2147483650" r:id="rId9"/>
    <p:sldLayoutId id="2147483664" r:id="rId10"/>
    <p:sldLayoutId id="2147483665" r:id="rId11"/>
    <p:sldLayoutId id="2147483666" r:id="rId12"/>
    <p:sldLayoutId id="2147483667" r:id="rId13"/>
    <p:sldLayoutId id="2147483668" r:id="rId14"/>
    <p:sldLayoutId id="2147483669" r:id="rId15"/>
    <p:sldLayoutId id="2147483671" r:id="rId16"/>
    <p:sldLayoutId id="2147483672" r:id="rId17"/>
    <p:sldLayoutId id="2147483673" r:id="rId18"/>
    <p:sldLayoutId id="2147483674" r:id="rId19"/>
    <p:sldLayoutId id="2147483675" r:id="rId20"/>
    <p:sldLayoutId id="2147483676" r:id="rId21"/>
    <p:sldLayoutId id="2147483677" r:id="rId22"/>
    <p:sldLayoutId id="2147483678" r:id="rId23"/>
    <p:sldLayoutId id="2147483679" r:id="rId24"/>
    <p:sldLayoutId id="2147483681" r:id="rId25"/>
    <p:sldLayoutId id="2147483680" r:id="rId26"/>
    <p:sldLayoutId id="2147483684" r:id="rId27"/>
  </p:sldLayoutIdLst>
  <p:txStyles>
    <p:titleStyle>
      <a:lvl1pPr algn="l" defTabSz="914400" rtl="0" eaLnBrk="1" latinLnBrk="0" hangingPunct="1">
        <a:lnSpc>
          <a:spcPct val="90000"/>
        </a:lnSpc>
        <a:spcBef>
          <a:spcPct val="0"/>
        </a:spcBef>
        <a:buNone/>
        <a:defRPr sz="3400" b="1" kern="1200">
          <a:solidFill>
            <a:schemeClr val="accent1"/>
          </a:solidFill>
          <a:latin typeface="+mn-lt"/>
          <a:ea typeface="+mj-ea"/>
          <a:cs typeface="+mj-cs"/>
        </a:defRPr>
      </a:lvl1pPr>
    </p:titleStyle>
    <p:bodyStyle>
      <a:lvl1pPr marL="0" indent="0" algn="l" defTabSz="914400" rtl="0" eaLnBrk="1" latinLnBrk="0" hangingPunct="1">
        <a:lnSpc>
          <a:spcPct val="90000"/>
        </a:lnSpc>
        <a:spcBef>
          <a:spcPts val="1000"/>
        </a:spcBef>
        <a:buClr>
          <a:schemeClr val="accent2"/>
        </a:buClr>
        <a:buSzPct val="120000"/>
        <a:buFont typeface="Arial" panose="020B0604020202020204" pitchFamily="34" charset="0"/>
        <a:buNone/>
        <a:defRPr sz="1400" kern="1200">
          <a:solidFill>
            <a:schemeClr val="tx1"/>
          </a:solidFill>
          <a:latin typeface="+mj-lt"/>
          <a:ea typeface="+mn-ea"/>
          <a:cs typeface="+mn-cs"/>
        </a:defRPr>
      </a:lvl1pPr>
      <a:lvl2pPr marL="457200" indent="0" algn="l" defTabSz="914400" rtl="0" eaLnBrk="1" latinLnBrk="0" hangingPunct="1">
        <a:lnSpc>
          <a:spcPct val="90000"/>
        </a:lnSpc>
        <a:spcBef>
          <a:spcPts val="500"/>
        </a:spcBef>
        <a:buClr>
          <a:schemeClr val="accent2"/>
        </a:buClr>
        <a:buSzPct val="120000"/>
        <a:buFont typeface="Arial" panose="020B0604020202020204" pitchFamily="34" charset="0"/>
        <a:buNone/>
        <a:defRPr sz="1400" kern="1200">
          <a:solidFill>
            <a:schemeClr val="tx1"/>
          </a:solidFill>
          <a:latin typeface="+mj-lt"/>
          <a:ea typeface="+mn-ea"/>
          <a:cs typeface="+mn-cs"/>
        </a:defRPr>
      </a:lvl2pPr>
      <a:lvl3pPr marL="914400" indent="0" algn="l" defTabSz="914400" rtl="0" eaLnBrk="1" latinLnBrk="0" hangingPunct="1">
        <a:lnSpc>
          <a:spcPct val="90000"/>
        </a:lnSpc>
        <a:spcBef>
          <a:spcPts val="500"/>
        </a:spcBef>
        <a:buClr>
          <a:schemeClr val="accent2"/>
        </a:buClr>
        <a:buSzPct val="120000"/>
        <a:buFont typeface="Arial" panose="020B0604020202020204" pitchFamily="34" charset="0"/>
        <a:buNone/>
        <a:defRPr sz="1400" kern="1200">
          <a:solidFill>
            <a:schemeClr val="tx1"/>
          </a:solidFill>
          <a:latin typeface="+mj-lt"/>
          <a:ea typeface="+mn-ea"/>
          <a:cs typeface="+mn-cs"/>
        </a:defRPr>
      </a:lvl3pPr>
      <a:lvl4pPr marL="1371600" indent="0" algn="l" defTabSz="914400" rtl="0" eaLnBrk="1" latinLnBrk="0" hangingPunct="1">
        <a:lnSpc>
          <a:spcPct val="90000"/>
        </a:lnSpc>
        <a:spcBef>
          <a:spcPts val="500"/>
        </a:spcBef>
        <a:buClr>
          <a:schemeClr val="accent2"/>
        </a:buClr>
        <a:buSzPct val="120000"/>
        <a:buFont typeface="Arial" panose="020B0604020202020204" pitchFamily="34" charset="0"/>
        <a:buNone/>
        <a:defRPr sz="1400" kern="1200">
          <a:solidFill>
            <a:schemeClr val="tx1"/>
          </a:solidFill>
          <a:latin typeface="+mj-lt"/>
          <a:ea typeface="+mn-ea"/>
          <a:cs typeface="+mn-cs"/>
        </a:defRPr>
      </a:lvl4pPr>
      <a:lvl5pPr marL="1828800" indent="0" algn="l" defTabSz="914400" rtl="0" eaLnBrk="1" latinLnBrk="0" hangingPunct="1">
        <a:lnSpc>
          <a:spcPct val="90000"/>
        </a:lnSpc>
        <a:spcBef>
          <a:spcPts val="500"/>
        </a:spcBef>
        <a:buClr>
          <a:schemeClr val="accent2"/>
        </a:buClr>
        <a:buSzPct val="120000"/>
        <a:buFont typeface="Arial" panose="020B0604020202020204" pitchFamily="34" charset="0"/>
        <a:buNone/>
        <a:defRPr sz="14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hyperlink" Target="https://loop.frontiersin.org/people/818685" TargetMode="External"/><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hyperlink" Target="https://loop.frontiersin.org/people/818685" TargetMode="External"/><Relationship Id="rId1" Type="http://schemas.openxmlformats.org/officeDocument/2006/relationships/slideLayout" Target="../slideLayouts/slideLayout11.xml"/><Relationship Id="rId5" Type="http://schemas.openxmlformats.org/officeDocument/2006/relationships/image" Target="../media/image21.png"/><Relationship Id="rId4" Type="http://schemas.openxmlformats.org/officeDocument/2006/relationships/image" Target="../media/image20.png"/></Relationships>
</file>

<file path=ppt/slides/_rels/slide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hyperlink" Target="https://loop.frontiersin.org/people/818685" TargetMode="External"/><Relationship Id="rId1" Type="http://schemas.openxmlformats.org/officeDocument/2006/relationships/slideLayout" Target="../slideLayouts/slideLayout11.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hyperlink" Target="https://loop.frontiersin.org/people/818685" TargetMode="External"/><Relationship Id="rId1" Type="http://schemas.openxmlformats.org/officeDocument/2006/relationships/slideLayout" Target="../slideLayouts/slideLayout11.xml"/><Relationship Id="rId4" Type="http://schemas.openxmlformats.org/officeDocument/2006/relationships/image" Target="../media/image27.png"/></Relationships>
</file>

<file path=ppt/slides/_rels/slide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hyperlink" Target="https://loop.frontiersin.org/people/818685" TargetMode="External"/><Relationship Id="rId1" Type="http://schemas.openxmlformats.org/officeDocument/2006/relationships/slideLayout" Target="../slideLayouts/slideLayout11.xml"/><Relationship Id="rId5" Type="http://schemas.openxmlformats.org/officeDocument/2006/relationships/image" Target="../media/image30.png"/><Relationship Id="rId4" Type="http://schemas.openxmlformats.org/officeDocument/2006/relationships/image" Target="../media/image29.png"/></Relationships>
</file>

<file path=ppt/slides/_rels/slide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hyperlink" Target="https://loop.frontiersin.org/people/818685" TargetMode="External"/><Relationship Id="rId1" Type="http://schemas.openxmlformats.org/officeDocument/2006/relationships/slideLayout" Target="../slideLayouts/slideLayout11.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hyperlink" Target="https://loop.frontiersin.org/people/818685" TargetMode="External"/><Relationship Id="rId1" Type="http://schemas.openxmlformats.org/officeDocument/2006/relationships/slideLayout" Target="../slideLayouts/slideLayout11.xml"/><Relationship Id="rId4" Type="http://schemas.openxmlformats.org/officeDocument/2006/relationships/image" Target="../media/image36.png"/></Relationships>
</file>

<file path=ppt/slides/_rels/slide1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hyperlink" Target="https://loop.frontiersin.org/people/818685" TargetMode="External"/><Relationship Id="rId1" Type="http://schemas.openxmlformats.org/officeDocument/2006/relationships/slideLayout" Target="../slideLayouts/slideLayout11.xml"/><Relationship Id="rId5" Type="http://schemas.openxmlformats.org/officeDocument/2006/relationships/image" Target="../media/image39.png"/><Relationship Id="rId4" Type="http://schemas.openxmlformats.org/officeDocument/2006/relationships/image" Target="../media/image38.png"/></Relationships>
</file>

<file path=ppt/slides/_rels/slide11.xml.rels><?xml version="1.0" encoding="UTF-8" standalone="yes"?>
<Relationships xmlns="http://schemas.openxmlformats.org/package/2006/relationships"><Relationship Id="rId3" Type="http://schemas.openxmlformats.org/officeDocument/2006/relationships/hyperlink" Target="https://www.sciencedirect.com/author/56489548800/yaokun-pang" TargetMode="External"/><Relationship Id="rId2" Type="http://schemas.openxmlformats.org/officeDocument/2006/relationships/hyperlink" Target="https://www.sciencedirect.com/science/article/pii/S221128552200218X#aep-article-footnote-id1" TargetMode="External"/><Relationship Id="rId1" Type="http://schemas.openxmlformats.org/officeDocument/2006/relationships/slideLayout" Target="../slideLayouts/slideLayout11.xml"/><Relationship Id="rId5" Type="http://schemas.openxmlformats.org/officeDocument/2006/relationships/image" Target="../media/image41.png"/><Relationship Id="rId4" Type="http://schemas.openxmlformats.org/officeDocument/2006/relationships/image" Target="../media/image40.png"/></Relationships>
</file>

<file path=ppt/slides/_rels/slide12.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11.xml"/><Relationship Id="rId4" Type="http://schemas.openxmlformats.org/officeDocument/2006/relationships/image" Target="../media/image44.png"/></Relationships>
</file>

<file path=ppt/slides/_rels/slide13.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hyperlink" Target="https://loop.frontiersin.org/people/818685" TargetMode="External"/><Relationship Id="rId1" Type="http://schemas.openxmlformats.org/officeDocument/2006/relationships/slideLayout" Target="../slideLayouts/slideLayout11.xml"/><Relationship Id="rId6" Type="http://schemas.openxmlformats.org/officeDocument/2006/relationships/image" Target="../media/image52.png"/><Relationship Id="rId5" Type="http://schemas.openxmlformats.org/officeDocument/2006/relationships/image" Target="../media/image51.png"/><Relationship Id="rId4" Type="http://schemas.openxmlformats.org/officeDocument/2006/relationships/image" Target="../media/image50.png"/></Relationships>
</file>

<file path=ppt/slides/_rels/slide16.xml.rels><?xml version="1.0" encoding="UTF-8" standalone="yes"?>
<Relationships xmlns="http://schemas.openxmlformats.org/package/2006/relationships"><Relationship Id="rId8" Type="http://schemas.openxmlformats.org/officeDocument/2006/relationships/image" Target="../media/image59.png"/><Relationship Id="rId3" Type="http://schemas.openxmlformats.org/officeDocument/2006/relationships/image" Target="../media/image54.png"/><Relationship Id="rId7" Type="http://schemas.openxmlformats.org/officeDocument/2006/relationships/image" Target="../media/image58.png"/><Relationship Id="rId2" Type="http://schemas.openxmlformats.org/officeDocument/2006/relationships/image" Target="../media/image53.png"/><Relationship Id="rId1" Type="http://schemas.openxmlformats.org/officeDocument/2006/relationships/slideLayout" Target="../slideLayouts/slideLayout11.xml"/><Relationship Id="rId6" Type="http://schemas.openxmlformats.org/officeDocument/2006/relationships/image" Target="../media/image57.png"/><Relationship Id="rId5" Type="http://schemas.openxmlformats.org/officeDocument/2006/relationships/image" Target="../media/image56.png"/><Relationship Id="rId4" Type="http://schemas.openxmlformats.org/officeDocument/2006/relationships/image" Target="../media/image55.png"/></Relationships>
</file>

<file path=ppt/slides/_rels/slide17.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slideLayout" Target="../slideLayouts/slideLayout11.xml"/><Relationship Id="rId4" Type="http://schemas.openxmlformats.org/officeDocument/2006/relationships/image" Target="../media/image6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3.png"/><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65.png"/><Relationship Id="rId1" Type="http://schemas.openxmlformats.org/officeDocument/2006/relationships/slideLayout" Target="../slideLayouts/slideLayout11.xml"/><Relationship Id="rId4" Type="http://schemas.openxmlformats.org/officeDocument/2006/relationships/image" Target="../media/image67.png"/></Relationships>
</file>

<file path=ppt/slides/_rels/slide21.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68.png"/><Relationship Id="rId1" Type="http://schemas.openxmlformats.org/officeDocument/2006/relationships/slideLayout" Target="../slideLayouts/slideLayout11.xml"/><Relationship Id="rId4" Type="http://schemas.openxmlformats.org/officeDocument/2006/relationships/image" Target="../media/image70.png"/></Relationships>
</file>

<file path=ppt/slides/_rels/slide22.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image" Target="../media/image71.png"/><Relationship Id="rId1" Type="http://schemas.openxmlformats.org/officeDocument/2006/relationships/slideLayout" Target="../slideLayouts/slideLayout11.xml"/><Relationship Id="rId4" Type="http://schemas.openxmlformats.org/officeDocument/2006/relationships/image" Target="../media/image73.png"/></Relationships>
</file>

<file path=ppt/slides/_rels/slide23.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image" Target="../media/image74.png"/><Relationship Id="rId1" Type="http://schemas.openxmlformats.org/officeDocument/2006/relationships/slideLayout" Target="../slideLayouts/slideLayout11.xml"/></Relationships>
</file>

<file path=ppt/slides/_rels/slide24.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image" Target="../media/image76.png"/><Relationship Id="rId1" Type="http://schemas.openxmlformats.org/officeDocument/2006/relationships/slideLayout" Target="../slideLayouts/slideLayout11.xml"/></Relationships>
</file>

<file path=ppt/slides/_rels/slide25.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11.xml"/></Relationships>
</file>

<file path=ppt/slides/_rels/slide26.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image" Target="../media/image79.png"/><Relationship Id="rId1" Type="http://schemas.openxmlformats.org/officeDocument/2006/relationships/slideLayout" Target="../slideLayouts/slideLayout11.xml"/><Relationship Id="rId5" Type="http://schemas.openxmlformats.org/officeDocument/2006/relationships/image" Target="../media/image82.png"/><Relationship Id="rId4" Type="http://schemas.openxmlformats.org/officeDocument/2006/relationships/image" Target="../media/image81.png"/></Relationships>
</file>

<file path=ppt/slides/_rels/slide27.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image" Target="../media/image83.png"/><Relationship Id="rId1" Type="http://schemas.openxmlformats.org/officeDocument/2006/relationships/slideLayout" Target="../slideLayouts/slideLayout11.xml"/><Relationship Id="rId4" Type="http://schemas.openxmlformats.org/officeDocument/2006/relationships/image" Target="../media/image85.png"/></Relationships>
</file>

<file path=ppt/slides/_rels/slide28.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image" Target="../media/image86.png"/><Relationship Id="rId1" Type="http://schemas.openxmlformats.org/officeDocument/2006/relationships/slideLayout" Target="../slideLayouts/slideLayout11.xml"/></Relationships>
</file>

<file path=ppt/slides/_rels/slide29.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image" Target="../media/image88.png"/><Relationship Id="rId1" Type="http://schemas.openxmlformats.org/officeDocument/2006/relationships/slideLayout" Target="../slideLayouts/slideLayout11.xml"/></Relationships>
</file>

<file path=ppt/slides/_rels/slide30.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image" Target="../media/image90.png"/><Relationship Id="rId1" Type="http://schemas.openxmlformats.org/officeDocument/2006/relationships/slideLayout" Target="../slideLayouts/slideLayout11.xml"/><Relationship Id="rId6" Type="http://schemas.openxmlformats.org/officeDocument/2006/relationships/image" Target="../media/image94.png"/><Relationship Id="rId5" Type="http://schemas.openxmlformats.org/officeDocument/2006/relationships/image" Target="../media/image93.png"/><Relationship Id="rId4" Type="http://schemas.openxmlformats.org/officeDocument/2006/relationships/image" Target="../media/image92.png"/></Relationships>
</file>

<file path=ppt/slides/_rels/slide31.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image" Target="../media/image95.png"/><Relationship Id="rId1" Type="http://schemas.openxmlformats.org/officeDocument/2006/relationships/slideLayout" Target="../slideLayouts/slideLayout11.xml"/></Relationships>
</file>

<file path=ppt/slides/_rels/slide32.xml.rels><?xml version="1.0" encoding="UTF-8" standalone="yes"?>
<Relationships xmlns="http://schemas.openxmlformats.org/package/2006/relationships"><Relationship Id="rId2" Type="http://schemas.openxmlformats.org/officeDocument/2006/relationships/image" Target="../media/image97.png"/><Relationship Id="rId1" Type="http://schemas.openxmlformats.org/officeDocument/2006/relationships/slideLayout" Target="../slideLayouts/slideLayout11.xml"/></Relationships>
</file>

<file path=ppt/slides/_rels/slide33.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image" Target="../media/image98.png"/><Relationship Id="rId1" Type="http://schemas.openxmlformats.org/officeDocument/2006/relationships/slideLayout" Target="../slideLayouts/slideLayout11.xml"/></Relationships>
</file>

<file path=ppt/slides/_rels/slide34.xml.rels><?xml version="1.0" encoding="UTF-8" standalone="yes"?>
<Relationships xmlns="http://schemas.openxmlformats.org/package/2006/relationships"><Relationship Id="rId2" Type="http://schemas.openxmlformats.org/officeDocument/2006/relationships/image" Target="../media/image100.png"/><Relationship Id="rId1" Type="http://schemas.openxmlformats.org/officeDocument/2006/relationships/slideLayout" Target="../slideLayouts/slideLayout11.xml"/></Relationships>
</file>

<file path=ppt/slides/_rels/slide35.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image" Target="../media/image101.png"/><Relationship Id="rId1" Type="http://schemas.openxmlformats.org/officeDocument/2006/relationships/slideLayout" Target="../slideLayouts/slideLayout11.xml"/><Relationship Id="rId4" Type="http://schemas.openxmlformats.org/officeDocument/2006/relationships/image" Target="../media/image103.png"/></Relationships>
</file>

<file path=ppt/slides/_rels/slide36.xml.rels><?xml version="1.0" encoding="UTF-8" standalone="yes"?>
<Relationships xmlns="http://schemas.openxmlformats.org/package/2006/relationships"><Relationship Id="rId3" Type="http://schemas.openxmlformats.org/officeDocument/2006/relationships/image" Target="../media/image105.png"/><Relationship Id="rId2" Type="http://schemas.openxmlformats.org/officeDocument/2006/relationships/image" Target="../media/image104.png"/><Relationship Id="rId1" Type="http://schemas.openxmlformats.org/officeDocument/2006/relationships/slideLayout" Target="../slideLayouts/slideLayout11.xml"/><Relationship Id="rId4" Type="http://schemas.openxmlformats.org/officeDocument/2006/relationships/image" Target="../media/image106.png"/></Relationships>
</file>

<file path=ppt/slides/_rels/slide37.xml.rels><?xml version="1.0" encoding="UTF-8" standalone="yes"?>
<Relationships xmlns="http://schemas.openxmlformats.org/package/2006/relationships"><Relationship Id="rId3" Type="http://schemas.openxmlformats.org/officeDocument/2006/relationships/image" Target="../media/image107.png"/><Relationship Id="rId2" Type="http://schemas.openxmlformats.org/officeDocument/2006/relationships/hyperlink" Target="https://loop.frontiersin.org/people/818685" TargetMode="External"/><Relationship Id="rId1" Type="http://schemas.openxmlformats.org/officeDocument/2006/relationships/slideLayout" Target="../slideLayouts/slideLayout11.xml"/><Relationship Id="rId5" Type="http://schemas.openxmlformats.org/officeDocument/2006/relationships/image" Target="../media/image109.png"/><Relationship Id="rId4" Type="http://schemas.openxmlformats.org/officeDocument/2006/relationships/image" Target="../media/image108.png"/></Relationships>
</file>

<file path=ppt/slides/_rels/slide38.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hyperlink" Target="https://loop.frontiersin.org/people/818685" TargetMode="External"/><Relationship Id="rId1" Type="http://schemas.openxmlformats.org/officeDocument/2006/relationships/slideLayout" Target="../slideLayouts/slideLayout11.xml"/><Relationship Id="rId4" Type="http://schemas.openxmlformats.org/officeDocument/2006/relationships/image" Target="../media/image111.png"/></Relationships>
</file>

<file path=ppt/slides/_rels/slide39.xml.rels><?xml version="1.0" encoding="UTF-8" standalone="yes"?>
<Relationships xmlns="http://schemas.openxmlformats.org/package/2006/relationships"><Relationship Id="rId3" Type="http://schemas.openxmlformats.org/officeDocument/2006/relationships/image" Target="../media/image112.png"/><Relationship Id="rId2" Type="http://schemas.openxmlformats.org/officeDocument/2006/relationships/hyperlink" Target="https://loop.frontiersin.org/people/818685" TargetMode="External"/><Relationship Id="rId1" Type="http://schemas.openxmlformats.org/officeDocument/2006/relationships/slideLayout" Target="../slideLayouts/slideLayout11.xml"/><Relationship Id="rId4" Type="http://schemas.openxmlformats.org/officeDocument/2006/relationships/image" Target="../media/image113.png"/></Relationships>
</file>

<file path=ppt/slides/_rels/slide40.xml.rels><?xml version="1.0" encoding="UTF-8" standalone="yes"?>
<Relationships xmlns="http://schemas.openxmlformats.org/package/2006/relationships"><Relationship Id="rId3" Type="http://schemas.openxmlformats.org/officeDocument/2006/relationships/hyperlink" Target="https://loop.frontiersin.org/people/818685" TargetMode="External"/><Relationship Id="rId2" Type="http://schemas.openxmlformats.org/officeDocument/2006/relationships/image" Target="../media/image114.png"/><Relationship Id="rId1" Type="http://schemas.openxmlformats.org/officeDocument/2006/relationships/slideLayout" Target="../slideLayouts/slideLayout11.xml"/><Relationship Id="rId5" Type="http://schemas.openxmlformats.org/officeDocument/2006/relationships/image" Target="../media/image116.png"/><Relationship Id="rId4" Type="http://schemas.openxmlformats.org/officeDocument/2006/relationships/image" Target="../media/image115.png"/></Relationships>
</file>

<file path=ppt/slides/_rels/slide41.xml.rels><?xml version="1.0" encoding="UTF-8" standalone="yes"?>
<Relationships xmlns="http://schemas.openxmlformats.org/package/2006/relationships"><Relationship Id="rId3" Type="http://schemas.openxmlformats.org/officeDocument/2006/relationships/image" Target="../media/image117.png"/><Relationship Id="rId2" Type="http://schemas.openxmlformats.org/officeDocument/2006/relationships/hyperlink" Target="https://loop.frontiersin.org/people/818685" TargetMode="External"/><Relationship Id="rId1" Type="http://schemas.openxmlformats.org/officeDocument/2006/relationships/slideLayout" Target="../slideLayouts/slideLayout11.xml"/><Relationship Id="rId5" Type="http://schemas.openxmlformats.org/officeDocument/2006/relationships/image" Target="../media/image119.png"/><Relationship Id="rId4" Type="http://schemas.openxmlformats.org/officeDocument/2006/relationships/image" Target="../media/image118.png"/></Relationships>
</file>

<file path=ppt/slides/_rels/slide42.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hyperlink" Target="https://loop.frontiersin.org/people/818685" TargetMode="External"/><Relationship Id="rId1" Type="http://schemas.openxmlformats.org/officeDocument/2006/relationships/slideLayout" Target="../slideLayouts/slideLayout11.xml"/><Relationship Id="rId5" Type="http://schemas.openxmlformats.org/officeDocument/2006/relationships/image" Target="../media/image122.png"/><Relationship Id="rId4" Type="http://schemas.openxmlformats.org/officeDocument/2006/relationships/image" Target="../media/image121.png"/></Relationships>
</file>

<file path=ppt/slides/_rels/slide43.xml.rels><?xml version="1.0" encoding="UTF-8" standalone="yes"?>
<Relationships xmlns="http://schemas.openxmlformats.org/package/2006/relationships"><Relationship Id="rId3" Type="http://schemas.openxmlformats.org/officeDocument/2006/relationships/image" Target="../media/image123.png"/><Relationship Id="rId2" Type="http://schemas.openxmlformats.org/officeDocument/2006/relationships/hyperlink" Target="https://loop.frontiersin.org/people/818685" TargetMode="External"/><Relationship Id="rId1" Type="http://schemas.openxmlformats.org/officeDocument/2006/relationships/slideLayout" Target="../slideLayouts/slideLayout11.xml"/><Relationship Id="rId5" Type="http://schemas.openxmlformats.org/officeDocument/2006/relationships/image" Target="../media/image125.png"/><Relationship Id="rId4" Type="http://schemas.openxmlformats.org/officeDocument/2006/relationships/image" Target="../media/image124.png"/></Relationships>
</file>

<file path=ppt/slides/_rels/slide44.xml.rels><?xml version="1.0" encoding="UTF-8" standalone="yes"?>
<Relationships xmlns="http://schemas.openxmlformats.org/package/2006/relationships"><Relationship Id="rId3" Type="http://schemas.openxmlformats.org/officeDocument/2006/relationships/image" Target="../media/image126.png"/><Relationship Id="rId2" Type="http://schemas.openxmlformats.org/officeDocument/2006/relationships/hyperlink" Target="https://loop.frontiersin.org/people/818685" TargetMode="External"/><Relationship Id="rId1" Type="http://schemas.openxmlformats.org/officeDocument/2006/relationships/slideLayout" Target="../slideLayouts/slideLayout11.xml"/><Relationship Id="rId6" Type="http://schemas.openxmlformats.org/officeDocument/2006/relationships/image" Target="../media/image129.png"/><Relationship Id="rId5" Type="http://schemas.openxmlformats.org/officeDocument/2006/relationships/image" Target="../media/image128.png"/><Relationship Id="rId4" Type="http://schemas.openxmlformats.org/officeDocument/2006/relationships/image" Target="../media/image127.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6.xml.rels><?xml version="1.0" encoding="UTF-8" standalone="yes"?>
<Relationships xmlns="http://schemas.openxmlformats.org/package/2006/relationships"><Relationship Id="rId2" Type="http://schemas.openxmlformats.org/officeDocument/2006/relationships/image" Target="../media/image130.png"/><Relationship Id="rId1" Type="http://schemas.openxmlformats.org/officeDocument/2006/relationships/slideLayout" Target="../slideLayouts/slideLayout11.xml"/></Relationships>
</file>

<file path=ppt/slides/_rels/slide47.xml.rels><?xml version="1.0" encoding="UTF-8" standalone="yes"?>
<Relationships xmlns="http://schemas.openxmlformats.org/package/2006/relationships"><Relationship Id="rId3" Type="http://schemas.openxmlformats.org/officeDocument/2006/relationships/image" Target="../media/image132.png"/><Relationship Id="rId2" Type="http://schemas.openxmlformats.org/officeDocument/2006/relationships/image" Target="../media/image131.png"/><Relationship Id="rId1" Type="http://schemas.openxmlformats.org/officeDocument/2006/relationships/slideLayout" Target="../slideLayouts/slideLayout1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9.xml.rels><?xml version="1.0" encoding="UTF-8" standalone="yes"?>
<Relationships xmlns="http://schemas.openxmlformats.org/package/2006/relationships"><Relationship Id="rId3" Type="http://schemas.openxmlformats.org/officeDocument/2006/relationships/image" Target="../media/image133.png"/><Relationship Id="rId2" Type="http://schemas.openxmlformats.org/officeDocument/2006/relationships/hyperlink" Target="https://loop.frontiersin.org/people/818685" TargetMode="External"/><Relationship Id="rId1" Type="http://schemas.openxmlformats.org/officeDocument/2006/relationships/slideLayout" Target="../slideLayouts/slideLayout11.xml"/><Relationship Id="rId5" Type="http://schemas.openxmlformats.org/officeDocument/2006/relationships/image" Target="../media/image135.png"/><Relationship Id="rId4" Type="http://schemas.openxmlformats.org/officeDocument/2006/relationships/image" Target="../media/image134.png"/></Relationships>
</file>

<file path=ppt/slides/_rels/slide50.xml.rels><?xml version="1.0" encoding="UTF-8" standalone="yes"?>
<Relationships xmlns="http://schemas.openxmlformats.org/package/2006/relationships"><Relationship Id="rId3" Type="http://schemas.openxmlformats.org/officeDocument/2006/relationships/image" Target="../media/image136.png"/><Relationship Id="rId2" Type="http://schemas.openxmlformats.org/officeDocument/2006/relationships/hyperlink" Target="https://loop.frontiersin.org/people/818685" TargetMode="External"/><Relationship Id="rId1" Type="http://schemas.openxmlformats.org/officeDocument/2006/relationships/slideLayout" Target="../slideLayouts/slideLayout11.xml"/><Relationship Id="rId5" Type="http://schemas.openxmlformats.org/officeDocument/2006/relationships/image" Target="../media/image138.png"/><Relationship Id="rId4" Type="http://schemas.openxmlformats.org/officeDocument/2006/relationships/image" Target="../media/image137.png"/></Relationships>
</file>

<file path=ppt/slides/_rels/slide51.xml.rels><?xml version="1.0" encoding="UTF-8" standalone="yes"?>
<Relationships xmlns="http://schemas.openxmlformats.org/package/2006/relationships"><Relationship Id="rId3" Type="http://schemas.openxmlformats.org/officeDocument/2006/relationships/image" Target="../media/image139.png"/><Relationship Id="rId2" Type="http://schemas.openxmlformats.org/officeDocument/2006/relationships/hyperlink" Target="https://loop.frontiersin.org/people/818685" TargetMode="External"/><Relationship Id="rId1" Type="http://schemas.openxmlformats.org/officeDocument/2006/relationships/slideLayout" Target="../slideLayouts/slideLayout11.xml"/><Relationship Id="rId5" Type="http://schemas.openxmlformats.org/officeDocument/2006/relationships/image" Target="../media/image141.png"/><Relationship Id="rId4" Type="http://schemas.openxmlformats.org/officeDocument/2006/relationships/image" Target="../media/image140.png"/></Relationships>
</file>

<file path=ppt/slides/_rels/slide52.xml.rels><?xml version="1.0" encoding="UTF-8" standalone="yes"?>
<Relationships xmlns="http://schemas.openxmlformats.org/package/2006/relationships"><Relationship Id="rId3" Type="http://schemas.openxmlformats.org/officeDocument/2006/relationships/image" Target="../media/image142.png"/><Relationship Id="rId2" Type="http://schemas.openxmlformats.org/officeDocument/2006/relationships/hyperlink" Target="https://loop.frontiersin.org/people/818685" TargetMode="External"/><Relationship Id="rId1" Type="http://schemas.openxmlformats.org/officeDocument/2006/relationships/slideLayout" Target="../slideLayouts/slideLayout11.xml"/><Relationship Id="rId6" Type="http://schemas.openxmlformats.org/officeDocument/2006/relationships/image" Target="../media/image145.png"/><Relationship Id="rId5" Type="http://schemas.openxmlformats.org/officeDocument/2006/relationships/image" Target="../media/image144.png"/><Relationship Id="rId4" Type="http://schemas.openxmlformats.org/officeDocument/2006/relationships/image" Target="../media/image143.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4.xml.rels><?xml version="1.0" encoding="UTF-8" standalone="yes"?>
<Relationships xmlns="http://schemas.openxmlformats.org/package/2006/relationships"><Relationship Id="rId3" Type="http://schemas.openxmlformats.org/officeDocument/2006/relationships/image" Target="../media/image146.png"/><Relationship Id="rId2" Type="http://schemas.openxmlformats.org/officeDocument/2006/relationships/hyperlink" Target="https://loop.frontiersin.org/people/818685" TargetMode="External"/><Relationship Id="rId1" Type="http://schemas.openxmlformats.org/officeDocument/2006/relationships/slideLayout" Target="../slideLayouts/slideLayout11.xml"/><Relationship Id="rId4" Type="http://schemas.openxmlformats.org/officeDocument/2006/relationships/image" Target="../media/image147.png"/></Relationships>
</file>

<file path=ppt/slides/_rels/slide55.xml.rels><?xml version="1.0" encoding="UTF-8" standalone="yes"?>
<Relationships xmlns="http://schemas.openxmlformats.org/package/2006/relationships"><Relationship Id="rId3" Type="http://schemas.openxmlformats.org/officeDocument/2006/relationships/image" Target="../media/image148.png"/><Relationship Id="rId2" Type="http://schemas.openxmlformats.org/officeDocument/2006/relationships/hyperlink" Target="https://loop.frontiersin.org/people/818685" TargetMode="External"/><Relationship Id="rId1" Type="http://schemas.openxmlformats.org/officeDocument/2006/relationships/slideLayout" Target="../slideLayouts/slideLayout11.xml"/><Relationship Id="rId5" Type="http://schemas.openxmlformats.org/officeDocument/2006/relationships/image" Target="../media/image150.png"/><Relationship Id="rId4" Type="http://schemas.openxmlformats.org/officeDocument/2006/relationships/image" Target="../media/image149.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7.xml.rels><?xml version="1.0" encoding="UTF-8" standalone="yes"?>
<Relationships xmlns="http://schemas.openxmlformats.org/package/2006/relationships"><Relationship Id="rId3" Type="http://schemas.openxmlformats.org/officeDocument/2006/relationships/hyperlink" Target="https://loop.frontiersin.org/people/818685" TargetMode="External"/><Relationship Id="rId2" Type="http://schemas.openxmlformats.org/officeDocument/2006/relationships/image" Target="../media/image151.png"/><Relationship Id="rId1" Type="http://schemas.openxmlformats.org/officeDocument/2006/relationships/slideLayout" Target="../slideLayouts/slideLayout11.xml"/><Relationship Id="rId6" Type="http://schemas.openxmlformats.org/officeDocument/2006/relationships/image" Target="../media/image154.png"/><Relationship Id="rId5" Type="http://schemas.openxmlformats.org/officeDocument/2006/relationships/image" Target="../media/image153.png"/><Relationship Id="rId4" Type="http://schemas.openxmlformats.org/officeDocument/2006/relationships/image" Target="../media/image152.png"/></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a:extLst>
              <a:ext uri="{FF2B5EF4-FFF2-40B4-BE49-F238E27FC236}">
                <a16:creationId xmlns:a16="http://schemas.microsoft.com/office/drawing/2014/main" id="{03F093E7-9D12-4A4E-A16B-61804483B2C5}"/>
              </a:ext>
            </a:extLst>
          </p:cNvPr>
          <p:cNvSpPr>
            <a:spLocks noGrp="1"/>
          </p:cNvSpPr>
          <p:nvPr>
            <p:ph type="pic" sz="quarter" idx="10"/>
          </p:nvPr>
        </p:nvSpPr>
        <p:spPr/>
        <p:txBody>
          <a:bodyPr/>
          <a:lstStyle/>
          <a:p>
            <a:endParaRPr lang="en-GB"/>
          </a:p>
        </p:txBody>
      </p:sp>
      <p:sp>
        <p:nvSpPr>
          <p:cNvPr id="3" name="Title 2">
            <a:extLst>
              <a:ext uri="{FF2B5EF4-FFF2-40B4-BE49-F238E27FC236}">
                <a16:creationId xmlns:a16="http://schemas.microsoft.com/office/drawing/2014/main" id="{7302C98C-CFEF-BC47-AB9C-316A5552A955}"/>
              </a:ext>
            </a:extLst>
          </p:cNvPr>
          <p:cNvSpPr>
            <a:spLocks noGrp="1"/>
          </p:cNvSpPr>
          <p:nvPr>
            <p:ph type="ctrTitle"/>
          </p:nvPr>
        </p:nvSpPr>
        <p:spPr>
          <a:xfrm>
            <a:off x="459255" y="1770981"/>
            <a:ext cx="6213008" cy="2109693"/>
          </a:xfrm>
        </p:spPr>
        <p:txBody>
          <a:bodyPr>
            <a:normAutofit fontScale="90000"/>
          </a:bodyPr>
          <a:lstStyle/>
          <a:p>
            <a:pPr>
              <a:spcBef>
                <a:spcPts val="2400"/>
              </a:spcBef>
              <a:spcAft>
                <a:spcPts val="2400"/>
              </a:spcAft>
            </a:pPr>
            <a:r>
              <a:rPr lang="en-GB" dirty="0"/>
              <a:t>Development of a Bioinspired Gripper for Soft Robotics with Tactile Capabilities</a:t>
            </a:r>
            <a:br>
              <a:rPr lang="en-GB" dirty="0"/>
            </a:br>
            <a:r>
              <a:rPr lang="en-GB" sz="1200" dirty="0"/>
              <a:t> </a:t>
            </a:r>
            <a:br>
              <a:rPr lang="en-GB" dirty="0"/>
            </a:br>
            <a:r>
              <a:rPr lang="en-US" sz="4000" dirty="0"/>
              <a:t>Literature</a:t>
            </a:r>
            <a:endParaRPr lang="en-US" dirty="0"/>
          </a:p>
        </p:txBody>
      </p:sp>
      <p:sp>
        <p:nvSpPr>
          <p:cNvPr id="4" name="Subtitle 3">
            <a:extLst>
              <a:ext uri="{FF2B5EF4-FFF2-40B4-BE49-F238E27FC236}">
                <a16:creationId xmlns:a16="http://schemas.microsoft.com/office/drawing/2014/main" id="{D9CE2026-9D76-D445-9906-0F7AF29AA2D1}"/>
              </a:ext>
            </a:extLst>
          </p:cNvPr>
          <p:cNvSpPr>
            <a:spLocks noGrp="1"/>
          </p:cNvSpPr>
          <p:nvPr>
            <p:ph type="subTitle" idx="1"/>
          </p:nvPr>
        </p:nvSpPr>
        <p:spPr>
          <a:xfrm>
            <a:off x="459254" y="3956708"/>
            <a:ext cx="7139410" cy="1338857"/>
          </a:xfrm>
        </p:spPr>
        <p:txBody>
          <a:bodyPr>
            <a:normAutofit/>
          </a:bodyPr>
          <a:lstStyle/>
          <a:p>
            <a:r>
              <a:rPr lang="en-US" sz="2400" dirty="0"/>
              <a:t>Julien Dubuc – BE at </a:t>
            </a:r>
            <a:r>
              <a:rPr lang="en-US" sz="2400" dirty="0" err="1"/>
              <a:t>SeaTech</a:t>
            </a:r>
            <a:r>
              <a:rPr lang="en-US" sz="2400" dirty="0"/>
              <a:t> (University of Toulon)</a:t>
            </a:r>
          </a:p>
          <a:p>
            <a:endParaRPr lang="en-US" sz="2400" dirty="0"/>
          </a:p>
        </p:txBody>
      </p:sp>
      <p:pic>
        <p:nvPicPr>
          <p:cNvPr id="5" name="Picture Placeholder 5" descr="A large room&#10;&#10;Description automatically generated">
            <a:extLst>
              <a:ext uri="{FF2B5EF4-FFF2-40B4-BE49-F238E27FC236}">
                <a16:creationId xmlns:a16="http://schemas.microsoft.com/office/drawing/2014/main" id="{51DE7352-EC9D-7D40-94F9-34A4BDDBB96C}"/>
              </a:ext>
            </a:extLst>
          </p:cNvPr>
          <p:cNvPicPr>
            <a:picLocks noChangeAspect="1"/>
          </p:cNvPicPr>
          <p:nvPr/>
        </p:nvPicPr>
        <p:blipFill rotWithShape="1">
          <a:blip r:embed="rId3" cstate="print">
            <a:alphaModFix/>
            <a:extLst>
              <a:ext uri="{28A0092B-C50C-407E-A947-70E740481C1C}">
                <a14:useLocalDpi xmlns:a14="http://schemas.microsoft.com/office/drawing/2010/main"/>
              </a:ext>
            </a:extLst>
          </a:blip>
          <a:srcRect t="15102" b="15102"/>
          <a:stretch/>
        </p:blipFill>
        <p:spPr>
          <a:xfrm>
            <a:off x="7036904" y="0"/>
            <a:ext cx="5155096" cy="5516218"/>
          </a:xfrm>
          <a:prstGeom prst="rect">
            <a:avLst/>
          </a:prstGeom>
        </p:spPr>
      </p:pic>
    </p:spTree>
    <p:extLst>
      <p:ext uri="{BB962C8B-B14F-4D97-AF65-F5344CB8AC3E}">
        <p14:creationId xmlns:p14="http://schemas.microsoft.com/office/powerpoint/2010/main" val="22691200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A705509-5289-BB59-1EC1-F9B8803646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9152F7-6D0F-C268-8C6C-1B93122D78F4}"/>
              </a:ext>
            </a:extLst>
          </p:cNvPr>
          <p:cNvSpPr>
            <a:spLocks noGrp="1"/>
          </p:cNvSpPr>
          <p:nvPr>
            <p:ph type="title"/>
          </p:nvPr>
        </p:nvSpPr>
        <p:spPr>
          <a:xfrm>
            <a:off x="1563805" y="3035343"/>
            <a:ext cx="9064390" cy="787314"/>
          </a:xfrm>
        </p:spPr>
        <p:txBody>
          <a:bodyPr>
            <a:normAutofit/>
          </a:bodyPr>
          <a:lstStyle/>
          <a:p>
            <a:pPr algn="ctr"/>
            <a:r>
              <a:rPr lang="en-US" sz="4800" dirty="0"/>
              <a:t>Literature REPORT</a:t>
            </a:r>
          </a:p>
        </p:txBody>
      </p:sp>
    </p:spTree>
    <p:extLst>
      <p:ext uri="{BB962C8B-B14F-4D97-AF65-F5344CB8AC3E}">
        <p14:creationId xmlns:p14="http://schemas.microsoft.com/office/powerpoint/2010/main" val="38332460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BCF3BCA-5A42-CD19-0368-01B1C80D717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6077CD5-0929-AB00-3258-ECA4EAE35E44}"/>
              </a:ext>
            </a:extLst>
          </p:cNvPr>
          <p:cNvSpPr>
            <a:spLocks noGrp="1"/>
          </p:cNvSpPr>
          <p:nvPr>
            <p:ph type="title"/>
          </p:nvPr>
        </p:nvSpPr>
        <p:spPr>
          <a:xfrm>
            <a:off x="208464" y="1291149"/>
            <a:ext cx="8094288" cy="787314"/>
          </a:xfrm>
        </p:spPr>
        <p:txBody>
          <a:bodyPr>
            <a:normAutofit/>
          </a:bodyPr>
          <a:lstStyle/>
          <a:p>
            <a:r>
              <a:rPr lang="en-IE" sz="1600" dirty="0">
                <a:solidFill>
                  <a:schemeClr val="bg2">
                    <a:lumMod val="10000"/>
                  </a:schemeClr>
                </a:solidFill>
              </a:rPr>
              <a:t>Most fluidic soft grippers copy animal hands but ignore the unique mechanics of plant-inspired continuum architectures like twisting. A clear taxonomy organized by biological impactive modes is missing.</a:t>
            </a:r>
          </a:p>
        </p:txBody>
      </p:sp>
      <p:sp>
        <p:nvSpPr>
          <p:cNvPr id="4" name="Title 1">
            <a:extLst>
              <a:ext uri="{FF2B5EF4-FFF2-40B4-BE49-F238E27FC236}">
                <a16:creationId xmlns:a16="http://schemas.microsoft.com/office/drawing/2014/main" id="{8A5E243A-BCF0-9D9B-4B4D-5012F3B44484}"/>
              </a:ext>
            </a:extLst>
          </p:cNvPr>
          <p:cNvSpPr txBox="1">
            <a:spLocks/>
          </p:cNvSpPr>
          <p:nvPr/>
        </p:nvSpPr>
        <p:spPr>
          <a:xfrm>
            <a:off x="145200" y="111354"/>
            <a:ext cx="9064390" cy="787314"/>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400" b="1" kern="1200">
                <a:solidFill>
                  <a:schemeClr val="bg1"/>
                </a:solidFill>
                <a:latin typeface="+mn-lt"/>
                <a:ea typeface="+mj-ea"/>
                <a:cs typeface="+mj-cs"/>
              </a:defRPr>
            </a:lvl1pPr>
          </a:lstStyle>
          <a:p>
            <a:r>
              <a:rPr lang="en-US" b="0" dirty="0">
                <a:solidFill>
                  <a:srgbClr val="002060"/>
                </a:solidFill>
              </a:rPr>
              <a:t>Literature : Report</a:t>
            </a:r>
          </a:p>
        </p:txBody>
      </p:sp>
      <p:sp>
        <p:nvSpPr>
          <p:cNvPr id="7" name="Title 1">
            <a:extLst>
              <a:ext uri="{FF2B5EF4-FFF2-40B4-BE49-F238E27FC236}">
                <a16:creationId xmlns:a16="http://schemas.microsoft.com/office/drawing/2014/main" id="{818D1609-81A6-E0B2-FFE2-5E2B53025EB1}"/>
              </a:ext>
            </a:extLst>
          </p:cNvPr>
          <p:cNvSpPr txBox="1">
            <a:spLocks/>
          </p:cNvSpPr>
          <p:nvPr/>
        </p:nvSpPr>
        <p:spPr>
          <a:xfrm>
            <a:off x="199870" y="2489532"/>
            <a:ext cx="7380700" cy="787314"/>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3400" b="1" kern="1200">
                <a:solidFill>
                  <a:schemeClr val="bg1"/>
                </a:solidFill>
                <a:latin typeface="+mn-lt"/>
                <a:ea typeface="+mj-ea"/>
                <a:cs typeface="+mj-cs"/>
              </a:defRPr>
            </a:lvl1pPr>
          </a:lstStyle>
          <a:p>
            <a:r>
              <a:rPr lang="en-IE" sz="1600" dirty="0">
                <a:solidFill>
                  <a:schemeClr val="bg2">
                    <a:lumMod val="10000"/>
                  </a:schemeClr>
                </a:solidFill>
              </a:rPr>
              <a:t>Categorization of impactive soft grippers into non-continuum bending (rigid frames + soft joints), continuum bending (leaf curls), and 3D twisting (tendrils).</a:t>
            </a:r>
            <a:endParaRPr lang="en-US" sz="1600" b="0" dirty="0">
              <a:solidFill>
                <a:schemeClr val="bg2">
                  <a:lumMod val="10000"/>
                </a:schemeClr>
              </a:solidFill>
            </a:endParaRPr>
          </a:p>
        </p:txBody>
      </p:sp>
      <p:sp>
        <p:nvSpPr>
          <p:cNvPr id="9" name="Title 1">
            <a:extLst>
              <a:ext uri="{FF2B5EF4-FFF2-40B4-BE49-F238E27FC236}">
                <a16:creationId xmlns:a16="http://schemas.microsoft.com/office/drawing/2014/main" id="{2EF4FE1A-A066-0390-6CAD-00571185208E}"/>
              </a:ext>
            </a:extLst>
          </p:cNvPr>
          <p:cNvSpPr txBox="1">
            <a:spLocks/>
          </p:cNvSpPr>
          <p:nvPr/>
        </p:nvSpPr>
        <p:spPr>
          <a:xfrm>
            <a:off x="225648" y="4298887"/>
            <a:ext cx="7051128" cy="787314"/>
          </a:xfrm>
          <a:prstGeom prst="rect">
            <a:avLst/>
          </a:prstGeom>
        </p:spPr>
        <p:txBody>
          <a:bodyPr vert="horz" lIns="91440" tIns="45720" rIns="91440" bIns="45720" rtlCol="0" anchor="t">
            <a:normAutofit fontScale="92500"/>
          </a:bodyPr>
          <a:lstStyle>
            <a:lvl1pPr algn="l" defTabSz="914400" rtl="0" eaLnBrk="1" latinLnBrk="0" hangingPunct="1">
              <a:lnSpc>
                <a:spcPct val="90000"/>
              </a:lnSpc>
              <a:spcBef>
                <a:spcPct val="0"/>
              </a:spcBef>
              <a:buNone/>
              <a:defRPr sz="3400" b="1" kern="1200">
                <a:solidFill>
                  <a:schemeClr val="bg1"/>
                </a:solidFill>
                <a:latin typeface="+mn-lt"/>
                <a:ea typeface="+mj-ea"/>
                <a:cs typeface="+mj-cs"/>
              </a:defRPr>
            </a:lvl1pPr>
          </a:lstStyle>
          <a:p>
            <a:r>
              <a:rPr lang="en-IE" sz="2000" dirty="0">
                <a:solidFill>
                  <a:schemeClr val="bg2">
                    <a:lumMod val="10000"/>
                  </a:schemeClr>
                </a:solidFill>
              </a:rPr>
              <a:t>Shifting to fully soft continuum structures distributes strains evenly, unlocking 3D twisting motions and stable packaging wraps.</a:t>
            </a:r>
            <a:endParaRPr lang="en-US" sz="2000" b="0" dirty="0">
              <a:solidFill>
                <a:schemeClr val="bg2">
                  <a:lumMod val="10000"/>
                </a:schemeClr>
              </a:solidFill>
            </a:endParaRPr>
          </a:p>
        </p:txBody>
      </p:sp>
      <p:sp>
        <p:nvSpPr>
          <p:cNvPr id="10" name="Title 1">
            <a:extLst>
              <a:ext uri="{FF2B5EF4-FFF2-40B4-BE49-F238E27FC236}">
                <a16:creationId xmlns:a16="http://schemas.microsoft.com/office/drawing/2014/main" id="{0373870D-C4CC-B8E6-7761-C8E3384373FA}"/>
              </a:ext>
            </a:extLst>
          </p:cNvPr>
          <p:cNvSpPr txBox="1">
            <a:spLocks/>
          </p:cNvSpPr>
          <p:nvPr/>
        </p:nvSpPr>
        <p:spPr>
          <a:xfrm>
            <a:off x="166087" y="5579650"/>
            <a:ext cx="7380700" cy="787314"/>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400" b="1" kern="1200">
                <a:solidFill>
                  <a:schemeClr val="bg1"/>
                </a:solidFill>
                <a:latin typeface="+mn-lt"/>
                <a:ea typeface="+mj-ea"/>
                <a:cs typeface="+mj-cs"/>
              </a:defRPr>
            </a:lvl1pPr>
          </a:lstStyle>
          <a:p>
            <a:r>
              <a:rPr lang="en-IE" sz="2000" dirty="0">
                <a:solidFill>
                  <a:schemeClr val="bg2">
                    <a:lumMod val="10000"/>
                  </a:schemeClr>
                </a:solidFill>
              </a:rPr>
              <a:t>Multi-material 3D printing delaminates easily. Continuous shapes are super hard to model mathematically.</a:t>
            </a:r>
            <a:endParaRPr lang="en-US" sz="2000" b="0" dirty="0">
              <a:solidFill>
                <a:schemeClr val="bg2">
                  <a:lumMod val="10000"/>
                </a:schemeClr>
              </a:solidFill>
            </a:endParaRPr>
          </a:p>
        </p:txBody>
      </p:sp>
      <p:sp>
        <p:nvSpPr>
          <p:cNvPr id="11" name="Title 1">
            <a:extLst>
              <a:ext uri="{FF2B5EF4-FFF2-40B4-BE49-F238E27FC236}">
                <a16:creationId xmlns:a16="http://schemas.microsoft.com/office/drawing/2014/main" id="{3B724229-EEE7-D250-38A5-244874A014D7}"/>
              </a:ext>
            </a:extLst>
          </p:cNvPr>
          <p:cNvSpPr txBox="1">
            <a:spLocks/>
          </p:cNvSpPr>
          <p:nvPr/>
        </p:nvSpPr>
        <p:spPr>
          <a:xfrm>
            <a:off x="5043336" y="218044"/>
            <a:ext cx="6888136" cy="787314"/>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3400" b="1" kern="1200">
                <a:solidFill>
                  <a:schemeClr val="bg1"/>
                </a:solidFill>
                <a:latin typeface="+mn-lt"/>
                <a:ea typeface="+mj-ea"/>
                <a:cs typeface="+mj-cs"/>
              </a:defRPr>
            </a:lvl1pPr>
          </a:lstStyle>
          <a:p>
            <a:r>
              <a:rPr lang="en-IE" sz="1600" dirty="0">
                <a:solidFill>
                  <a:schemeClr val="bg2">
                    <a:lumMod val="10000"/>
                  </a:schemeClr>
                </a:solidFill>
              </a:rPr>
              <a:t>Bio-Inspired Soft Grippers Based on Impactive Gripping</a:t>
            </a:r>
          </a:p>
          <a:p>
            <a:r>
              <a:rPr lang="en-IE" sz="1600" dirty="0">
                <a:solidFill>
                  <a:schemeClr val="bg2">
                    <a:lumMod val="10000"/>
                  </a:schemeClr>
                </a:solidFill>
              </a:rPr>
              <a:t>Liang Zhou, Lili Ren,* You Chen, </a:t>
            </a:r>
            <a:r>
              <a:rPr lang="en-IE" sz="1600" dirty="0" err="1">
                <a:solidFill>
                  <a:schemeClr val="bg2">
                    <a:lumMod val="10000"/>
                  </a:schemeClr>
                </a:solidFill>
              </a:rPr>
              <a:t>Shichao</a:t>
            </a:r>
            <a:r>
              <a:rPr lang="en-IE" sz="1600" dirty="0">
                <a:solidFill>
                  <a:schemeClr val="bg2">
                    <a:lumMod val="10000"/>
                  </a:schemeClr>
                </a:solidFill>
              </a:rPr>
              <a:t> Niu,* </a:t>
            </a:r>
            <a:r>
              <a:rPr lang="en-IE" sz="1600" dirty="0" err="1">
                <a:solidFill>
                  <a:schemeClr val="bg2">
                    <a:lumMod val="10000"/>
                  </a:schemeClr>
                </a:solidFill>
              </a:rPr>
              <a:t>Zhiwu</a:t>
            </a:r>
            <a:r>
              <a:rPr lang="en-IE" sz="1600" dirty="0">
                <a:solidFill>
                  <a:schemeClr val="bg2">
                    <a:lumMod val="10000"/>
                  </a:schemeClr>
                </a:solidFill>
              </a:rPr>
              <a:t> Han, and </a:t>
            </a:r>
            <a:r>
              <a:rPr lang="en-IE" sz="1600" dirty="0" err="1">
                <a:solidFill>
                  <a:schemeClr val="bg2">
                    <a:lumMod val="10000"/>
                  </a:schemeClr>
                </a:solidFill>
              </a:rPr>
              <a:t>Luquan</a:t>
            </a:r>
            <a:r>
              <a:rPr lang="en-IE" sz="1600" dirty="0">
                <a:solidFill>
                  <a:schemeClr val="bg2">
                    <a:lumMod val="10000"/>
                  </a:schemeClr>
                </a:solidFill>
              </a:rPr>
              <a:t> Re</a:t>
            </a:r>
            <a:endParaRPr lang="en-IE" sz="1600" b="0" dirty="0">
              <a:solidFill>
                <a:schemeClr val="bg2">
                  <a:lumMod val="10000"/>
                </a:schemeClr>
              </a:solidFill>
              <a:hlinkClick r:id="rId2">
                <a:extLst>
                  <a:ext uri="{A12FA001-AC4F-418D-AE19-62706E023703}">
                    <ahyp:hlinkClr xmlns:ahyp="http://schemas.microsoft.com/office/drawing/2018/hyperlinkcolor" val="tx"/>
                  </a:ext>
                </a:extLst>
              </a:hlinkClick>
            </a:endParaRPr>
          </a:p>
        </p:txBody>
      </p:sp>
      <p:sp>
        <p:nvSpPr>
          <p:cNvPr id="18" name="TextBox 17">
            <a:extLst>
              <a:ext uri="{FF2B5EF4-FFF2-40B4-BE49-F238E27FC236}">
                <a16:creationId xmlns:a16="http://schemas.microsoft.com/office/drawing/2014/main" id="{2259576D-3AB7-B9F1-5193-01D05B42E94D}"/>
              </a:ext>
            </a:extLst>
          </p:cNvPr>
          <p:cNvSpPr txBox="1"/>
          <p:nvPr/>
        </p:nvSpPr>
        <p:spPr>
          <a:xfrm>
            <a:off x="260528" y="856624"/>
            <a:ext cx="7068312" cy="400110"/>
          </a:xfrm>
          <a:prstGeom prst="rect">
            <a:avLst/>
          </a:prstGeom>
          <a:noFill/>
        </p:spPr>
        <p:txBody>
          <a:bodyPr wrap="square">
            <a:spAutoFit/>
          </a:bodyPr>
          <a:lstStyle/>
          <a:p>
            <a:r>
              <a:rPr lang="en-US" sz="2000" b="1" dirty="0">
                <a:solidFill>
                  <a:schemeClr val="tx2"/>
                </a:solidFill>
              </a:rPr>
              <a:t>Question/Gap: </a:t>
            </a:r>
            <a:endParaRPr lang="en-IE" sz="2000" b="1" dirty="0">
              <a:solidFill>
                <a:schemeClr val="tx2"/>
              </a:solidFill>
            </a:endParaRPr>
          </a:p>
        </p:txBody>
      </p:sp>
      <p:sp>
        <p:nvSpPr>
          <p:cNvPr id="19" name="TextBox 18">
            <a:extLst>
              <a:ext uri="{FF2B5EF4-FFF2-40B4-BE49-F238E27FC236}">
                <a16:creationId xmlns:a16="http://schemas.microsoft.com/office/drawing/2014/main" id="{F9B812DB-8477-6FF6-2814-137E69B8F2D5}"/>
              </a:ext>
            </a:extLst>
          </p:cNvPr>
          <p:cNvSpPr txBox="1"/>
          <p:nvPr/>
        </p:nvSpPr>
        <p:spPr>
          <a:xfrm>
            <a:off x="208464" y="2123416"/>
            <a:ext cx="7068312" cy="400110"/>
          </a:xfrm>
          <a:prstGeom prst="rect">
            <a:avLst/>
          </a:prstGeom>
          <a:noFill/>
        </p:spPr>
        <p:txBody>
          <a:bodyPr wrap="square">
            <a:spAutoFit/>
          </a:bodyPr>
          <a:lstStyle/>
          <a:p>
            <a:r>
              <a:rPr lang="en-US" sz="2000" b="1" dirty="0">
                <a:solidFill>
                  <a:schemeClr val="tx2"/>
                </a:solidFill>
              </a:rPr>
              <a:t>Method: </a:t>
            </a:r>
            <a:endParaRPr lang="en-IE" sz="2000" b="1" dirty="0">
              <a:solidFill>
                <a:schemeClr val="tx2"/>
              </a:solidFill>
            </a:endParaRPr>
          </a:p>
        </p:txBody>
      </p:sp>
      <p:sp>
        <p:nvSpPr>
          <p:cNvPr id="20" name="TextBox 19">
            <a:extLst>
              <a:ext uri="{FF2B5EF4-FFF2-40B4-BE49-F238E27FC236}">
                <a16:creationId xmlns:a16="http://schemas.microsoft.com/office/drawing/2014/main" id="{E5C22D4F-E7DD-57AF-9BBB-817AC62B1C91}"/>
              </a:ext>
            </a:extLst>
          </p:cNvPr>
          <p:cNvSpPr txBox="1"/>
          <p:nvPr/>
        </p:nvSpPr>
        <p:spPr>
          <a:xfrm>
            <a:off x="166087" y="3857481"/>
            <a:ext cx="7068312" cy="400110"/>
          </a:xfrm>
          <a:prstGeom prst="rect">
            <a:avLst/>
          </a:prstGeom>
          <a:noFill/>
        </p:spPr>
        <p:txBody>
          <a:bodyPr wrap="square">
            <a:spAutoFit/>
          </a:bodyPr>
          <a:lstStyle/>
          <a:p>
            <a:r>
              <a:rPr lang="en-US" sz="2000" b="1" dirty="0">
                <a:solidFill>
                  <a:schemeClr val="tx2"/>
                </a:solidFill>
              </a:rPr>
              <a:t>Results: </a:t>
            </a:r>
            <a:endParaRPr lang="en-IE" sz="2000" b="1" dirty="0">
              <a:solidFill>
                <a:schemeClr val="tx2"/>
              </a:solidFill>
            </a:endParaRPr>
          </a:p>
        </p:txBody>
      </p:sp>
      <p:sp>
        <p:nvSpPr>
          <p:cNvPr id="21" name="TextBox 20">
            <a:extLst>
              <a:ext uri="{FF2B5EF4-FFF2-40B4-BE49-F238E27FC236}">
                <a16:creationId xmlns:a16="http://schemas.microsoft.com/office/drawing/2014/main" id="{8A4D01FE-471D-FF49-270D-C54B10277088}"/>
              </a:ext>
            </a:extLst>
          </p:cNvPr>
          <p:cNvSpPr txBox="1"/>
          <p:nvPr/>
        </p:nvSpPr>
        <p:spPr>
          <a:xfrm>
            <a:off x="260528" y="5189814"/>
            <a:ext cx="7068312" cy="400110"/>
          </a:xfrm>
          <a:prstGeom prst="rect">
            <a:avLst/>
          </a:prstGeom>
          <a:noFill/>
        </p:spPr>
        <p:txBody>
          <a:bodyPr wrap="square">
            <a:spAutoFit/>
          </a:bodyPr>
          <a:lstStyle/>
          <a:p>
            <a:r>
              <a:rPr lang="en-US" sz="2000" b="1" dirty="0">
                <a:solidFill>
                  <a:schemeClr val="tx2"/>
                </a:solidFill>
              </a:rPr>
              <a:t>Limitations: </a:t>
            </a:r>
            <a:endParaRPr lang="en-IE" sz="2000" b="1" dirty="0">
              <a:solidFill>
                <a:schemeClr val="tx2"/>
              </a:solidFill>
            </a:endParaRPr>
          </a:p>
        </p:txBody>
      </p:sp>
      <p:pic>
        <p:nvPicPr>
          <p:cNvPr id="5" name="Picture 4">
            <a:extLst>
              <a:ext uri="{FF2B5EF4-FFF2-40B4-BE49-F238E27FC236}">
                <a16:creationId xmlns:a16="http://schemas.microsoft.com/office/drawing/2014/main" id="{51448F76-0CA2-A249-F51D-8A713EEFDAC2}"/>
              </a:ext>
            </a:extLst>
          </p:cNvPr>
          <p:cNvPicPr>
            <a:picLocks noChangeAspect="1"/>
          </p:cNvPicPr>
          <p:nvPr/>
        </p:nvPicPr>
        <p:blipFill>
          <a:blip r:embed="rId3"/>
          <a:stretch>
            <a:fillRect/>
          </a:stretch>
        </p:blipFill>
        <p:spPr>
          <a:xfrm>
            <a:off x="7978277" y="1462024"/>
            <a:ext cx="3953195" cy="4347156"/>
          </a:xfrm>
          <a:prstGeom prst="rect">
            <a:avLst/>
          </a:prstGeom>
        </p:spPr>
      </p:pic>
    </p:spTree>
    <p:extLst>
      <p:ext uri="{BB962C8B-B14F-4D97-AF65-F5344CB8AC3E}">
        <p14:creationId xmlns:p14="http://schemas.microsoft.com/office/powerpoint/2010/main" val="17121908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504D2B5-35AF-6AEA-2BBD-9B31CEC056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46F8426-C65B-4C1C-83A6-559E7585359C}"/>
              </a:ext>
            </a:extLst>
          </p:cNvPr>
          <p:cNvSpPr>
            <a:spLocks noGrp="1"/>
          </p:cNvSpPr>
          <p:nvPr>
            <p:ph type="title"/>
          </p:nvPr>
        </p:nvSpPr>
        <p:spPr>
          <a:xfrm>
            <a:off x="208464" y="1291149"/>
            <a:ext cx="6809289" cy="787314"/>
          </a:xfrm>
        </p:spPr>
        <p:txBody>
          <a:bodyPr>
            <a:normAutofit/>
          </a:bodyPr>
          <a:lstStyle/>
          <a:p>
            <a:r>
              <a:rPr lang="en-IE" sz="2000" dirty="0">
                <a:solidFill>
                  <a:schemeClr val="bg2">
                    <a:lumMod val="10000"/>
                  </a:schemeClr>
                </a:solidFill>
              </a:rPr>
              <a:t>Classic robotic hands are fragile, heavy, and over-</a:t>
            </a:r>
            <a:r>
              <a:rPr lang="en-IE" sz="2000" dirty="0" err="1">
                <a:solidFill>
                  <a:schemeClr val="bg2">
                    <a:lumMod val="10000"/>
                  </a:schemeClr>
                </a:solidFill>
              </a:rPr>
              <a:t>sensored</a:t>
            </a:r>
            <a:r>
              <a:rPr lang="en-IE" sz="2000" dirty="0">
                <a:solidFill>
                  <a:schemeClr val="bg2">
                    <a:lumMod val="10000"/>
                  </a:schemeClr>
                </a:solidFill>
              </a:rPr>
              <a:t>.</a:t>
            </a:r>
          </a:p>
        </p:txBody>
      </p:sp>
      <p:sp>
        <p:nvSpPr>
          <p:cNvPr id="4" name="Title 1">
            <a:extLst>
              <a:ext uri="{FF2B5EF4-FFF2-40B4-BE49-F238E27FC236}">
                <a16:creationId xmlns:a16="http://schemas.microsoft.com/office/drawing/2014/main" id="{A7A4A99F-FF28-F97A-08C6-8CF1D601727F}"/>
              </a:ext>
            </a:extLst>
          </p:cNvPr>
          <p:cNvSpPr txBox="1">
            <a:spLocks/>
          </p:cNvSpPr>
          <p:nvPr/>
        </p:nvSpPr>
        <p:spPr>
          <a:xfrm>
            <a:off x="145200" y="111354"/>
            <a:ext cx="9064390" cy="787314"/>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400" b="1" kern="1200">
                <a:solidFill>
                  <a:schemeClr val="bg1"/>
                </a:solidFill>
                <a:latin typeface="+mn-lt"/>
                <a:ea typeface="+mj-ea"/>
                <a:cs typeface="+mj-cs"/>
              </a:defRPr>
            </a:lvl1pPr>
          </a:lstStyle>
          <a:p>
            <a:r>
              <a:rPr lang="en-US" b="0" dirty="0">
                <a:solidFill>
                  <a:srgbClr val="002060"/>
                </a:solidFill>
              </a:rPr>
              <a:t>Literature : Report</a:t>
            </a:r>
          </a:p>
        </p:txBody>
      </p:sp>
      <p:sp>
        <p:nvSpPr>
          <p:cNvPr id="7" name="Title 1">
            <a:extLst>
              <a:ext uri="{FF2B5EF4-FFF2-40B4-BE49-F238E27FC236}">
                <a16:creationId xmlns:a16="http://schemas.microsoft.com/office/drawing/2014/main" id="{88D82A01-7D08-0C71-1357-C281B68591D0}"/>
              </a:ext>
            </a:extLst>
          </p:cNvPr>
          <p:cNvSpPr txBox="1">
            <a:spLocks/>
          </p:cNvSpPr>
          <p:nvPr/>
        </p:nvSpPr>
        <p:spPr>
          <a:xfrm>
            <a:off x="199870" y="2551488"/>
            <a:ext cx="7380700" cy="787314"/>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3400" b="1" kern="1200">
                <a:solidFill>
                  <a:schemeClr val="bg1"/>
                </a:solidFill>
                <a:latin typeface="+mn-lt"/>
                <a:ea typeface="+mj-ea"/>
                <a:cs typeface="+mj-cs"/>
              </a:defRPr>
            </a:lvl1pPr>
          </a:lstStyle>
          <a:p>
            <a:r>
              <a:rPr lang="en-IE" sz="1800" dirty="0">
                <a:solidFill>
                  <a:schemeClr val="bg2">
                    <a:lumMod val="10000"/>
                  </a:schemeClr>
                </a:solidFill>
              </a:rPr>
              <a:t>Designed a single-actuator, 4-finger underactuated gripper manufactured as a single block via Shape Deposition Manufacturing (SDM).</a:t>
            </a:r>
            <a:endParaRPr lang="en-US" sz="1800" b="0" dirty="0">
              <a:solidFill>
                <a:schemeClr val="bg2">
                  <a:lumMod val="10000"/>
                </a:schemeClr>
              </a:solidFill>
            </a:endParaRPr>
          </a:p>
        </p:txBody>
      </p:sp>
      <p:sp>
        <p:nvSpPr>
          <p:cNvPr id="9" name="Title 1">
            <a:extLst>
              <a:ext uri="{FF2B5EF4-FFF2-40B4-BE49-F238E27FC236}">
                <a16:creationId xmlns:a16="http://schemas.microsoft.com/office/drawing/2014/main" id="{9DDDE774-8449-4121-B615-8899A5CB4624}"/>
              </a:ext>
            </a:extLst>
          </p:cNvPr>
          <p:cNvSpPr txBox="1">
            <a:spLocks/>
          </p:cNvSpPr>
          <p:nvPr/>
        </p:nvSpPr>
        <p:spPr>
          <a:xfrm>
            <a:off x="243473" y="4327041"/>
            <a:ext cx="7051128" cy="787314"/>
          </a:xfrm>
          <a:prstGeom prst="rect">
            <a:avLst/>
          </a:prstGeom>
        </p:spPr>
        <p:txBody>
          <a:bodyPr vert="horz" lIns="91440" tIns="45720" rIns="91440" bIns="45720" rtlCol="0" anchor="t">
            <a:normAutofit fontScale="92500" lnSpcReduction="20000"/>
          </a:bodyPr>
          <a:lstStyle>
            <a:lvl1pPr algn="l" defTabSz="914400" rtl="0" eaLnBrk="1" latinLnBrk="0" hangingPunct="1">
              <a:lnSpc>
                <a:spcPct val="90000"/>
              </a:lnSpc>
              <a:spcBef>
                <a:spcPct val="0"/>
              </a:spcBef>
              <a:buNone/>
              <a:defRPr sz="3400" b="1" kern="1200">
                <a:solidFill>
                  <a:schemeClr val="bg1"/>
                </a:solidFill>
                <a:latin typeface="+mn-lt"/>
                <a:ea typeface="+mj-ea"/>
                <a:cs typeface="+mj-cs"/>
              </a:defRPr>
            </a:lvl1pPr>
          </a:lstStyle>
          <a:p>
            <a:r>
              <a:rPr lang="en-IE" sz="2000" dirty="0">
                <a:solidFill>
                  <a:schemeClr val="bg2">
                    <a:lumMod val="10000"/>
                  </a:schemeClr>
                </a:solidFill>
              </a:rPr>
              <a:t>Reaches fully passive geometric shape-adaptation to arbitrary targets. Exhibits extreme impact robustness (survives a 15-meter drop test) and dampens joint oscillations naturally.</a:t>
            </a:r>
            <a:endParaRPr lang="en-US" sz="2000" b="0" dirty="0">
              <a:solidFill>
                <a:schemeClr val="bg2">
                  <a:lumMod val="10000"/>
                </a:schemeClr>
              </a:solidFill>
            </a:endParaRPr>
          </a:p>
        </p:txBody>
      </p:sp>
      <p:sp>
        <p:nvSpPr>
          <p:cNvPr id="10" name="Title 1">
            <a:extLst>
              <a:ext uri="{FF2B5EF4-FFF2-40B4-BE49-F238E27FC236}">
                <a16:creationId xmlns:a16="http://schemas.microsoft.com/office/drawing/2014/main" id="{AC8BA5C1-062A-2FFC-DC1B-8CFA827D82C4}"/>
              </a:ext>
            </a:extLst>
          </p:cNvPr>
          <p:cNvSpPr txBox="1">
            <a:spLocks/>
          </p:cNvSpPr>
          <p:nvPr/>
        </p:nvSpPr>
        <p:spPr>
          <a:xfrm>
            <a:off x="302903" y="5579650"/>
            <a:ext cx="7380700" cy="787314"/>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400" b="1" kern="1200">
                <a:solidFill>
                  <a:schemeClr val="bg1"/>
                </a:solidFill>
                <a:latin typeface="+mn-lt"/>
                <a:ea typeface="+mj-ea"/>
                <a:cs typeface="+mj-cs"/>
              </a:defRPr>
            </a:lvl1pPr>
          </a:lstStyle>
          <a:p>
            <a:r>
              <a:rPr lang="en-IE" sz="2000" dirty="0">
                <a:solidFill>
                  <a:schemeClr val="bg2">
                    <a:lumMod val="10000"/>
                  </a:schemeClr>
                </a:solidFill>
              </a:rPr>
              <a:t>Blind grasping (zero sensors). Fixed stiffness limits precision.</a:t>
            </a:r>
            <a:endParaRPr lang="en-US" sz="2000" b="0" dirty="0">
              <a:solidFill>
                <a:schemeClr val="bg2">
                  <a:lumMod val="10000"/>
                </a:schemeClr>
              </a:solidFill>
            </a:endParaRPr>
          </a:p>
        </p:txBody>
      </p:sp>
      <p:sp>
        <p:nvSpPr>
          <p:cNvPr id="11" name="Title 1">
            <a:extLst>
              <a:ext uri="{FF2B5EF4-FFF2-40B4-BE49-F238E27FC236}">
                <a16:creationId xmlns:a16="http://schemas.microsoft.com/office/drawing/2014/main" id="{58A29C0C-5365-E097-1458-5BCF588B1CB1}"/>
              </a:ext>
            </a:extLst>
          </p:cNvPr>
          <p:cNvSpPr txBox="1">
            <a:spLocks/>
          </p:cNvSpPr>
          <p:nvPr/>
        </p:nvSpPr>
        <p:spPr>
          <a:xfrm>
            <a:off x="5043336" y="218044"/>
            <a:ext cx="6888136" cy="787314"/>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3400" b="1" kern="1200">
                <a:solidFill>
                  <a:schemeClr val="bg1"/>
                </a:solidFill>
                <a:latin typeface="+mn-lt"/>
                <a:ea typeface="+mj-ea"/>
                <a:cs typeface="+mj-cs"/>
              </a:defRPr>
            </a:lvl1pPr>
          </a:lstStyle>
          <a:p>
            <a:r>
              <a:rPr lang="en-GB" sz="1600" dirty="0">
                <a:solidFill>
                  <a:schemeClr val="bg2">
                    <a:lumMod val="10000"/>
                  </a:schemeClr>
                </a:solidFill>
              </a:rPr>
              <a:t>The Highly Adaptive SDM Hand: Design and Performance Evaluation Aaron M. Dollar Robert D. Howe</a:t>
            </a:r>
            <a:endParaRPr lang="en-IE" sz="1600" b="0" dirty="0">
              <a:solidFill>
                <a:schemeClr val="bg2">
                  <a:lumMod val="10000"/>
                </a:schemeClr>
              </a:solidFill>
              <a:hlinkClick r:id="rId2">
                <a:extLst>
                  <a:ext uri="{A12FA001-AC4F-418D-AE19-62706E023703}">
                    <ahyp:hlinkClr xmlns:ahyp="http://schemas.microsoft.com/office/drawing/2018/hyperlinkcolor" val="tx"/>
                  </a:ext>
                </a:extLst>
              </a:hlinkClick>
            </a:endParaRPr>
          </a:p>
        </p:txBody>
      </p:sp>
      <p:sp>
        <p:nvSpPr>
          <p:cNvPr id="18" name="TextBox 17">
            <a:extLst>
              <a:ext uri="{FF2B5EF4-FFF2-40B4-BE49-F238E27FC236}">
                <a16:creationId xmlns:a16="http://schemas.microsoft.com/office/drawing/2014/main" id="{DEE83DC4-ACCC-4335-6602-BEAA8AE29928}"/>
              </a:ext>
            </a:extLst>
          </p:cNvPr>
          <p:cNvSpPr txBox="1"/>
          <p:nvPr/>
        </p:nvSpPr>
        <p:spPr>
          <a:xfrm>
            <a:off x="260528" y="856624"/>
            <a:ext cx="7068312" cy="400110"/>
          </a:xfrm>
          <a:prstGeom prst="rect">
            <a:avLst/>
          </a:prstGeom>
          <a:noFill/>
        </p:spPr>
        <p:txBody>
          <a:bodyPr wrap="square">
            <a:spAutoFit/>
          </a:bodyPr>
          <a:lstStyle/>
          <a:p>
            <a:r>
              <a:rPr lang="en-US" sz="2000" b="1" dirty="0">
                <a:solidFill>
                  <a:schemeClr val="tx2"/>
                </a:solidFill>
              </a:rPr>
              <a:t>Question/Gap: </a:t>
            </a:r>
            <a:endParaRPr lang="en-IE" sz="2000" b="1" dirty="0">
              <a:solidFill>
                <a:schemeClr val="tx2"/>
              </a:solidFill>
            </a:endParaRPr>
          </a:p>
        </p:txBody>
      </p:sp>
      <p:sp>
        <p:nvSpPr>
          <p:cNvPr id="19" name="TextBox 18">
            <a:extLst>
              <a:ext uri="{FF2B5EF4-FFF2-40B4-BE49-F238E27FC236}">
                <a16:creationId xmlns:a16="http://schemas.microsoft.com/office/drawing/2014/main" id="{DBC79286-55B7-BB2B-360C-7057F01F14DF}"/>
              </a:ext>
            </a:extLst>
          </p:cNvPr>
          <p:cNvSpPr txBox="1"/>
          <p:nvPr/>
        </p:nvSpPr>
        <p:spPr>
          <a:xfrm>
            <a:off x="208464" y="2123416"/>
            <a:ext cx="7068312" cy="400110"/>
          </a:xfrm>
          <a:prstGeom prst="rect">
            <a:avLst/>
          </a:prstGeom>
          <a:noFill/>
        </p:spPr>
        <p:txBody>
          <a:bodyPr wrap="square">
            <a:spAutoFit/>
          </a:bodyPr>
          <a:lstStyle/>
          <a:p>
            <a:r>
              <a:rPr lang="en-US" sz="2000" b="1" dirty="0">
                <a:solidFill>
                  <a:schemeClr val="tx2"/>
                </a:solidFill>
              </a:rPr>
              <a:t>Method: </a:t>
            </a:r>
            <a:endParaRPr lang="en-IE" sz="2000" b="1" dirty="0">
              <a:solidFill>
                <a:schemeClr val="tx2"/>
              </a:solidFill>
            </a:endParaRPr>
          </a:p>
        </p:txBody>
      </p:sp>
      <p:sp>
        <p:nvSpPr>
          <p:cNvPr id="20" name="TextBox 19">
            <a:extLst>
              <a:ext uri="{FF2B5EF4-FFF2-40B4-BE49-F238E27FC236}">
                <a16:creationId xmlns:a16="http://schemas.microsoft.com/office/drawing/2014/main" id="{D92C1AAE-F8E0-1D6D-94DD-B3B1131431AA}"/>
              </a:ext>
            </a:extLst>
          </p:cNvPr>
          <p:cNvSpPr txBox="1"/>
          <p:nvPr/>
        </p:nvSpPr>
        <p:spPr>
          <a:xfrm>
            <a:off x="166087" y="3857481"/>
            <a:ext cx="7068312" cy="400110"/>
          </a:xfrm>
          <a:prstGeom prst="rect">
            <a:avLst/>
          </a:prstGeom>
          <a:noFill/>
        </p:spPr>
        <p:txBody>
          <a:bodyPr wrap="square">
            <a:spAutoFit/>
          </a:bodyPr>
          <a:lstStyle/>
          <a:p>
            <a:r>
              <a:rPr lang="en-US" sz="2000" b="1" dirty="0">
                <a:solidFill>
                  <a:schemeClr val="tx2"/>
                </a:solidFill>
              </a:rPr>
              <a:t>Results: </a:t>
            </a:r>
            <a:endParaRPr lang="en-IE" sz="2000" b="1" dirty="0">
              <a:solidFill>
                <a:schemeClr val="tx2"/>
              </a:solidFill>
            </a:endParaRPr>
          </a:p>
        </p:txBody>
      </p:sp>
      <p:sp>
        <p:nvSpPr>
          <p:cNvPr id="21" name="TextBox 20">
            <a:extLst>
              <a:ext uri="{FF2B5EF4-FFF2-40B4-BE49-F238E27FC236}">
                <a16:creationId xmlns:a16="http://schemas.microsoft.com/office/drawing/2014/main" id="{6A8E6957-2A81-FF2E-D985-232A6D28DFCD}"/>
              </a:ext>
            </a:extLst>
          </p:cNvPr>
          <p:cNvSpPr txBox="1"/>
          <p:nvPr/>
        </p:nvSpPr>
        <p:spPr>
          <a:xfrm>
            <a:off x="260528" y="5189814"/>
            <a:ext cx="7068312" cy="400110"/>
          </a:xfrm>
          <a:prstGeom prst="rect">
            <a:avLst/>
          </a:prstGeom>
          <a:noFill/>
        </p:spPr>
        <p:txBody>
          <a:bodyPr wrap="square">
            <a:spAutoFit/>
          </a:bodyPr>
          <a:lstStyle/>
          <a:p>
            <a:r>
              <a:rPr lang="en-US" sz="2000" b="1" dirty="0">
                <a:solidFill>
                  <a:schemeClr val="tx2"/>
                </a:solidFill>
              </a:rPr>
              <a:t>Limitations: </a:t>
            </a:r>
            <a:endParaRPr lang="en-IE" sz="2000" b="1" dirty="0">
              <a:solidFill>
                <a:schemeClr val="tx2"/>
              </a:solidFill>
            </a:endParaRPr>
          </a:p>
        </p:txBody>
      </p:sp>
      <p:pic>
        <p:nvPicPr>
          <p:cNvPr id="3" name="Picture 2">
            <a:extLst>
              <a:ext uri="{FF2B5EF4-FFF2-40B4-BE49-F238E27FC236}">
                <a16:creationId xmlns:a16="http://schemas.microsoft.com/office/drawing/2014/main" id="{0BF86A9F-F17D-5620-ED12-C80D3690E1B5}"/>
              </a:ext>
            </a:extLst>
          </p:cNvPr>
          <p:cNvPicPr>
            <a:picLocks noChangeAspect="1"/>
          </p:cNvPicPr>
          <p:nvPr/>
        </p:nvPicPr>
        <p:blipFill>
          <a:blip r:embed="rId3"/>
          <a:stretch>
            <a:fillRect/>
          </a:stretch>
        </p:blipFill>
        <p:spPr>
          <a:xfrm>
            <a:off x="7294601" y="628702"/>
            <a:ext cx="4688935" cy="1954205"/>
          </a:xfrm>
          <a:prstGeom prst="rect">
            <a:avLst/>
          </a:prstGeom>
        </p:spPr>
      </p:pic>
      <p:pic>
        <p:nvPicPr>
          <p:cNvPr id="5" name="Picture 4">
            <a:extLst>
              <a:ext uri="{FF2B5EF4-FFF2-40B4-BE49-F238E27FC236}">
                <a16:creationId xmlns:a16="http://schemas.microsoft.com/office/drawing/2014/main" id="{55E16AFB-77E9-2B83-CE82-2918B6FF481B}"/>
              </a:ext>
            </a:extLst>
          </p:cNvPr>
          <p:cNvPicPr>
            <a:picLocks noChangeAspect="1"/>
          </p:cNvPicPr>
          <p:nvPr/>
        </p:nvPicPr>
        <p:blipFill>
          <a:blip r:embed="rId4"/>
          <a:stretch>
            <a:fillRect/>
          </a:stretch>
        </p:blipFill>
        <p:spPr>
          <a:xfrm>
            <a:off x="8783142" y="2728506"/>
            <a:ext cx="2261696" cy="1767124"/>
          </a:xfrm>
          <a:prstGeom prst="rect">
            <a:avLst/>
          </a:prstGeom>
        </p:spPr>
      </p:pic>
      <p:pic>
        <p:nvPicPr>
          <p:cNvPr id="8" name="Picture 7">
            <a:extLst>
              <a:ext uri="{FF2B5EF4-FFF2-40B4-BE49-F238E27FC236}">
                <a16:creationId xmlns:a16="http://schemas.microsoft.com/office/drawing/2014/main" id="{229F2943-257D-EE93-B554-CE3774043170}"/>
              </a:ext>
            </a:extLst>
          </p:cNvPr>
          <p:cNvPicPr>
            <a:picLocks noChangeAspect="1"/>
          </p:cNvPicPr>
          <p:nvPr/>
        </p:nvPicPr>
        <p:blipFill>
          <a:blip r:embed="rId5"/>
          <a:stretch>
            <a:fillRect/>
          </a:stretch>
        </p:blipFill>
        <p:spPr>
          <a:xfrm>
            <a:off x="8783142" y="4641229"/>
            <a:ext cx="2695673" cy="1954206"/>
          </a:xfrm>
          <a:prstGeom prst="rect">
            <a:avLst/>
          </a:prstGeom>
        </p:spPr>
      </p:pic>
    </p:spTree>
    <p:extLst>
      <p:ext uri="{BB962C8B-B14F-4D97-AF65-F5344CB8AC3E}">
        <p14:creationId xmlns:p14="http://schemas.microsoft.com/office/powerpoint/2010/main" val="32353570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14E4193-6AB4-FBD7-E95F-92E5D64D84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B6E00CC-499A-FC6C-7947-9E749959B3ED}"/>
              </a:ext>
            </a:extLst>
          </p:cNvPr>
          <p:cNvSpPr>
            <a:spLocks noGrp="1"/>
          </p:cNvSpPr>
          <p:nvPr>
            <p:ph type="title"/>
          </p:nvPr>
        </p:nvSpPr>
        <p:spPr>
          <a:xfrm>
            <a:off x="208464" y="1291149"/>
            <a:ext cx="6809289" cy="787314"/>
          </a:xfrm>
        </p:spPr>
        <p:txBody>
          <a:bodyPr>
            <a:normAutofit/>
          </a:bodyPr>
          <a:lstStyle/>
          <a:p>
            <a:r>
              <a:rPr lang="en-IE" sz="2000" dirty="0">
                <a:solidFill>
                  <a:schemeClr val="bg2">
                    <a:lumMod val="10000"/>
                  </a:schemeClr>
                </a:solidFill>
              </a:rPr>
              <a:t>Anthropomorphic hands use too many motors (heavy + high energy drain).</a:t>
            </a:r>
          </a:p>
        </p:txBody>
      </p:sp>
      <p:sp>
        <p:nvSpPr>
          <p:cNvPr id="4" name="Title 1">
            <a:extLst>
              <a:ext uri="{FF2B5EF4-FFF2-40B4-BE49-F238E27FC236}">
                <a16:creationId xmlns:a16="http://schemas.microsoft.com/office/drawing/2014/main" id="{F6FEA83F-405A-65CD-0E67-BFD18B147C54}"/>
              </a:ext>
            </a:extLst>
          </p:cNvPr>
          <p:cNvSpPr txBox="1">
            <a:spLocks/>
          </p:cNvSpPr>
          <p:nvPr/>
        </p:nvSpPr>
        <p:spPr>
          <a:xfrm>
            <a:off x="145200" y="111354"/>
            <a:ext cx="9064390" cy="787314"/>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400" b="1" kern="1200">
                <a:solidFill>
                  <a:schemeClr val="bg1"/>
                </a:solidFill>
                <a:latin typeface="+mn-lt"/>
                <a:ea typeface="+mj-ea"/>
                <a:cs typeface="+mj-cs"/>
              </a:defRPr>
            </a:lvl1pPr>
          </a:lstStyle>
          <a:p>
            <a:r>
              <a:rPr lang="en-US" b="0" dirty="0">
                <a:solidFill>
                  <a:srgbClr val="002060"/>
                </a:solidFill>
              </a:rPr>
              <a:t>Literature : Report</a:t>
            </a:r>
          </a:p>
        </p:txBody>
      </p:sp>
      <p:sp>
        <p:nvSpPr>
          <p:cNvPr id="7" name="Title 1">
            <a:extLst>
              <a:ext uri="{FF2B5EF4-FFF2-40B4-BE49-F238E27FC236}">
                <a16:creationId xmlns:a16="http://schemas.microsoft.com/office/drawing/2014/main" id="{0EECA1DA-4125-9682-8F00-F85B47F5A641}"/>
              </a:ext>
            </a:extLst>
          </p:cNvPr>
          <p:cNvSpPr txBox="1">
            <a:spLocks/>
          </p:cNvSpPr>
          <p:nvPr/>
        </p:nvSpPr>
        <p:spPr>
          <a:xfrm>
            <a:off x="199870" y="2551488"/>
            <a:ext cx="7380700" cy="787314"/>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3400" b="1" kern="1200">
                <a:solidFill>
                  <a:schemeClr val="bg1"/>
                </a:solidFill>
                <a:latin typeface="+mn-lt"/>
                <a:ea typeface="+mj-ea"/>
                <a:cs typeface="+mj-cs"/>
              </a:defRPr>
            </a:lvl1pPr>
          </a:lstStyle>
          <a:p>
            <a:r>
              <a:rPr lang="en-IE" sz="1800" dirty="0">
                <a:solidFill>
                  <a:schemeClr val="bg2">
                    <a:lumMod val="10000"/>
                  </a:schemeClr>
                </a:solidFill>
              </a:rPr>
              <a:t>3-finger underactuated hand using linkages, passive springs, and a mechanical differential.</a:t>
            </a:r>
            <a:endParaRPr lang="en-US" sz="1800" b="0" dirty="0">
              <a:solidFill>
                <a:schemeClr val="bg2">
                  <a:lumMod val="10000"/>
                </a:schemeClr>
              </a:solidFill>
            </a:endParaRPr>
          </a:p>
        </p:txBody>
      </p:sp>
      <p:sp>
        <p:nvSpPr>
          <p:cNvPr id="9" name="Title 1">
            <a:extLst>
              <a:ext uri="{FF2B5EF4-FFF2-40B4-BE49-F238E27FC236}">
                <a16:creationId xmlns:a16="http://schemas.microsoft.com/office/drawing/2014/main" id="{7080B2D8-DEDE-EF94-9F02-8CFFB71AFF8A}"/>
              </a:ext>
            </a:extLst>
          </p:cNvPr>
          <p:cNvSpPr txBox="1">
            <a:spLocks/>
          </p:cNvSpPr>
          <p:nvPr/>
        </p:nvSpPr>
        <p:spPr>
          <a:xfrm>
            <a:off x="364656" y="4327041"/>
            <a:ext cx="6653097" cy="787314"/>
          </a:xfrm>
          <a:prstGeom prst="rect">
            <a:avLst/>
          </a:prstGeom>
        </p:spPr>
        <p:txBody>
          <a:bodyPr vert="horz" lIns="91440" tIns="45720" rIns="91440" bIns="45720" rtlCol="0" anchor="t">
            <a:normAutofit fontScale="92500" lnSpcReduction="20000"/>
          </a:bodyPr>
          <a:lstStyle>
            <a:lvl1pPr algn="l" defTabSz="914400" rtl="0" eaLnBrk="1" latinLnBrk="0" hangingPunct="1">
              <a:lnSpc>
                <a:spcPct val="90000"/>
              </a:lnSpc>
              <a:spcBef>
                <a:spcPct val="0"/>
              </a:spcBef>
              <a:buNone/>
              <a:defRPr sz="3400" b="1" kern="1200">
                <a:solidFill>
                  <a:schemeClr val="bg1"/>
                </a:solidFill>
                <a:latin typeface="+mn-lt"/>
                <a:ea typeface="+mj-ea"/>
                <a:cs typeface="+mj-cs"/>
              </a:defRPr>
            </a:lvl1pPr>
          </a:lstStyle>
          <a:p>
            <a:r>
              <a:rPr lang="en-IE" sz="2000" dirty="0">
                <a:solidFill>
                  <a:schemeClr val="bg2">
                    <a:lumMod val="10000"/>
                  </a:schemeClr>
                </a:solidFill>
              </a:rPr>
              <a:t>Successfully built a 12-DoF hand driven by 6 motors, and minimized it further into a 10-DoF prototype running on just 2 motors. Good self-adapting grip.</a:t>
            </a:r>
            <a:endParaRPr lang="en-US" sz="2000" b="0" dirty="0">
              <a:solidFill>
                <a:schemeClr val="bg2">
                  <a:lumMod val="10000"/>
                </a:schemeClr>
              </a:solidFill>
            </a:endParaRPr>
          </a:p>
        </p:txBody>
      </p:sp>
      <p:sp>
        <p:nvSpPr>
          <p:cNvPr id="10" name="Title 1">
            <a:extLst>
              <a:ext uri="{FF2B5EF4-FFF2-40B4-BE49-F238E27FC236}">
                <a16:creationId xmlns:a16="http://schemas.microsoft.com/office/drawing/2014/main" id="{348D30A4-DEBA-060A-B529-216486F588A1}"/>
              </a:ext>
            </a:extLst>
          </p:cNvPr>
          <p:cNvSpPr txBox="1">
            <a:spLocks/>
          </p:cNvSpPr>
          <p:nvPr/>
        </p:nvSpPr>
        <p:spPr>
          <a:xfrm>
            <a:off x="302903" y="5579650"/>
            <a:ext cx="7380700" cy="787314"/>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400" b="1" kern="1200">
                <a:solidFill>
                  <a:schemeClr val="bg1"/>
                </a:solidFill>
                <a:latin typeface="+mn-lt"/>
                <a:ea typeface="+mj-ea"/>
                <a:cs typeface="+mj-cs"/>
              </a:defRPr>
            </a:lvl1pPr>
          </a:lstStyle>
          <a:p>
            <a:r>
              <a:rPr lang="en-IE" sz="2000" dirty="0">
                <a:solidFill>
                  <a:schemeClr val="bg2">
                    <a:lumMod val="10000"/>
                  </a:schemeClr>
                </a:solidFill>
              </a:rPr>
              <a:t>Mechanical ratios limit the workspace. No tactile skin.</a:t>
            </a:r>
            <a:endParaRPr lang="en-US" sz="2000" b="0" dirty="0">
              <a:solidFill>
                <a:schemeClr val="bg2">
                  <a:lumMod val="10000"/>
                </a:schemeClr>
              </a:solidFill>
            </a:endParaRPr>
          </a:p>
        </p:txBody>
      </p:sp>
      <p:sp>
        <p:nvSpPr>
          <p:cNvPr id="11" name="Title 1">
            <a:extLst>
              <a:ext uri="{FF2B5EF4-FFF2-40B4-BE49-F238E27FC236}">
                <a16:creationId xmlns:a16="http://schemas.microsoft.com/office/drawing/2014/main" id="{BE7E29AC-387D-1DE5-C52B-E777C3B12038}"/>
              </a:ext>
            </a:extLst>
          </p:cNvPr>
          <p:cNvSpPr txBox="1">
            <a:spLocks/>
          </p:cNvSpPr>
          <p:nvPr/>
        </p:nvSpPr>
        <p:spPr>
          <a:xfrm>
            <a:off x="5043336" y="218044"/>
            <a:ext cx="6888136" cy="787314"/>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3400" b="1" kern="1200">
                <a:solidFill>
                  <a:schemeClr val="bg1"/>
                </a:solidFill>
                <a:latin typeface="+mn-lt"/>
                <a:ea typeface="+mj-ea"/>
                <a:cs typeface="+mj-cs"/>
              </a:defRPr>
            </a:lvl1pPr>
          </a:lstStyle>
          <a:p>
            <a:r>
              <a:rPr lang="en-IE" sz="1600" dirty="0" err="1">
                <a:solidFill>
                  <a:schemeClr val="bg2">
                    <a:lumMod val="10000"/>
                  </a:schemeClr>
                </a:solidFill>
              </a:rPr>
              <a:t>Underactuation</a:t>
            </a:r>
            <a:r>
              <a:rPr lang="en-IE" sz="1600" dirty="0">
                <a:solidFill>
                  <a:schemeClr val="bg2">
                    <a:lumMod val="10000"/>
                  </a:schemeClr>
                </a:solidFill>
              </a:rPr>
              <a:t> in robotic grasping hands Thierry </a:t>
            </a:r>
            <a:r>
              <a:rPr lang="en-IE" sz="1600" dirty="0" err="1">
                <a:solidFill>
                  <a:schemeClr val="bg2">
                    <a:lumMod val="10000"/>
                  </a:schemeClr>
                </a:solidFill>
              </a:rPr>
              <a:t>Lalibert´e</a:t>
            </a:r>
            <a:r>
              <a:rPr lang="en-IE" sz="1600" dirty="0">
                <a:solidFill>
                  <a:schemeClr val="bg2">
                    <a:lumMod val="10000"/>
                  </a:schemeClr>
                </a:solidFill>
              </a:rPr>
              <a:t>†, Lionel </a:t>
            </a:r>
            <a:r>
              <a:rPr lang="en-IE" sz="1600" dirty="0" err="1">
                <a:solidFill>
                  <a:schemeClr val="bg2">
                    <a:lumMod val="10000"/>
                  </a:schemeClr>
                </a:solidFill>
              </a:rPr>
              <a:t>Birglen</a:t>
            </a:r>
            <a:r>
              <a:rPr lang="en-IE" sz="1600" dirty="0">
                <a:solidFill>
                  <a:schemeClr val="bg2">
                    <a:lumMod val="10000"/>
                  </a:schemeClr>
                </a:solidFill>
              </a:rPr>
              <a:t>†, and </a:t>
            </a:r>
            <a:r>
              <a:rPr lang="en-IE" sz="1600" dirty="0" err="1">
                <a:solidFill>
                  <a:schemeClr val="bg2">
                    <a:lumMod val="10000"/>
                  </a:schemeClr>
                </a:solidFill>
              </a:rPr>
              <a:t>Cl´ement</a:t>
            </a:r>
            <a:r>
              <a:rPr lang="en-IE" sz="1600" dirty="0">
                <a:solidFill>
                  <a:schemeClr val="bg2">
                    <a:lumMod val="10000"/>
                  </a:schemeClr>
                </a:solidFill>
              </a:rPr>
              <a:t> M. Gosselin†</a:t>
            </a:r>
            <a:endParaRPr lang="en-IE" sz="1600" b="0" dirty="0">
              <a:solidFill>
                <a:schemeClr val="bg2">
                  <a:lumMod val="10000"/>
                </a:schemeClr>
              </a:solidFill>
              <a:hlinkClick r:id="rId2">
                <a:extLst>
                  <a:ext uri="{A12FA001-AC4F-418D-AE19-62706E023703}">
                    <ahyp:hlinkClr xmlns:ahyp="http://schemas.microsoft.com/office/drawing/2018/hyperlinkcolor" val="tx"/>
                  </a:ext>
                </a:extLst>
              </a:hlinkClick>
            </a:endParaRPr>
          </a:p>
        </p:txBody>
      </p:sp>
      <p:sp>
        <p:nvSpPr>
          <p:cNvPr id="18" name="TextBox 17">
            <a:extLst>
              <a:ext uri="{FF2B5EF4-FFF2-40B4-BE49-F238E27FC236}">
                <a16:creationId xmlns:a16="http://schemas.microsoft.com/office/drawing/2014/main" id="{3D3CC0DF-712B-77EB-47EE-6A8E278D5456}"/>
              </a:ext>
            </a:extLst>
          </p:cNvPr>
          <p:cNvSpPr txBox="1"/>
          <p:nvPr/>
        </p:nvSpPr>
        <p:spPr>
          <a:xfrm>
            <a:off x="260528" y="856624"/>
            <a:ext cx="7068312" cy="400110"/>
          </a:xfrm>
          <a:prstGeom prst="rect">
            <a:avLst/>
          </a:prstGeom>
          <a:noFill/>
        </p:spPr>
        <p:txBody>
          <a:bodyPr wrap="square">
            <a:spAutoFit/>
          </a:bodyPr>
          <a:lstStyle/>
          <a:p>
            <a:r>
              <a:rPr lang="en-US" sz="2000" b="1" dirty="0">
                <a:solidFill>
                  <a:schemeClr val="tx2"/>
                </a:solidFill>
              </a:rPr>
              <a:t>Question/Gap: </a:t>
            </a:r>
            <a:endParaRPr lang="en-IE" sz="2000" b="1" dirty="0">
              <a:solidFill>
                <a:schemeClr val="tx2"/>
              </a:solidFill>
            </a:endParaRPr>
          </a:p>
        </p:txBody>
      </p:sp>
      <p:sp>
        <p:nvSpPr>
          <p:cNvPr id="19" name="TextBox 18">
            <a:extLst>
              <a:ext uri="{FF2B5EF4-FFF2-40B4-BE49-F238E27FC236}">
                <a16:creationId xmlns:a16="http://schemas.microsoft.com/office/drawing/2014/main" id="{7FF8D9A0-7D16-B289-40CC-A897F09F68F4}"/>
              </a:ext>
            </a:extLst>
          </p:cNvPr>
          <p:cNvSpPr txBox="1"/>
          <p:nvPr/>
        </p:nvSpPr>
        <p:spPr>
          <a:xfrm>
            <a:off x="208464" y="2123416"/>
            <a:ext cx="7068312" cy="400110"/>
          </a:xfrm>
          <a:prstGeom prst="rect">
            <a:avLst/>
          </a:prstGeom>
          <a:noFill/>
        </p:spPr>
        <p:txBody>
          <a:bodyPr wrap="square">
            <a:spAutoFit/>
          </a:bodyPr>
          <a:lstStyle/>
          <a:p>
            <a:r>
              <a:rPr lang="en-US" sz="2000" b="1" dirty="0">
                <a:solidFill>
                  <a:schemeClr val="tx2"/>
                </a:solidFill>
              </a:rPr>
              <a:t>Method: </a:t>
            </a:r>
            <a:endParaRPr lang="en-IE" sz="2000" b="1" dirty="0">
              <a:solidFill>
                <a:schemeClr val="tx2"/>
              </a:solidFill>
            </a:endParaRPr>
          </a:p>
        </p:txBody>
      </p:sp>
      <p:sp>
        <p:nvSpPr>
          <p:cNvPr id="20" name="TextBox 19">
            <a:extLst>
              <a:ext uri="{FF2B5EF4-FFF2-40B4-BE49-F238E27FC236}">
                <a16:creationId xmlns:a16="http://schemas.microsoft.com/office/drawing/2014/main" id="{BEA40547-1699-58FC-3EB1-030908B2CDB6}"/>
              </a:ext>
            </a:extLst>
          </p:cNvPr>
          <p:cNvSpPr txBox="1"/>
          <p:nvPr/>
        </p:nvSpPr>
        <p:spPr>
          <a:xfrm>
            <a:off x="166087" y="3857481"/>
            <a:ext cx="7068312" cy="400110"/>
          </a:xfrm>
          <a:prstGeom prst="rect">
            <a:avLst/>
          </a:prstGeom>
          <a:noFill/>
        </p:spPr>
        <p:txBody>
          <a:bodyPr wrap="square">
            <a:spAutoFit/>
          </a:bodyPr>
          <a:lstStyle/>
          <a:p>
            <a:r>
              <a:rPr lang="en-US" sz="2000" b="1" dirty="0">
                <a:solidFill>
                  <a:schemeClr val="tx2"/>
                </a:solidFill>
              </a:rPr>
              <a:t>Results: </a:t>
            </a:r>
            <a:endParaRPr lang="en-IE" sz="2000" b="1" dirty="0">
              <a:solidFill>
                <a:schemeClr val="tx2"/>
              </a:solidFill>
            </a:endParaRPr>
          </a:p>
        </p:txBody>
      </p:sp>
      <p:sp>
        <p:nvSpPr>
          <p:cNvPr id="21" name="TextBox 20">
            <a:extLst>
              <a:ext uri="{FF2B5EF4-FFF2-40B4-BE49-F238E27FC236}">
                <a16:creationId xmlns:a16="http://schemas.microsoft.com/office/drawing/2014/main" id="{8DD8A30A-CA77-CF3C-E201-AEF1185FDBCE}"/>
              </a:ext>
            </a:extLst>
          </p:cNvPr>
          <p:cNvSpPr txBox="1"/>
          <p:nvPr/>
        </p:nvSpPr>
        <p:spPr>
          <a:xfrm>
            <a:off x="260528" y="5189814"/>
            <a:ext cx="7068312" cy="400110"/>
          </a:xfrm>
          <a:prstGeom prst="rect">
            <a:avLst/>
          </a:prstGeom>
          <a:noFill/>
        </p:spPr>
        <p:txBody>
          <a:bodyPr wrap="square">
            <a:spAutoFit/>
          </a:bodyPr>
          <a:lstStyle/>
          <a:p>
            <a:r>
              <a:rPr lang="en-US" sz="2000" b="1" dirty="0">
                <a:solidFill>
                  <a:schemeClr val="tx2"/>
                </a:solidFill>
              </a:rPr>
              <a:t>Limitations: </a:t>
            </a:r>
            <a:endParaRPr lang="en-IE" sz="2000" b="1" dirty="0">
              <a:solidFill>
                <a:schemeClr val="tx2"/>
              </a:solidFill>
            </a:endParaRPr>
          </a:p>
        </p:txBody>
      </p:sp>
      <p:pic>
        <p:nvPicPr>
          <p:cNvPr id="23" name="Picture 22">
            <a:extLst>
              <a:ext uri="{FF2B5EF4-FFF2-40B4-BE49-F238E27FC236}">
                <a16:creationId xmlns:a16="http://schemas.microsoft.com/office/drawing/2014/main" id="{49D0CF32-70D1-B1D2-8773-2A2FA10E8AB6}"/>
              </a:ext>
            </a:extLst>
          </p:cNvPr>
          <p:cNvPicPr>
            <a:picLocks noChangeAspect="1"/>
          </p:cNvPicPr>
          <p:nvPr/>
        </p:nvPicPr>
        <p:blipFill>
          <a:blip r:embed="rId3"/>
          <a:stretch>
            <a:fillRect/>
          </a:stretch>
        </p:blipFill>
        <p:spPr>
          <a:xfrm>
            <a:off x="9420953" y="611701"/>
            <a:ext cx="2562583" cy="2391109"/>
          </a:xfrm>
          <a:prstGeom prst="rect">
            <a:avLst/>
          </a:prstGeom>
        </p:spPr>
      </p:pic>
      <p:pic>
        <p:nvPicPr>
          <p:cNvPr id="25" name="Picture 24">
            <a:extLst>
              <a:ext uri="{FF2B5EF4-FFF2-40B4-BE49-F238E27FC236}">
                <a16:creationId xmlns:a16="http://schemas.microsoft.com/office/drawing/2014/main" id="{26B3B401-4E84-0C61-69F6-399A5377B96C}"/>
              </a:ext>
            </a:extLst>
          </p:cNvPr>
          <p:cNvPicPr>
            <a:picLocks noChangeAspect="1"/>
          </p:cNvPicPr>
          <p:nvPr/>
        </p:nvPicPr>
        <p:blipFill>
          <a:blip r:embed="rId4"/>
          <a:stretch>
            <a:fillRect/>
          </a:stretch>
        </p:blipFill>
        <p:spPr>
          <a:xfrm>
            <a:off x="7486208" y="718494"/>
            <a:ext cx="2029108" cy="2467319"/>
          </a:xfrm>
          <a:prstGeom prst="rect">
            <a:avLst/>
          </a:prstGeom>
        </p:spPr>
      </p:pic>
      <p:pic>
        <p:nvPicPr>
          <p:cNvPr id="27" name="Picture 26">
            <a:extLst>
              <a:ext uri="{FF2B5EF4-FFF2-40B4-BE49-F238E27FC236}">
                <a16:creationId xmlns:a16="http://schemas.microsoft.com/office/drawing/2014/main" id="{687A27FA-D609-584D-AD5F-97163E810E19}"/>
              </a:ext>
            </a:extLst>
          </p:cNvPr>
          <p:cNvPicPr>
            <a:picLocks noChangeAspect="1"/>
          </p:cNvPicPr>
          <p:nvPr/>
        </p:nvPicPr>
        <p:blipFill>
          <a:blip r:embed="rId5"/>
          <a:stretch>
            <a:fillRect/>
          </a:stretch>
        </p:blipFill>
        <p:spPr>
          <a:xfrm>
            <a:off x="9915207" y="3428916"/>
            <a:ext cx="2276793" cy="2838846"/>
          </a:xfrm>
          <a:prstGeom prst="rect">
            <a:avLst/>
          </a:prstGeom>
        </p:spPr>
      </p:pic>
      <p:pic>
        <p:nvPicPr>
          <p:cNvPr id="31" name="Picture 30">
            <a:extLst>
              <a:ext uri="{FF2B5EF4-FFF2-40B4-BE49-F238E27FC236}">
                <a16:creationId xmlns:a16="http://schemas.microsoft.com/office/drawing/2014/main" id="{C9768E50-EE0C-BEF9-9322-D17F4AACBBA9}"/>
              </a:ext>
            </a:extLst>
          </p:cNvPr>
          <p:cNvPicPr>
            <a:picLocks noChangeAspect="1"/>
          </p:cNvPicPr>
          <p:nvPr/>
        </p:nvPicPr>
        <p:blipFill>
          <a:blip r:embed="rId6"/>
          <a:stretch>
            <a:fillRect/>
          </a:stretch>
        </p:blipFill>
        <p:spPr>
          <a:xfrm>
            <a:off x="7102574" y="3781390"/>
            <a:ext cx="3038899" cy="2133898"/>
          </a:xfrm>
          <a:prstGeom prst="rect">
            <a:avLst/>
          </a:prstGeom>
        </p:spPr>
      </p:pic>
    </p:spTree>
    <p:extLst>
      <p:ext uri="{BB962C8B-B14F-4D97-AF65-F5344CB8AC3E}">
        <p14:creationId xmlns:p14="http://schemas.microsoft.com/office/powerpoint/2010/main" val="20080804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C629153-83E8-378F-C61F-2DF798F6C1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1E6EBE1-3652-31AF-376E-F62B3E88C554}"/>
              </a:ext>
            </a:extLst>
          </p:cNvPr>
          <p:cNvSpPr>
            <a:spLocks noGrp="1"/>
          </p:cNvSpPr>
          <p:nvPr>
            <p:ph type="title"/>
          </p:nvPr>
        </p:nvSpPr>
        <p:spPr>
          <a:xfrm>
            <a:off x="208464" y="1291149"/>
            <a:ext cx="6809289" cy="787314"/>
          </a:xfrm>
        </p:spPr>
        <p:txBody>
          <a:bodyPr>
            <a:normAutofit/>
          </a:bodyPr>
          <a:lstStyle/>
          <a:p>
            <a:r>
              <a:rPr lang="en-IE" sz="2000" dirty="0">
                <a:solidFill>
                  <a:schemeClr val="bg2">
                    <a:lumMod val="10000"/>
                  </a:schemeClr>
                </a:solidFill>
              </a:rPr>
              <a:t>How do birds of prey hold prey without muscle fatigue?</a:t>
            </a:r>
          </a:p>
        </p:txBody>
      </p:sp>
      <p:sp>
        <p:nvSpPr>
          <p:cNvPr id="4" name="Title 1">
            <a:extLst>
              <a:ext uri="{FF2B5EF4-FFF2-40B4-BE49-F238E27FC236}">
                <a16:creationId xmlns:a16="http://schemas.microsoft.com/office/drawing/2014/main" id="{D4D72886-9CEA-B8C2-78C6-F2F5DE150BDE}"/>
              </a:ext>
            </a:extLst>
          </p:cNvPr>
          <p:cNvSpPr txBox="1">
            <a:spLocks/>
          </p:cNvSpPr>
          <p:nvPr/>
        </p:nvSpPr>
        <p:spPr>
          <a:xfrm>
            <a:off x="145200" y="111354"/>
            <a:ext cx="9064390" cy="787314"/>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400" b="1" kern="1200">
                <a:solidFill>
                  <a:schemeClr val="bg1"/>
                </a:solidFill>
                <a:latin typeface="+mn-lt"/>
                <a:ea typeface="+mj-ea"/>
                <a:cs typeface="+mj-cs"/>
              </a:defRPr>
            </a:lvl1pPr>
          </a:lstStyle>
          <a:p>
            <a:r>
              <a:rPr lang="en-US" b="0" dirty="0">
                <a:solidFill>
                  <a:srgbClr val="002060"/>
                </a:solidFill>
              </a:rPr>
              <a:t>Literature : Report</a:t>
            </a:r>
          </a:p>
        </p:txBody>
      </p:sp>
      <p:sp>
        <p:nvSpPr>
          <p:cNvPr id="7" name="Title 1">
            <a:extLst>
              <a:ext uri="{FF2B5EF4-FFF2-40B4-BE49-F238E27FC236}">
                <a16:creationId xmlns:a16="http://schemas.microsoft.com/office/drawing/2014/main" id="{0EC78638-BA2A-EEA5-78B8-446817794143}"/>
              </a:ext>
            </a:extLst>
          </p:cNvPr>
          <p:cNvSpPr txBox="1">
            <a:spLocks/>
          </p:cNvSpPr>
          <p:nvPr/>
        </p:nvSpPr>
        <p:spPr>
          <a:xfrm>
            <a:off x="199870" y="2551488"/>
            <a:ext cx="7380700" cy="787314"/>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3400" b="1" kern="1200">
                <a:solidFill>
                  <a:schemeClr val="bg1"/>
                </a:solidFill>
                <a:latin typeface="+mn-lt"/>
                <a:ea typeface="+mj-ea"/>
                <a:cs typeface="+mj-cs"/>
              </a:defRPr>
            </a:lvl1pPr>
          </a:lstStyle>
          <a:p>
            <a:r>
              <a:rPr lang="en-IE" sz="1800" dirty="0">
                <a:solidFill>
                  <a:schemeClr val="bg2">
                    <a:lumMod val="10000"/>
                  </a:schemeClr>
                </a:solidFill>
              </a:rPr>
              <a:t>Dissect bird feet to study the Tendon Locking Mechanism (TLM).</a:t>
            </a:r>
            <a:endParaRPr lang="en-US" sz="1800" b="0" dirty="0">
              <a:solidFill>
                <a:schemeClr val="bg2">
                  <a:lumMod val="10000"/>
                </a:schemeClr>
              </a:solidFill>
            </a:endParaRPr>
          </a:p>
        </p:txBody>
      </p:sp>
      <p:sp>
        <p:nvSpPr>
          <p:cNvPr id="9" name="Title 1">
            <a:extLst>
              <a:ext uri="{FF2B5EF4-FFF2-40B4-BE49-F238E27FC236}">
                <a16:creationId xmlns:a16="http://schemas.microsoft.com/office/drawing/2014/main" id="{7B0B3FA9-D87E-8A61-6930-A90DBA2A83E1}"/>
              </a:ext>
            </a:extLst>
          </p:cNvPr>
          <p:cNvSpPr txBox="1">
            <a:spLocks/>
          </p:cNvSpPr>
          <p:nvPr/>
        </p:nvSpPr>
        <p:spPr>
          <a:xfrm>
            <a:off x="174679" y="4338114"/>
            <a:ext cx="7051128" cy="787314"/>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400" b="1" kern="1200">
                <a:solidFill>
                  <a:schemeClr val="bg1"/>
                </a:solidFill>
                <a:latin typeface="+mn-lt"/>
                <a:ea typeface="+mj-ea"/>
                <a:cs typeface="+mj-cs"/>
              </a:defRPr>
            </a:lvl1pPr>
          </a:lstStyle>
          <a:p>
            <a:r>
              <a:rPr lang="en-IE" sz="2000" dirty="0">
                <a:solidFill>
                  <a:schemeClr val="bg2">
                    <a:lumMod val="10000"/>
                  </a:schemeClr>
                </a:solidFill>
              </a:rPr>
              <a:t>Nature uses a mechanical ratchet (tubercles) on the tendon to lock at 0 energy.</a:t>
            </a:r>
            <a:endParaRPr lang="en-US" sz="2000" b="0" dirty="0">
              <a:solidFill>
                <a:schemeClr val="bg2">
                  <a:lumMod val="10000"/>
                </a:schemeClr>
              </a:solidFill>
            </a:endParaRPr>
          </a:p>
        </p:txBody>
      </p:sp>
      <p:sp>
        <p:nvSpPr>
          <p:cNvPr id="10" name="Title 1">
            <a:extLst>
              <a:ext uri="{FF2B5EF4-FFF2-40B4-BE49-F238E27FC236}">
                <a16:creationId xmlns:a16="http://schemas.microsoft.com/office/drawing/2014/main" id="{E6C5456F-1E65-4A73-A546-923167C050AE}"/>
              </a:ext>
            </a:extLst>
          </p:cNvPr>
          <p:cNvSpPr txBox="1">
            <a:spLocks/>
          </p:cNvSpPr>
          <p:nvPr/>
        </p:nvSpPr>
        <p:spPr>
          <a:xfrm>
            <a:off x="199870" y="5579650"/>
            <a:ext cx="7380700" cy="787314"/>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400" b="1" kern="1200">
                <a:solidFill>
                  <a:schemeClr val="bg1"/>
                </a:solidFill>
                <a:latin typeface="+mn-lt"/>
                <a:ea typeface="+mj-ea"/>
                <a:cs typeface="+mj-cs"/>
              </a:defRPr>
            </a:lvl1pPr>
          </a:lstStyle>
          <a:p>
            <a:r>
              <a:rPr lang="en-IE" sz="2000" dirty="0">
                <a:solidFill>
                  <a:schemeClr val="bg2">
                    <a:lumMod val="10000"/>
                  </a:schemeClr>
                </a:solidFill>
              </a:rPr>
              <a:t>Shape varies wildly between species. Hard to copy into a universal CAD design.</a:t>
            </a:r>
            <a:endParaRPr lang="en-US" sz="2000" b="0" dirty="0">
              <a:solidFill>
                <a:schemeClr val="bg2">
                  <a:lumMod val="10000"/>
                </a:schemeClr>
              </a:solidFill>
            </a:endParaRPr>
          </a:p>
        </p:txBody>
      </p:sp>
      <p:sp>
        <p:nvSpPr>
          <p:cNvPr id="11" name="Title 1">
            <a:extLst>
              <a:ext uri="{FF2B5EF4-FFF2-40B4-BE49-F238E27FC236}">
                <a16:creationId xmlns:a16="http://schemas.microsoft.com/office/drawing/2014/main" id="{A73F32CB-C7F7-9BC1-DACC-DFC1E9D71144}"/>
              </a:ext>
            </a:extLst>
          </p:cNvPr>
          <p:cNvSpPr txBox="1">
            <a:spLocks/>
          </p:cNvSpPr>
          <p:nvPr/>
        </p:nvSpPr>
        <p:spPr>
          <a:xfrm>
            <a:off x="5043336" y="218044"/>
            <a:ext cx="6888136" cy="787314"/>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3400" b="1" kern="1200">
                <a:solidFill>
                  <a:schemeClr val="bg1"/>
                </a:solidFill>
                <a:latin typeface="+mn-lt"/>
                <a:ea typeface="+mj-ea"/>
                <a:cs typeface="+mj-cs"/>
              </a:defRPr>
            </a:lvl1pPr>
          </a:lstStyle>
          <a:p>
            <a:r>
              <a:rPr lang="en-GB" sz="1600" dirty="0">
                <a:solidFill>
                  <a:schemeClr val="bg2">
                    <a:lumMod val="10000"/>
                  </a:schemeClr>
                </a:solidFill>
              </a:rPr>
              <a:t>An ecomorphological study of the raptorial </a:t>
            </a:r>
            <a:r>
              <a:rPr lang="en-GB" sz="1600" dirty="0" err="1">
                <a:solidFill>
                  <a:schemeClr val="bg2">
                    <a:lumMod val="10000"/>
                  </a:schemeClr>
                </a:solidFill>
              </a:rPr>
              <a:t>digitaltendon</a:t>
            </a:r>
            <a:r>
              <a:rPr lang="en-GB" sz="1600" dirty="0">
                <a:solidFill>
                  <a:schemeClr val="bg2">
                    <a:lumMod val="10000"/>
                  </a:schemeClr>
                </a:solidFill>
              </a:rPr>
              <a:t> locking </a:t>
            </a:r>
            <a:r>
              <a:rPr lang="en-GB" sz="1600" dirty="0" err="1">
                <a:solidFill>
                  <a:schemeClr val="bg2">
                    <a:lumMod val="10000"/>
                  </a:schemeClr>
                </a:solidFill>
              </a:rPr>
              <a:t>mechanismLUKE</a:t>
            </a:r>
            <a:r>
              <a:rPr lang="en-GB" sz="1600" dirty="0">
                <a:solidFill>
                  <a:schemeClr val="bg2">
                    <a:lumMod val="10000"/>
                  </a:schemeClr>
                </a:solidFill>
              </a:rPr>
              <a:t> EINODER 1,2* &amp; ALASTAIR RICHARDSON 1</a:t>
            </a:r>
            <a:endParaRPr lang="en-IE" sz="1600" b="0" dirty="0">
              <a:solidFill>
                <a:schemeClr val="bg2">
                  <a:lumMod val="10000"/>
                </a:schemeClr>
              </a:solidFill>
              <a:hlinkClick r:id="rId2">
                <a:extLst>
                  <a:ext uri="{A12FA001-AC4F-418D-AE19-62706E023703}">
                    <ahyp:hlinkClr xmlns:ahyp="http://schemas.microsoft.com/office/drawing/2018/hyperlinkcolor" val="tx"/>
                  </a:ext>
                </a:extLst>
              </a:hlinkClick>
            </a:endParaRPr>
          </a:p>
        </p:txBody>
      </p:sp>
      <p:sp>
        <p:nvSpPr>
          <p:cNvPr id="18" name="TextBox 17">
            <a:extLst>
              <a:ext uri="{FF2B5EF4-FFF2-40B4-BE49-F238E27FC236}">
                <a16:creationId xmlns:a16="http://schemas.microsoft.com/office/drawing/2014/main" id="{3945F1F0-4D8F-BF29-C107-EA84319537A9}"/>
              </a:ext>
            </a:extLst>
          </p:cNvPr>
          <p:cNvSpPr txBox="1"/>
          <p:nvPr/>
        </p:nvSpPr>
        <p:spPr>
          <a:xfrm>
            <a:off x="260528" y="856624"/>
            <a:ext cx="7068312" cy="400110"/>
          </a:xfrm>
          <a:prstGeom prst="rect">
            <a:avLst/>
          </a:prstGeom>
          <a:noFill/>
        </p:spPr>
        <p:txBody>
          <a:bodyPr wrap="square">
            <a:spAutoFit/>
          </a:bodyPr>
          <a:lstStyle/>
          <a:p>
            <a:r>
              <a:rPr lang="en-US" sz="2000" b="1" dirty="0">
                <a:solidFill>
                  <a:schemeClr val="tx2"/>
                </a:solidFill>
              </a:rPr>
              <a:t>Question/Gap: </a:t>
            </a:r>
            <a:endParaRPr lang="en-IE" sz="2000" b="1" dirty="0">
              <a:solidFill>
                <a:schemeClr val="tx2"/>
              </a:solidFill>
            </a:endParaRPr>
          </a:p>
        </p:txBody>
      </p:sp>
      <p:sp>
        <p:nvSpPr>
          <p:cNvPr id="19" name="TextBox 18">
            <a:extLst>
              <a:ext uri="{FF2B5EF4-FFF2-40B4-BE49-F238E27FC236}">
                <a16:creationId xmlns:a16="http://schemas.microsoft.com/office/drawing/2014/main" id="{0EE90C81-6518-58C0-8CBD-A3038DE97876}"/>
              </a:ext>
            </a:extLst>
          </p:cNvPr>
          <p:cNvSpPr txBox="1"/>
          <p:nvPr/>
        </p:nvSpPr>
        <p:spPr>
          <a:xfrm>
            <a:off x="208464" y="2123416"/>
            <a:ext cx="7068312" cy="400110"/>
          </a:xfrm>
          <a:prstGeom prst="rect">
            <a:avLst/>
          </a:prstGeom>
          <a:noFill/>
        </p:spPr>
        <p:txBody>
          <a:bodyPr wrap="square">
            <a:spAutoFit/>
          </a:bodyPr>
          <a:lstStyle/>
          <a:p>
            <a:r>
              <a:rPr lang="en-US" sz="2000" b="1" dirty="0">
                <a:solidFill>
                  <a:schemeClr val="tx2"/>
                </a:solidFill>
              </a:rPr>
              <a:t>Method: </a:t>
            </a:r>
            <a:endParaRPr lang="en-IE" sz="2000" b="1" dirty="0">
              <a:solidFill>
                <a:schemeClr val="tx2"/>
              </a:solidFill>
            </a:endParaRPr>
          </a:p>
        </p:txBody>
      </p:sp>
      <p:sp>
        <p:nvSpPr>
          <p:cNvPr id="20" name="TextBox 19">
            <a:extLst>
              <a:ext uri="{FF2B5EF4-FFF2-40B4-BE49-F238E27FC236}">
                <a16:creationId xmlns:a16="http://schemas.microsoft.com/office/drawing/2014/main" id="{C6343B26-77B4-2DED-2D16-14275E755970}"/>
              </a:ext>
            </a:extLst>
          </p:cNvPr>
          <p:cNvSpPr txBox="1"/>
          <p:nvPr/>
        </p:nvSpPr>
        <p:spPr>
          <a:xfrm>
            <a:off x="166087" y="3857481"/>
            <a:ext cx="7068312" cy="400110"/>
          </a:xfrm>
          <a:prstGeom prst="rect">
            <a:avLst/>
          </a:prstGeom>
          <a:noFill/>
        </p:spPr>
        <p:txBody>
          <a:bodyPr wrap="square">
            <a:spAutoFit/>
          </a:bodyPr>
          <a:lstStyle/>
          <a:p>
            <a:r>
              <a:rPr lang="en-US" sz="2000" b="1" dirty="0">
                <a:solidFill>
                  <a:schemeClr val="tx2"/>
                </a:solidFill>
              </a:rPr>
              <a:t>Results: </a:t>
            </a:r>
            <a:endParaRPr lang="en-IE" sz="2000" b="1" dirty="0">
              <a:solidFill>
                <a:schemeClr val="tx2"/>
              </a:solidFill>
            </a:endParaRPr>
          </a:p>
        </p:txBody>
      </p:sp>
      <p:sp>
        <p:nvSpPr>
          <p:cNvPr id="21" name="TextBox 20">
            <a:extLst>
              <a:ext uri="{FF2B5EF4-FFF2-40B4-BE49-F238E27FC236}">
                <a16:creationId xmlns:a16="http://schemas.microsoft.com/office/drawing/2014/main" id="{3CC19260-1E80-2D43-C89C-C95274CCD4B3}"/>
              </a:ext>
            </a:extLst>
          </p:cNvPr>
          <p:cNvSpPr txBox="1"/>
          <p:nvPr/>
        </p:nvSpPr>
        <p:spPr>
          <a:xfrm>
            <a:off x="260528" y="5189814"/>
            <a:ext cx="7068312" cy="400110"/>
          </a:xfrm>
          <a:prstGeom prst="rect">
            <a:avLst/>
          </a:prstGeom>
          <a:noFill/>
        </p:spPr>
        <p:txBody>
          <a:bodyPr wrap="square">
            <a:spAutoFit/>
          </a:bodyPr>
          <a:lstStyle/>
          <a:p>
            <a:r>
              <a:rPr lang="en-US" sz="2000" b="1" dirty="0">
                <a:solidFill>
                  <a:schemeClr val="tx2"/>
                </a:solidFill>
              </a:rPr>
              <a:t>Limitations: </a:t>
            </a:r>
            <a:endParaRPr lang="en-IE" sz="2000" b="1" dirty="0">
              <a:solidFill>
                <a:schemeClr val="tx2"/>
              </a:solidFill>
            </a:endParaRPr>
          </a:p>
        </p:txBody>
      </p:sp>
      <p:pic>
        <p:nvPicPr>
          <p:cNvPr id="5" name="Picture 4">
            <a:extLst>
              <a:ext uri="{FF2B5EF4-FFF2-40B4-BE49-F238E27FC236}">
                <a16:creationId xmlns:a16="http://schemas.microsoft.com/office/drawing/2014/main" id="{533156C8-997D-E61E-4686-0861A7BD57E0}"/>
              </a:ext>
            </a:extLst>
          </p:cNvPr>
          <p:cNvPicPr>
            <a:picLocks noChangeAspect="1"/>
          </p:cNvPicPr>
          <p:nvPr/>
        </p:nvPicPr>
        <p:blipFill>
          <a:blip r:embed="rId3"/>
          <a:stretch>
            <a:fillRect/>
          </a:stretch>
        </p:blipFill>
        <p:spPr>
          <a:xfrm>
            <a:off x="7695898" y="722656"/>
            <a:ext cx="3465644" cy="3086589"/>
          </a:xfrm>
          <a:prstGeom prst="rect">
            <a:avLst/>
          </a:prstGeom>
        </p:spPr>
      </p:pic>
      <p:pic>
        <p:nvPicPr>
          <p:cNvPr id="12" name="Picture 11">
            <a:extLst>
              <a:ext uri="{FF2B5EF4-FFF2-40B4-BE49-F238E27FC236}">
                <a16:creationId xmlns:a16="http://schemas.microsoft.com/office/drawing/2014/main" id="{15E94885-9DC8-6526-7F77-0A5BBBDC6022}"/>
              </a:ext>
            </a:extLst>
          </p:cNvPr>
          <p:cNvPicPr>
            <a:picLocks noChangeAspect="1"/>
          </p:cNvPicPr>
          <p:nvPr/>
        </p:nvPicPr>
        <p:blipFill>
          <a:blip r:embed="rId4"/>
          <a:stretch>
            <a:fillRect/>
          </a:stretch>
        </p:blipFill>
        <p:spPr>
          <a:xfrm>
            <a:off x="7580570" y="3884204"/>
            <a:ext cx="4167172" cy="2760075"/>
          </a:xfrm>
          <a:prstGeom prst="rect">
            <a:avLst/>
          </a:prstGeom>
        </p:spPr>
      </p:pic>
    </p:spTree>
    <p:extLst>
      <p:ext uri="{BB962C8B-B14F-4D97-AF65-F5344CB8AC3E}">
        <p14:creationId xmlns:p14="http://schemas.microsoft.com/office/powerpoint/2010/main" val="21216963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572FC11-E82C-142D-5B0C-00EA2C1B6A60}"/>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4BFADA82-ED06-BAAA-84A5-4033F9979975}"/>
              </a:ext>
            </a:extLst>
          </p:cNvPr>
          <p:cNvSpPr txBox="1">
            <a:spLocks/>
          </p:cNvSpPr>
          <p:nvPr/>
        </p:nvSpPr>
        <p:spPr>
          <a:xfrm>
            <a:off x="145200" y="111354"/>
            <a:ext cx="9064390" cy="787314"/>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400" b="1" kern="1200">
                <a:solidFill>
                  <a:schemeClr val="bg1"/>
                </a:solidFill>
                <a:latin typeface="+mn-lt"/>
                <a:ea typeface="+mj-ea"/>
                <a:cs typeface="+mj-cs"/>
              </a:defRPr>
            </a:lvl1pPr>
          </a:lstStyle>
          <a:p>
            <a:r>
              <a:rPr lang="en-US" b="0" dirty="0">
                <a:solidFill>
                  <a:srgbClr val="002060"/>
                </a:solidFill>
              </a:rPr>
              <a:t>Literature : Report</a:t>
            </a:r>
          </a:p>
        </p:txBody>
      </p:sp>
      <p:sp>
        <p:nvSpPr>
          <p:cNvPr id="11" name="Title 1">
            <a:extLst>
              <a:ext uri="{FF2B5EF4-FFF2-40B4-BE49-F238E27FC236}">
                <a16:creationId xmlns:a16="http://schemas.microsoft.com/office/drawing/2014/main" id="{131E5BD4-305E-36C2-99A4-5ED9C1FC3A25}"/>
              </a:ext>
            </a:extLst>
          </p:cNvPr>
          <p:cNvSpPr txBox="1">
            <a:spLocks/>
          </p:cNvSpPr>
          <p:nvPr/>
        </p:nvSpPr>
        <p:spPr>
          <a:xfrm>
            <a:off x="5043336" y="218044"/>
            <a:ext cx="6888136" cy="787314"/>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3400" b="1" kern="1200">
                <a:solidFill>
                  <a:schemeClr val="bg1"/>
                </a:solidFill>
                <a:latin typeface="+mn-lt"/>
                <a:ea typeface="+mj-ea"/>
                <a:cs typeface="+mj-cs"/>
              </a:defRPr>
            </a:lvl1pPr>
          </a:lstStyle>
          <a:p>
            <a:r>
              <a:rPr lang="en-GB" sz="1600" dirty="0">
                <a:solidFill>
                  <a:schemeClr val="bg2">
                    <a:lumMod val="10000"/>
                  </a:schemeClr>
                </a:solidFill>
              </a:rPr>
              <a:t>An ecomorphological study of the raptorial </a:t>
            </a:r>
            <a:r>
              <a:rPr lang="en-GB" sz="1600" dirty="0" err="1">
                <a:solidFill>
                  <a:schemeClr val="bg2">
                    <a:lumMod val="10000"/>
                  </a:schemeClr>
                </a:solidFill>
              </a:rPr>
              <a:t>digitaltendon</a:t>
            </a:r>
            <a:r>
              <a:rPr lang="en-GB" sz="1600" dirty="0">
                <a:solidFill>
                  <a:schemeClr val="bg2">
                    <a:lumMod val="10000"/>
                  </a:schemeClr>
                </a:solidFill>
              </a:rPr>
              <a:t> locking </a:t>
            </a:r>
            <a:r>
              <a:rPr lang="en-GB" sz="1600" dirty="0" err="1">
                <a:solidFill>
                  <a:schemeClr val="bg2">
                    <a:lumMod val="10000"/>
                  </a:schemeClr>
                </a:solidFill>
              </a:rPr>
              <a:t>mechanismLUKE</a:t>
            </a:r>
            <a:r>
              <a:rPr lang="en-GB" sz="1600" dirty="0">
                <a:solidFill>
                  <a:schemeClr val="bg2">
                    <a:lumMod val="10000"/>
                  </a:schemeClr>
                </a:solidFill>
              </a:rPr>
              <a:t> EINODER 1,2* &amp; ALASTAIR RICHARDSON 1</a:t>
            </a:r>
            <a:endParaRPr lang="en-IE" sz="1600" b="0" dirty="0">
              <a:solidFill>
                <a:schemeClr val="bg2">
                  <a:lumMod val="10000"/>
                </a:schemeClr>
              </a:solidFill>
              <a:hlinkClick r:id="rId2">
                <a:extLst>
                  <a:ext uri="{A12FA001-AC4F-418D-AE19-62706E023703}">
                    <ahyp:hlinkClr xmlns:ahyp="http://schemas.microsoft.com/office/drawing/2018/hyperlinkcolor" val="tx"/>
                  </a:ext>
                </a:extLst>
              </a:hlinkClick>
            </a:endParaRPr>
          </a:p>
        </p:txBody>
      </p:sp>
      <p:sp>
        <p:nvSpPr>
          <p:cNvPr id="18" name="TextBox 17">
            <a:extLst>
              <a:ext uri="{FF2B5EF4-FFF2-40B4-BE49-F238E27FC236}">
                <a16:creationId xmlns:a16="http://schemas.microsoft.com/office/drawing/2014/main" id="{D1CB37EE-9284-A959-2221-9D2C8F7245BA}"/>
              </a:ext>
            </a:extLst>
          </p:cNvPr>
          <p:cNvSpPr txBox="1"/>
          <p:nvPr/>
        </p:nvSpPr>
        <p:spPr>
          <a:xfrm>
            <a:off x="260528" y="856624"/>
            <a:ext cx="7068312" cy="400110"/>
          </a:xfrm>
          <a:prstGeom prst="rect">
            <a:avLst/>
          </a:prstGeom>
          <a:noFill/>
        </p:spPr>
        <p:txBody>
          <a:bodyPr wrap="square">
            <a:spAutoFit/>
          </a:bodyPr>
          <a:lstStyle/>
          <a:p>
            <a:r>
              <a:rPr lang="en-US" sz="2000" b="1" dirty="0">
                <a:solidFill>
                  <a:schemeClr val="tx2"/>
                </a:solidFill>
              </a:rPr>
              <a:t>Question/Gap: </a:t>
            </a:r>
            <a:endParaRPr lang="en-IE" sz="2000" b="1" dirty="0">
              <a:solidFill>
                <a:schemeClr val="tx2"/>
              </a:solidFill>
            </a:endParaRPr>
          </a:p>
        </p:txBody>
      </p:sp>
      <p:sp>
        <p:nvSpPr>
          <p:cNvPr id="19" name="TextBox 18">
            <a:extLst>
              <a:ext uri="{FF2B5EF4-FFF2-40B4-BE49-F238E27FC236}">
                <a16:creationId xmlns:a16="http://schemas.microsoft.com/office/drawing/2014/main" id="{158F0E11-1385-5BD6-6C12-06C252E74EC9}"/>
              </a:ext>
            </a:extLst>
          </p:cNvPr>
          <p:cNvSpPr txBox="1"/>
          <p:nvPr/>
        </p:nvSpPr>
        <p:spPr>
          <a:xfrm>
            <a:off x="208464" y="2123416"/>
            <a:ext cx="7068312" cy="400110"/>
          </a:xfrm>
          <a:prstGeom prst="rect">
            <a:avLst/>
          </a:prstGeom>
          <a:noFill/>
        </p:spPr>
        <p:txBody>
          <a:bodyPr wrap="square">
            <a:spAutoFit/>
          </a:bodyPr>
          <a:lstStyle/>
          <a:p>
            <a:r>
              <a:rPr lang="en-US" sz="2000" b="1" dirty="0">
                <a:solidFill>
                  <a:schemeClr val="tx2"/>
                </a:solidFill>
              </a:rPr>
              <a:t>Method: </a:t>
            </a:r>
            <a:endParaRPr lang="en-IE" sz="2000" b="1" dirty="0">
              <a:solidFill>
                <a:schemeClr val="tx2"/>
              </a:solidFill>
            </a:endParaRPr>
          </a:p>
        </p:txBody>
      </p:sp>
      <p:sp>
        <p:nvSpPr>
          <p:cNvPr id="20" name="TextBox 19">
            <a:extLst>
              <a:ext uri="{FF2B5EF4-FFF2-40B4-BE49-F238E27FC236}">
                <a16:creationId xmlns:a16="http://schemas.microsoft.com/office/drawing/2014/main" id="{2EC3E265-6282-38B1-CE23-F4D4DA7F1B6C}"/>
              </a:ext>
            </a:extLst>
          </p:cNvPr>
          <p:cNvSpPr txBox="1"/>
          <p:nvPr/>
        </p:nvSpPr>
        <p:spPr>
          <a:xfrm>
            <a:off x="166087" y="3857481"/>
            <a:ext cx="7068312" cy="400110"/>
          </a:xfrm>
          <a:prstGeom prst="rect">
            <a:avLst/>
          </a:prstGeom>
          <a:noFill/>
        </p:spPr>
        <p:txBody>
          <a:bodyPr wrap="square">
            <a:spAutoFit/>
          </a:bodyPr>
          <a:lstStyle/>
          <a:p>
            <a:r>
              <a:rPr lang="en-US" sz="2000" b="1" dirty="0">
                <a:solidFill>
                  <a:schemeClr val="tx2"/>
                </a:solidFill>
              </a:rPr>
              <a:t>Results: </a:t>
            </a:r>
            <a:endParaRPr lang="en-IE" sz="2000" b="1" dirty="0">
              <a:solidFill>
                <a:schemeClr val="tx2"/>
              </a:solidFill>
            </a:endParaRPr>
          </a:p>
        </p:txBody>
      </p:sp>
      <p:sp>
        <p:nvSpPr>
          <p:cNvPr id="21" name="TextBox 20">
            <a:extLst>
              <a:ext uri="{FF2B5EF4-FFF2-40B4-BE49-F238E27FC236}">
                <a16:creationId xmlns:a16="http://schemas.microsoft.com/office/drawing/2014/main" id="{7C997459-AEF2-DBB2-0CF8-F8CC11FC9F48}"/>
              </a:ext>
            </a:extLst>
          </p:cNvPr>
          <p:cNvSpPr txBox="1"/>
          <p:nvPr/>
        </p:nvSpPr>
        <p:spPr>
          <a:xfrm>
            <a:off x="260528" y="5189814"/>
            <a:ext cx="7068312" cy="400110"/>
          </a:xfrm>
          <a:prstGeom prst="rect">
            <a:avLst/>
          </a:prstGeom>
          <a:noFill/>
        </p:spPr>
        <p:txBody>
          <a:bodyPr wrap="square">
            <a:spAutoFit/>
          </a:bodyPr>
          <a:lstStyle/>
          <a:p>
            <a:r>
              <a:rPr lang="en-US" sz="2000" b="1" dirty="0">
                <a:solidFill>
                  <a:schemeClr val="tx2"/>
                </a:solidFill>
              </a:rPr>
              <a:t>Limitations: </a:t>
            </a:r>
            <a:endParaRPr lang="en-IE" sz="2000" b="1" dirty="0">
              <a:solidFill>
                <a:schemeClr val="tx2"/>
              </a:solidFill>
            </a:endParaRPr>
          </a:p>
        </p:txBody>
      </p:sp>
      <p:pic>
        <p:nvPicPr>
          <p:cNvPr id="13" name="Picture 12">
            <a:extLst>
              <a:ext uri="{FF2B5EF4-FFF2-40B4-BE49-F238E27FC236}">
                <a16:creationId xmlns:a16="http://schemas.microsoft.com/office/drawing/2014/main" id="{2FEE2E8F-5EAF-2590-7854-C73301EE0891}"/>
              </a:ext>
            </a:extLst>
          </p:cNvPr>
          <p:cNvPicPr>
            <a:picLocks noChangeAspect="1"/>
          </p:cNvPicPr>
          <p:nvPr/>
        </p:nvPicPr>
        <p:blipFill>
          <a:blip r:embed="rId3"/>
          <a:stretch>
            <a:fillRect/>
          </a:stretch>
        </p:blipFill>
        <p:spPr>
          <a:xfrm>
            <a:off x="5043336" y="151678"/>
            <a:ext cx="5703686" cy="905001"/>
          </a:xfrm>
          <a:prstGeom prst="rect">
            <a:avLst/>
          </a:prstGeom>
        </p:spPr>
      </p:pic>
      <p:pic>
        <p:nvPicPr>
          <p:cNvPr id="15" name="Picture 14">
            <a:extLst>
              <a:ext uri="{FF2B5EF4-FFF2-40B4-BE49-F238E27FC236}">
                <a16:creationId xmlns:a16="http://schemas.microsoft.com/office/drawing/2014/main" id="{3260EBB0-F121-4EC7-2631-DE39178A0096}"/>
              </a:ext>
            </a:extLst>
          </p:cNvPr>
          <p:cNvPicPr>
            <a:picLocks noChangeAspect="1"/>
          </p:cNvPicPr>
          <p:nvPr/>
        </p:nvPicPr>
        <p:blipFill>
          <a:blip r:embed="rId4"/>
          <a:stretch>
            <a:fillRect/>
          </a:stretch>
        </p:blipFill>
        <p:spPr>
          <a:xfrm>
            <a:off x="7297253" y="1196996"/>
            <a:ext cx="4894747" cy="3048306"/>
          </a:xfrm>
          <a:prstGeom prst="rect">
            <a:avLst/>
          </a:prstGeom>
        </p:spPr>
      </p:pic>
      <p:pic>
        <p:nvPicPr>
          <p:cNvPr id="17" name="Picture 16">
            <a:extLst>
              <a:ext uri="{FF2B5EF4-FFF2-40B4-BE49-F238E27FC236}">
                <a16:creationId xmlns:a16="http://schemas.microsoft.com/office/drawing/2014/main" id="{E89E786D-6A6B-C3AA-F631-333D4D157549}"/>
              </a:ext>
            </a:extLst>
          </p:cNvPr>
          <p:cNvPicPr>
            <a:picLocks noChangeAspect="1"/>
          </p:cNvPicPr>
          <p:nvPr/>
        </p:nvPicPr>
        <p:blipFill>
          <a:blip r:embed="rId5"/>
          <a:stretch>
            <a:fillRect/>
          </a:stretch>
        </p:blipFill>
        <p:spPr>
          <a:xfrm>
            <a:off x="8054615" y="4427851"/>
            <a:ext cx="3663252" cy="2324145"/>
          </a:xfrm>
          <a:prstGeom prst="rect">
            <a:avLst/>
          </a:prstGeom>
        </p:spPr>
      </p:pic>
      <p:sp>
        <p:nvSpPr>
          <p:cNvPr id="26" name="Title 1">
            <a:extLst>
              <a:ext uri="{FF2B5EF4-FFF2-40B4-BE49-F238E27FC236}">
                <a16:creationId xmlns:a16="http://schemas.microsoft.com/office/drawing/2014/main" id="{1D500D12-522B-489C-1585-08EC74B86E8A}"/>
              </a:ext>
            </a:extLst>
          </p:cNvPr>
          <p:cNvSpPr>
            <a:spLocks noGrp="1"/>
          </p:cNvSpPr>
          <p:nvPr>
            <p:ph type="title"/>
          </p:nvPr>
        </p:nvSpPr>
        <p:spPr>
          <a:xfrm>
            <a:off x="208464" y="1310115"/>
            <a:ext cx="6809289" cy="787314"/>
          </a:xfrm>
        </p:spPr>
        <p:txBody>
          <a:bodyPr>
            <a:normAutofit/>
          </a:bodyPr>
          <a:lstStyle/>
          <a:p>
            <a:r>
              <a:rPr lang="en-IE" sz="2000" dirty="0">
                <a:solidFill>
                  <a:schemeClr val="bg2">
                    <a:lumMod val="10000"/>
                  </a:schemeClr>
                </a:solidFill>
              </a:rPr>
              <a:t>Drones waste battery hovering and can't grip natural surfaces.</a:t>
            </a:r>
          </a:p>
        </p:txBody>
      </p:sp>
      <p:sp>
        <p:nvSpPr>
          <p:cNvPr id="27" name="Title 1">
            <a:extLst>
              <a:ext uri="{FF2B5EF4-FFF2-40B4-BE49-F238E27FC236}">
                <a16:creationId xmlns:a16="http://schemas.microsoft.com/office/drawing/2014/main" id="{D5641551-C595-441F-1993-231561817A3B}"/>
              </a:ext>
            </a:extLst>
          </p:cNvPr>
          <p:cNvSpPr txBox="1">
            <a:spLocks/>
          </p:cNvSpPr>
          <p:nvPr/>
        </p:nvSpPr>
        <p:spPr>
          <a:xfrm>
            <a:off x="199870" y="2570454"/>
            <a:ext cx="7076906" cy="787314"/>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3400" b="1" kern="1200">
                <a:solidFill>
                  <a:schemeClr val="bg1"/>
                </a:solidFill>
                <a:latin typeface="+mn-lt"/>
                <a:ea typeface="+mj-ea"/>
                <a:cs typeface="+mj-cs"/>
              </a:defRPr>
            </a:lvl1pPr>
          </a:lstStyle>
          <a:p>
            <a:r>
              <a:rPr lang="en-IE" sz="1800" dirty="0">
                <a:solidFill>
                  <a:schemeClr val="bg2">
                    <a:lumMod val="10000"/>
                  </a:schemeClr>
                </a:solidFill>
              </a:rPr>
              <a:t>Falcon-inspired bipedal gripper. Landing impact pulls the tendon to close claws, a ratchet locks it.</a:t>
            </a:r>
            <a:endParaRPr lang="en-US" sz="1800" b="0" dirty="0">
              <a:solidFill>
                <a:schemeClr val="bg2">
                  <a:lumMod val="10000"/>
                </a:schemeClr>
              </a:solidFill>
            </a:endParaRPr>
          </a:p>
        </p:txBody>
      </p:sp>
      <p:sp>
        <p:nvSpPr>
          <p:cNvPr id="28" name="Title 1">
            <a:extLst>
              <a:ext uri="{FF2B5EF4-FFF2-40B4-BE49-F238E27FC236}">
                <a16:creationId xmlns:a16="http://schemas.microsoft.com/office/drawing/2014/main" id="{B57C7906-043F-2410-77ED-A3FBA3B2612C}"/>
              </a:ext>
            </a:extLst>
          </p:cNvPr>
          <p:cNvSpPr txBox="1">
            <a:spLocks/>
          </p:cNvSpPr>
          <p:nvPr/>
        </p:nvSpPr>
        <p:spPr>
          <a:xfrm>
            <a:off x="246125" y="4355572"/>
            <a:ext cx="7051128" cy="787314"/>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400" b="1" kern="1200">
                <a:solidFill>
                  <a:schemeClr val="bg1"/>
                </a:solidFill>
                <a:latin typeface="+mn-lt"/>
                <a:ea typeface="+mj-ea"/>
                <a:cs typeface="+mj-cs"/>
              </a:defRPr>
            </a:lvl1pPr>
          </a:lstStyle>
          <a:p>
            <a:r>
              <a:rPr lang="en-IE" sz="2000" dirty="0">
                <a:solidFill>
                  <a:schemeClr val="bg2">
                    <a:lumMod val="10000"/>
                  </a:schemeClr>
                </a:solidFill>
              </a:rPr>
              <a:t>Wraps around a branch in &lt; 50 </a:t>
            </a:r>
            <a:r>
              <a:rPr lang="en-IE" sz="2000" dirty="0" err="1">
                <a:solidFill>
                  <a:schemeClr val="bg2">
                    <a:lumMod val="10000"/>
                  </a:schemeClr>
                </a:solidFill>
              </a:rPr>
              <a:t>ms</a:t>
            </a:r>
            <a:r>
              <a:rPr lang="en-IE" sz="2000" dirty="0">
                <a:solidFill>
                  <a:schemeClr val="bg2">
                    <a:lumMod val="10000"/>
                  </a:schemeClr>
                </a:solidFill>
              </a:rPr>
              <a:t>.</a:t>
            </a:r>
            <a:endParaRPr lang="en-US" sz="2000" b="0" dirty="0">
              <a:solidFill>
                <a:schemeClr val="bg2">
                  <a:lumMod val="10000"/>
                </a:schemeClr>
              </a:solidFill>
            </a:endParaRPr>
          </a:p>
        </p:txBody>
      </p:sp>
      <p:sp>
        <p:nvSpPr>
          <p:cNvPr id="29" name="Title 1">
            <a:extLst>
              <a:ext uri="{FF2B5EF4-FFF2-40B4-BE49-F238E27FC236}">
                <a16:creationId xmlns:a16="http://schemas.microsoft.com/office/drawing/2014/main" id="{5F485730-4B4E-B81A-5254-FCCD19B6CEBA}"/>
              </a:ext>
            </a:extLst>
          </p:cNvPr>
          <p:cNvSpPr txBox="1">
            <a:spLocks/>
          </p:cNvSpPr>
          <p:nvPr/>
        </p:nvSpPr>
        <p:spPr>
          <a:xfrm>
            <a:off x="302903" y="5598616"/>
            <a:ext cx="7380700" cy="787314"/>
          </a:xfrm>
          <a:prstGeom prst="rect">
            <a:avLst/>
          </a:prstGeom>
        </p:spPr>
        <p:txBody>
          <a:bodyPr vert="horz" lIns="91440" tIns="45720" rIns="91440" bIns="45720" rtlCol="0" anchor="t">
            <a:normAutofit fontScale="92500" lnSpcReduction="20000"/>
          </a:bodyPr>
          <a:lstStyle>
            <a:lvl1pPr algn="l" defTabSz="914400" rtl="0" eaLnBrk="1" latinLnBrk="0" hangingPunct="1">
              <a:lnSpc>
                <a:spcPct val="90000"/>
              </a:lnSpc>
              <a:spcBef>
                <a:spcPct val="0"/>
              </a:spcBef>
              <a:buNone/>
              <a:defRPr sz="3400" b="1" kern="1200">
                <a:solidFill>
                  <a:schemeClr val="bg1"/>
                </a:solidFill>
                <a:latin typeface="+mn-lt"/>
                <a:ea typeface="+mj-ea"/>
                <a:cs typeface="+mj-cs"/>
              </a:defRPr>
            </a:lvl1pPr>
          </a:lstStyle>
          <a:p>
            <a:r>
              <a:rPr lang="en-IE" sz="2000" dirty="0">
                <a:solidFill>
                  <a:schemeClr val="bg2">
                    <a:lumMod val="10000"/>
                  </a:schemeClr>
                </a:solidFill>
              </a:rPr>
              <a:t>Relies on extremely sparse sensor data (only one accelerometer, lacking full avian sensory fusion). Takes 20 seconds for the motor to release the tendon (too slow). Scaling it up adds dangerous inertia.</a:t>
            </a:r>
            <a:endParaRPr lang="en-US" sz="2000" b="0" dirty="0">
              <a:solidFill>
                <a:schemeClr val="bg2">
                  <a:lumMod val="10000"/>
                </a:schemeClr>
              </a:solidFill>
            </a:endParaRPr>
          </a:p>
        </p:txBody>
      </p:sp>
    </p:spTree>
    <p:extLst>
      <p:ext uri="{BB962C8B-B14F-4D97-AF65-F5344CB8AC3E}">
        <p14:creationId xmlns:p14="http://schemas.microsoft.com/office/powerpoint/2010/main" val="13105100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8A6C4FB-79B3-B9D6-8E02-15187BCFB7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29D56FA-D894-BFBF-8168-194B05551474}"/>
              </a:ext>
            </a:extLst>
          </p:cNvPr>
          <p:cNvSpPr>
            <a:spLocks noGrp="1"/>
          </p:cNvSpPr>
          <p:nvPr>
            <p:ph type="title"/>
          </p:nvPr>
        </p:nvSpPr>
        <p:spPr>
          <a:xfrm>
            <a:off x="208464" y="1200834"/>
            <a:ext cx="6809289" cy="787314"/>
          </a:xfrm>
        </p:spPr>
        <p:txBody>
          <a:bodyPr>
            <a:normAutofit/>
          </a:bodyPr>
          <a:lstStyle/>
          <a:p>
            <a:r>
              <a:rPr lang="en-IE" sz="2000" dirty="0">
                <a:solidFill>
                  <a:schemeClr val="bg2">
                    <a:lumMod val="10000"/>
                  </a:schemeClr>
                </a:solidFill>
              </a:rPr>
              <a:t>Industrial grippers drain power continuously to hold agricultural objects.</a:t>
            </a:r>
          </a:p>
        </p:txBody>
      </p:sp>
      <p:sp>
        <p:nvSpPr>
          <p:cNvPr id="4" name="Title 1">
            <a:extLst>
              <a:ext uri="{FF2B5EF4-FFF2-40B4-BE49-F238E27FC236}">
                <a16:creationId xmlns:a16="http://schemas.microsoft.com/office/drawing/2014/main" id="{30428D3D-A908-6E32-20FA-3F1F0DBBA3EF}"/>
              </a:ext>
            </a:extLst>
          </p:cNvPr>
          <p:cNvSpPr txBox="1">
            <a:spLocks/>
          </p:cNvSpPr>
          <p:nvPr/>
        </p:nvSpPr>
        <p:spPr>
          <a:xfrm>
            <a:off x="145200" y="130320"/>
            <a:ext cx="9064390" cy="787314"/>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400" b="1" kern="1200">
                <a:solidFill>
                  <a:schemeClr val="bg1"/>
                </a:solidFill>
                <a:latin typeface="+mn-lt"/>
                <a:ea typeface="+mj-ea"/>
                <a:cs typeface="+mj-cs"/>
              </a:defRPr>
            </a:lvl1pPr>
          </a:lstStyle>
          <a:p>
            <a:r>
              <a:rPr lang="en-US" b="0" dirty="0">
                <a:solidFill>
                  <a:srgbClr val="002060"/>
                </a:solidFill>
              </a:rPr>
              <a:t>Literature : Report</a:t>
            </a:r>
          </a:p>
        </p:txBody>
      </p:sp>
      <p:sp>
        <p:nvSpPr>
          <p:cNvPr id="7" name="Title 1">
            <a:extLst>
              <a:ext uri="{FF2B5EF4-FFF2-40B4-BE49-F238E27FC236}">
                <a16:creationId xmlns:a16="http://schemas.microsoft.com/office/drawing/2014/main" id="{0721EEBF-53F3-48EE-AAB5-B56B2A37EC4E}"/>
              </a:ext>
            </a:extLst>
          </p:cNvPr>
          <p:cNvSpPr txBox="1">
            <a:spLocks/>
          </p:cNvSpPr>
          <p:nvPr/>
        </p:nvSpPr>
        <p:spPr>
          <a:xfrm>
            <a:off x="199870" y="2570454"/>
            <a:ext cx="5780306" cy="787314"/>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3400" b="1" kern="1200">
                <a:solidFill>
                  <a:schemeClr val="bg1"/>
                </a:solidFill>
                <a:latin typeface="+mn-lt"/>
                <a:ea typeface="+mj-ea"/>
                <a:cs typeface="+mj-cs"/>
              </a:defRPr>
            </a:lvl1pPr>
          </a:lstStyle>
          <a:p>
            <a:r>
              <a:rPr lang="en-IE" sz="1800" dirty="0">
                <a:solidFill>
                  <a:schemeClr val="bg2">
                    <a:lumMod val="10000"/>
                  </a:schemeClr>
                </a:solidFill>
              </a:rPr>
              <a:t>3-finger 3D printed compliant mechanism + 1 servo + spring-loaded ratchet + piezo sensors.</a:t>
            </a:r>
            <a:endParaRPr lang="en-US" sz="1800" b="0" dirty="0">
              <a:solidFill>
                <a:schemeClr val="bg2">
                  <a:lumMod val="10000"/>
                </a:schemeClr>
              </a:solidFill>
            </a:endParaRPr>
          </a:p>
        </p:txBody>
      </p:sp>
      <p:sp>
        <p:nvSpPr>
          <p:cNvPr id="9" name="Title 1">
            <a:extLst>
              <a:ext uri="{FF2B5EF4-FFF2-40B4-BE49-F238E27FC236}">
                <a16:creationId xmlns:a16="http://schemas.microsoft.com/office/drawing/2014/main" id="{8DAC0C6F-9401-F9E6-1F6D-0375CD0F5176}"/>
              </a:ext>
            </a:extLst>
          </p:cNvPr>
          <p:cNvSpPr txBox="1">
            <a:spLocks/>
          </p:cNvSpPr>
          <p:nvPr/>
        </p:nvSpPr>
        <p:spPr>
          <a:xfrm>
            <a:off x="364656" y="4346007"/>
            <a:ext cx="7051128" cy="787314"/>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400" b="1" kern="1200">
                <a:solidFill>
                  <a:schemeClr val="bg1"/>
                </a:solidFill>
                <a:latin typeface="+mn-lt"/>
                <a:ea typeface="+mj-ea"/>
                <a:cs typeface="+mj-cs"/>
              </a:defRPr>
            </a:lvl1pPr>
          </a:lstStyle>
          <a:p>
            <a:r>
              <a:rPr lang="en-IE" sz="2000" dirty="0">
                <a:solidFill>
                  <a:schemeClr val="bg2">
                    <a:lumMod val="10000"/>
                  </a:schemeClr>
                </a:solidFill>
              </a:rPr>
              <a:t>Drops motor power consumption by 15% during holding.</a:t>
            </a:r>
            <a:endParaRPr lang="en-US" sz="2000" b="0" dirty="0">
              <a:solidFill>
                <a:schemeClr val="bg2">
                  <a:lumMod val="10000"/>
                </a:schemeClr>
              </a:solidFill>
            </a:endParaRPr>
          </a:p>
        </p:txBody>
      </p:sp>
      <p:sp>
        <p:nvSpPr>
          <p:cNvPr id="10" name="Title 1">
            <a:extLst>
              <a:ext uri="{FF2B5EF4-FFF2-40B4-BE49-F238E27FC236}">
                <a16:creationId xmlns:a16="http://schemas.microsoft.com/office/drawing/2014/main" id="{EDA6F696-B967-5D6D-09A9-385DAA67E6C8}"/>
              </a:ext>
            </a:extLst>
          </p:cNvPr>
          <p:cNvSpPr txBox="1">
            <a:spLocks/>
          </p:cNvSpPr>
          <p:nvPr/>
        </p:nvSpPr>
        <p:spPr>
          <a:xfrm>
            <a:off x="302903" y="5598616"/>
            <a:ext cx="6518521" cy="787314"/>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400" b="1" kern="1200">
                <a:solidFill>
                  <a:schemeClr val="bg1"/>
                </a:solidFill>
                <a:latin typeface="+mn-lt"/>
                <a:ea typeface="+mj-ea"/>
                <a:cs typeface="+mj-cs"/>
              </a:defRPr>
            </a:lvl1pPr>
          </a:lstStyle>
          <a:p>
            <a:r>
              <a:rPr lang="en-IE" sz="2000" dirty="0">
                <a:solidFill>
                  <a:schemeClr val="bg2">
                    <a:lumMod val="10000"/>
                  </a:schemeClr>
                </a:solidFill>
              </a:rPr>
              <a:t>Spring release is violently fast (breaks fragile objects). Flexible parts wear out quickly.</a:t>
            </a:r>
            <a:endParaRPr lang="en-US" sz="2000" b="0" dirty="0">
              <a:solidFill>
                <a:schemeClr val="bg2">
                  <a:lumMod val="10000"/>
                </a:schemeClr>
              </a:solidFill>
            </a:endParaRPr>
          </a:p>
        </p:txBody>
      </p:sp>
      <p:sp>
        <p:nvSpPr>
          <p:cNvPr id="11" name="Title 1">
            <a:extLst>
              <a:ext uri="{FF2B5EF4-FFF2-40B4-BE49-F238E27FC236}">
                <a16:creationId xmlns:a16="http://schemas.microsoft.com/office/drawing/2014/main" id="{E9F9AB28-7CA2-9FD4-1D8F-D18ADE6BDA93}"/>
              </a:ext>
            </a:extLst>
          </p:cNvPr>
          <p:cNvSpPr txBox="1">
            <a:spLocks/>
          </p:cNvSpPr>
          <p:nvPr/>
        </p:nvSpPr>
        <p:spPr>
          <a:xfrm>
            <a:off x="5043336" y="237010"/>
            <a:ext cx="6888136" cy="787314"/>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3400" b="1" kern="1200">
                <a:solidFill>
                  <a:schemeClr val="bg1"/>
                </a:solidFill>
                <a:latin typeface="+mn-lt"/>
                <a:ea typeface="+mj-ea"/>
                <a:cs typeface="+mj-cs"/>
              </a:defRPr>
            </a:lvl1pPr>
          </a:lstStyle>
          <a:p>
            <a:r>
              <a:rPr lang="en-GB" sz="1600" dirty="0" err="1">
                <a:solidFill>
                  <a:schemeClr val="bg2">
                    <a:lumMod val="10000"/>
                  </a:schemeClr>
                </a:solidFill>
                <a:highlight>
                  <a:srgbClr val="FFFF00"/>
                </a:highlight>
              </a:rPr>
              <a:t>lbayrak</a:t>
            </a:r>
            <a:r>
              <a:rPr lang="en-GB" sz="1600" dirty="0">
                <a:solidFill>
                  <a:schemeClr val="bg2">
                    <a:lumMod val="10000"/>
                  </a:schemeClr>
                </a:solidFill>
                <a:highlight>
                  <a:srgbClr val="FFFF00"/>
                </a:highlight>
              </a:rPr>
              <a:t>, F.A. (2024). Design of a compliant robotic gripper. EE4050 Final Year </a:t>
            </a:r>
            <a:r>
              <a:rPr lang="en-GB" sz="1600" dirty="0" err="1">
                <a:solidFill>
                  <a:schemeClr val="bg2">
                    <a:lumMod val="10000"/>
                  </a:schemeClr>
                </a:solidFill>
                <a:highlight>
                  <a:srgbClr val="FFFF00"/>
                </a:highlight>
              </a:rPr>
              <a:t>ProjectReport</a:t>
            </a:r>
            <a:r>
              <a:rPr lang="en-GB" sz="1600" dirty="0">
                <a:solidFill>
                  <a:schemeClr val="bg2">
                    <a:lumMod val="10000"/>
                  </a:schemeClr>
                </a:solidFill>
                <a:highlight>
                  <a:srgbClr val="FFFF00"/>
                </a:highlight>
              </a:rPr>
              <a:t>, University College Cork.</a:t>
            </a:r>
            <a:endParaRPr lang="en-IE" sz="1600" b="0" dirty="0">
              <a:solidFill>
                <a:schemeClr val="bg2">
                  <a:lumMod val="10000"/>
                </a:schemeClr>
              </a:solidFill>
              <a:highlight>
                <a:srgbClr val="FFFF00"/>
              </a:highlight>
              <a:hlinkClick r:id="rId2">
                <a:extLst>
                  <a:ext uri="{A12FA001-AC4F-418D-AE19-62706E023703}">
                    <ahyp:hlinkClr xmlns:ahyp="http://schemas.microsoft.com/office/drawing/2018/hyperlinkcolor" val="tx"/>
                  </a:ext>
                </a:extLst>
              </a:hlinkClick>
            </a:endParaRPr>
          </a:p>
        </p:txBody>
      </p:sp>
      <p:sp>
        <p:nvSpPr>
          <p:cNvPr id="18" name="TextBox 17">
            <a:extLst>
              <a:ext uri="{FF2B5EF4-FFF2-40B4-BE49-F238E27FC236}">
                <a16:creationId xmlns:a16="http://schemas.microsoft.com/office/drawing/2014/main" id="{09AC06D7-B481-567F-6556-A2D1DD68C87A}"/>
              </a:ext>
            </a:extLst>
          </p:cNvPr>
          <p:cNvSpPr txBox="1"/>
          <p:nvPr/>
        </p:nvSpPr>
        <p:spPr>
          <a:xfrm>
            <a:off x="260528" y="875590"/>
            <a:ext cx="7068312" cy="400110"/>
          </a:xfrm>
          <a:prstGeom prst="rect">
            <a:avLst/>
          </a:prstGeom>
          <a:noFill/>
        </p:spPr>
        <p:txBody>
          <a:bodyPr wrap="square">
            <a:spAutoFit/>
          </a:bodyPr>
          <a:lstStyle/>
          <a:p>
            <a:r>
              <a:rPr lang="en-US" sz="2000" b="1" dirty="0">
                <a:solidFill>
                  <a:schemeClr val="tx2"/>
                </a:solidFill>
              </a:rPr>
              <a:t>Question/Gap: </a:t>
            </a:r>
            <a:endParaRPr lang="en-IE" sz="2000" b="1" dirty="0">
              <a:solidFill>
                <a:schemeClr val="tx2"/>
              </a:solidFill>
            </a:endParaRPr>
          </a:p>
        </p:txBody>
      </p:sp>
      <p:sp>
        <p:nvSpPr>
          <p:cNvPr id="19" name="TextBox 18">
            <a:extLst>
              <a:ext uri="{FF2B5EF4-FFF2-40B4-BE49-F238E27FC236}">
                <a16:creationId xmlns:a16="http://schemas.microsoft.com/office/drawing/2014/main" id="{D45090EB-3EBB-CEDD-E150-4D02FCE5CBA0}"/>
              </a:ext>
            </a:extLst>
          </p:cNvPr>
          <p:cNvSpPr txBox="1"/>
          <p:nvPr/>
        </p:nvSpPr>
        <p:spPr>
          <a:xfrm>
            <a:off x="208464" y="2253388"/>
            <a:ext cx="7068312" cy="400110"/>
          </a:xfrm>
          <a:prstGeom prst="rect">
            <a:avLst/>
          </a:prstGeom>
          <a:noFill/>
        </p:spPr>
        <p:txBody>
          <a:bodyPr wrap="square">
            <a:spAutoFit/>
          </a:bodyPr>
          <a:lstStyle/>
          <a:p>
            <a:r>
              <a:rPr lang="en-US" sz="2000" b="1" dirty="0">
                <a:solidFill>
                  <a:schemeClr val="tx2"/>
                </a:solidFill>
              </a:rPr>
              <a:t>Method: </a:t>
            </a:r>
            <a:endParaRPr lang="en-IE" sz="2000" b="1" dirty="0">
              <a:solidFill>
                <a:schemeClr val="tx2"/>
              </a:solidFill>
            </a:endParaRPr>
          </a:p>
        </p:txBody>
      </p:sp>
      <p:sp>
        <p:nvSpPr>
          <p:cNvPr id="20" name="TextBox 19">
            <a:extLst>
              <a:ext uri="{FF2B5EF4-FFF2-40B4-BE49-F238E27FC236}">
                <a16:creationId xmlns:a16="http://schemas.microsoft.com/office/drawing/2014/main" id="{D3187575-7B4F-CDA6-316B-CBC512E14194}"/>
              </a:ext>
            </a:extLst>
          </p:cNvPr>
          <p:cNvSpPr txBox="1"/>
          <p:nvPr/>
        </p:nvSpPr>
        <p:spPr>
          <a:xfrm>
            <a:off x="166087" y="3876447"/>
            <a:ext cx="7068312" cy="400110"/>
          </a:xfrm>
          <a:prstGeom prst="rect">
            <a:avLst/>
          </a:prstGeom>
          <a:noFill/>
        </p:spPr>
        <p:txBody>
          <a:bodyPr wrap="square">
            <a:spAutoFit/>
          </a:bodyPr>
          <a:lstStyle/>
          <a:p>
            <a:r>
              <a:rPr lang="en-US" sz="2000" b="1" dirty="0">
                <a:solidFill>
                  <a:schemeClr val="tx2"/>
                </a:solidFill>
              </a:rPr>
              <a:t>Results: </a:t>
            </a:r>
            <a:endParaRPr lang="en-IE" sz="2000" b="1" dirty="0">
              <a:solidFill>
                <a:schemeClr val="tx2"/>
              </a:solidFill>
            </a:endParaRPr>
          </a:p>
        </p:txBody>
      </p:sp>
      <p:sp>
        <p:nvSpPr>
          <p:cNvPr id="21" name="TextBox 20">
            <a:extLst>
              <a:ext uri="{FF2B5EF4-FFF2-40B4-BE49-F238E27FC236}">
                <a16:creationId xmlns:a16="http://schemas.microsoft.com/office/drawing/2014/main" id="{98A5BB8F-5E16-021E-1DA6-D0A2960B72C6}"/>
              </a:ext>
            </a:extLst>
          </p:cNvPr>
          <p:cNvSpPr txBox="1"/>
          <p:nvPr/>
        </p:nvSpPr>
        <p:spPr>
          <a:xfrm>
            <a:off x="260528" y="5208780"/>
            <a:ext cx="7068312" cy="400110"/>
          </a:xfrm>
          <a:prstGeom prst="rect">
            <a:avLst/>
          </a:prstGeom>
          <a:noFill/>
        </p:spPr>
        <p:txBody>
          <a:bodyPr wrap="square">
            <a:spAutoFit/>
          </a:bodyPr>
          <a:lstStyle/>
          <a:p>
            <a:r>
              <a:rPr lang="en-US" sz="2000" b="1" dirty="0">
                <a:solidFill>
                  <a:schemeClr val="tx2"/>
                </a:solidFill>
              </a:rPr>
              <a:t>Limitations: </a:t>
            </a:r>
            <a:endParaRPr lang="en-IE" sz="2000" b="1" dirty="0">
              <a:solidFill>
                <a:schemeClr val="tx2"/>
              </a:solidFill>
            </a:endParaRPr>
          </a:p>
        </p:txBody>
      </p:sp>
      <p:pic>
        <p:nvPicPr>
          <p:cNvPr id="5" name="Picture 4">
            <a:extLst>
              <a:ext uri="{FF2B5EF4-FFF2-40B4-BE49-F238E27FC236}">
                <a16:creationId xmlns:a16="http://schemas.microsoft.com/office/drawing/2014/main" id="{B1A09C5D-4629-45F3-0CE0-6440506B18EA}"/>
              </a:ext>
            </a:extLst>
          </p:cNvPr>
          <p:cNvPicPr>
            <a:picLocks noChangeAspect="1"/>
          </p:cNvPicPr>
          <p:nvPr/>
        </p:nvPicPr>
        <p:blipFill>
          <a:blip r:embed="rId3"/>
          <a:stretch>
            <a:fillRect/>
          </a:stretch>
        </p:blipFill>
        <p:spPr>
          <a:xfrm>
            <a:off x="9087324" y="1116078"/>
            <a:ext cx="2904806" cy="1882838"/>
          </a:xfrm>
          <a:prstGeom prst="rect">
            <a:avLst/>
          </a:prstGeom>
        </p:spPr>
      </p:pic>
      <p:pic>
        <p:nvPicPr>
          <p:cNvPr id="8" name="Picture 7">
            <a:extLst>
              <a:ext uri="{FF2B5EF4-FFF2-40B4-BE49-F238E27FC236}">
                <a16:creationId xmlns:a16="http://schemas.microsoft.com/office/drawing/2014/main" id="{3C15B550-E068-05A9-CA24-7CA2E3105962}"/>
              </a:ext>
            </a:extLst>
          </p:cNvPr>
          <p:cNvPicPr>
            <a:picLocks noChangeAspect="1"/>
          </p:cNvPicPr>
          <p:nvPr/>
        </p:nvPicPr>
        <p:blipFill>
          <a:blip r:embed="rId4"/>
          <a:stretch>
            <a:fillRect/>
          </a:stretch>
        </p:blipFill>
        <p:spPr>
          <a:xfrm>
            <a:off x="7459708" y="972856"/>
            <a:ext cx="1488154" cy="2456144"/>
          </a:xfrm>
          <a:prstGeom prst="rect">
            <a:avLst/>
          </a:prstGeom>
        </p:spPr>
      </p:pic>
      <p:pic>
        <p:nvPicPr>
          <p:cNvPr id="14" name="Picture 13">
            <a:extLst>
              <a:ext uri="{FF2B5EF4-FFF2-40B4-BE49-F238E27FC236}">
                <a16:creationId xmlns:a16="http://schemas.microsoft.com/office/drawing/2014/main" id="{DEC42E0C-1A3B-1CB4-1973-A2450C5F1C35}"/>
              </a:ext>
            </a:extLst>
          </p:cNvPr>
          <p:cNvPicPr>
            <a:picLocks noChangeAspect="1"/>
          </p:cNvPicPr>
          <p:nvPr/>
        </p:nvPicPr>
        <p:blipFill>
          <a:blip r:embed="rId5"/>
          <a:stretch>
            <a:fillRect/>
          </a:stretch>
        </p:blipFill>
        <p:spPr>
          <a:xfrm>
            <a:off x="10238791" y="3525613"/>
            <a:ext cx="1333674" cy="2428101"/>
          </a:xfrm>
          <a:prstGeom prst="rect">
            <a:avLst/>
          </a:prstGeom>
        </p:spPr>
      </p:pic>
      <p:pic>
        <p:nvPicPr>
          <p:cNvPr id="22" name="Picture 21">
            <a:extLst>
              <a:ext uri="{FF2B5EF4-FFF2-40B4-BE49-F238E27FC236}">
                <a16:creationId xmlns:a16="http://schemas.microsoft.com/office/drawing/2014/main" id="{42BD790D-5AF3-9F95-A85A-00B90A799692}"/>
              </a:ext>
            </a:extLst>
          </p:cNvPr>
          <p:cNvPicPr>
            <a:picLocks noChangeAspect="1"/>
          </p:cNvPicPr>
          <p:nvPr/>
        </p:nvPicPr>
        <p:blipFill>
          <a:blip r:embed="rId6"/>
          <a:stretch>
            <a:fillRect/>
          </a:stretch>
        </p:blipFill>
        <p:spPr>
          <a:xfrm>
            <a:off x="8138105" y="3841102"/>
            <a:ext cx="1619513" cy="2151171"/>
          </a:xfrm>
          <a:prstGeom prst="rect">
            <a:avLst/>
          </a:prstGeom>
        </p:spPr>
      </p:pic>
    </p:spTree>
    <p:extLst>
      <p:ext uri="{BB962C8B-B14F-4D97-AF65-F5344CB8AC3E}">
        <p14:creationId xmlns:p14="http://schemas.microsoft.com/office/powerpoint/2010/main" val="24813502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55E6D34-439A-3B20-1A6E-EC5534FD22A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AB61F24-D67C-4E63-CD42-0C93801FFE68}"/>
              </a:ext>
            </a:extLst>
          </p:cNvPr>
          <p:cNvSpPr>
            <a:spLocks noGrp="1"/>
          </p:cNvSpPr>
          <p:nvPr>
            <p:ph type="title"/>
          </p:nvPr>
        </p:nvSpPr>
        <p:spPr>
          <a:xfrm>
            <a:off x="208464" y="1291149"/>
            <a:ext cx="6809289" cy="787314"/>
          </a:xfrm>
        </p:spPr>
        <p:txBody>
          <a:bodyPr>
            <a:normAutofit/>
          </a:bodyPr>
          <a:lstStyle/>
          <a:p>
            <a:r>
              <a:rPr lang="en-IE" sz="2000" dirty="0">
                <a:solidFill>
                  <a:schemeClr val="bg2">
                    <a:lumMod val="10000"/>
                  </a:schemeClr>
                </a:solidFill>
              </a:rPr>
              <a:t>Lack of data on what actually injures humans during cobot collisions.</a:t>
            </a:r>
          </a:p>
        </p:txBody>
      </p:sp>
      <p:sp>
        <p:nvSpPr>
          <p:cNvPr id="4" name="Title 1">
            <a:extLst>
              <a:ext uri="{FF2B5EF4-FFF2-40B4-BE49-F238E27FC236}">
                <a16:creationId xmlns:a16="http://schemas.microsoft.com/office/drawing/2014/main" id="{57C15377-83D0-A578-3833-BB0D5E72AAA9}"/>
              </a:ext>
            </a:extLst>
          </p:cNvPr>
          <p:cNvSpPr txBox="1">
            <a:spLocks/>
          </p:cNvSpPr>
          <p:nvPr/>
        </p:nvSpPr>
        <p:spPr>
          <a:xfrm>
            <a:off x="145200" y="111354"/>
            <a:ext cx="9064390" cy="787314"/>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400" b="1" kern="1200">
                <a:solidFill>
                  <a:schemeClr val="bg1"/>
                </a:solidFill>
                <a:latin typeface="+mn-lt"/>
                <a:ea typeface="+mj-ea"/>
                <a:cs typeface="+mj-cs"/>
              </a:defRPr>
            </a:lvl1pPr>
          </a:lstStyle>
          <a:p>
            <a:r>
              <a:rPr lang="en-US" b="0" dirty="0">
                <a:solidFill>
                  <a:srgbClr val="002060"/>
                </a:solidFill>
              </a:rPr>
              <a:t>Literature : Report</a:t>
            </a:r>
          </a:p>
        </p:txBody>
      </p:sp>
      <p:sp>
        <p:nvSpPr>
          <p:cNvPr id="7" name="Title 1">
            <a:extLst>
              <a:ext uri="{FF2B5EF4-FFF2-40B4-BE49-F238E27FC236}">
                <a16:creationId xmlns:a16="http://schemas.microsoft.com/office/drawing/2014/main" id="{D775B167-C59A-298B-8ABD-8BBA6172C312}"/>
              </a:ext>
            </a:extLst>
          </p:cNvPr>
          <p:cNvSpPr txBox="1">
            <a:spLocks/>
          </p:cNvSpPr>
          <p:nvPr/>
        </p:nvSpPr>
        <p:spPr>
          <a:xfrm>
            <a:off x="199870" y="2551488"/>
            <a:ext cx="6979639" cy="787314"/>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3400" b="1" kern="1200">
                <a:solidFill>
                  <a:schemeClr val="bg1"/>
                </a:solidFill>
                <a:latin typeface="+mn-lt"/>
                <a:ea typeface="+mj-ea"/>
                <a:cs typeface="+mj-cs"/>
              </a:defRPr>
            </a:lvl1pPr>
          </a:lstStyle>
          <a:p>
            <a:r>
              <a:rPr lang="en-IE" sz="2000" dirty="0">
                <a:solidFill>
                  <a:schemeClr val="bg2">
                    <a:lumMod val="10000"/>
                  </a:schemeClr>
                </a:solidFill>
              </a:rPr>
              <a:t>Car-style crash tests on a dummy using cobots and industrial arms.</a:t>
            </a:r>
            <a:endParaRPr lang="en-US" sz="2000" b="0" dirty="0">
              <a:solidFill>
                <a:schemeClr val="bg2">
                  <a:lumMod val="10000"/>
                </a:schemeClr>
              </a:solidFill>
            </a:endParaRPr>
          </a:p>
        </p:txBody>
      </p:sp>
      <p:sp>
        <p:nvSpPr>
          <p:cNvPr id="9" name="Title 1">
            <a:extLst>
              <a:ext uri="{FF2B5EF4-FFF2-40B4-BE49-F238E27FC236}">
                <a16:creationId xmlns:a16="http://schemas.microsoft.com/office/drawing/2014/main" id="{08E1C68F-11BE-EBDE-D714-85E85EACF626}"/>
              </a:ext>
            </a:extLst>
          </p:cNvPr>
          <p:cNvSpPr txBox="1">
            <a:spLocks/>
          </p:cNvSpPr>
          <p:nvPr/>
        </p:nvSpPr>
        <p:spPr>
          <a:xfrm>
            <a:off x="199870" y="4327041"/>
            <a:ext cx="7051128" cy="787314"/>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400" b="1" kern="1200">
                <a:solidFill>
                  <a:schemeClr val="bg1"/>
                </a:solidFill>
                <a:latin typeface="+mn-lt"/>
                <a:ea typeface="+mj-ea"/>
                <a:cs typeface="+mj-cs"/>
              </a:defRPr>
            </a:lvl1pPr>
          </a:lstStyle>
          <a:p>
            <a:r>
              <a:rPr lang="en-IE" sz="2000" dirty="0">
                <a:solidFill>
                  <a:schemeClr val="bg2">
                    <a:lumMod val="10000"/>
                  </a:schemeClr>
                </a:solidFill>
              </a:rPr>
              <a:t>The worst danger is slow crushing (clamping) against an obstacle, not free impacts.</a:t>
            </a:r>
            <a:endParaRPr lang="en-US" sz="2000" b="0" dirty="0">
              <a:solidFill>
                <a:schemeClr val="bg2">
                  <a:lumMod val="10000"/>
                </a:schemeClr>
              </a:solidFill>
            </a:endParaRPr>
          </a:p>
        </p:txBody>
      </p:sp>
      <p:sp>
        <p:nvSpPr>
          <p:cNvPr id="10" name="Title 1">
            <a:extLst>
              <a:ext uri="{FF2B5EF4-FFF2-40B4-BE49-F238E27FC236}">
                <a16:creationId xmlns:a16="http://schemas.microsoft.com/office/drawing/2014/main" id="{C85E1BC4-391C-7506-9B6A-E8415C5F4082}"/>
              </a:ext>
            </a:extLst>
          </p:cNvPr>
          <p:cNvSpPr txBox="1">
            <a:spLocks/>
          </p:cNvSpPr>
          <p:nvPr/>
        </p:nvSpPr>
        <p:spPr>
          <a:xfrm>
            <a:off x="190977" y="5591734"/>
            <a:ext cx="7380700" cy="787314"/>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400" b="1" kern="1200">
                <a:solidFill>
                  <a:schemeClr val="bg1"/>
                </a:solidFill>
                <a:latin typeface="+mn-lt"/>
                <a:ea typeface="+mj-ea"/>
                <a:cs typeface="+mj-cs"/>
              </a:defRPr>
            </a:lvl1pPr>
          </a:lstStyle>
          <a:p>
            <a:r>
              <a:rPr lang="en-IE" sz="2000" dirty="0">
                <a:solidFill>
                  <a:schemeClr val="bg2">
                    <a:lumMod val="10000"/>
                  </a:schemeClr>
                </a:solidFill>
              </a:rPr>
              <a:t>Software emergency stops are too slow. Robots MUST have physical soft skins/sensors.</a:t>
            </a:r>
            <a:endParaRPr lang="en-US" sz="2000" b="0" dirty="0">
              <a:solidFill>
                <a:schemeClr val="bg2">
                  <a:lumMod val="10000"/>
                </a:schemeClr>
              </a:solidFill>
            </a:endParaRPr>
          </a:p>
        </p:txBody>
      </p:sp>
      <p:sp>
        <p:nvSpPr>
          <p:cNvPr id="11" name="Title 1">
            <a:extLst>
              <a:ext uri="{FF2B5EF4-FFF2-40B4-BE49-F238E27FC236}">
                <a16:creationId xmlns:a16="http://schemas.microsoft.com/office/drawing/2014/main" id="{C307E737-2823-0E32-F90A-1107369BF1F1}"/>
              </a:ext>
            </a:extLst>
          </p:cNvPr>
          <p:cNvSpPr txBox="1">
            <a:spLocks/>
          </p:cNvSpPr>
          <p:nvPr/>
        </p:nvSpPr>
        <p:spPr>
          <a:xfrm>
            <a:off x="5043336" y="218044"/>
            <a:ext cx="6888136" cy="787314"/>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3400" b="1" kern="1200">
                <a:solidFill>
                  <a:schemeClr val="bg1"/>
                </a:solidFill>
                <a:latin typeface="+mn-lt"/>
                <a:ea typeface="+mj-ea"/>
                <a:cs typeface="+mj-cs"/>
              </a:defRPr>
            </a:lvl1pPr>
          </a:lstStyle>
          <a:p>
            <a:r>
              <a:rPr lang="en-GB" sz="1600" dirty="0">
                <a:solidFill>
                  <a:schemeClr val="bg2">
                    <a:lumMod val="10000"/>
                  </a:schemeClr>
                </a:solidFill>
              </a:rPr>
              <a:t>Requirements for </a:t>
            </a:r>
            <a:r>
              <a:rPr lang="en-GB" sz="1600" dirty="0" err="1">
                <a:solidFill>
                  <a:schemeClr val="bg2">
                    <a:lumMod val="10000"/>
                  </a:schemeClr>
                </a:solidFill>
              </a:rPr>
              <a:t>SafeRobots</a:t>
            </a:r>
            <a:r>
              <a:rPr lang="en-GB" sz="1600" dirty="0">
                <a:solidFill>
                  <a:schemeClr val="bg2">
                    <a:lumMod val="10000"/>
                  </a:schemeClr>
                </a:solidFill>
              </a:rPr>
              <a:t>: </a:t>
            </a:r>
            <a:r>
              <a:rPr lang="en-GB" sz="1600" dirty="0" err="1">
                <a:solidFill>
                  <a:schemeClr val="bg2">
                    <a:lumMod val="10000"/>
                  </a:schemeClr>
                </a:solidFill>
              </a:rPr>
              <a:t>Measurements,Analysis</a:t>
            </a:r>
            <a:r>
              <a:rPr lang="en-GB" sz="1600" dirty="0">
                <a:solidFill>
                  <a:schemeClr val="bg2">
                    <a:lumMod val="10000"/>
                  </a:schemeClr>
                </a:solidFill>
              </a:rPr>
              <a:t> and </a:t>
            </a:r>
            <a:r>
              <a:rPr lang="en-GB" sz="1600" dirty="0" err="1">
                <a:solidFill>
                  <a:schemeClr val="bg2">
                    <a:lumMod val="10000"/>
                  </a:schemeClr>
                </a:solidFill>
              </a:rPr>
              <a:t>NewInsights</a:t>
            </a:r>
            <a:endParaRPr lang="en-IE" sz="1600" b="0" dirty="0">
              <a:solidFill>
                <a:schemeClr val="bg2">
                  <a:lumMod val="10000"/>
                </a:schemeClr>
              </a:solidFill>
              <a:hlinkClick r:id="rId2">
                <a:extLst>
                  <a:ext uri="{A12FA001-AC4F-418D-AE19-62706E023703}">
                    <ahyp:hlinkClr xmlns:ahyp="http://schemas.microsoft.com/office/drawing/2018/hyperlinkcolor" val="tx"/>
                  </a:ext>
                </a:extLst>
              </a:hlinkClick>
            </a:endParaRPr>
          </a:p>
        </p:txBody>
      </p:sp>
      <p:sp>
        <p:nvSpPr>
          <p:cNvPr id="18" name="TextBox 17">
            <a:extLst>
              <a:ext uri="{FF2B5EF4-FFF2-40B4-BE49-F238E27FC236}">
                <a16:creationId xmlns:a16="http://schemas.microsoft.com/office/drawing/2014/main" id="{ECFBC054-F932-9781-78DC-8F99DE279945}"/>
              </a:ext>
            </a:extLst>
          </p:cNvPr>
          <p:cNvSpPr txBox="1"/>
          <p:nvPr/>
        </p:nvSpPr>
        <p:spPr>
          <a:xfrm>
            <a:off x="260528" y="856624"/>
            <a:ext cx="7068312" cy="400110"/>
          </a:xfrm>
          <a:prstGeom prst="rect">
            <a:avLst/>
          </a:prstGeom>
          <a:noFill/>
        </p:spPr>
        <p:txBody>
          <a:bodyPr wrap="square">
            <a:spAutoFit/>
          </a:bodyPr>
          <a:lstStyle/>
          <a:p>
            <a:r>
              <a:rPr lang="en-US" sz="2000" b="1" dirty="0">
                <a:solidFill>
                  <a:schemeClr val="tx2"/>
                </a:solidFill>
              </a:rPr>
              <a:t>Question/Gap: </a:t>
            </a:r>
            <a:endParaRPr lang="en-IE" sz="2000" b="1" dirty="0">
              <a:solidFill>
                <a:schemeClr val="tx2"/>
              </a:solidFill>
            </a:endParaRPr>
          </a:p>
        </p:txBody>
      </p:sp>
      <p:sp>
        <p:nvSpPr>
          <p:cNvPr id="19" name="TextBox 18">
            <a:extLst>
              <a:ext uri="{FF2B5EF4-FFF2-40B4-BE49-F238E27FC236}">
                <a16:creationId xmlns:a16="http://schemas.microsoft.com/office/drawing/2014/main" id="{83E70DA8-559E-62A2-2DC5-0926E8B4B255}"/>
              </a:ext>
            </a:extLst>
          </p:cNvPr>
          <p:cNvSpPr txBox="1"/>
          <p:nvPr/>
        </p:nvSpPr>
        <p:spPr>
          <a:xfrm>
            <a:off x="208464" y="2123416"/>
            <a:ext cx="7068312" cy="400110"/>
          </a:xfrm>
          <a:prstGeom prst="rect">
            <a:avLst/>
          </a:prstGeom>
          <a:noFill/>
        </p:spPr>
        <p:txBody>
          <a:bodyPr wrap="square">
            <a:spAutoFit/>
          </a:bodyPr>
          <a:lstStyle/>
          <a:p>
            <a:r>
              <a:rPr lang="en-US" sz="2000" b="1" dirty="0">
                <a:solidFill>
                  <a:schemeClr val="tx2"/>
                </a:solidFill>
              </a:rPr>
              <a:t>Method: </a:t>
            </a:r>
            <a:endParaRPr lang="en-IE" sz="2000" b="1" dirty="0">
              <a:solidFill>
                <a:schemeClr val="tx2"/>
              </a:solidFill>
            </a:endParaRPr>
          </a:p>
        </p:txBody>
      </p:sp>
      <p:sp>
        <p:nvSpPr>
          <p:cNvPr id="20" name="TextBox 19">
            <a:extLst>
              <a:ext uri="{FF2B5EF4-FFF2-40B4-BE49-F238E27FC236}">
                <a16:creationId xmlns:a16="http://schemas.microsoft.com/office/drawing/2014/main" id="{A33DC093-00B2-F36C-658B-F707659E8043}"/>
              </a:ext>
            </a:extLst>
          </p:cNvPr>
          <p:cNvSpPr txBox="1"/>
          <p:nvPr/>
        </p:nvSpPr>
        <p:spPr>
          <a:xfrm>
            <a:off x="166087" y="3857481"/>
            <a:ext cx="7068312" cy="400110"/>
          </a:xfrm>
          <a:prstGeom prst="rect">
            <a:avLst/>
          </a:prstGeom>
          <a:noFill/>
        </p:spPr>
        <p:txBody>
          <a:bodyPr wrap="square">
            <a:spAutoFit/>
          </a:bodyPr>
          <a:lstStyle/>
          <a:p>
            <a:r>
              <a:rPr lang="en-US" sz="2000" b="1" dirty="0">
                <a:solidFill>
                  <a:schemeClr val="tx2"/>
                </a:solidFill>
              </a:rPr>
              <a:t>Results: </a:t>
            </a:r>
            <a:endParaRPr lang="en-IE" sz="2000" b="1" dirty="0">
              <a:solidFill>
                <a:schemeClr val="tx2"/>
              </a:solidFill>
            </a:endParaRPr>
          </a:p>
        </p:txBody>
      </p:sp>
      <p:sp>
        <p:nvSpPr>
          <p:cNvPr id="21" name="TextBox 20">
            <a:extLst>
              <a:ext uri="{FF2B5EF4-FFF2-40B4-BE49-F238E27FC236}">
                <a16:creationId xmlns:a16="http://schemas.microsoft.com/office/drawing/2014/main" id="{F63DDEA4-D59A-1C36-46F7-E6475DD6C605}"/>
              </a:ext>
            </a:extLst>
          </p:cNvPr>
          <p:cNvSpPr txBox="1"/>
          <p:nvPr/>
        </p:nvSpPr>
        <p:spPr>
          <a:xfrm>
            <a:off x="260528" y="5189814"/>
            <a:ext cx="7068312" cy="400110"/>
          </a:xfrm>
          <a:prstGeom prst="rect">
            <a:avLst/>
          </a:prstGeom>
          <a:noFill/>
        </p:spPr>
        <p:txBody>
          <a:bodyPr wrap="square">
            <a:spAutoFit/>
          </a:bodyPr>
          <a:lstStyle/>
          <a:p>
            <a:r>
              <a:rPr lang="en-US" sz="2000" b="1" dirty="0">
                <a:solidFill>
                  <a:schemeClr val="tx2"/>
                </a:solidFill>
              </a:rPr>
              <a:t>Limitations: </a:t>
            </a:r>
            <a:endParaRPr lang="en-IE" sz="2000" b="1" dirty="0">
              <a:solidFill>
                <a:schemeClr val="tx2"/>
              </a:solidFill>
            </a:endParaRPr>
          </a:p>
        </p:txBody>
      </p:sp>
      <p:pic>
        <p:nvPicPr>
          <p:cNvPr id="6" name="Picture 5">
            <a:extLst>
              <a:ext uri="{FF2B5EF4-FFF2-40B4-BE49-F238E27FC236}">
                <a16:creationId xmlns:a16="http://schemas.microsoft.com/office/drawing/2014/main" id="{DDF3FF53-BE5F-C989-963F-40C8837EBF50}"/>
              </a:ext>
            </a:extLst>
          </p:cNvPr>
          <p:cNvPicPr>
            <a:picLocks noChangeAspect="1"/>
          </p:cNvPicPr>
          <p:nvPr/>
        </p:nvPicPr>
        <p:blipFill>
          <a:blip r:embed="rId3"/>
          <a:stretch>
            <a:fillRect/>
          </a:stretch>
        </p:blipFill>
        <p:spPr>
          <a:xfrm>
            <a:off x="7179509" y="666623"/>
            <a:ext cx="4812621" cy="2092194"/>
          </a:xfrm>
          <a:prstGeom prst="rect">
            <a:avLst/>
          </a:prstGeom>
        </p:spPr>
      </p:pic>
      <p:pic>
        <p:nvPicPr>
          <p:cNvPr id="13" name="Picture 12">
            <a:extLst>
              <a:ext uri="{FF2B5EF4-FFF2-40B4-BE49-F238E27FC236}">
                <a16:creationId xmlns:a16="http://schemas.microsoft.com/office/drawing/2014/main" id="{64E3E014-53BD-EAA4-68CC-DFCF229839C3}"/>
              </a:ext>
            </a:extLst>
          </p:cNvPr>
          <p:cNvPicPr>
            <a:picLocks noChangeAspect="1"/>
          </p:cNvPicPr>
          <p:nvPr/>
        </p:nvPicPr>
        <p:blipFill>
          <a:blip r:embed="rId4"/>
          <a:stretch>
            <a:fillRect/>
          </a:stretch>
        </p:blipFill>
        <p:spPr>
          <a:xfrm>
            <a:off x="7963845" y="2945145"/>
            <a:ext cx="4143953" cy="2981741"/>
          </a:xfrm>
          <a:prstGeom prst="rect">
            <a:avLst/>
          </a:prstGeom>
        </p:spPr>
      </p:pic>
    </p:spTree>
    <p:extLst>
      <p:ext uri="{BB962C8B-B14F-4D97-AF65-F5344CB8AC3E}">
        <p14:creationId xmlns:p14="http://schemas.microsoft.com/office/powerpoint/2010/main" val="9197101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84C9DED-EFDC-20D5-0565-DD45AFA9BF0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161254-4726-BB95-6B7A-39BF4ABE6D17}"/>
              </a:ext>
            </a:extLst>
          </p:cNvPr>
          <p:cNvSpPr>
            <a:spLocks noGrp="1"/>
          </p:cNvSpPr>
          <p:nvPr>
            <p:ph type="title"/>
          </p:nvPr>
        </p:nvSpPr>
        <p:spPr>
          <a:xfrm>
            <a:off x="208464" y="1147637"/>
            <a:ext cx="6809289" cy="787314"/>
          </a:xfrm>
        </p:spPr>
        <p:txBody>
          <a:bodyPr>
            <a:noAutofit/>
          </a:bodyPr>
          <a:lstStyle/>
          <a:p>
            <a:r>
              <a:rPr lang="en-IE" sz="2000" dirty="0">
                <a:solidFill>
                  <a:schemeClr val="bg2">
                    <a:lumMod val="10000"/>
                  </a:schemeClr>
                </a:solidFill>
              </a:rPr>
              <a:t>Joint locks are either too heavy (motors) or too rigid (dangerous in a crash).</a:t>
            </a:r>
          </a:p>
        </p:txBody>
      </p:sp>
      <p:sp>
        <p:nvSpPr>
          <p:cNvPr id="4" name="Title 1">
            <a:extLst>
              <a:ext uri="{FF2B5EF4-FFF2-40B4-BE49-F238E27FC236}">
                <a16:creationId xmlns:a16="http://schemas.microsoft.com/office/drawing/2014/main" id="{D56BEF90-BCA6-8247-8F15-9F7F7CDF4B84}"/>
              </a:ext>
            </a:extLst>
          </p:cNvPr>
          <p:cNvSpPr txBox="1">
            <a:spLocks/>
          </p:cNvSpPr>
          <p:nvPr/>
        </p:nvSpPr>
        <p:spPr>
          <a:xfrm>
            <a:off x="145200" y="111354"/>
            <a:ext cx="9064390" cy="787314"/>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400" b="1" kern="1200">
                <a:solidFill>
                  <a:schemeClr val="bg1"/>
                </a:solidFill>
                <a:latin typeface="+mn-lt"/>
                <a:ea typeface="+mj-ea"/>
                <a:cs typeface="+mj-cs"/>
              </a:defRPr>
            </a:lvl1pPr>
          </a:lstStyle>
          <a:p>
            <a:r>
              <a:rPr lang="en-US" b="0" dirty="0">
                <a:solidFill>
                  <a:srgbClr val="002060"/>
                </a:solidFill>
              </a:rPr>
              <a:t>Literature : Report</a:t>
            </a:r>
          </a:p>
        </p:txBody>
      </p:sp>
      <p:sp>
        <p:nvSpPr>
          <p:cNvPr id="7" name="Title 1">
            <a:extLst>
              <a:ext uri="{FF2B5EF4-FFF2-40B4-BE49-F238E27FC236}">
                <a16:creationId xmlns:a16="http://schemas.microsoft.com/office/drawing/2014/main" id="{C8880B07-2700-5405-4475-3F777DE1B637}"/>
              </a:ext>
            </a:extLst>
          </p:cNvPr>
          <p:cNvSpPr txBox="1">
            <a:spLocks/>
          </p:cNvSpPr>
          <p:nvPr/>
        </p:nvSpPr>
        <p:spPr>
          <a:xfrm>
            <a:off x="199870" y="2462039"/>
            <a:ext cx="6979639" cy="787314"/>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3400" b="1" kern="1200">
                <a:solidFill>
                  <a:schemeClr val="bg1"/>
                </a:solidFill>
                <a:latin typeface="+mn-lt"/>
                <a:ea typeface="+mj-ea"/>
                <a:cs typeface="+mj-cs"/>
              </a:defRPr>
            </a:lvl1pPr>
          </a:lstStyle>
          <a:p>
            <a:r>
              <a:rPr lang="en-IE" sz="2000" dirty="0">
                <a:solidFill>
                  <a:schemeClr val="bg2">
                    <a:lumMod val="10000"/>
                  </a:schemeClr>
                </a:solidFill>
              </a:rPr>
              <a:t>1 motor + differential gear + non-</a:t>
            </a:r>
            <a:r>
              <a:rPr lang="en-IE" sz="2000" dirty="0" err="1">
                <a:solidFill>
                  <a:schemeClr val="bg2">
                    <a:lumMod val="10000"/>
                  </a:schemeClr>
                </a:solidFill>
              </a:rPr>
              <a:t>backdrivable</a:t>
            </a:r>
            <a:r>
              <a:rPr lang="en-IE" sz="2000" dirty="0">
                <a:solidFill>
                  <a:schemeClr val="bg2">
                    <a:lumMod val="10000"/>
                  </a:schemeClr>
                </a:solidFill>
              </a:rPr>
              <a:t> worm gear brake.</a:t>
            </a:r>
            <a:endParaRPr lang="en-US" sz="2000" b="0" dirty="0">
              <a:solidFill>
                <a:schemeClr val="bg2">
                  <a:lumMod val="10000"/>
                </a:schemeClr>
              </a:solidFill>
            </a:endParaRPr>
          </a:p>
        </p:txBody>
      </p:sp>
      <p:sp>
        <p:nvSpPr>
          <p:cNvPr id="9" name="Title 1">
            <a:extLst>
              <a:ext uri="{FF2B5EF4-FFF2-40B4-BE49-F238E27FC236}">
                <a16:creationId xmlns:a16="http://schemas.microsoft.com/office/drawing/2014/main" id="{9FAB3464-8C83-2ACA-EB40-D1A372026880}"/>
              </a:ext>
            </a:extLst>
          </p:cNvPr>
          <p:cNvSpPr txBox="1">
            <a:spLocks/>
          </p:cNvSpPr>
          <p:nvPr/>
        </p:nvSpPr>
        <p:spPr>
          <a:xfrm>
            <a:off x="225648" y="4327041"/>
            <a:ext cx="7051128" cy="787314"/>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400" b="1" kern="1200">
                <a:solidFill>
                  <a:schemeClr val="bg1"/>
                </a:solidFill>
                <a:latin typeface="+mn-lt"/>
                <a:ea typeface="+mj-ea"/>
                <a:cs typeface="+mj-cs"/>
              </a:defRPr>
            </a:lvl1pPr>
          </a:lstStyle>
          <a:p>
            <a:r>
              <a:rPr lang="en-IE" sz="2000" dirty="0">
                <a:solidFill>
                  <a:schemeClr val="bg2">
                    <a:lumMod val="10000"/>
                  </a:schemeClr>
                </a:solidFill>
              </a:rPr>
              <a:t>Fast shape adaptation (1.5s), then 0-energy holding (holds up to 10 kg).</a:t>
            </a:r>
            <a:endParaRPr lang="en-US" sz="2000" b="0" dirty="0">
              <a:solidFill>
                <a:schemeClr val="bg2">
                  <a:lumMod val="10000"/>
                </a:schemeClr>
              </a:solidFill>
            </a:endParaRPr>
          </a:p>
        </p:txBody>
      </p:sp>
      <p:sp>
        <p:nvSpPr>
          <p:cNvPr id="10" name="Title 1">
            <a:extLst>
              <a:ext uri="{FF2B5EF4-FFF2-40B4-BE49-F238E27FC236}">
                <a16:creationId xmlns:a16="http://schemas.microsoft.com/office/drawing/2014/main" id="{37F51450-2D9E-97CE-1F57-96BF3A31D855}"/>
              </a:ext>
            </a:extLst>
          </p:cNvPr>
          <p:cNvSpPr txBox="1">
            <a:spLocks/>
          </p:cNvSpPr>
          <p:nvPr/>
        </p:nvSpPr>
        <p:spPr>
          <a:xfrm>
            <a:off x="302903" y="5579650"/>
            <a:ext cx="7380700" cy="787314"/>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400" b="1" kern="1200">
                <a:solidFill>
                  <a:schemeClr val="bg1"/>
                </a:solidFill>
                <a:latin typeface="+mn-lt"/>
                <a:ea typeface="+mj-ea"/>
                <a:cs typeface="+mj-cs"/>
              </a:defRPr>
            </a:lvl1pPr>
          </a:lstStyle>
          <a:p>
            <a:r>
              <a:rPr lang="en-IE" sz="2000" dirty="0">
                <a:solidFill>
                  <a:schemeClr val="bg2">
                    <a:lumMod val="10000"/>
                  </a:schemeClr>
                </a:solidFill>
              </a:rPr>
              <a:t>Massive weight (3.5 kg). Requires a 2nd motor just to unlock the worm gear.</a:t>
            </a:r>
            <a:endParaRPr lang="en-US" sz="2000" b="0" dirty="0">
              <a:solidFill>
                <a:schemeClr val="bg2">
                  <a:lumMod val="10000"/>
                </a:schemeClr>
              </a:solidFill>
            </a:endParaRPr>
          </a:p>
        </p:txBody>
      </p:sp>
      <p:sp>
        <p:nvSpPr>
          <p:cNvPr id="11" name="Title 1">
            <a:extLst>
              <a:ext uri="{FF2B5EF4-FFF2-40B4-BE49-F238E27FC236}">
                <a16:creationId xmlns:a16="http://schemas.microsoft.com/office/drawing/2014/main" id="{EDEE88E0-1322-67ED-D1D3-058436DFB557}"/>
              </a:ext>
            </a:extLst>
          </p:cNvPr>
          <p:cNvSpPr txBox="1">
            <a:spLocks/>
          </p:cNvSpPr>
          <p:nvPr/>
        </p:nvSpPr>
        <p:spPr>
          <a:xfrm>
            <a:off x="5043336" y="218044"/>
            <a:ext cx="6888136" cy="787314"/>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3400" b="1" kern="1200">
                <a:solidFill>
                  <a:schemeClr val="bg1"/>
                </a:solidFill>
                <a:latin typeface="+mn-lt"/>
                <a:ea typeface="+mj-ea"/>
                <a:cs typeface="+mj-cs"/>
              </a:defRPr>
            </a:lvl1pPr>
          </a:lstStyle>
          <a:p>
            <a:r>
              <a:rPr lang="en-IE" sz="1600" dirty="0">
                <a:solidFill>
                  <a:schemeClr val="bg2">
                    <a:lumMod val="10000"/>
                  </a:schemeClr>
                </a:solidFill>
              </a:rPr>
              <a:t>Self-locking Underactuated Mechanism for Robotic Gripper∗ Jui Hsu1,2, Eiichi Yoshida2,1, Kensuke Harada3 and Abderrahmane Kheddar2,4</a:t>
            </a:r>
            <a:endParaRPr lang="en-IE" sz="1600" b="0" dirty="0">
              <a:solidFill>
                <a:schemeClr val="bg2">
                  <a:lumMod val="10000"/>
                </a:schemeClr>
              </a:solidFill>
              <a:hlinkClick r:id="rId2">
                <a:extLst>
                  <a:ext uri="{A12FA001-AC4F-418D-AE19-62706E023703}">
                    <ahyp:hlinkClr xmlns:ahyp="http://schemas.microsoft.com/office/drawing/2018/hyperlinkcolor" val="tx"/>
                  </a:ext>
                </a:extLst>
              </a:hlinkClick>
            </a:endParaRPr>
          </a:p>
        </p:txBody>
      </p:sp>
      <p:sp>
        <p:nvSpPr>
          <p:cNvPr id="18" name="TextBox 17">
            <a:extLst>
              <a:ext uri="{FF2B5EF4-FFF2-40B4-BE49-F238E27FC236}">
                <a16:creationId xmlns:a16="http://schemas.microsoft.com/office/drawing/2014/main" id="{D018C918-6679-FA68-B928-A998D829EBA8}"/>
              </a:ext>
            </a:extLst>
          </p:cNvPr>
          <p:cNvSpPr txBox="1"/>
          <p:nvPr/>
        </p:nvSpPr>
        <p:spPr>
          <a:xfrm>
            <a:off x="260528" y="687023"/>
            <a:ext cx="7068312" cy="400110"/>
          </a:xfrm>
          <a:prstGeom prst="rect">
            <a:avLst/>
          </a:prstGeom>
          <a:noFill/>
        </p:spPr>
        <p:txBody>
          <a:bodyPr wrap="square">
            <a:spAutoFit/>
          </a:bodyPr>
          <a:lstStyle/>
          <a:p>
            <a:r>
              <a:rPr lang="en-US" sz="2000" b="1" dirty="0">
                <a:solidFill>
                  <a:schemeClr val="tx2"/>
                </a:solidFill>
              </a:rPr>
              <a:t>Question/Gap: </a:t>
            </a:r>
            <a:endParaRPr lang="en-IE" sz="2000" b="1" dirty="0">
              <a:solidFill>
                <a:schemeClr val="tx2"/>
              </a:solidFill>
            </a:endParaRPr>
          </a:p>
        </p:txBody>
      </p:sp>
      <p:sp>
        <p:nvSpPr>
          <p:cNvPr id="19" name="TextBox 18">
            <a:extLst>
              <a:ext uri="{FF2B5EF4-FFF2-40B4-BE49-F238E27FC236}">
                <a16:creationId xmlns:a16="http://schemas.microsoft.com/office/drawing/2014/main" id="{5490F73A-DBD0-4471-E725-614FAD949EFE}"/>
              </a:ext>
            </a:extLst>
          </p:cNvPr>
          <p:cNvSpPr txBox="1"/>
          <p:nvPr/>
        </p:nvSpPr>
        <p:spPr>
          <a:xfrm>
            <a:off x="208464" y="2123416"/>
            <a:ext cx="7068312" cy="400110"/>
          </a:xfrm>
          <a:prstGeom prst="rect">
            <a:avLst/>
          </a:prstGeom>
          <a:noFill/>
        </p:spPr>
        <p:txBody>
          <a:bodyPr wrap="square">
            <a:spAutoFit/>
          </a:bodyPr>
          <a:lstStyle/>
          <a:p>
            <a:r>
              <a:rPr lang="en-US" sz="2000" b="1" dirty="0">
                <a:solidFill>
                  <a:schemeClr val="tx2"/>
                </a:solidFill>
              </a:rPr>
              <a:t>Method: </a:t>
            </a:r>
            <a:endParaRPr lang="en-IE" sz="2000" b="1" dirty="0">
              <a:solidFill>
                <a:schemeClr val="tx2"/>
              </a:solidFill>
            </a:endParaRPr>
          </a:p>
        </p:txBody>
      </p:sp>
      <p:sp>
        <p:nvSpPr>
          <p:cNvPr id="20" name="TextBox 19">
            <a:extLst>
              <a:ext uri="{FF2B5EF4-FFF2-40B4-BE49-F238E27FC236}">
                <a16:creationId xmlns:a16="http://schemas.microsoft.com/office/drawing/2014/main" id="{2F54AE30-A9F8-C91C-6971-D32753B4A628}"/>
              </a:ext>
            </a:extLst>
          </p:cNvPr>
          <p:cNvSpPr txBox="1"/>
          <p:nvPr/>
        </p:nvSpPr>
        <p:spPr>
          <a:xfrm>
            <a:off x="166087" y="3857481"/>
            <a:ext cx="7068312" cy="400110"/>
          </a:xfrm>
          <a:prstGeom prst="rect">
            <a:avLst/>
          </a:prstGeom>
          <a:noFill/>
        </p:spPr>
        <p:txBody>
          <a:bodyPr wrap="square">
            <a:spAutoFit/>
          </a:bodyPr>
          <a:lstStyle/>
          <a:p>
            <a:r>
              <a:rPr lang="en-US" sz="2000" b="1" dirty="0">
                <a:solidFill>
                  <a:schemeClr val="tx2"/>
                </a:solidFill>
              </a:rPr>
              <a:t>Results: </a:t>
            </a:r>
            <a:endParaRPr lang="en-IE" sz="2000" b="1" dirty="0">
              <a:solidFill>
                <a:schemeClr val="tx2"/>
              </a:solidFill>
            </a:endParaRPr>
          </a:p>
        </p:txBody>
      </p:sp>
      <p:sp>
        <p:nvSpPr>
          <p:cNvPr id="21" name="TextBox 20">
            <a:extLst>
              <a:ext uri="{FF2B5EF4-FFF2-40B4-BE49-F238E27FC236}">
                <a16:creationId xmlns:a16="http://schemas.microsoft.com/office/drawing/2014/main" id="{0F199648-B1E5-83B9-5CF5-E3E76703A634}"/>
              </a:ext>
            </a:extLst>
          </p:cNvPr>
          <p:cNvSpPr txBox="1"/>
          <p:nvPr/>
        </p:nvSpPr>
        <p:spPr>
          <a:xfrm>
            <a:off x="260528" y="5189814"/>
            <a:ext cx="7068312" cy="400110"/>
          </a:xfrm>
          <a:prstGeom prst="rect">
            <a:avLst/>
          </a:prstGeom>
          <a:noFill/>
        </p:spPr>
        <p:txBody>
          <a:bodyPr wrap="square">
            <a:spAutoFit/>
          </a:bodyPr>
          <a:lstStyle/>
          <a:p>
            <a:r>
              <a:rPr lang="en-US" sz="2000" b="1" dirty="0">
                <a:solidFill>
                  <a:schemeClr val="tx2"/>
                </a:solidFill>
              </a:rPr>
              <a:t>Limitations: </a:t>
            </a:r>
            <a:endParaRPr lang="en-IE" sz="2000" b="1" dirty="0">
              <a:solidFill>
                <a:schemeClr val="tx2"/>
              </a:solidFill>
            </a:endParaRPr>
          </a:p>
        </p:txBody>
      </p:sp>
      <p:pic>
        <p:nvPicPr>
          <p:cNvPr id="5" name="Picture 4">
            <a:extLst>
              <a:ext uri="{FF2B5EF4-FFF2-40B4-BE49-F238E27FC236}">
                <a16:creationId xmlns:a16="http://schemas.microsoft.com/office/drawing/2014/main" id="{1612E2F4-F832-9143-0125-17F519A4D306}"/>
              </a:ext>
            </a:extLst>
          </p:cNvPr>
          <p:cNvPicPr>
            <a:picLocks noChangeAspect="1"/>
          </p:cNvPicPr>
          <p:nvPr/>
        </p:nvPicPr>
        <p:blipFill>
          <a:blip r:embed="rId3"/>
          <a:stretch>
            <a:fillRect/>
          </a:stretch>
        </p:blipFill>
        <p:spPr>
          <a:xfrm>
            <a:off x="7829324" y="927318"/>
            <a:ext cx="3238952" cy="1238423"/>
          </a:xfrm>
          <a:prstGeom prst="rect">
            <a:avLst/>
          </a:prstGeom>
        </p:spPr>
      </p:pic>
      <p:pic>
        <p:nvPicPr>
          <p:cNvPr id="12" name="Picture 11">
            <a:extLst>
              <a:ext uri="{FF2B5EF4-FFF2-40B4-BE49-F238E27FC236}">
                <a16:creationId xmlns:a16="http://schemas.microsoft.com/office/drawing/2014/main" id="{499E7FB1-1AC6-54DA-EE4A-3529EAFF3960}"/>
              </a:ext>
            </a:extLst>
          </p:cNvPr>
          <p:cNvPicPr>
            <a:picLocks noChangeAspect="1"/>
          </p:cNvPicPr>
          <p:nvPr/>
        </p:nvPicPr>
        <p:blipFill>
          <a:blip r:embed="rId4"/>
          <a:stretch>
            <a:fillRect/>
          </a:stretch>
        </p:blipFill>
        <p:spPr>
          <a:xfrm>
            <a:off x="7313203" y="2323471"/>
            <a:ext cx="2581635" cy="2448267"/>
          </a:xfrm>
          <a:prstGeom prst="rect">
            <a:avLst/>
          </a:prstGeom>
        </p:spPr>
      </p:pic>
      <p:pic>
        <p:nvPicPr>
          <p:cNvPr id="15" name="Picture 14">
            <a:extLst>
              <a:ext uri="{FF2B5EF4-FFF2-40B4-BE49-F238E27FC236}">
                <a16:creationId xmlns:a16="http://schemas.microsoft.com/office/drawing/2014/main" id="{2A370135-71D5-EAB5-77B5-D620D7979DFC}"/>
              </a:ext>
            </a:extLst>
          </p:cNvPr>
          <p:cNvPicPr>
            <a:picLocks noChangeAspect="1"/>
          </p:cNvPicPr>
          <p:nvPr/>
        </p:nvPicPr>
        <p:blipFill>
          <a:blip r:embed="rId5"/>
          <a:stretch>
            <a:fillRect/>
          </a:stretch>
        </p:blipFill>
        <p:spPr>
          <a:xfrm>
            <a:off x="9931265" y="2938384"/>
            <a:ext cx="2222247" cy="3666708"/>
          </a:xfrm>
          <a:prstGeom prst="rect">
            <a:avLst/>
          </a:prstGeom>
        </p:spPr>
      </p:pic>
    </p:spTree>
    <p:extLst>
      <p:ext uri="{BB962C8B-B14F-4D97-AF65-F5344CB8AC3E}">
        <p14:creationId xmlns:p14="http://schemas.microsoft.com/office/powerpoint/2010/main" val="21379367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36684C3-5E26-64E9-6438-4B05EB51CD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AF6443-8167-B40F-1479-26708C8B25E7}"/>
              </a:ext>
            </a:extLst>
          </p:cNvPr>
          <p:cNvSpPr>
            <a:spLocks noGrp="1"/>
          </p:cNvSpPr>
          <p:nvPr>
            <p:ph type="title"/>
          </p:nvPr>
        </p:nvSpPr>
        <p:spPr>
          <a:xfrm>
            <a:off x="208464" y="1291149"/>
            <a:ext cx="6809289" cy="787314"/>
          </a:xfrm>
        </p:spPr>
        <p:txBody>
          <a:bodyPr>
            <a:normAutofit/>
          </a:bodyPr>
          <a:lstStyle/>
          <a:p>
            <a:r>
              <a:rPr lang="en-IE" sz="2000" dirty="0">
                <a:solidFill>
                  <a:schemeClr val="bg2">
                    <a:lumMod val="10000"/>
                  </a:schemeClr>
                </a:solidFill>
              </a:rPr>
              <a:t>Silicone skins don't breathe and mix up static/dynamic pressure signals.</a:t>
            </a:r>
          </a:p>
        </p:txBody>
      </p:sp>
      <p:sp>
        <p:nvSpPr>
          <p:cNvPr id="4" name="Title 1">
            <a:extLst>
              <a:ext uri="{FF2B5EF4-FFF2-40B4-BE49-F238E27FC236}">
                <a16:creationId xmlns:a16="http://schemas.microsoft.com/office/drawing/2014/main" id="{C218274C-9B38-5FAD-18B1-179D48FEFAFA}"/>
              </a:ext>
            </a:extLst>
          </p:cNvPr>
          <p:cNvSpPr txBox="1">
            <a:spLocks/>
          </p:cNvSpPr>
          <p:nvPr/>
        </p:nvSpPr>
        <p:spPr>
          <a:xfrm>
            <a:off x="145200" y="111354"/>
            <a:ext cx="9064390" cy="787314"/>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400" b="1" kern="1200">
                <a:solidFill>
                  <a:schemeClr val="bg1"/>
                </a:solidFill>
                <a:latin typeface="+mn-lt"/>
                <a:ea typeface="+mj-ea"/>
                <a:cs typeface="+mj-cs"/>
              </a:defRPr>
            </a:lvl1pPr>
          </a:lstStyle>
          <a:p>
            <a:r>
              <a:rPr lang="en-US" b="0" dirty="0">
                <a:solidFill>
                  <a:srgbClr val="002060"/>
                </a:solidFill>
              </a:rPr>
              <a:t>Literature : Report</a:t>
            </a:r>
          </a:p>
        </p:txBody>
      </p:sp>
      <p:sp>
        <p:nvSpPr>
          <p:cNvPr id="7" name="Title 1">
            <a:extLst>
              <a:ext uri="{FF2B5EF4-FFF2-40B4-BE49-F238E27FC236}">
                <a16:creationId xmlns:a16="http://schemas.microsoft.com/office/drawing/2014/main" id="{770F1A26-5873-C7CA-3E5E-201BBD2CA020}"/>
              </a:ext>
            </a:extLst>
          </p:cNvPr>
          <p:cNvSpPr txBox="1">
            <a:spLocks/>
          </p:cNvSpPr>
          <p:nvPr/>
        </p:nvSpPr>
        <p:spPr>
          <a:xfrm>
            <a:off x="199870" y="2551488"/>
            <a:ext cx="7380700" cy="787314"/>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3400" b="1" kern="1200">
                <a:solidFill>
                  <a:schemeClr val="bg1"/>
                </a:solidFill>
                <a:latin typeface="+mn-lt"/>
                <a:ea typeface="+mj-ea"/>
                <a:cs typeface="+mj-cs"/>
              </a:defRPr>
            </a:lvl1pPr>
          </a:lstStyle>
          <a:p>
            <a:r>
              <a:rPr lang="en-IE" sz="2000" dirty="0">
                <a:solidFill>
                  <a:schemeClr val="bg2">
                    <a:lumMod val="10000"/>
                  </a:schemeClr>
                </a:solidFill>
              </a:rPr>
              <a:t>Fabric matrix. </a:t>
            </a:r>
            <a:r>
              <a:rPr lang="en-IE" sz="2000" dirty="0" err="1">
                <a:solidFill>
                  <a:schemeClr val="bg2">
                    <a:lumMod val="10000"/>
                  </a:schemeClr>
                </a:solidFill>
              </a:rPr>
              <a:t>Cotton+CNT</a:t>
            </a:r>
            <a:r>
              <a:rPr lang="en-IE" sz="2000" dirty="0">
                <a:solidFill>
                  <a:schemeClr val="bg2">
                    <a:lumMod val="10000"/>
                  </a:schemeClr>
                </a:solidFill>
              </a:rPr>
              <a:t> for static pressure, Teflon/Steel thread for sliding friction.</a:t>
            </a:r>
            <a:endParaRPr lang="en-US" sz="2000" b="0" dirty="0">
              <a:solidFill>
                <a:schemeClr val="bg2">
                  <a:lumMod val="10000"/>
                </a:schemeClr>
              </a:solidFill>
            </a:endParaRPr>
          </a:p>
        </p:txBody>
      </p:sp>
      <p:sp>
        <p:nvSpPr>
          <p:cNvPr id="9" name="Title 1">
            <a:extLst>
              <a:ext uri="{FF2B5EF4-FFF2-40B4-BE49-F238E27FC236}">
                <a16:creationId xmlns:a16="http://schemas.microsoft.com/office/drawing/2014/main" id="{5DCA16AF-B0C3-24FE-A829-19597453CB97}"/>
              </a:ext>
            </a:extLst>
          </p:cNvPr>
          <p:cNvSpPr txBox="1">
            <a:spLocks/>
          </p:cNvSpPr>
          <p:nvPr/>
        </p:nvSpPr>
        <p:spPr>
          <a:xfrm>
            <a:off x="364656" y="4327041"/>
            <a:ext cx="7051128" cy="787314"/>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400" b="1" kern="1200">
                <a:solidFill>
                  <a:schemeClr val="bg1"/>
                </a:solidFill>
                <a:latin typeface="+mn-lt"/>
                <a:ea typeface="+mj-ea"/>
                <a:cs typeface="+mj-cs"/>
              </a:defRPr>
            </a:lvl1pPr>
          </a:lstStyle>
          <a:p>
            <a:r>
              <a:rPr lang="en-IE" sz="2000" dirty="0">
                <a:solidFill>
                  <a:schemeClr val="bg2">
                    <a:lumMod val="10000"/>
                  </a:schemeClr>
                </a:solidFill>
              </a:rPr>
              <a:t>Separates both signals well, survives 1500 test cycles.</a:t>
            </a:r>
            <a:endParaRPr lang="en-US" sz="2000" b="0" dirty="0">
              <a:solidFill>
                <a:schemeClr val="bg2">
                  <a:lumMod val="10000"/>
                </a:schemeClr>
              </a:solidFill>
            </a:endParaRPr>
          </a:p>
        </p:txBody>
      </p:sp>
      <p:sp>
        <p:nvSpPr>
          <p:cNvPr id="10" name="Title 1">
            <a:extLst>
              <a:ext uri="{FF2B5EF4-FFF2-40B4-BE49-F238E27FC236}">
                <a16:creationId xmlns:a16="http://schemas.microsoft.com/office/drawing/2014/main" id="{73CB740A-739E-79C5-FA1E-372D52EDFB85}"/>
              </a:ext>
            </a:extLst>
          </p:cNvPr>
          <p:cNvSpPr txBox="1">
            <a:spLocks/>
          </p:cNvSpPr>
          <p:nvPr/>
        </p:nvSpPr>
        <p:spPr>
          <a:xfrm>
            <a:off x="302903" y="5579650"/>
            <a:ext cx="6931496" cy="787314"/>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400" b="1" kern="1200">
                <a:solidFill>
                  <a:schemeClr val="bg1"/>
                </a:solidFill>
                <a:latin typeface="+mn-lt"/>
                <a:ea typeface="+mj-ea"/>
                <a:cs typeface="+mj-cs"/>
              </a:defRPr>
            </a:lvl1pPr>
          </a:lstStyle>
          <a:p>
            <a:r>
              <a:rPr lang="en-IE" sz="2000" dirty="0">
                <a:solidFill>
                  <a:schemeClr val="bg2">
                    <a:lumMod val="10000"/>
                  </a:schemeClr>
                </a:solidFill>
              </a:rPr>
              <a:t>Sensitivity drops massively above 11 kPa. Needs Machine Learning to decode signals.</a:t>
            </a:r>
            <a:endParaRPr lang="en-US" sz="2000" b="0" dirty="0">
              <a:solidFill>
                <a:schemeClr val="bg2">
                  <a:lumMod val="10000"/>
                </a:schemeClr>
              </a:solidFill>
            </a:endParaRPr>
          </a:p>
        </p:txBody>
      </p:sp>
      <p:sp>
        <p:nvSpPr>
          <p:cNvPr id="11" name="Title 1">
            <a:extLst>
              <a:ext uri="{FF2B5EF4-FFF2-40B4-BE49-F238E27FC236}">
                <a16:creationId xmlns:a16="http://schemas.microsoft.com/office/drawing/2014/main" id="{D1733D71-3BE5-0678-1D12-9B51BA872662}"/>
              </a:ext>
            </a:extLst>
          </p:cNvPr>
          <p:cNvSpPr txBox="1">
            <a:spLocks/>
          </p:cNvSpPr>
          <p:nvPr/>
        </p:nvSpPr>
        <p:spPr>
          <a:xfrm>
            <a:off x="5043336" y="218044"/>
            <a:ext cx="6888136" cy="787314"/>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3400" b="1" kern="1200">
                <a:solidFill>
                  <a:schemeClr val="bg1"/>
                </a:solidFill>
                <a:latin typeface="+mn-lt"/>
                <a:ea typeface="+mj-ea"/>
                <a:cs typeface="+mj-cs"/>
              </a:defRPr>
            </a:lvl1pPr>
          </a:lstStyle>
          <a:p>
            <a:r>
              <a:rPr lang="en-IE" sz="2000" b="0" dirty="0">
                <a:solidFill>
                  <a:schemeClr val="bg2">
                    <a:lumMod val="10000"/>
                  </a:schemeClr>
                </a:solidFill>
              </a:rPr>
              <a:t>Skin-inspired textile-based tactile sensors enable multifunctional sensing of wearables and soft robots</a:t>
            </a:r>
            <a:r>
              <a:rPr lang="en-IE" sz="2000" b="0" dirty="0">
                <a:solidFill>
                  <a:schemeClr val="bg2">
                    <a:lumMod val="10000"/>
                  </a:schemeClr>
                </a:solidFill>
                <a:hlinkClick r:id="rId2">
                  <a:extLst>
                    <a:ext uri="{A12FA001-AC4F-418D-AE19-62706E023703}">
                      <ahyp:hlinkClr xmlns:ahyp="http://schemas.microsoft.com/office/drawing/2018/hyperlinkcolor" val="tx"/>
                    </a:ext>
                  </a:extLst>
                </a:hlinkClick>
              </a:rPr>
              <a:t>☆</a:t>
            </a:r>
            <a:endParaRPr lang="en-IE" sz="2000" b="0" dirty="0">
              <a:solidFill>
                <a:schemeClr val="bg2">
                  <a:lumMod val="10000"/>
                </a:schemeClr>
              </a:solidFill>
            </a:endParaRPr>
          </a:p>
          <a:p>
            <a:r>
              <a:rPr lang="en-IE" sz="2000" b="0" dirty="0" err="1">
                <a:solidFill>
                  <a:srgbClr val="7DBBE9"/>
                </a:solidFill>
                <a:hlinkClick r:id="rId3">
                  <a:extLst>
                    <a:ext uri="{A12FA001-AC4F-418D-AE19-62706E023703}">
                      <ahyp:hlinkClr xmlns:ahyp="http://schemas.microsoft.com/office/drawing/2018/hyperlinkcolor" val="tx"/>
                    </a:ext>
                  </a:extLst>
                </a:hlinkClick>
              </a:rPr>
              <a:t>Yaokun</a:t>
            </a:r>
            <a:r>
              <a:rPr lang="en-IE" sz="2000" b="0" dirty="0">
                <a:solidFill>
                  <a:srgbClr val="7DBBE9"/>
                </a:solidFill>
                <a:hlinkClick r:id="rId3">
                  <a:extLst>
                    <a:ext uri="{A12FA001-AC4F-418D-AE19-62706E023703}">
                      <ahyp:hlinkClr xmlns:ahyp="http://schemas.microsoft.com/office/drawing/2018/hyperlinkcolor" val="tx"/>
                    </a:ext>
                  </a:extLst>
                </a:hlinkClick>
              </a:rPr>
              <a:t> Pang </a:t>
            </a:r>
            <a:r>
              <a:rPr lang="en-IE" sz="2000" b="0" baseline="30000" dirty="0">
                <a:solidFill>
                  <a:schemeClr val="bg2">
                    <a:lumMod val="10000"/>
                  </a:schemeClr>
                </a:solidFill>
                <a:hlinkClick r:id="rId3">
                  <a:extLst>
                    <a:ext uri="{A12FA001-AC4F-418D-AE19-62706E023703}">
                      <ahyp:hlinkClr xmlns:ahyp="http://schemas.microsoft.com/office/drawing/2018/hyperlinkcolor" val="tx"/>
                    </a:ext>
                  </a:extLst>
                </a:hlinkClick>
              </a:rPr>
              <a:t>a</a:t>
            </a:r>
            <a:r>
              <a:rPr lang="en-IE" sz="2000" b="0" dirty="0">
                <a:solidFill>
                  <a:schemeClr val="bg2">
                    <a:lumMod val="10000"/>
                  </a:schemeClr>
                </a:solidFill>
              </a:rPr>
              <a:t>, </a:t>
            </a:r>
            <a:r>
              <a:rPr lang="en-IE" sz="2000" b="0" dirty="0" err="1">
                <a:solidFill>
                  <a:schemeClr val="bg2">
                    <a:lumMod val="10000"/>
                  </a:schemeClr>
                </a:solidFill>
              </a:rPr>
              <a:t>Xianchen</a:t>
            </a:r>
            <a:r>
              <a:rPr lang="en-IE" sz="2000" b="0" dirty="0">
                <a:solidFill>
                  <a:schemeClr val="bg2">
                    <a:lumMod val="10000"/>
                  </a:schemeClr>
                </a:solidFill>
              </a:rPr>
              <a:t> Xu</a:t>
            </a:r>
          </a:p>
        </p:txBody>
      </p:sp>
      <p:sp>
        <p:nvSpPr>
          <p:cNvPr id="18" name="TextBox 17">
            <a:extLst>
              <a:ext uri="{FF2B5EF4-FFF2-40B4-BE49-F238E27FC236}">
                <a16:creationId xmlns:a16="http://schemas.microsoft.com/office/drawing/2014/main" id="{0328CA78-FF5C-E46E-A1DF-1F902577FF4E}"/>
              </a:ext>
            </a:extLst>
          </p:cNvPr>
          <p:cNvSpPr txBox="1"/>
          <p:nvPr/>
        </p:nvSpPr>
        <p:spPr>
          <a:xfrm>
            <a:off x="260528" y="856624"/>
            <a:ext cx="7068312" cy="400110"/>
          </a:xfrm>
          <a:prstGeom prst="rect">
            <a:avLst/>
          </a:prstGeom>
          <a:noFill/>
        </p:spPr>
        <p:txBody>
          <a:bodyPr wrap="square">
            <a:spAutoFit/>
          </a:bodyPr>
          <a:lstStyle/>
          <a:p>
            <a:r>
              <a:rPr lang="en-US" sz="2000" b="1" dirty="0">
                <a:solidFill>
                  <a:schemeClr val="tx2"/>
                </a:solidFill>
              </a:rPr>
              <a:t>Question/Gap: </a:t>
            </a:r>
            <a:endParaRPr lang="en-IE" sz="2000" b="1" dirty="0">
              <a:solidFill>
                <a:schemeClr val="tx2"/>
              </a:solidFill>
            </a:endParaRPr>
          </a:p>
        </p:txBody>
      </p:sp>
      <p:sp>
        <p:nvSpPr>
          <p:cNvPr id="19" name="TextBox 18">
            <a:extLst>
              <a:ext uri="{FF2B5EF4-FFF2-40B4-BE49-F238E27FC236}">
                <a16:creationId xmlns:a16="http://schemas.microsoft.com/office/drawing/2014/main" id="{3E6C35FF-2F16-E7B8-DC39-BB6F22BF4669}"/>
              </a:ext>
            </a:extLst>
          </p:cNvPr>
          <p:cNvSpPr txBox="1"/>
          <p:nvPr/>
        </p:nvSpPr>
        <p:spPr>
          <a:xfrm>
            <a:off x="208464" y="2123416"/>
            <a:ext cx="7068312" cy="400110"/>
          </a:xfrm>
          <a:prstGeom prst="rect">
            <a:avLst/>
          </a:prstGeom>
          <a:noFill/>
        </p:spPr>
        <p:txBody>
          <a:bodyPr wrap="square">
            <a:spAutoFit/>
          </a:bodyPr>
          <a:lstStyle/>
          <a:p>
            <a:r>
              <a:rPr lang="en-US" sz="2000" b="1" dirty="0">
                <a:solidFill>
                  <a:schemeClr val="tx2"/>
                </a:solidFill>
              </a:rPr>
              <a:t>Method: </a:t>
            </a:r>
            <a:endParaRPr lang="en-IE" sz="2000" b="1" dirty="0">
              <a:solidFill>
                <a:schemeClr val="tx2"/>
              </a:solidFill>
            </a:endParaRPr>
          </a:p>
        </p:txBody>
      </p:sp>
      <p:sp>
        <p:nvSpPr>
          <p:cNvPr id="20" name="TextBox 19">
            <a:extLst>
              <a:ext uri="{FF2B5EF4-FFF2-40B4-BE49-F238E27FC236}">
                <a16:creationId xmlns:a16="http://schemas.microsoft.com/office/drawing/2014/main" id="{19808E25-E82A-F2A0-CE1D-DF04C9987514}"/>
              </a:ext>
            </a:extLst>
          </p:cNvPr>
          <p:cNvSpPr txBox="1"/>
          <p:nvPr/>
        </p:nvSpPr>
        <p:spPr>
          <a:xfrm>
            <a:off x="166087" y="3857481"/>
            <a:ext cx="7068312" cy="400110"/>
          </a:xfrm>
          <a:prstGeom prst="rect">
            <a:avLst/>
          </a:prstGeom>
          <a:noFill/>
        </p:spPr>
        <p:txBody>
          <a:bodyPr wrap="square">
            <a:spAutoFit/>
          </a:bodyPr>
          <a:lstStyle/>
          <a:p>
            <a:r>
              <a:rPr lang="en-US" sz="2000" b="1" dirty="0">
                <a:solidFill>
                  <a:schemeClr val="tx2"/>
                </a:solidFill>
              </a:rPr>
              <a:t>Results: </a:t>
            </a:r>
            <a:endParaRPr lang="en-IE" sz="2000" b="1" dirty="0">
              <a:solidFill>
                <a:schemeClr val="tx2"/>
              </a:solidFill>
            </a:endParaRPr>
          </a:p>
        </p:txBody>
      </p:sp>
      <p:sp>
        <p:nvSpPr>
          <p:cNvPr id="21" name="TextBox 20">
            <a:extLst>
              <a:ext uri="{FF2B5EF4-FFF2-40B4-BE49-F238E27FC236}">
                <a16:creationId xmlns:a16="http://schemas.microsoft.com/office/drawing/2014/main" id="{D620E2F4-A724-B51C-5100-F8961E8049C3}"/>
              </a:ext>
            </a:extLst>
          </p:cNvPr>
          <p:cNvSpPr txBox="1"/>
          <p:nvPr/>
        </p:nvSpPr>
        <p:spPr>
          <a:xfrm>
            <a:off x="260528" y="5189814"/>
            <a:ext cx="7068312" cy="400110"/>
          </a:xfrm>
          <a:prstGeom prst="rect">
            <a:avLst/>
          </a:prstGeom>
          <a:noFill/>
        </p:spPr>
        <p:txBody>
          <a:bodyPr wrap="square">
            <a:spAutoFit/>
          </a:bodyPr>
          <a:lstStyle/>
          <a:p>
            <a:r>
              <a:rPr lang="en-US" sz="2000" b="1" dirty="0">
                <a:solidFill>
                  <a:schemeClr val="tx2"/>
                </a:solidFill>
              </a:rPr>
              <a:t>Limitations: </a:t>
            </a:r>
            <a:endParaRPr lang="en-IE" sz="2000" b="1" dirty="0">
              <a:solidFill>
                <a:schemeClr val="tx2"/>
              </a:solidFill>
            </a:endParaRPr>
          </a:p>
        </p:txBody>
      </p:sp>
      <p:pic>
        <p:nvPicPr>
          <p:cNvPr id="12" name="Picture 11">
            <a:extLst>
              <a:ext uri="{FF2B5EF4-FFF2-40B4-BE49-F238E27FC236}">
                <a16:creationId xmlns:a16="http://schemas.microsoft.com/office/drawing/2014/main" id="{209F6515-085F-87FD-0A48-1EE398518A58}"/>
              </a:ext>
            </a:extLst>
          </p:cNvPr>
          <p:cNvPicPr>
            <a:picLocks noChangeAspect="1"/>
          </p:cNvPicPr>
          <p:nvPr/>
        </p:nvPicPr>
        <p:blipFill>
          <a:blip r:embed="rId4"/>
          <a:stretch>
            <a:fillRect/>
          </a:stretch>
        </p:blipFill>
        <p:spPr>
          <a:xfrm>
            <a:off x="7683603" y="1256734"/>
            <a:ext cx="3853128" cy="2371667"/>
          </a:xfrm>
          <a:prstGeom prst="rect">
            <a:avLst/>
          </a:prstGeom>
        </p:spPr>
      </p:pic>
      <p:pic>
        <p:nvPicPr>
          <p:cNvPr id="15" name="Picture 14">
            <a:extLst>
              <a:ext uri="{FF2B5EF4-FFF2-40B4-BE49-F238E27FC236}">
                <a16:creationId xmlns:a16="http://schemas.microsoft.com/office/drawing/2014/main" id="{2E4D2CFB-3B05-F4D4-5A45-5A821C38E202}"/>
              </a:ext>
            </a:extLst>
          </p:cNvPr>
          <p:cNvPicPr>
            <a:picLocks noChangeAspect="1"/>
          </p:cNvPicPr>
          <p:nvPr/>
        </p:nvPicPr>
        <p:blipFill>
          <a:blip r:embed="rId5"/>
          <a:stretch>
            <a:fillRect/>
          </a:stretch>
        </p:blipFill>
        <p:spPr>
          <a:xfrm>
            <a:off x="7683603" y="3909855"/>
            <a:ext cx="3853128" cy="2559918"/>
          </a:xfrm>
          <a:prstGeom prst="rect">
            <a:avLst/>
          </a:prstGeom>
        </p:spPr>
      </p:pic>
    </p:spTree>
    <p:extLst>
      <p:ext uri="{BB962C8B-B14F-4D97-AF65-F5344CB8AC3E}">
        <p14:creationId xmlns:p14="http://schemas.microsoft.com/office/powerpoint/2010/main" val="13711753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488E6D0-4AFC-F670-5314-202BFD892F5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36E9849-9594-6DE6-C5D1-2DAC11DCEC7A}"/>
              </a:ext>
            </a:extLst>
          </p:cNvPr>
          <p:cNvSpPr>
            <a:spLocks noGrp="1"/>
          </p:cNvSpPr>
          <p:nvPr>
            <p:ph type="title"/>
          </p:nvPr>
        </p:nvSpPr>
        <p:spPr>
          <a:xfrm>
            <a:off x="208464" y="1291149"/>
            <a:ext cx="6809289" cy="787314"/>
          </a:xfrm>
        </p:spPr>
        <p:txBody>
          <a:bodyPr>
            <a:normAutofit/>
          </a:bodyPr>
          <a:lstStyle/>
          <a:p>
            <a:r>
              <a:rPr lang="en-IE" sz="2000" dirty="0">
                <a:solidFill>
                  <a:schemeClr val="bg2">
                    <a:lumMod val="10000"/>
                  </a:schemeClr>
                </a:solidFill>
              </a:rPr>
              <a:t>Too many sensors = too many wires and data noise.</a:t>
            </a:r>
          </a:p>
        </p:txBody>
      </p:sp>
      <p:sp>
        <p:nvSpPr>
          <p:cNvPr id="4" name="Title 1">
            <a:extLst>
              <a:ext uri="{FF2B5EF4-FFF2-40B4-BE49-F238E27FC236}">
                <a16:creationId xmlns:a16="http://schemas.microsoft.com/office/drawing/2014/main" id="{D17E7AF0-E48B-E26F-8820-3181647069C3}"/>
              </a:ext>
            </a:extLst>
          </p:cNvPr>
          <p:cNvSpPr txBox="1">
            <a:spLocks/>
          </p:cNvSpPr>
          <p:nvPr/>
        </p:nvSpPr>
        <p:spPr>
          <a:xfrm>
            <a:off x="145200" y="111354"/>
            <a:ext cx="9064390" cy="787314"/>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400" b="1" kern="1200">
                <a:solidFill>
                  <a:schemeClr val="bg1"/>
                </a:solidFill>
                <a:latin typeface="+mn-lt"/>
                <a:ea typeface="+mj-ea"/>
                <a:cs typeface="+mj-cs"/>
              </a:defRPr>
            </a:lvl1pPr>
          </a:lstStyle>
          <a:p>
            <a:r>
              <a:rPr lang="en-US" b="0" dirty="0">
                <a:solidFill>
                  <a:srgbClr val="002060"/>
                </a:solidFill>
              </a:rPr>
              <a:t>Literature : Report</a:t>
            </a:r>
          </a:p>
        </p:txBody>
      </p:sp>
      <p:sp>
        <p:nvSpPr>
          <p:cNvPr id="7" name="Title 1">
            <a:extLst>
              <a:ext uri="{FF2B5EF4-FFF2-40B4-BE49-F238E27FC236}">
                <a16:creationId xmlns:a16="http://schemas.microsoft.com/office/drawing/2014/main" id="{74FCBCA3-53AB-87DB-5973-032B5E2BBD5C}"/>
              </a:ext>
            </a:extLst>
          </p:cNvPr>
          <p:cNvSpPr txBox="1">
            <a:spLocks/>
          </p:cNvSpPr>
          <p:nvPr/>
        </p:nvSpPr>
        <p:spPr>
          <a:xfrm>
            <a:off x="199870" y="2551488"/>
            <a:ext cx="7380700" cy="787314"/>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3400" b="1" kern="1200">
                <a:solidFill>
                  <a:schemeClr val="bg1"/>
                </a:solidFill>
                <a:latin typeface="+mn-lt"/>
                <a:ea typeface="+mj-ea"/>
                <a:cs typeface="+mj-cs"/>
              </a:defRPr>
            </a:lvl1pPr>
          </a:lstStyle>
          <a:p>
            <a:r>
              <a:rPr lang="en-IE" sz="1800" dirty="0">
                <a:solidFill>
                  <a:schemeClr val="bg2">
                    <a:lumMod val="10000"/>
                  </a:schemeClr>
                </a:solidFill>
              </a:rPr>
              <a:t>Active matrices to cut wires + AI to </a:t>
            </a:r>
            <a:r>
              <a:rPr lang="en-IE" sz="1800" dirty="0" err="1">
                <a:solidFill>
                  <a:schemeClr val="bg2">
                    <a:lumMod val="10000"/>
                  </a:schemeClr>
                </a:solidFill>
              </a:rPr>
              <a:t>analyze</a:t>
            </a:r>
            <a:r>
              <a:rPr lang="en-IE" sz="1800" dirty="0">
                <a:solidFill>
                  <a:schemeClr val="bg2">
                    <a:lumMod val="10000"/>
                  </a:schemeClr>
                </a:solidFill>
              </a:rPr>
              <a:t> data.</a:t>
            </a:r>
            <a:endParaRPr lang="en-US" sz="1800" b="0" dirty="0">
              <a:solidFill>
                <a:schemeClr val="bg2">
                  <a:lumMod val="10000"/>
                </a:schemeClr>
              </a:solidFill>
            </a:endParaRPr>
          </a:p>
        </p:txBody>
      </p:sp>
      <p:sp>
        <p:nvSpPr>
          <p:cNvPr id="9" name="Title 1">
            <a:extLst>
              <a:ext uri="{FF2B5EF4-FFF2-40B4-BE49-F238E27FC236}">
                <a16:creationId xmlns:a16="http://schemas.microsoft.com/office/drawing/2014/main" id="{AE48B0B1-AC33-7015-8C05-A38134210A91}"/>
              </a:ext>
            </a:extLst>
          </p:cNvPr>
          <p:cNvSpPr txBox="1">
            <a:spLocks/>
          </p:cNvSpPr>
          <p:nvPr/>
        </p:nvSpPr>
        <p:spPr>
          <a:xfrm>
            <a:off x="199870" y="4327041"/>
            <a:ext cx="6653097" cy="787314"/>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400" b="1" kern="1200">
                <a:solidFill>
                  <a:schemeClr val="bg1"/>
                </a:solidFill>
                <a:latin typeface="+mn-lt"/>
                <a:ea typeface="+mj-ea"/>
                <a:cs typeface="+mj-cs"/>
              </a:defRPr>
            </a:lvl1pPr>
          </a:lstStyle>
          <a:p>
            <a:r>
              <a:rPr lang="en-IE" sz="2000" dirty="0">
                <a:solidFill>
                  <a:schemeClr val="bg2">
                    <a:lumMod val="10000"/>
                  </a:schemeClr>
                </a:solidFill>
              </a:rPr>
              <a:t>AI accurately guesses robot deformation and object slip.</a:t>
            </a:r>
            <a:endParaRPr lang="en-US" sz="2000" b="0" dirty="0">
              <a:solidFill>
                <a:schemeClr val="bg2">
                  <a:lumMod val="10000"/>
                </a:schemeClr>
              </a:solidFill>
            </a:endParaRPr>
          </a:p>
        </p:txBody>
      </p:sp>
      <p:sp>
        <p:nvSpPr>
          <p:cNvPr id="10" name="Title 1">
            <a:extLst>
              <a:ext uri="{FF2B5EF4-FFF2-40B4-BE49-F238E27FC236}">
                <a16:creationId xmlns:a16="http://schemas.microsoft.com/office/drawing/2014/main" id="{0448E041-ACD1-41AE-5540-FC7E99F1AEEB}"/>
              </a:ext>
            </a:extLst>
          </p:cNvPr>
          <p:cNvSpPr txBox="1">
            <a:spLocks/>
          </p:cNvSpPr>
          <p:nvPr/>
        </p:nvSpPr>
        <p:spPr>
          <a:xfrm>
            <a:off x="166087" y="5566851"/>
            <a:ext cx="6482292" cy="787314"/>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400" b="1" kern="1200">
                <a:solidFill>
                  <a:schemeClr val="bg1"/>
                </a:solidFill>
                <a:latin typeface="+mn-lt"/>
                <a:ea typeface="+mj-ea"/>
                <a:cs typeface="+mj-cs"/>
              </a:defRPr>
            </a:lvl1pPr>
          </a:lstStyle>
          <a:p>
            <a:r>
              <a:rPr lang="en-IE" sz="2000" dirty="0">
                <a:solidFill>
                  <a:schemeClr val="bg2">
                    <a:lumMod val="10000"/>
                  </a:schemeClr>
                </a:solidFill>
              </a:rPr>
              <a:t>Soft sensors have huge hardware drift. 3D simulations don't match physical reality.</a:t>
            </a:r>
            <a:endParaRPr lang="en-US" sz="2000" b="0" dirty="0">
              <a:solidFill>
                <a:schemeClr val="bg2">
                  <a:lumMod val="10000"/>
                </a:schemeClr>
              </a:solidFill>
            </a:endParaRPr>
          </a:p>
        </p:txBody>
      </p:sp>
      <p:sp>
        <p:nvSpPr>
          <p:cNvPr id="11" name="Title 1">
            <a:extLst>
              <a:ext uri="{FF2B5EF4-FFF2-40B4-BE49-F238E27FC236}">
                <a16:creationId xmlns:a16="http://schemas.microsoft.com/office/drawing/2014/main" id="{FE905863-4560-EBD5-680A-C7875B180C1B}"/>
              </a:ext>
            </a:extLst>
          </p:cNvPr>
          <p:cNvSpPr txBox="1">
            <a:spLocks/>
          </p:cNvSpPr>
          <p:nvPr/>
        </p:nvSpPr>
        <p:spPr>
          <a:xfrm>
            <a:off x="5043336" y="218044"/>
            <a:ext cx="6888136" cy="787314"/>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3400" b="1" kern="1200">
                <a:solidFill>
                  <a:schemeClr val="bg1"/>
                </a:solidFill>
                <a:latin typeface="+mn-lt"/>
                <a:ea typeface="+mj-ea"/>
                <a:cs typeface="+mj-cs"/>
              </a:defRPr>
            </a:lvl1pPr>
          </a:lstStyle>
          <a:p>
            <a:r>
              <a:rPr lang="en-IE" sz="2800" dirty="0">
                <a:solidFill>
                  <a:schemeClr val="bg2">
                    <a:lumMod val="10000"/>
                  </a:schemeClr>
                </a:solidFill>
              </a:rPr>
              <a:t>Electronic skins and machine learning for intelligent soft robots (Shih et al., 2020)</a:t>
            </a:r>
          </a:p>
        </p:txBody>
      </p:sp>
      <p:sp>
        <p:nvSpPr>
          <p:cNvPr id="18" name="TextBox 17">
            <a:extLst>
              <a:ext uri="{FF2B5EF4-FFF2-40B4-BE49-F238E27FC236}">
                <a16:creationId xmlns:a16="http://schemas.microsoft.com/office/drawing/2014/main" id="{8363072C-DF0E-A460-2C2D-CA940FB506CC}"/>
              </a:ext>
            </a:extLst>
          </p:cNvPr>
          <p:cNvSpPr txBox="1"/>
          <p:nvPr/>
        </p:nvSpPr>
        <p:spPr>
          <a:xfrm>
            <a:off x="260528" y="856624"/>
            <a:ext cx="7068312" cy="400110"/>
          </a:xfrm>
          <a:prstGeom prst="rect">
            <a:avLst/>
          </a:prstGeom>
          <a:noFill/>
        </p:spPr>
        <p:txBody>
          <a:bodyPr wrap="square">
            <a:spAutoFit/>
          </a:bodyPr>
          <a:lstStyle/>
          <a:p>
            <a:r>
              <a:rPr lang="en-US" sz="2000" b="1" dirty="0">
                <a:solidFill>
                  <a:schemeClr val="tx2"/>
                </a:solidFill>
              </a:rPr>
              <a:t>Question/Gap: </a:t>
            </a:r>
            <a:endParaRPr lang="en-IE" sz="2000" b="1" dirty="0">
              <a:solidFill>
                <a:schemeClr val="tx2"/>
              </a:solidFill>
            </a:endParaRPr>
          </a:p>
        </p:txBody>
      </p:sp>
      <p:sp>
        <p:nvSpPr>
          <p:cNvPr id="19" name="TextBox 18">
            <a:extLst>
              <a:ext uri="{FF2B5EF4-FFF2-40B4-BE49-F238E27FC236}">
                <a16:creationId xmlns:a16="http://schemas.microsoft.com/office/drawing/2014/main" id="{9135286A-DAD9-E8BF-30D9-91F27F48562E}"/>
              </a:ext>
            </a:extLst>
          </p:cNvPr>
          <p:cNvSpPr txBox="1"/>
          <p:nvPr/>
        </p:nvSpPr>
        <p:spPr>
          <a:xfrm>
            <a:off x="208464" y="2123416"/>
            <a:ext cx="7068312" cy="400110"/>
          </a:xfrm>
          <a:prstGeom prst="rect">
            <a:avLst/>
          </a:prstGeom>
          <a:noFill/>
        </p:spPr>
        <p:txBody>
          <a:bodyPr wrap="square">
            <a:spAutoFit/>
          </a:bodyPr>
          <a:lstStyle/>
          <a:p>
            <a:r>
              <a:rPr lang="en-US" sz="2000" b="1" dirty="0">
                <a:solidFill>
                  <a:schemeClr val="tx2"/>
                </a:solidFill>
              </a:rPr>
              <a:t>Method: </a:t>
            </a:r>
            <a:endParaRPr lang="en-IE" sz="2000" b="1" dirty="0">
              <a:solidFill>
                <a:schemeClr val="tx2"/>
              </a:solidFill>
            </a:endParaRPr>
          </a:p>
        </p:txBody>
      </p:sp>
      <p:sp>
        <p:nvSpPr>
          <p:cNvPr id="20" name="TextBox 19">
            <a:extLst>
              <a:ext uri="{FF2B5EF4-FFF2-40B4-BE49-F238E27FC236}">
                <a16:creationId xmlns:a16="http://schemas.microsoft.com/office/drawing/2014/main" id="{66F173CF-691A-CA5F-8653-D17592FE14CA}"/>
              </a:ext>
            </a:extLst>
          </p:cNvPr>
          <p:cNvSpPr txBox="1"/>
          <p:nvPr/>
        </p:nvSpPr>
        <p:spPr>
          <a:xfrm>
            <a:off x="166087" y="3857481"/>
            <a:ext cx="7068312" cy="400110"/>
          </a:xfrm>
          <a:prstGeom prst="rect">
            <a:avLst/>
          </a:prstGeom>
          <a:noFill/>
        </p:spPr>
        <p:txBody>
          <a:bodyPr wrap="square">
            <a:spAutoFit/>
          </a:bodyPr>
          <a:lstStyle/>
          <a:p>
            <a:r>
              <a:rPr lang="en-US" sz="2000" b="1" dirty="0">
                <a:solidFill>
                  <a:schemeClr val="tx2"/>
                </a:solidFill>
              </a:rPr>
              <a:t>Results: </a:t>
            </a:r>
            <a:endParaRPr lang="en-IE" sz="2000" b="1" dirty="0">
              <a:solidFill>
                <a:schemeClr val="tx2"/>
              </a:solidFill>
            </a:endParaRPr>
          </a:p>
        </p:txBody>
      </p:sp>
      <p:sp>
        <p:nvSpPr>
          <p:cNvPr id="21" name="TextBox 20">
            <a:extLst>
              <a:ext uri="{FF2B5EF4-FFF2-40B4-BE49-F238E27FC236}">
                <a16:creationId xmlns:a16="http://schemas.microsoft.com/office/drawing/2014/main" id="{38C2FF94-7ED5-C0D0-6F0C-4AC61367330B}"/>
              </a:ext>
            </a:extLst>
          </p:cNvPr>
          <p:cNvSpPr txBox="1"/>
          <p:nvPr/>
        </p:nvSpPr>
        <p:spPr>
          <a:xfrm>
            <a:off x="260528" y="5189814"/>
            <a:ext cx="7068312" cy="400110"/>
          </a:xfrm>
          <a:prstGeom prst="rect">
            <a:avLst/>
          </a:prstGeom>
          <a:noFill/>
        </p:spPr>
        <p:txBody>
          <a:bodyPr wrap="square">
            <a:spAutoFit/>
          </a:bodyPr>
          <a:lstStyle/>
          <a:p>
            <a:r>
              <a:rPr lang="en-US" sz="2000" b="1" dirty="0">
                <a:solidFill>
                  <a:schemeClr val="tx2"/>
                </a:solidFill>
              </a:rPr>
              <a:t>Limitations: </a:t>
            </a:r>
            <a:endParaRPr lang="en-IE" sz="2000" b="1" dirty="0">
              <a:solidFill>
                <a:schemeClr val="tx2"/>
              </a:solidFill>
            </a:endParaRPr>
          </a:p>
        </p:txBody>
      </p:sp>
      <p:pic>
        <p:nvPicPr>
          <p:cNvPr id="5" name="Picture 4">
            <a:extLst>
              <a:ext uri="{FF2B5EF4-FFF2-40B4-BE49-F238E27FC236}">
                <a16:creationId xmlns:a16="http://schemas.microsoft.com/office/drawing/2014/main" id="{51368C5B-AA43-733F-1506-C54AA7255D5D}"/>
              </a:ext>
            </a:extLst>
          </p:cNvPr>
          <p:cNvPicPr>
            <a:picLocks noChangeAspect="1"/>
          </p:cNvPicPr>
          <p:nvPr/>
        </p:nvPicPr>
        <p:blipFill>
          <a:blip r:embed="rId2"/>
          <a:stretch>
            <a:fillRect/>
          </a:stretch>
        </p:blipFill>
        <p:spPr>
          <a:xfrm>
            <a:off x="7415784" y="1343377"/>
            <a:ext cx="4219309" cy="1913470"/>
          </a:xfrm>
          <a:prstGeom prst="rect">
            <a:avLst/>
          </a:prstGeom>
        </p:spPr>
      </p:pic>
      <p:pic>
        <p:nvPicPr>
          <p:cNvPr id="12" name="Picture 11">
            <a:extLst>
              <a:ext uri="{FF2B5EF4-FFF2-40B4-BE49-F238E27FC236}">
                <a16:creationId xmlns:a16="http://schemas.microsoft.com/office/drawing/2014/main" id="{D80B2EA9-B0E1-16E9-631B-D61BEF45878B}"/>
              </a:ext>
            </a:extLst>
          </p:cNvPr>
          <p:cNvPicPr>
            <a:picLocks noChangeAspect="1"/>
          </p:cNvPicPr>
          <p:nvPr/>
        </p:nvPicPr>
        <p:blipFill>
          <a:blip r:embed="rId3"/>
          <a:stretch>
            <a:fillRect/>
          </a:stretch>
        </p:blipFill>
        <p:spPr>
          <a:xfrm>
            <a:off x="9638859" y="3790669"/>
            <a:ext cx="2292613" cy="2576295"/>
          </a:xfrm>
          <a:prstGeom prst="rect">
            <a:avLst/>
          </a:prstGeom>
        </p:spPr>
      </p:pic>
      <p:pic>
        <p:nvPicPr>
          <p:cNvPr id="15" name="Picture 14">
            <a:extLst>
              <a:ext uri="{FF2B5EF4-FFF2-40B4-BE49-F238E27FC236}">
                <a16:creationId xmlns:a16="http://schemas.microsoft.com/office/drawing/2014/main" id="{2F877AE1-099C-78BE-C258-7195AFB0A47F}"/>
              </a:ext>
            </a:extLst>
          </p:cNvPr>
          <p:cNvPicPr>
            <a:picLocks noChangeAspect="1"/>
          </p:cNvPicPr>
          <p:nvPr/>
        </p:nvPicPr>
        <p:blipFill>
          <a:blip r:embed="rId4"/>
          <a:stretch>
            <a:fillRect/>
          </a:stretch>
        </p:blipFill>
        <p:spPr>
          <a:xfrm>
            <a:off x="7183780" y="4141918"/>
            <a:ext cx="1943371" cy="2095792"/>
          </a:xfrm>
          <a:prstGeom prst="rect">
            <a:avLst/>
          </a:prstGeom>
        </p:spPr>
      </p:pic>
    </p:spTree>
    <p:extLst>
      <p:ext uri="{BB962C8B-B14F-4D97-AF65-F5344CB8AC3E}">
        <p14:creationId xmlns:p14="http://schemas.microsoft.com/office/powerpoint/2010/main" val="4456858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40B33E9-0AE8-3C47-4595-DA4CAD6ADA2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0A75F9-8313-0839-D7AA-5BF6F35A38C0}"/>
              </a:ext>
            </a:extLst>
          </p:cNvPr>
          <p:cNvSpPr>
            <a:spLocks noGrp="1"/>
          </p:cNvSpPr>
          <p:nvPr>
            <p:ph type="title"/>
          </p:nvPr>
        </p:nvSpPr>
        <p:spPr>
          <a:xfrm>
            <a:off x="208464" y="1291149"/>
            <a:ext cx="6809289" cy="787314"/>
          </a:xfrm>
        </p:spPr>
        <p:txBody>
          <a:bodyPr>
            <a:normAutofit/>
          </a:bodyPr>
          <a:lstStyle/>
          <a:p>
            <a:r>
              <a:rPr lang="en-IE" sz="2000" dirty="0">
                <a:solidFill>
                  <a:schemeClr val="bg2">
                    <a:lumMod val="10000"/>
                  </a:schemeClr>
                </a:solidFill>
              </a:rPr>
              <a:t>Classic metal strain gauges break when stretched.</a:t>
            </a:r>
          </a:p>
        </p:txBody>
      </p:sp>
      <p:sp>
        <p:nvSpPr>
          <p:cNvPr id="4" name="Title 1">
            <a:extLst>
              <a:ext uri="{FF2B5EF4-FFF2-40B4-BE49-F238E27FC236}">
                <a16:creationId xmlns:a16="http://schemas.microsoft.com/office/drawing/2014/main" id="{BEBB7E4D-A11C-833B-DB45-4CEA3CC84C15}"/>
              </a:ext>
            </a:extLst>
          </p:cNvPr>
          <p:cNvSpPr txBox="1">
            <a:spLocks/>
          </p:cNvSpPr>
          <p:nvPr/>
        </p:nvSpPr>
        <p:spPr>
          <a:xfrm>
            <a:off x="145200" y="111354"/>
            <a:ext cx="9064390" cy="787314"/>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400" b="1" kern="1200">
                <a:solidFill>
                  <a:schemeClr val="bg1"/>
                </a:solidFill>
                <a:latin typeface="+mn-lt"/>
                <a:ea typeface="+mj-ea"/>
                <a:cs typeface="+mj-cs"/>
              </a:defRPr>
            </a:lvl1pPr>
          </a:lstStyle>
          <a:p>
            <a:r>
              <a:rPr lang="en-US" b="0" dirty="0">
                <a:solidFill>
                  <a:srgbClr val="002060"/>
                </a:solidFill>
              </a:rPr>
              <a:t>Literature : Report</a:t>
            </a:r>
          </a:p>
        </p:txBody>
      </p:sp>
      <p:sp>
        <p:nvSpPr>
          <p:cNvPr id="7" name="Title 1">
            <a:extLst>
              <a:ext uri="{FF2B5EF4-FFF2-40B4-BE49-F238E27FC236}">
                <a16:creationId xmlns:a16="http://schemas.microsoft.com/office/drawing/2014/main" id="{6698ADF1-3306-8974-D9BA-D39BF3630AF0}"/>
              </a:ext>
            </a:extLst>
          </p:cNvPr>
          <p:cNvSpPr txBox="1">
            <a:spLocks/>
          </p:cNvSpPr>
          <p:nvPr/>
        </p:nvSpPr>
        <p:spPr>
          <a:xfrm>
            <a:off x="199870" y="2551488"/>
            <a:ext cx="6219218" cy="787314"/>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3400" b="1" kern="1200">
                <a:solidFill>
                  <a:schemeClr val="bg1"/>
                </a:solidFill>
                <a:latin typeface="+mn-lt"/>
                <a:ea typeface="+mj-ea"/>
                <a:cs typeface="+mj-cs"/>
              </a:defRPr>
            </a:lvl1pPr>
          </a:lstStyle>
          <a:p>
            <a:r>
              <a:rPr lang="en-IE" sz="2000" dirty="0">
                <a:solidFill>
                  <a:schemeClr val="bg2">
                    <a:lumMod val="10000"/>
                  </a:schemeClr>
                </a:solidFill>
              </a:rPr>
              <a:t>Compare capacitive vs resistive sensors (nanomaterials in silicone).</a:t>
            </a:r>
            <a:endParaRPr lang="en-US" sz="2000" b="0" dirty="0">
              <a:solidFill>
                <a:schemeClr val="bg2">
                  <a:lumMod val="10000"/>
                </a:schemeClr>
              </a:solidFill>
            </a:endParaRPr>
          </a:p>
        </p:txBody>
      </p:sp>
      <p:sp>
        <p:nvSpPr>
          <p:cNvPr id="9" name="Title 1">
            <a:extLst>
              <a:ext uri="{FF2B5EF4-FFF2-40B4-BE49-F238E27FC236}">
                <a16:creationId xmlns:a16="http://schemas.microsoft.com/office/drawing/2014/main" id="{8BB062CD-654C-BAE8-4221-9F0D57D9B48E}"/>
              </a:ext>
            </a:extLst>
          </p:cNvPr>
          <p:cNvSpPr txBox="1">
            <a:spLocks/>
          </p:cNvSpPr>
          <p:nvPr/>
        </p:nvSpPr>
        <p:spPr>
          <a:xfrm>
            <a:off x="199870" y="4335604"/>
            <a:ext cx="7051128" cy="787314"/>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400" b="1" kern="1200">
                <a:solidFill>
                  <a:schemeClr val="bg1"/>
                </a:solidFill>
                <a:latin typeface="+mn-lt"/>
                <a:ea typeface="+mj-ea"/>
                <a:cs typeface="+mj-cs"/>
              </a:defRPr>
            </a:lvl1pPr>
          </a:lstStyle>
          <a:p>
            <a:r>
              <a:rPr lang="en-IE" sz="2000" dirty="0">
                <a:solidFill>
                  <a:schemeClr val="bg2">
                    <a:lumMod val="10000"/>
                  </a:schemeClr>
                </a:solidFill>
              </a:rPr>
              <a:t>Capacitive = linear but low sensitivity. Resistive = hyper sensitive but highly non-linear.</a:t>
            </a:r>
            <a:endParaRPr lang="en-US" sz="2000" b="0" dirty="0">
              <a:solidFill>
                <a:schemeClr val="bg2">
                  <a:lumMod val="10000"/>
                </a:schemeClr>
              </a:solidFill>
            </a:endParaRPr>
          </a:p>
        </p:txBody>
      </p:sp>
      <p:sp>
        <p:nvSpPr>
          <p:cNvPr id="10" name="Title 1">
            <a:extLst>
              <a:ext uri="{FF2B5EF4-FFF2-40B4-BE49-F238E27FC236}">
                <a16:creationId xmlns:a16="http://schemas.microsoft.com/office/drawing/2014/main" id="{4A594518-653D-777F-372F-9A374011473A}"/>
              </a:ext>
            </a:extLst>
          </p:cNvPr>
          <p:cNvSpPr txBox="1">
            <a:spLocks/>
          </p:cNvSpPr>
          <p:nvPr/>
        </p:nvSpPr>
        <p:spPr>
          <a:xfrm>
            <a:off x="182686" y="5607719"/>
            <a:ext cx="7068312" cy="787314"/>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400" b="1" kern="1200">
                <a:solidFill>
                  <a:schemeClr val="bg1"/>
                </a:solidFill>
                <a:latin typeface="+mn-lt"/>
                <a:ea typeface="+mj-ea"/>
                <a:cs typeface="+mj-cs"/>
              </a:defRPr>
            </a:lvl1pPr>
          </a:lstStyle>
          <a:p>
            <a:r>
              <a:rPr lang="en-IE" sz="2000" dirty="0">
                <a:solidFill>
                  <a:schemeClr val="bg2">
                    <a:lumMod val="10000"/>
                  </a:schemeClr>
                </a:solidFill>
              </a:rPr>
              <a:t>Big trade-off between sensitivity and max stretch. Huge hysteresis due to silicone viscosity.</a:t>
            </a:r>
            <a:endParaRPr lang="en-US" sz="2000" b="0" dirty="0">
              <a:solidFill>
                <a:schemeClr val="bg2">
                  <a:lumMod val="10000"/>
                </a:schemeClr>
              </a:solidFill>
            </a:endParaRPr>
          </a:p>
        </p:txBody>
      </p:sp>
      <p:sp>
        <p:nvSpPr>
          <p:cNvPr id="11" name="Title 1">
            <a:extLst>
              <a:ext uri="{FF2B5EF4-FFF2-40B4-BE49-F238E27FC236}">
                <a16:creationId xmlns:a16="http://schemas.microsoft.com/office/drawing/2014/main" id="{B777FDD4-8189-6FC6-98DE-003BA3583C88}"/>
              </a:ext>
            </a:extLst>
          </p:cNvPr>
          <p:cNvSpPr txBox="1">
            <a:spLocks/>
          </p:cNvSpPr>
          <p:nvPr/>
        </p:nvSpPr>
        <p:spPr>
          <a:xfrm>
            <a:off x="5043336" y="218044"/>
            <a:ext cx="6888136" cy="787314"/>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3400" b="1" kern="1200">
                <a:solidFill>
                  <a:schemeClr val="bg1"/>
                </a:solidFill>
                <a:latin typeface="+mn-lt"/>
                <a:ea typeface="+mj-ea"/>
                <a:cs typeface="+mj-cs"/>
              </a:defRPr>
            </a:lvl1pPr>
          </a:lstStyle>
          <a:p>
            <a:r>
              <a:rPr lang="en-IE" sz="2000" dirty="0">
                <a:solidFill>
                  <a:schemeClr val="bg2">
                    <a:lumMod val="10000"/>
                  </a:schemeClr>
                </a:solidFill>
              </a:rPr>
              <a:t>Stretchable, Skin-Mountable, and Wearable Strain Sensors and Their Potential Applications: A Review Morteza Amjadi , Ki-Uk Kyung , </a:t>
            </a:r>
            <a:r>
              <a:rPr lang="en-IE" sz="2000" dirty="0" err="1">
                <a:solidFill>
                  <a:schemeClr val="bg2">
                    <a:lumMod val="10000"/>
                  </a:schemeClr>
                </a:solidFill>
              </a:rPr>
              <a:t>Inkyu</a:t>
            </a:r>
            <a:r>
              <a:rPr lang="en-IE" sz="2000" dirty="0">
                <a:solidFill>
                  <a:schemeClr val="bg2">
                    <a:lumMod val="10000"/>
                  </a:schemeClr>
                </a:solidFill>
              </a:rPr>
              <a:t> Park , * and Metin Sitti</a:t>
            </a:r>
          </a:p>
        </p:txBody>
      </p:sp>
      <p:sp>
        <p:nvSpPr>
          <p:cNvPr id="18" name="TextBox 17">
            <a:extLst>
              <a:ext uri="{FF2B5EF4-FFF2-40B4-BE49-F238E27FC236}">
                <a16:creationId xmlns:a16="http://schemas.microsoft.com/office/drawing/2014/main" id="{31CF95D8-A475-0096-200F-C1A1E78BD0CF}"/>
              </a:ext>
            </a:extLst>
          </p:cNvPr>
          <p:cNvSpPr txBox="1"/>
          <p:nvPr/>
        </p:nvSpPr>
        <p:spPr>
          <a:xfrm>
            <a:off x="260528" y="856624"/>
            <a:ext cx="7068312" cy="400110"/>
          </a:xfrm>
          <a:prstGeom prst="rect">
            <a:avLst/>
          </a:prstGeom>
          <a:noFill/>
        </p:spPr>
        <p:txBody>
          <a:bodyPr wrap="square">
            <a:spAutoFit/>
          </a:bodyPr>
          <a:lstStyle/>
          <a:p>
            <a:r>
              <a:rPr lang="en-US" sz="2000" b="1" dirty="0">
                <a:solidFill>
                  <a:schemeClr val="tx2"/>
                </a:solidFill>
              </a:rPr>
              <a:t>Question/Gap: </a:t>
            </a:r>
            <a:endParaRPr lang="en-IE" sz="2000" b="1" dirty="0">
              <a:solidFill>
                <a:schemeClr val="tx2"/>
              </a:solidFill>
            </a:endParaRPr>
          </a:p>
        </p:txBody>
      </p:sp>
      <p:sp>
        <p:nvSpPr>
          <p:cNvPr id="19" name="TextBox 18">
            <a:extLst>
              <a:ext uri="{FF2B5EF4-FFF2-40B4-BE49-F238E27FC236}">
                <a16:creationId xmlns:a16="http://schemas.microsoft.com/office/drawing/2014/main" id="{975ECFC7-53A5-CB9F-3D8F-3C38ABB44945}"/>
              </a:ext>
            </a:extLst>
          </p:cNvPr>
          <p:cNvSpPr txBox="1"/>
          <p:nvPr/>
        </p:nvSpPr>
        <p:spPr>
          <a:xfrm>
            <a:off x="208464" y="2123416"/>
            <a:ext cx="7068312" cy="400110"/>
          </a:xfrm>
          <a:prstGeom prst="rect">
            <a:avLst/>
          </a:prstGeom>
          <a:noFill/>
        </p:spPr>
        <p:txBody>
          <a:bodyPr wrap="square">
            <a:spAutoFit/>
          </a:bodyPr>
          <a:lstStyle/>
          <a:p>
            <a:r>
              <a:rPr lang="en-US" sz="2000" b="1" dirty="0">
                <a:solidFill>
                  <a:schemeClr val="tx2"/>
                </a:solidFill>
              </a:rPr>
              <a:t>Method: </a:t>
            </a:r>
            <a:endParaRPr lang="en-IE" sz="2000" b="1" dirty="0">
              <a:solidFill>
                <a:schemeClr val="tx2"/>
              </a:solidFill>
            </a:endParaRPr>
          </a:p>
        </p:txBody>
      </p:sp>
      <p:sp>
        <p:nvSpPr>
          <p:cNvPr id="20" name="TextBox 19">
            <a:extLst>
              <a:ext uri="{FF2B5EF4-FFF2-40B4-BE49-F238E27FC236}">
                <a16:creationId xmlns:a16="http://schemas.microsoft.com/office/drawing/2014/main" id="{94DDEB3F-E693-9063-0A0F-B8FE6D214C7B}"/>
              </a:ext>
            </a:extLst>
          </p:cNvPr>
          <p:cNvSpPr txBox="1"/>
          <p:nvPr/>
        </p:nvSpPr>
        <p:spPr>
          <a:xfrm>
            <a:off x="145200" y="3868598"/>
            <a:ext cx="7068312" cy="400110"/>
          </a:xfrm>
          <a:prstGeom prst="rect">
            <a:avLst/>
          </a:prstGeom>
          <a:noFill/>
        </p:spPr>
        <p:txBody>
          <a:bodyPr wrap="square">
            <a:spAutoFit/>
          </a:bodyPr>
          <a:lstStyle/>
          <a:p>
            <a:r>
              <a:rPr lang="en-US" sz="2000" b="1" dirty="0">
                <a:solidFill>
                  <a:schemeClr val="tx2"/>
                </a:solidFill>
              </a:rPr>
              <a:t>Results: </a:t>
            </a:r>
            <a:endParaRPr lang="en-IE" sz="2000" b="1" dirty="0">
              <a:solidFill>
                <a:schemeClr val="tx2"/>
              </a:solidFill>
            </a:endParaRPr>
          </a:p>
        </p:txBody>
      </p:sp>
      <p:sp>
        <p:nvSpPr>
          <p:cNvPr id="21" name="TextBox 20">
            <a:extLst>
              <a:ext uri="{FF2B5EF4-FFF2-40B4-BE49-F238E27FC236}">
                <a16:creationId xmlns:a16="http://schemas.microsoft.com/office/drawing/2014/main" id="{73D60E89-939B-1648-5E26-6569161612AB}"/>
              </a:ext>
            </a:extLst>
          </p:cNvPr>
          <p:cNvSpPr txBox="1"/>
          <p:nvPr/>
        </p:nvSpPr>
        <p:spPr>
          <a:xfrm>
            <a:off x="260528" y="5189814"/>
            <a:ext cx="7068312" cy="400110"/>
          </a:xfrm>
          <a:prstGeom prst="rect">
            <a:avLst/>
          </a:prstGeom>
          <a:noFill/>
        </p:spPr>
        <p:txBody>
          <a:bodyPr wrap="square">
            <a:spAutoFit/>
          </a:bodyPr>
          <a:lstStyle/>
          <a:p>
            <a:r>
              <a:rPr lang="en-US" sz="2000" b="1" dirty="0">
                <a:solidFill>
                  <a:schemeClr val="tx2"/>
                </a:solidFill>
              </a:rPr>
              <a:t>Limitations: </a:t>
            </a:r>
            <a:endParaRPr lang="en-IE" sz="2000" b="1" dirty="0">
              <a:solidFill>
                <a:schemeClr val="tx2"/>
              </a:solidFill>
            </a:endParaRPr>
          </a:p>
        </p:txBody>
      </p:sp>
      <p:pic>
        <p:nvPicPr>
          <p:cNvPr id="6" name="Picture 5">
            <a:extLst>
              <a:ext uri="{FF2B5EF4-FFF2-40B4-BE49-F238E27FC236}">
                <a16:creationId xmlns:a16="http://schemas.microsoft.com/office/drawing/2014/main" id="{6072C7AF-066F-51FE-868D-45A9B6DB9A24}"/>
              </a:ext>
            </a:extLst>
          </p:cNvPr>
          <p:cNvPicPr>
            <a:picLocks noChangeAspect="1"/>
          </p:cNvPicPr>
          <p:nvPr/>
        </p:nvPicPr>
        <p:blipFill>
          <a:blip r:embed="rId2"/>
          <a:stretch>
            <a:fillRect/>
          </a:stretch>
        </p:blipFill>
        <p:spPr>
          <a:xfrm>
            <a:off x="7527229" y="1177757"/>
            <a:ext cx="4610743" cy="2400635"/>
          </a:xfrm>
          <a:prstGeom prst="rect">
            <a:avLst/>
          </a:prstGeom>
        </p:spPr>
      </p:pic>
      <p:pic>
        <p:nvPicPr>
          <p:cNvPr id="13" name="Picture 12">
            <a:extLst>
              <a:ext uri="{FF2B5EF4-FFF2-40B4-BE49-F238E27FC236}">
                <a16:creationId xmlns:a16="http://schemas.microsoft.com/office/drawing/2014/main" id="{40CE782A-488E-727F-15C5-BE6B5BF82CA5}"/>
              </a:ext>
            </a:extLst>
          </p:cNvPr>
          <p:cNvPicPr>
            <a:picLocks noChangeAspect="1"/>
          </p:cNvPicPr>
          <p:nvPr/>
        </p:nvPicPr>
        <p:blipFill>
          <a:blip r:embed="rId3"/>
          <a:stretch>
            <a:fillRect/>
          </a:stretch>
        </p:blipFill>
        <p:spPr>
          <a:xfrm>
            <a:off x="7317551" y="3811827"/>
            <a:ext cx="4677428" cy="2695951"/>
          </a:xfrm>
          <a:prstGeom prst="rect">
            <a:avLst/>
          </a:prstGeom>
        </p:spPr>
      </p:pic>
    </p:spTree>
    <p:extLst>
      <p:ext uri="{BB962C8B-B14F-4D97-AF65-F5344CB8AC3E}">
        <p14:creationId xmlns:p14="http://schemas.microsoft.com/office/powerpoint/2010/main" val="36762520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6E46E1B-442F-C722-5895-8E8B8730F51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DDFFF2-793D-4E6E-057C-9499FCC31721}"/>
              </a:ext>
            </a:extLst>
          </p:cNvPr>
          <p:cNvSpPr>
            <a:spLocks noGrp="1"/>
          </p:cNvSpPr>
          <p:nvPr>
            <p:ph type="title"/>
          </p:nvPr>
        </p:nvSpPr>
        <p:spPr>
          <a:xfrm>
            <a:off x="208464" y="1291149"/>
            <a:ext cx="6809289" cy="787314"/>
          </a:xfrm>
        </p:spPr>
        <p:txBody>
          <a:bodyPr>
            <a:normAutofit/>
          </a:bodyPr>
          <a:lstStyle/>
          <a:p>
            <a:r>
              <a:rPr lang="en-IE" sz="2000" dirty="0">
                <a:solidFill>
                  <a:schemeClr val="bg2">
                    <a:lumMod val="10000"/>
                  </a:schemeClr>
                </a:solidFill>
              </a:rPr>
              <a:t>E-textile tests ignore that threads permanently stretch, ruining sensor data.</a:t>
            </a:r>
          </a:p>
        </p:txBody>
      </p:sp>
      <p:sp>
        <p:nvSpPr>
          <p:cNvPr id="4" name="Title 1">
            <a:extLst>
              <a:ext uri="{FF2B5EF4-FFF2-40B4-BE49-F238E27FC236}">
                <a16:creationId xmlns:a16="http://schemas.microsoft.com/office/drawing/2014/main" id="{2ECD6E74-E2C6-657F-DF21-E7CEE1725C3F}"/>
              </a:ext>
            </a:extLst>
          </p:cNvPr>
          <p:cNvSpPr txBox="1">
            <a:spLocks/>
          </p:cNvSpPr>
          <p:nvPr/>
        </p:nvSpPr>
        <p:spPr>
          <a:xfrm>
            <a:off x="145200" y="111354"/>
            <a:ext cx="9064390" cy="787314"/>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400" b="1" kern="1200">
                <a:solidFill>
                  <a:schemeClr val="bg1"/>
                </a:solidFill>
                <a:latin typeface="+mn-lt"/>
                <a:ea typeface="+mj-ea"/>
                <a:cs typeface="+mj-cs"/>
              </a:defRPr>
            </a:lvl1pPr>
          </a:lstStyle>
          <a:p>
            <a:r>
              <a:rPr lang="en-US" b="0" dirty="0">
                <a:solidFill>
                  <a:srgbClr val="002060"/>
                </a:solidFill>
              </a:rPr>
              <a:t>Literature : Report</a:t>
            </a:r>
          </a:p>
        </p:txBody>
      </p:sp>
      <p:sp>
        <p:nvSpPr>
          <p:cNvPr id="7" name="Title 1">
            <a:extLst>
              <a:ext uri="{FF2B5EF4-FFF2-40B4-BE49-F238E27FC236}">
                <a16:creationId xmlns:a16="http://schemas.microsoft.com/office/drawing/2014/main" id="{C4225FD8-08BE-0BC1-23D2-6E5C54F0BF58}"/>
              </a:ext>
            </a:extLst>
          </p:cNvPr>
          <p:cNvSpPr txBox="1">
            <a:spLocks/>
          </p:cNvSpPr>
          <p:nvPr/>
        </p:nvSpPr>
        <p:spPr>
          <a:xfrm>
            <a:off x="199870" y="2551488"/>
            <a:ext cx="7380700" cy="787314"/>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3400" b="1" kern="1200">
                <a:solidFill>
                  <a:schemeClr val="bg1"/>
                </a:solidFill>
                <a:latin typeface="+mn-lt"/>
                <a:ea typeface="+mj-ea"/>
                <a:cs typeface="+mj-cs"/>
              </a:defRPr>
            </a:lvl1pPr>
          </a:lstStyle>
          <a:p>
            <a:r>
              <a:rPr lang="en-IE" sz="1800" dirty="0">
                <a:solidFill>
                  <a:schemeClr val="bg2">
                    <a:lumMod val="10000"/>
                  </a:schemeClr>
                </a:solidFill>
              </a:rPr>
              <a:t>Developed a test protocol monitoring resistivity, force, and length simultaneously on a conductive yarn (</a:t>
            </a:r>
            <a:r>
              <a:rPr lang="en-IE" sz="1800" dirty="0" err="1">
                <a:solidFill>
                  <a:schemeClr val="bg2">
                    <a:lumMod val="10000"/>
                  </a:schemeClr>
                </a:solidFill>
              </a:rPr>
              <a:t>Shieldex</a:t>
            </a:r>
            <a:r>
              <a:rPr lang="en-IE" sz="1800" dirty="0">
                <a:solidFill>
                  <a:schemeClr val="bg2">
                    <a:lumMod val="10000"/>
                  </a:schemeClr>
                </a:solidFill>
              </a:rPr>
              <a:t> 117/17) using a Wheatstone bridge, AD623 amplifier, and camera-based image processing tracking.</a:t>
            </a:r>
            <a:endParaRPr lang="en-US" sz="1800" b="0" dirty="0">
              <a:solidFill>
                <a:schemeClr val="bg2">
                  <a:lumMod val="10000"/>
                </a:schemeClr>
              </a:solidFill>
            </a:endParaRPr>
          </a:p>
        </p:txBody>
      </p:sp>
      <p:sp>
        <p:nvSpPr>
          <p:cNvPr id="9" name="Title 1">
            <a:extLst>
              <a:ext uri="{FF2B5EF4-FFF2-40B4-BE49-F238E27FC236}">
                <a16:creationId xmlns:a16="http://schemas.microsoft.com/office/drawing/2014/main" id="{8CFEEC1C-B104-2FC5-041B-177BB8E9163D}"/>
              </a:ext>
            </a:extLst>
          </p:cNvPr>
          <p:cNvSpPr txBox="1">
            <a:spLocks/>
          </p:cNvSpPr>
          <p:nvPr/>
        </p:nvSpPr>
        <p:spPr>
          <a:xfrm>
            <a:off x="260528" y="4327041"/>
            <a:ext cx="7051128" cy="787314"/>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400" b="1" kern="1200">
                <a:solidFill>
                  <a:schemeClr val="bg1"/>
                </a:solidFill>
                <a:latin typeface="+mn-lt"/>
                <a:ea typeface="+mj-ea"/>
                <a:cs typeface="+mj-cs"/>
              </a:defRPr>
            </a:lvl1pPr>
          </a:lstStyle>
          <a:p>
            <a:r>
              <a:rPr lang="en-IE" sz="2000" dirty="0">
                <a:solidFill>
                  <a:schemeClr val="bg2">
                    <a:lumMod val="10000"/>
                  </a:schemeClr>
                </a:solidFill>
              </a:rPr>
              <a:t>Internal </a:t>
            </a:r>
            <a:r>
              <a:rPr lang="en-IE" sz="2000" dirty="0" err="1">
                <a:solidFill>
                  <a:schemeClr val="bg2">
                    <a:lumMod val="10000"/>
                  </a:schemeClr>
                </a:solidFill>
              </a:rPr>
              <a:t>fibers</a:t>
            </a:r>
            <a:r>
              <a:rPr lang="en-IE" sz="2000" dirty="0">
                <a:solidFill>
                  <a:schemeClr val="bg2">
                    <a:lumMod val="10000"/>
                  </a:schemeClr>
                </a:solidFill>
              </a:rPr>
              <a:t> rearrange permanently: the rest length shifts, altering the baseline resistance.</a:t>
            </a:r>
            <a:endParaRPr lang="en-US" sz="2000" b="0" dirty="0">
              <a:solidFill>
                <a:schemeClr val="bg2">
                  <a:lumMod val="10000"/>
                </a:schemeClr>
              </a:solidFill>
            </a:endParaRPr>
          </a:p>
        </p:txBody>
      </p:sp>
      <p:sp>
        <p:nvSpPr>
          <p:cNvPr id="10" name="Title 1">
            <a:extLst>
              <a:ext uri="{FF2B5EF4-FFF2-40B4-BE49-F238E27FC236}">
                <a16:creationId xmlns:a16="http://schemas.microsoft.com/office/drawing/2014/main" id="{A4111773-2A72-2A2B-6126-0BD9F263D4D7}"/>
              </a:ext>
            </a:extLst>
          </p:cNvPr>
          <p:cNvSpPr txBox="1">
            <a:spLocks/>
          </p:cNvSpPr>
          <p:nvPr/>
        </p:nvSpPr>
        <p:spPr>
          <a:xfrm>
            <a:off x="302903" y="5579650"/>
            <a:ext cx="7380700" cy="787314"/>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400" b="1" kern="1200">
                <a:solidFill>
                  <a:schemeClr val="bg1"/>
                </a:solidFill>
                <a:latin typeface="+mn-lt"/>
                <a:ea typeface="+mj-ea"/>
                <a:cs typeface="+mj-cs"/>
              </a:defRPr>
            </a:lvl1pPr>
          </a:lstStyle>
          <a:p>
            <a:r>
              <a:rPr lang="en-IE" sz="2000" dirty="0">
                <a:solidFill>
                  <a:schemeClr val="bg2">
                    <a:lumMod val="10000"/>
                  </a:schemeClr>
                </a:solidFill>
              </a:rPr>
              <a:t>Electrical instability forces constant software recalibration.</a:t>
            </a:r>
            <a:endParaRPr lang="en-US" sz="2000" b="0" dirty="0">
              <a:solidFill>
                <a:schemeClr val="bg2">
                  <a:lumMod val="10000"/>
                </a:schemeClr>
              </a:solidFill>
            </a:endParaRPr>
          </a:p>
        </p:txBody>
      </p:sp>
      <p:sp>
        <p:nvSpPr>
          <p:cNvPr id="11" name="Title 1">
            <a:extLst>
              <a:ext uri="{FF2B5EF4-FFF2-40B4-BE49-F238E27FC236}">
                <a16:creationId xmlns:a16="http://schemas.microsoft.com/office/drawing/2014/main" id="{BC67443B-AD86-492B-D1A8-684A6F011783}"/>
              </a:ext>
            </a:extLst>
          </p:cNvPr>
          <p:cNvSpPr txBox="1">
            <a:spLocks/>
          </p:cNvSpPr>
          <p:nvPr/>
        </p:nvSpPr>
        <p:spPr>
          <a:xfrm>
            <a:off x="5043336" y="83392"/>
            <a:ext cx="6888136" cy="787314"/>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3400" b="1" kern="1200">
                <a:solidFill>
                  <a:schemeClr val="bg1"/>
                </a:solidFill>
                <a:latin typeface="+mn-lt"/>
                <a:ea typeface="+mj-ea"/>
                <a:cs typeface="+mj-cs"/>
              </a:defRPr>
            </a:lvl1pPr>
          </a:lstStyle>
          <a:p>
            <a:r>
              <a:rPr lang="en-IE" sz="2000" dirty="0">
                <a:solidFill>
                  <a:schemeClr val="bg2">
                    <a:lumMod val="10000"/>
                  </a:schemeClr>
                </a:solidFill>
                <a:highlight>
                  <a:srgbClr val="FFFF00"/>
                </a:highlight>
              </a:rPr>
              <a:t>The Role of Length Shift in Assessing Force and Resistivity for Optimized e-Textile Sensors</a:t>
            </a:r>
            <a:r>
              <a:rPr lang="en-IE" sz="2000" dirty="0">
                <a:solidFill>
                  <a:schemeClr val="bg2">
                    <a:lumMod val="10000"/>
                  </a:schemeClr>
                </a:solidFill>
              </a:rPr>
              <a:t> 1st Gianmarco Gola 2nd Matteo </a:t>
            </a:r>
            <a:r>
              <a:rPr lang="en-IE" sz="2000" dirty="0" err="1">
                <a:solidFill>
                  <a:schemeClr val="bg2">
                    <a:lumMod val="10000"/>
                  </a:schemeClr>
                </a:solidFill>
              </a:rPr>
              <a:t>Menolotto</a:t>
            </a:r>
            <a:r>
              <a:rPr lang="en-IE" sz="2000" dirty="0">
                <a:solidFill>
                  <a:schemeClr val="bg2">
                    <a:lumMod val="10000"/>
                  </a:schemeClr>
                </a:solidFill>
              </a:rPr>
              <a:t> …</a:t>
            </a:r>
          </a:p>
        </p:txBody>
      </p:sp>
      <p:sp>
        <p:nvSpPr>
          <p:cNvPr id="18" name="TextBox 17">
            <a:extLst>
              <a:ext uri="{FF2B5EF4-FFF2-40B4-BE49-F238E27FC236}">
                <a16:creationId xmlns:a16="http://schemas.microsoft.com/office/drawing/2014/main" id="{CFF842FB-0A11-E1F1-9198-A6FDC7406603}"/>
              </a:ext>
            </a:extLst>
          </p:cNvPr>
          <p:cNvSpPr txBox="1"/>
          <p:nvPr/>
        </p:nvSpPr>
        <p:spPr>
          <a:xfrm>
            <a:off x="260528" y="856624"/>
            <a:ext cx="7068312" cy="400110"/>
          </a:xfrm>
          <a:prstGeom prst="rect">
            <a:avLst/>
          </a:prstGeom>
          <a:noFill/>
        </p:spPr>
        <p:txBody>
          <a:bodyPr wrap="square">
            <a:spAutoFit/>
          </a:bodyPr>
          <a:lstStyle/>
          <a:p>
            <a:r>
              <a:rPr lang="en-US" sz="2000" b="1" dirty="0">
                <a:solidFill>
                  <a:schemeClr val="tx2"/>
                </a:solidFill>
              </a:rPr>
              <a:t>Question/Gap: </a:t>
            </a:r>
            <a:endParaRPr lang="en-IE" sz="2000" b="1" dirty="0">
              <a:solidFill>
                <a:schemeClr val="tx2"/>
              </a:solidFill>
            </a:endParaRPr>
          </a:p>
        </p:txBody>
      </p:sp>
      <p:sp>
        <p:nvSpPr>
          <p:cNvPr id="19" name="TextBox 18">
            <a:extLst>
              <a:ext uri="{FF2B5EF4-FFF2-40B4-BE49-F238E27FC236}">
                <a16:creationId xmlns:a16="http://schemas.microsoft.com/office/drawing/2014/main" id="{58066C70-1CC8-398C-12C7-1741E35700B8}"/>
              </a:ext>
            </a:extLst>
          </p:cNvPr>
          <p:cNvSpPr txBox="1"/>
          <p:nvPr/>
        </p:nvSpPr>
        <p:spPr>
          <a:xfrm>
            <a:off x="208464" y="2123416"/>
            <a:ext cx="7068312" cy="400110"/>
          </a:xfrm>
          <a:prstGeom prst="rect">
            <a:avLst/>
          </a:prstGeom>
          <a:noFill/>
        </p:spPr>
        <p:txBody>
          <a:bodyPr wrap="square">
            <a:spAutoFit/>
          </a:bodyPr>
          <a:lstStyle/>
          <a:p>
            <a:r>
              <a:rPr lang="en-US" sz="2000" b="1" dirty="0">
                <a:solidFill>
                  <a:schemeClr val="tx2"/>
                </a:solidFill>
              </a:rPr>
              <a:t>Method: </a:t>
            </a:r>
            <a:endParaRPr lang="en-IE" sz="2000" b="1" dirty="0">
              <a:solidFill>
                <a:schemeClr val="tx2"/>
              </a:solidFill>
            </a:endParaRPr>
          </a:p>
        </p:txBody>
      </p:sp>
      <p:sp>
        <p:nvSpPr>
          <p:cNvPr id="20" name="TextBox 19">
            <a:extLst>
              <a:ext uri="{FF2B5EF4-FFF2-40B4-BE49-F238E27FC236}">
                <a16:creationId xmlns:a16="http://schemas.microsoft.com/office/drawing/2014/main" id="{089C2096-62D2-C2DD-3F45-AB523A0133AA}"/>
              </a:ext>
            </a:extLst>
          </p:cNvPr>
          <p:cNvSpPr txBox="1"/>
          <p:nvPr/>
        </p:nvSpPr>
        <p:spPr>
          <a:xfrm>
            <a:off x="166087" y="3857481"/>
            <a:ext cx="7068312" cy="400110"/>
          </a:xfrm>
          <a:prstGeom prst="rect">
            <a:avLst/>
          </a:prstGeom>
          <a:noFill/>
        </p:spPr>
        <p:txBody>
          <a:bodyPr wrap="square">
            <a:spAutoFit/>
          </a:bodyPr>
          <a:lstStyle/>
          <a:p>
            <a:r>
              <a:rPr lang="en-US" sz="2000" b="1" dirty="0">
                <a:solidFill>
                  <a:schemeClr val="tx2"/>
                </a:solidFill>
              </a:rPr>
              <a:t>Results: </a:t>
            </a:r>
            <a:endParaRPr lang="en-IE" sz="2000" b="1" dirty="0">
              <a:solidFill>
                <a:schemeClr val="tx2"/>
              </a:solidFill>
            </a:endParaRPr>
          </a:p>
        </p:txBody>
      </p:sp>
      <p:sp>
        <p:nvSpPr>
          <p:cNvPr id="21" name="TextBox 20">
            <a:extLst>
              <a:ext uri="{FF2B5EF4-FFF2-40B4-BE49-F238E27FC236}">
                <a16:creationId xmlns:a16="http://schemas.microsoft.com/office/drawing/2014/main" id="{D1D0B5A6-D727-6992-1F5E-D5B5C792DD73}"/>
              </a:ext>
            </a:extLst>
          </p:cNvPr>
          <p:cNvSpPr txBox="1"/>
          <p:nvPr/>
        </p:nvSpPr>
        <p:spPr>
          <a:xfrm>
            <a:off x="260528" y="5189814"/>
            <a:ext cx="7068312" cy="400110"/>
          </a:xfrm>
          <a:prstGeom prst="rect">
            <a:avLst/>
          </a:prstGeom>
          <a:noFill/>
        </p:spPr>
        <p:txBody>
          <a:bodyPr wrap="square">
            <a:spAutoFit/>
          </a:bodyPr>
          <a:lstStyle/>
          <a:p>
            <a:r>
              <a:rPr lang="en-US" sz="2000" b="1" dirty="0">
                <a:solidFill>
                  <a:schemeClr val="tx2"/>
                </a:solidFill>
              </a:rPr>
              <a:t>Limitations: </a:t>
            </a:r>
            <a:endParaRPr lang="en-IE" sz="2000" b="1" dirty="0">
              <a:solidFill>
                <a:schemeClr val="tx2"/>
              </a:solidFill>
            </a:endParaRPr>
          </a:p>
        </p:txBody>
      </p:sp>
      <p:pic>
        <p:nvPicPr>
          <p:cNvPr id="5" name="Picture 4">
            <a:extLst>
              <a:ext uri="{FF2B5EF4-FFF2-40B4-BE49-F238E27FC236}">
                <a16:creationId xmlns:a16="http://schemas.microsoft.com/office/drawing/2014/main" id="{EBCC9FAD-E817-B20A-D580-FF1B70909190}"/>
              </a:ext>
            </a:extLst>
          </p:cNvPr>
          <p:cNvPicPr>
            <a:picLocks noChangeAspect="1"/>
          </p:cNvPicPr>
          <p:nvPr/>
        </p:nvPicPr>
        <p:blipFill>
          <a:blip r:embed="rId2"/>
          <a:stretch>
            <a:fillRect/>
          </a:stretch>
        </p:blipFill>
        <p:spPr>
          <a:xfrm>
            <a:off x="7196294" y="700635"/>
            <a:ext cx="4787242" cy="1394819"/>
          </a:xfrm>
          <a:prstGeom prst="rect">
            <a:avLst/>
          </a:prstGeom>
        </p:spPr>
      </p:pic>
      <p:pic>
        <p:nvPicPr>
          <p:cNvPr id="17" name="Picture 16">
            <a:extLst>
              <a:ext uri="{FF2B5EF4-FFF2-40B4-BE49-F238E27FC236}">
                <a16:creationId xmlns:a16="http://schemas.microsoft.com/office/drawing/2014/main" id="{25A3D5B9-3ECA-000A-9320-3DA7CFC53FDC}"/>
              </a:ext>
            </a:extLst>
          </p:cNvPr>
          <p:cNvPicPr>
            <a:picLocks noChangeAspect="1"/>
          </p:cNvPicPr>
          <p:nvPr/>
        </p:nvPicPr>
        <p:blipFill>
          <a:blip r:embed="rId3"/>
          <a:stretch>
            <a:fillRect/>
          </a:stretch>
        </p:blipFill>
        <p:spPr>
          <a:xfrm>
            <a:off x="7742629" y="2294896"/>
            <a:ext cx="4249501" cy="3830936"/>
          </a:xfrm>
          <a:prstGeom prst="rect">
            <a:avLst/>
          </a:prstGeom>
        </p:spPr>
      </p:pic>
    </p:spTree>
    <p:extLst>
      <p:ext uri="{BB962C8B-B14F-4D97-AF65-F5344CB8AC3E}">
        <p14:creationId xmlns:p14="http://schemas.microsoft.com/office/powerpoint/2010/main" val="42807722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596A8E5-000F-49B9-7E9B-B193254CC66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129107-E90F-6E51-19ED-51F01A8CEDE7}"/>
              </a:ext>
            </a:extLst>
          </p:cNvPr>
          <p:cNvSpPr>
            <a:spLocks noGrp="1"/>
          </p:cNvSpPr>
          <p:nvPr>
            <p:ph type="title"/>
          </p:nvPr>
        </p:nvSpPr>
        <p:spPr>
          <a:xfrm>
            <a:off x="208464" y="1291149"/>
            <a:ext cx="7330214" cy="787314"/>
          </a:xfrm>
        </p:spPr>
        <p:txBody>
          <a:bodyPr>
            <a:normAutofit/>
          </a:bodyPr>
          <a:lstStyle/>
          <a:p>
            <a:r>
              <a:rPr lang="en-IE" sz="2000" dirty="0">
                <a:solidFill>
                  <a:schemeClr val="bg2">
                    <a:lumMod val="10000"/>
                  </a:schemeClr>
                </a:solidFill>
              </a:rPr>
              <a:t>Soft grippers need complex vision and control to avoid breaking fragile items.</a:t>
            </a:r>
          </a:p>
        </p:txBody>
      </p:sp>
      <p:sp>
        <p:nvSpPr>
          <p:cNvPr id="4" name="Title 1">
            <a:extLst>
              <a:ext uri="{FF2B5EF4-FFF2-40B4-BE49-F238E27FC236}">
                <a16:creationId xmlns:a16="http://schemas.microsoft.com/office/drawing/2014/main" id="{B9945D9C-D975-7AB1-FD18-8D778581D8D7}"/>
              </a:ext>
            </a:extLst>
          </p:cNvPr>
          <p:cNvSpPr txBox="1">
            <a:spLocks/>
          </p:cNvSpPr>
          <p:nvPr/>
        </p:nvSpPr>
        <p:spPr>
          <a:xfrm>
            <a:off x="145200" y="111354"/>
            <a:ext cx="9064390" cy="787314"/>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400" b="1" kern="1200">
                <a:solidFill>
                  <a:schemeClr val="bg1"/>
                </a:solidFill>
                <a:latin typeface="+mn-lt"/>
                <a:ea typeface="+mj-ea"/>
                <a:cs typeface="+mj-cs"/>
              </a:defRPr>
            </a:lvl1pPr>
          </a:lstStyle>
          <a:p>
            <a:r>
              <a:rPr lang="en-US" b="0" dirty="0">
                <a:solidFill>
                  <a:srgbClr val="002060"/>
                </a:solidFill>
              </a:rPr>
              <a:t>Literature : Report</a:t>
            </a:r>
          </a:p>
        </p:txBody>
      </p:sp>
      <p:sp>
        <p:nvSpPr>
          <p:cNvPr id="7" name="Title 1">
            <a:extLst>
              <a:ext uri="{FF2B5EF4-FFF2-40B4-BE49-F238E27FC236}">
                <a16:creationId xmlns:a16="http://schemas.microsoft.com/office/drawing/2014/main" id="{9EBA0F48-7B17-0F67-3235-52B466DCC5F3}"/>
              </a:ext>
            </a:extLst>
          </p:cNvPr>
          <p:cNvSpPr txBox="1">
            <a:spLocks/>
          </p:cNvSpPr>
          <p:nvPr/>
        </p:nvSpPr>
        <p:spPr>
          <a:xfrm>
            <a:off x="199870" y="2489532"/>
            <a:ext cx="7380700" cy="787314"/>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3400" b="1" kern="1200">
                <a:solidFill>
                  <a:schemeClr val="bg1"/>
                </a:solidFill>
                <a:latin typeface="+mn-lt"/>
                <a:ea typeface="+mj-ea"/>
                <a:cs typeface="+mj-cs"/>
              </a:defRPr>
            </a:lvl1pPr>
          </a:lstStyle>
          <a:p>
            <a:r>
              <a:rPr lang="en-IE" sz="2000" dirty="0">
                <a:solidFill>
                  <a:schemeClr val="bg2">
                    <a:lumMod val="10000"/>
                  </a:schemeClr>
                </a:solidFill>
              </a:rPr>
              <a:t>Monolithic 3D printed compliant design, just 1 ON/OFF actuator.</a:t>
            </a:r>
            <a:endParaRPr lang="en-US" sz="2000" b="0" dirty="0">
              <a:solidFill>
                <a:schemeClr val="bg2">
                  <a:lumMod val="10000"/>
                </a:schemeClr>
              </a:solidFill>
            </a:endParaRPr>
          </a:p>
        </p:txBody>
      </p:sp>
      <p:sp>
        <p:nvSpPr>
          <p:cNvPr id="9" name="Title 1">
            <a:extLst>
              <a:ext uri="{FF2B5EF4-FFF2-40B4-BE49-F238E27FC236}">
                <a16:creationId xmlns:a16="http://schemas.microsoft.com/office/drawing/2014/main" id="{C4B3CFCD-780B-6380-36A5-B3F7E854BF06}"/>
              </a:ext>
            </a:extLst>
          </p:cNvPr>
          <p:cNvSpPr txBox="1">
            <a:spLocks/>
          </p:cNvSpPr>
          <p:nvPr/>
        </p:nvSpPr>
        <p:spPr>
          <a:xfrm>
            <a:off x="225648" y="4298887"/>
            <a:ext cx="6738629" cy="787314"/>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400" b="1" kern="1200">
                <a:solidFill>
                  <a:schemeClr val="bg1"/>
                </a:solidFill>
                <a:latin typeface="+mn-lt"/>
                <a:ea typeface="+mj-ea"/>
                <a:cs typeface="+mj-cs"/>
              </a:defRPr>
            </a:lvl1pPr>
          </a:lstStyle>
          <a:p>
            <a:r>
              <a:rPr lang="en-IE" sz="2000" dirty="0">
                <a:solidFill>
                  <a:schemeClr val="bg2">
                    <a:lumMod val="10000"/>
                  </a:schemeClr>
                </a:solidFill>
              </a:rPr>
              <a:t>Blind, lightning-fast grip (30 </a:t>
            </a:r>
            <a:r>
              <a:rPr lang="en-IE" sz="2000" dirty="0" err="1">
                <a:solidFill>
                  <a:schemeClr val="bg2">
                    <a:lumMod val="10000"/>
                  </a:schemeClr>
                </a:solidFill>
              </a:rPr>
              <a:t>ms</a:t>
            </a:r>
            <a:r>
              <a:rPr lang="en-IE" sz="2000" dirty="0">
                <a:solidFill>
                  <a:schemeClr val="bg2">
                    <a:lumMod val="10000"/>
                  </a:schemeClr>
                </a:solidFill>
              </a:rPr>
              <a:t>) on eggs. Passive return to open state.</a:t>
            </a:r>
            <a:endParaRPr lang="en-US" sz="2000" b="0" dirty="0">
              <a:solidFill>
                <a:schemeClr val="bg2">
                  <a:lumMod val="10000"/>
                </a:schemeClr>
              </a:solidFill>
            </a:endParaRPr>
          </a:p>
        </p:txBody>
      </p:sp>
      <p:sp>
        <p:nvSpPr>
          <p:cNvPr id="10" name="Title 1">
            <a:extLst>
              <a:ext uri="{FF2B5EF4-FFF2-40B4-BE49-F238E27FC236}">
                <a16:creationId xmlns:a16="http://schemas.microsoft.com/office/drawing/2014/main" id="{8B85B651-737B-6316-F5A0-2E32AB74909C}"/>
              </a:ext>
            </a:extLst>
          </p:cNvPr>
          <p:cNvSpPr txBox="1">
            <a:spLocks/>
          </p:cNvSpPr>
          <p:nvPr/>
        </p:nvSpPr>
        <p:spPr>
          <a:xfrm>
            <a:off x="166087" y="5579650"/>
            <a:ext cx="7380700" cy="787314"/>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400" b="1" kern="1200">
                <a:solidFill>
                  <a:schemeClr val="bg1"/>
                </a:solidFill>
                <a:latin typeface="+mn-lt"/>
                <a:ea typeface="+mj-ea"/>
                <a:cs typeface="+mj-cs"/>
              </a:defRPr>
            </a:lvl1pPr>
          </a:lstStyle>
          <a:p>
            <a:r>
              <a:rPr lang="en-IE" sz="2000" dirty="0">
                <a:solidFill>
                  <a:schemeClr val="bg2">
                    <a:lumMod val="10000"/>
                  </a:schemeClr>
                </a:solidFill>
              </a:rPr>
              <a:t>Zero force feedback sensors. Huge drop in force transmission if grabbed by the fingertips.</a:t>
            </a:r>
            <a:endParaRPr lang="en-US" sz="2000" b="0" dirty="0">
              <a:solidFill>
                <a:schemeClr val="bg2">
                  <a:lumMod val="10000"/>
                </a:schemeClr>
              </a:solidFill>
            </a:endParaRPr>
          </a:p>
        </p:txBody>
      </p:sp>
      <p:sp>
        <p:nvSpPr>
          <p:cNvPr id="11" name="Title 1">
            <a:extLst>
              <a:ext uri="{FF2B5EF4-FFF2-40B4-BE49-F238E27FC236}">
                <a16:creationId xmlns:a16="http://schemas.microsoft.com/office/drawing/2014/main" id="{E5EFAE38-3FF7-D04D-CB7E-7290183061D7}"/>
              </a:ext>
            </a:extLst>
          </p:cNvPr>
          <p:cNvSpPr txBox="1">
            <a:spLocks/>
          </p:cNvSpPr>
          <p:nvPr/>
        </p:nvSpPr>
        <p:spPr>
          <a:xfrm>
            <a:off x="5043336" y="218044"/>
            <a:ext cx="6888136" cy="787314"/>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3400" b="1" kern="1200">
                <a:solidFill>
                  <a:schemeClr val="bg1"/>
                </a:solidFill>
                <a:latin typeface="+mn-lt"/>
                <a:ea typeface="+mj-ea"/>
                <a:cs typeface="+mj-cs"/>
              </a:defRPr>
            </a:lvl1pPr>
          </a:lstStyle>
          <a:p>
            <a:r>
              <a:rPr lang="en-GB" sz="1600" dirty="0">
                <a:solidFill>
                  <a:schemeClr val="bg2">
                    <a:lumMod val="10000"/>
                  </a:schemeClr>
                </a:solidFill>
                <a:highlight>
                  <a:srgbClr val="FFFF00"/>
                </a:highlight>
              </a:rPr>
              <a:t>A Novel Simple, Adaptive, and Versatile Soft-Robotic Compliant Two-Finger Gripper With an Inherently Gentle Touch </a:t>
            </a:r>
            <a:r>
              <a:rPr lang="en-IE" sz="1600" dirty="0">
                <a:solidFill>
                  <a:schemeClr val="bg2">
                    <a:lumMod val="10000"/>
                  </a:schemeClr>
                </a:solidFill>
                <a:highlight>
                  <a:srgbClr val="FFFF00"/>
                </a:highlight>
              </a:rPr>
              <a:t>Milojević et al., 2021</a:t>
            </a:r>
            <a:endParaRPr lang="en-IE" sz="1600" b="0" dirty="0">
              <a:solidFill>
                <a:schemeClr val="bg2">
                  <a:lumMod val="10000"/>
                </a:schemeClr>
              </a:solidFill>
              <a:highlight>
                <a:srgbClr val="FFFF00"/>
              </a:highlight>
              <a:hlinkClick r:id="rId2">
                <a:extLst>
                  <a:ext uri="{A12FA001-AC4F-418D-AE19-62706E023703}">
                    <ahyp:hlinkClr xmlns:ahyp="http://schemas.microsoft.com/office/drawing/2018/hyperlinkcolor" val="tx"/>
                  </a:ext>
                </a:extLst>
              </a:hlinkClick>
            </a:endParaRPr>
          </a:p>
        </p:txBody>
      </p:sp>
      <p:sp>
        <p:nvSpPr>
          <p:cNvPr id="18" name="TextBox 17">
            <a:extLst>
              <a:ext uri="{FF2B5EF4-FFF2-40B4-BE49-F238E27FC236}">
                <a16:creationId xmlns:a16="http://schemas.microsoft.com/office/drawing/2014/main" id="{BEEB8066-184A-C4EB-F75A-B0AC0AA51018}"/>
              </a:ext>
            </a:extLst>
          </p:cNvPr>
          <p:cNvSpPr txBox="1"/>
          <p:nvPr/>
        </p:nvSpPr>
        <p:spPr>
          <a:xfrm>
            <a:off x="260528" y="856624"/>
            <a:ext cx="7068312" cy="400110"/>
          </a:xfrm>
          <a:prstGeom prst="rect">
            <a:avLst/>
          </a:prstGeom>
          <a:noFill/>
        </p:spPr>
        <p:txBody>
          <a:bodyPr wrap="square">
            <a:spAutoFit/>
          </a:bodyPr>
          <a:lstStyle/>
          <a:p>
            <a:r>
              <a:rPr lang="en-US" sz="2000" b="1" dirty="0">
                <a:solidFill>
                  <a:schemeClr val="tx2"/>
                </a:solidFill>
              </a:rPr>
              <a:t>Question/Gap: </a:t>
            </a:r>
            <a:endParaRPr lang="en-IE" sz="2000" b="1" dirty="0">
              <a:solidFill>
                <a:schemeClr val="tx2"/>
              </a:solidFill>
            </a:endParaRPr>
          </a:p>
        </p:txBody>
      </p:sp>
      <p:sp>
        <p:nvSpPr>
          <p:cNvPr id="19" name="TextBox 18">
            <a:extLst>
              <a:ext uri="{FF2B5EF4-FFF2-40B4-BE49-F238E27FC236}">
                <a16:creationId xmlns:a16="http://schemas.microsoft.com/office/drawing/2014/main" id="{E238F19E-0802-C169-C14A-18FBAF6608DC}"/>
              </a:ext>
            </a:extLst>
          </p:cNvPr>
          <p:cNvSpPr txBox="1"/>
          <p:nvPr/>
        </p:nvSpPr>
        <p:spPr>
          <a:xfrm>
            <a:off x="208464" y="2123416"/>
            <a:ext cx="7068312" cy="400110"/>
          </a:xfrm>
          <a:prstGeom prst="rect">
            <a:avLst/>
          </a:prstGeom>
          <a:noFill/>
        </p:spPr>
        <p:txBody>
          <a:bodyPr wrap="square">
            <a:spAutoFit/>
          </a:bodyPr>
          <a:lstStyle/>
          <a:p>
            <a:r>
              <a:rPr lang="en-US" sz="2000" b="1" dirty="0">
                <a:solidFill>
                  <a:schemeClr val="tx2"/>
                </a:solidFill>
              </a:rPr>
              <a:t>Method: </a:t>
            </a:r>
            <a:endParaRPr lang="en-IE" sz="2000" b="1" dirty="0">
              <a:solidFill>
                <a:schemeClr val="tx2"/>
              </a:solidFill>
            </a:endParaRPr>
          </a:p>
        </p:txBody>
      </p:sp>
      <p:sp>
        <p:nvSpPr>
          <p:cNvPr id="20" name="TextBox 19">
            <a:extLst>
              <a:ext uri="{FF2B5EF4-FFF2-40B4-BE49-F238E27FC236}">
                <a16:creationId xmlns:a16="http://schemas.microsoft.com/office/drawing/2014/main" id="{3FB5A950-8424-82FA-D576-E5A08D34B847}"/>
              </a:ext>
            </a:extLst>
          </p:cNvPr>
          <p:cNvSpPr txBox="1"/>
          <p:nvPr/>
        </p:nvSpPr>
        <p:spPr>
          <a:xfrm>
            <a:off x="166087" y="3857481"/>
            <a:ext cx="7068312" cy="400110"/>
          </a:xfrm>
          <a:prstGeom prst="rect">
            <a:avLst/>
          </a:prstGeom>
          <a:noFill/>
        </p:spPr>
        <p:txBody>
          <a:bodyPr wrap="square">
            <a:spAutoFit/>
          </a:bodyPr>
          <a:lstStyle/>
          <a:p>
            <a:r>
              <a:rPr lang="en-US" sz="2000" b="1" dirty="0">
                <a:solidFill>
                  <a:schemeClr val="tx2"/>
                </a:solidFill>
              </a:rPr>
              <a:t>Results: </a:t>
            </a:r>
            <a:endParaRPr lang="en-IE" sz="2000" b="1" dirty="0">
              <a:solidFill>
                <a:schemeClr val="tx2"/>
              </a:solidFill>
            </a:endParaRPr>
          </a:p>
        </p:txBody>
      </p:sp>
      <p:sp>
        <p:nvSpPr>
          <p:cNvPr id="21" name="TextBox 20">
            <a:extLst>
              <a:ext uri="{FF2B5EF4-FFF2-40B4-BE49-F238E27FC236}">
                <a16:creationId xmlns:a16="http://schemas.microsoft.com/office/drawing/2014/main" id="{AC7CE88B-E1AB-68AE-B321-12FEB986E230}"/>
              </a:ext>
            </a:extLst>
          </p:cNvPr>
          <p:cNvSpPr txBox="1"/>
          <p:nvPr/>
        </p:nvSpPr>
        <p:spPr>
          <a:xfrm>
            <a:off x="260528" y="5189814"/>
            <a:ext cx="7068312" cy="400110"/>
          </a:xfrm>
          <a:prstGeom prst="rect">
            <a:avLst/>
          </a:prstGeom>
          <a:noFill/>
        </p:spPr>
        <p:txBody>
          <a:bodyPr wrap="square">
            <a:spAutoFit/>
          </a:bodyPr>
          <a:lstStyle/>
          <a:p>
            <a:r>
              <a:rPr lang="en-US" sz="2000" b="1" dirty="0">
                <a:solidFill>
                  <a:schemeClr val="tx2"/>
                </a:solidFill>
              </a:rPr>
              <a:t>Limitations: </a:t>
            </a:r>
            <a:endParaRPr lang="en-IE" sz="2000" b="1" dirty="0">
              <a:solidFill>
                <a:schemeClr val="tx2"/>
              </a:solidFill>
            </a:endParaRPr>
          </a:p>
        </p:txBody>
      </p:sp>
      <p:pic>
        <p:nvPicPr>
          <p:cNvPr id="6" name="Picture 5">
            <a:extLst>
              <a:ext uri="{FF2B5EF4-FFF2-40B4-BE49-F238E27FC236}">
                <a16:creationId xmlns:a16="http://schemas.microsoft.com/office/drawing/2014/main" id="{BD80EE06-D41F-36E2-213B-FE183F87157E}"/>
              </a:ext>
            </a:extLst>
          </p:cNvPr>
          <p:cNvPicPr>
            <a:picLocks noChangeAspect="1"/>
          </p:cNvPicPr>
          <p:nvPr/>
        </p:nvPicPr>
        <p:blipFill>
          <a:blip r:embed="rId3"/>
          <a:stretch>
            <a:fillRect/>
          </a:stretch>
        </p:blipFill>
        <p:spPr>
          <a:xfrm>
            <a:off x="8993042" y="791978"/>
            <a:ext cx="2938430" cy="2351810"/>
          </a:xfrm>
          <a:prstGeom prst="rect">
            <a:avLst/>
          </a:prstGeom>
        </p:spPr>
      </p:pic>
      <p:pic>
        <p:nvPicPr>
          <p:cNvPr id="13" name="Picture 12">
            <a:extLst>
              <a:ext uri="{FF2B5EF4-FFF2-40B4-BE49-F238E27FC236}">
                <a16:creationId xmlns:a16="http://schemas.microsoft.com/office/drawing/2014/main" id="{2D1BB28D-7947-10DE-1D4A-F5D81B7A2620}"/>
              </a:ext>
            </a:extLst>
          </p:cNvPr>
          <p:cNvPicPr>
            <a:picLocks noChangeAspect="1"/>
          </p:cNvPicPr>
          <p:nvPr/>
        </p:nvPicPr>
        <p:blipFill>
          <a:blip r:embed="rId4"/>
          <a:stretch>
            <a:fillRect/>
          </a:stretch>
        </p:blipFill>
        <p:spPr>
          <a:xfrm>
            <a:off x="7538678" y="1706715"/>
            <a:ext cx="1305365" cy="2352948"/>
          </a:xfrm>
          <a:prstGeom prst="rect">
            <a:avLst/>
          </a:prstGeom>
        </p:spPr>
      </p:pic>
      <p:pic>
        <p:nvPicPr>
          <p:cNvPr id="16" name="Picture 15">
            <a:extLst>
              <a:ext uri="{FF2B5EF4-FFF2-40B4-BE49-F238E27FC236}">
                <a16:creationId xmlns:a16="http://schemas.microsoft.com/office/drawing/2014/main" id="{A05B43D7-BD73-C6A3-A973-2728CC3C3510}"/>
              </a:ext>
            </a:extLst>
          </p:cNvPr>
          <p:cNvPicPr>
            <a:picLocks noChangeAspect="1"/>
          </p:cNvPicPr>
          <p:nvPr/>
        </p:nvPicPr>
        <p:blipFill>
          <a:blip r:embed="rId5"/>
          <a:stretch>
            <a:fillRect/>
          </a:stretch>
        </p:blipFill>
        <p:spPr>
          <a:xfrm>
            <a:off x="7647607" y="4257591"/>
            <a:ext cx="1345435" cy="2383608"/>
          </a:xfrm>
          <a:prstGeom prst="rect">
            <a:avLst/>
          </a:prstGeom>
        </p:spPr>
      </p:pic>
      <p:pic>
        <p:nvPicPr>
          <p:cNvPr id="22" name="Picture 21">
            <a:extLst>
              <a:ext uri="{FF2B5EF4-FFF2-40B4-BE49-F238E27FC236}">
                <a16:creationId xmlns:a16="http://schemas.microsoft.com/office/drawing/2014/main" id="{50891619-BA18-2DBC-B0DC-B13ED37FC410}"/>
              </a:ext>
            </a:extLst>
          </p:cNvPr>
          <p:cNvPicPr>
            <a:picLocks noChangeAspect="1"/>
          </p:cNvPicPr>
          <p:nvPr/>
        </p:nvPicPr>
        <p:blipFill>
          <a:blip r:embed="rId6"/>
          <a:stretch>
            <a:fillRect/>
          </a:stretch>
        </p:blipFill>
        <p:spPr>
          <a:xfrm>
            <a:off x="9139369" y="3432199"/>
            <a:ext cx="2645776" cy="2541108"/>
          </a:xfrm>
          <a:prstGeom prst="rect">
            <a:avLst/>
          </a:prstGeom>
        </p:spPr>
      </p:pic>
    </p:spTree>
    <p:extLst>
      <p:ext uri="{BB962C8B-B14F-4D97-AF65-F5344CB8AC3E}">
        <p14:creationId xmlns:p14="http://schemas.microsoft.com/office/powerpoint/2010/main" val="25353507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4D50B0C-E0FC-13E2-8A4A-772316C096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057452-7EE3-DAE1-74FF-8341F7B3A3A5}"/>
              </a:ext>
            </a:extLst>
          </p:cNvPr>
          <p:cNvSpPr>
            <a:spLocks noGrp="1"/>
          </p:cNvSpPr>
          <p:nvPr>
            <p:ph type="title"/>
          </p:nvPr>
        </p:nvSpPr>
        <p:spPr>
          <a:xfrm>
            <a:off x="208464" y="1291149"/>
            <a:ext cx="7330214" cy="787314"/>
          </a:xfrm>
        </p:spPr>
        <p:txBody>
          <a:bodyPr>
            <a:normAutofit/>
          </a:bodyPr>
          <a:lstStyle/>
          <a:p>
            <a:r>
              <a:rPr lang="en-IE" sz="2000" dirty="0">
                <a:solidFill>
                  <a:schemeClr val="bg2">
                    <a:lumMod val="10000"/>
                  </a:schemeClr>
                </a:solidFill>
              </a:rPr>
              <a:t>No universal gripper design exists (soft for fragile, rigid for heavy).</a:t>
            </a:r>
          </a:p>
        </p:txBody>
      </p:sp>
      <p:sp>
        <p:nvSpPr>
          <p:cNvPr id="4" name="Title 1">
            <a:extLst>
              <a:ext uri="{FF2B5EF4-FFF2-40B4-BE49-F238E27FC236}">
                <a16:creationId xmlns:a16="http://schemas.microsoft.com/office/drawing/2014/main" id="{20297E11-307C-3DA4-955D-F5C74A44CDB4}"/>
              </a:ext>
            </a:extLst>
          </p:cNvPr>
          <p:cNvSpPr txBox="1">
            <a:spLocks/>
          </p:cNvSpPr>
          <p:nvPr/>
        </p:nvSpPr>
        <p:spPr>
          <a:xfrm>
            <a:off x="145200" y="111354"/>
            <a:ext cx="9064390" cy="787314"/>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400" b="1" kern="1200">
                <a:solidFill>
                  <a:schemeClr val="bg1"/>
                </a:solidFill>
                <a:latin typeface="+mn-lt"/>
                <a:ea typeface="+mj-ea"/>
                <a:cs typeface="+mj-cs"/>
              </a:defRPr>
            </a:lvl1pPr>
          </a:lstStyle>
          <a:p>
            <a:r>
              <a:rPr lang="en-US" b="0" dirty="0">
                <a:solidFill>
                  <a:srgbClr val="002060"/>
                </a:solidFill>
              </a:rPr>
              <a:t>Literature : Report</a:t>
            </a:r>
          </a:p>
        </p:txBody>
      </p:sp>
      <p:sp>
        <p:nvSpPr>
          <p:cNvPr id="7" name="Title 1">
            <a:extLst>
              <a:ext uri="{FF2B5EF4-FFF2-40B4-BE49-F238E27FC236}">
                <a16:creationId xmlns:a16="http://schemas.microsoft.com/office/drawing/2014/main" id="{3855C800-C355-750E-244C-7073BF3FBE53}"/>
              </a:ext>
            </a:extLst>
          </p:cNvPr>
          <p:cNvSpPr txBox="1">
            <a:spLocks/>
          </p:cNvSpPr>
          <p:nvPr/>
        </p:nvSpPr>
        <p:spPr>
          <a:xfrm>
            <a:off x="199870" y="2489532"/>
            <a:ext cx="7380700" cy="787314"/>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3400" b="1" kern="1200">
                <a:solidFill>
                  <a:schemeClr val="bg1"/>
                </a:solidFill>
                <a:latin typeface="+mn-lt"/>
                <a:ea typeface="+mj-ea"/>
                <a:cs typeface="+mj-cs"/>
              </a:defRPr>
            </a:lvl1pPr>
          </a:lstStyle>
          <a:p>
            <a:r>
              <a:rPr lang="en-IE" sz="2000" dirty="0">
                <a:solidFill>
                  <a:schemeClr val="bg2">
                    <a:lumMod val="10000"/>
                  </a:schemeClr>
                </a:solidFill>
              </a:rPr>
              <a:t>Systematic review of grippers over the last 4 years.</a:t>
            </a:r>
            <a:endParaRPr lang="en-US" sz="2000" b="0" dirty="0">
              <a:solidFill>
                <a:schemeClr val="bg2">
                  <a:lumMod val="10000"/>
                </a:schemeClr>
              </a:solidFill>
            </a:endParaRPr>
          </a:p>
        </p:txBody>
      </p:sp>
      <p:sp>
        <p:nvSpPr>
          <p:cNvPr id="9" name="Title 1">
            <a:extLst>
              <a:ext uri="{FF2B5EF4-FFF2-40B4-BE49-F238E27FC236}">
                <a16:creationId xmlns:a16="http://schemas.microsoft.com/office/drawing/2014/main" id="{51697C33-88A8-B6B4-FC3D-4092A9481759}"/>
              </a:ext>
            </a:extLst>
          </p:cNvPr>
          <p:cNvSpPr txBox="1">
            <a:spLocks/>
          </p:cNvSpPr>
          <p:nvPr/>
        </p:nvSpPr>
        <p:spPr>
          <a:xfrm>
            <a:off x="225648" y="4298887"/>
            <a:ext cx="6738629" cy="787314"/>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400" b="1" kern="1200">
                <a:solidFill>
                  <a:schemeClr val="bg1"/>
                </a:solidFill>
                <a:latin typeface="+mn-lt"/>
                <a:ea typeface="+mj-ea"/>
                <a:cs typeface="+mj-cs"/>
              </a:defRPr>
            </a:lvl1pPr>
          </a:lstStyle>
          <a:p>
            <a:r>
              <a:rPr lang="en-IE" sz="2000" dirty="0">
                <a:solidFill>
                  <a:schemeClr val="bg2">
                    <a:lumMod val="10000"/>
                  </a:schemeClr>
                </a:solidFill>
              </a:rPr>
              <a:t>Best compromise = underactuated rigid linkages (slider-crank) + Gecko adhesives.</a:t>
            </a:r>
            <a:endParaRPr lang="en-US" sz="2000" b="0" dirty="0">
              <a:solidFill>
                <a:schemeClr val="bg2">
                  <a:lumMod val="10000"/>
                </a:schemeClr>
              </a:solidFill>
            </a:endParaRPr>
          </a:p>
        </p:txBody>
      </p:sp>
      <p:sp>
        <p:nvSpPr>
          <p:cNvPr id="10" name="Title 1">
            <a:extLst>
              <a:ext uri="{FF2B5EF4-FFF2-40B4-BE49-F238E27FC236}">
                <a16:creationId xmlns:a16="http://schemas.microsoft.com/office/drawing/2014/main" id="{3A368E98-C7F5-5442-3321-DA1F74042ADB}"/>
              </a:ext>
            </a:extLst>
          </p:cNvPr>
          <p:cNvSpPr txBox="1">
            <a:spLocks/>
          </p:cNvSpPr>
          <p:nvPr/>
        </p:nvSpPr>
        <p:spPr>
          <a:xfrm>
            <a:off x="225648" y="5607719"/>
            <a:ext cx="7182893" cy="787314"/>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400" b="1" kern="1200">
                <a:solidFill>
                  <a:schemeClr val="bg1"/>
                </a:solidFill>
                <a:latin typeface="+mn-lt"/>
                <a:ea typeface="+mj-ea"/>
                <a:cs typeface="+mj-cs"/>
              </a:defRPr>
            </a:lvl1pPr>
          </a:lstStyle>
          <a:p>
            <a:r>
              <a:rPr lang="en-IE" sz="2000" dirty="0">
                <a:solidFill>
                  <a:schemeClr val="bg2">
                    <a:lumMod val="10000"/>
                  </a:schemeClr>
                </a:solidFill>
              </a:rPr>
              <a:t>Adhesives clog with dust instantly. Precise force sensors are still missing.</a:t>
            </a:r>
            <a:endParaRPr lang="en-US" sz="2000" b="0" dirty="0">
              <a:solidFill>
                <a:schemeClr val="bg2">
                  <a:lumMod val="10000"/>
                </a:schemeClr>
              </a:solidFill>
            </a:endParaRPr>
          </a:p>
        </p:txBody>
      </p:sp>
      <p:sp>
        <p:nvSpPr>
          <p:cNvPr id="11" name="Title 1">
            <a:extLst>
              <a:ext uri="{FF2B5EF4-FFF2-40B4-BE49-F238E27FC236}">
                <a16:creationId xmlns:a16="http://schemas.microsoft.com/office/drawing/2014/main" id="{C762E0F5-8F08-76A0-E036-63F7FD9D893D}"/>
              </a:ext>
            </a:extLst>
          </p:cNvPr>
          <p:cNvSpPr txBox="1">
            <a:spLocks/>
          </p:cNvSpPr>
          <p:nvPr/>
        </p:nvSpPr>
        <p:spPr>
          <a:xfrm>
            <a:off x="5043336" y="218044"/>
            <a:ext cx="6888136" cy="787314"/>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3400" b="1" kern="1200">
                <a:solidFill>
                  <a:schemeClr val="bg1"/>
                </a:solidFill>
                <a:latin typeface="+mn-lt"/>
                <a:ea typeface="+mj-ea"/>
                <a:cs typeface="+mj-cs"/>
              </a:defRPr>
            </a:lvl1pPr>
          </a:lstStyle>
          <a:p>
            <a:r>
              <a:rPr lang="en-IE" sz="1600" dirty="0">
                <a:solidFill>
                  <a:schemeClr val="bg2">
                    <a:lumMod val="10000"/>
                  </a:schemeClr>
                </a:solidFill>
                <a:highlight>
                  <a:srgbClr val="FFFF00"/>
                </a:highlight>
              </a:rPr>
              <a:t>Current Designs of Robotic Arm Grippers: A Comprehensive Systematic Review</a:t>
            </a:r>
          </a:p>
          <a:p>
            <a:r>
              <a:rPr lang="en-IE" sz="1600" b="0" dirty="0">
                <a:solidFill>
                  <a:schemeClr val="bg2">
                    <a:lumMod val="10000"/>
                  </a:schemeClr>
                </a:solidFill>
                <a:highlight>
                  <a:srgbClr val="FFFF00"/>
                </a:highlight>
              </a:rPr>
              <a:t>by  </a:t>
            </a:r>
            <a:r>
              <a:rPr lang="en-IE" sz="1600" dirty="0">
                <a:solidFill>
                  <a:schemeClr val="bg2">
                    <a:lumMod val="10000"/>
                  </a:schemeClr>
                </a:solidFill>
                <a:highlight>
                  <a:srgbClr val="FFFF00"/>
                </a:highlight>
              </a:rPr>
              <a:t>Jaime Hernandez</a:t>
            </a:r>
            <a:r>
              <a:rPr lang="en-IE" sz="1600" b="0" dirty="0">
                <a:solidFill>
                  <a:schemeClr val="bg2">
                    <a:lumMod val="10000"/>
                  </a:schemeClr>
                </a:solidFill>
                <a:highlight>
                  <a:srgbClr val="FFFF00"/>
                </a:highlight>
              </a:rPr>
              <a:t>, </a:t>
            </a:r>
            <a:r>
              <a:rPr lang="en-IE" sz="1600" dirty="0">
                <a:solidFill>
                  <a:schemeClr val="bg2">
                    <a:lumMod val="10000"/>
                  </a:schemeClr>
                </a:solidFill>
                <a:highlight>
                  <a:srgbClr val="FFFF00"/>
                </a:highlight>
              </a:rPr>
              <a:t>Md Samiul Haque Sunny</a:t>
            </a:r>
          </a:p>
        </p:txBody>
      </p:sp>
      <p:sp>
        <p:nvSpPr>
          <p:cNvPr id="18" name="TextBox 17">
            <a:extLst>
              <a:ext uri="{FF2B5EF4-FFF2-40B4-BE49-F238E27FC236}">
                <a16:creationId xmlns:a16="http://schemas.microsoft.com/office/drawing/2014/main" id="{B66C78FC-F02D-F219-E1F7-E8604B7353CE}"/>
              </a:ext>
            </a:extLst>
          </p:cNvPr>
          <p:cNvSpPr txBox="1"/>
          <p:nvPr/>
        </p:nvSpPr>
        <p:spPr>
          <a:xfrm>
            <a:off x="260528" y="856624"/>
            <a:ext cx="7068312" cy="400110"/>
          </a:xfrm>
          <a:prstGeom prst="rect">
            <a:avLst/>
          </a:prstGeom>
          <a:noFill/>
        </p:spPr>
        <p:txBody>
          <a:bodyPr wrap="square">
            <a:spAutoFit/>
          </a:bodyPr>
          <a:lstStyle/>
          <a:p>
            <a:r>
              <a:rPr lang="en-US" sz="2000" b="1" dirty="0">
                <a:solidFill>
                  <a:schemeClr val="tx2"/>
                </a:solidFill>
              </a:rPr>
              <a:t>Question/Gap: </a:t>
            </a:r>
            <a:endParaRPr lang="en-IE" sz="2000" b="1" dirty="0">
              <a:solidFill>
                <a:schemeClr val="tx2"/>
              </a:solidFill>
            </a:endParaRPr>
          </a:p>
        </p:txBody>
      </p:sp>
      <p:sp>
        <p:nvSpPr>
          <p:cNvPr id="19" name="TextBox 18">
            <a:extLst>
              <a:ext uri="{FF2B5EF4-FFF2-40B4-BE49-F238E27FC236}">
                <a16:creationId xmlns:a16="http://schemas.microsoft.com/office/drawing/2014/main" id="{4272E81E-DBFA-CA0E-D237-2FE40003E481}"/>
              </a:ext>
            </a:extLst>
          </p:cNvPr>
          <p:cNvSpPr txBox="1"/>
          <p:nvPr/>
        </p:nvSpPr>
        <p:spPr>
          <a:xfrm>
            <a:off x="208464" y="2123416"/>
            <a:ext cx="7068312" cy="400110"/>
          </a:xfrm>
          <a:prstGeom prst="rect">
            <a:avLst/>
          </a:prstGeom>
          <a:noFill/>
        </p:spPr>
        <p:txBody>
          <a:bodyPr wrap="square">
            <a:spAutoFit/>
          </a:bodyPr>
          <a:lstStyle/>
          <a:p>
            <a:r>
              <a:rPr lang="en-US" sz="2000" b="1" dirty="0">
                <a:solidFill>
                  <a:schemeClr val="tx2"/>
                </a:solidFill>
              </a:rPr>
              <a:t>Method: </a:t>
            </a:r>
            <a:endParaRPr lang="en-IE" sz="2000" b="1" dirty="0">
              <a:solidFill>
                <a:schemeClr val="tx2"/>
              </a:solidFill>
            </a:endParaRPr>
          </a:p>
        </p:txBody>
      </p:sp>
      <p:sp>
        <p:nvSpPr>
          <p:cNvPr id="20" name="TextBox 19">
            <a:extLst>
              <a:ext uri="{FF2B5EF4-FFF2-40B4-BE49-F238E27FC236}">
                <a16:creationId xmlns:a16="http://schemas.microsoft.com/office/drawing/2014/main" id="{CD19B4FA-9AA5-11A2-1AAF-AF42970A7C08}"/>
              </a:ext>
            </a:extLst>
          </p:cNvPr>
          <p:cNvSpPr txBox="1"/>
          <p:nvPr/>
        </p:nvSpPr>
        <p:spPr>
          <a:xfrm>
            <a:off x="166087" y="3857481"/>
            <a:ext cx="7068312" cy="400110"/>
          </a:xfrm>
          <a:prstGeom prst="rect">
            <a:avLst/>
          </a:prstGeom>
          <a:noFill/>
        </p:spPr>
        <p:txBody>
          <a:bodyPr wrap="square">
            <a:spAutoFit/>
          </a:bodyPr>
          <a:lstStyle/>
          <a:p>
            <a:r>
              <a:rPr lang="en-US" sz="2000" b="1" dirty="0">
                <a:solidFill>
                  <a:schemeClr val="tx2"/>
                </a:solidFill>
              </a:rPr>
              <a:t>Results: </a:t>
            </a:r>
            <a:endParaRPr lang="en-IE" sz="2000" b="1" dirty="0">
              <a:solidFill>
                <a:schemeClr val="tx2"/>
              </a:solidFill>
            </a:endParaRPr>
          </a:p>
        </p:txBody>
      </p:sp>
      <p:sp>
        <p:nvSpPr>
          <p:cNvPr id="21" name="TextBox 20">
            <a:extLst>
              <a:ext uri="{FF2B5EF4-FFF2-40B4-BE49-F238E27FC236}">
                <a16:creationId xmlns:a16="http://schemas.microsoft.com/office/drawing/2014/main" id="{558584B4-976A-5F18-28B1-8C3821B7CEA5}"/>
              </a:ext>
            </a:extLst>
          </p:cNvPr>
          <p:cNvSpPr txBox="1"/>
          <p:nvPr/>
        </p:nvSpPr>
        <p:spPr>
          <a:xfrm>
            <a:off x="260528" y="5189814"/>
            <a:ext cx="7068312" cy="400110"/>
          </a:xfrm>
          <a:prstGeom prst="rect">
            <a:avLst/>
          </a:prstGeom>
          <a:noFill/>
        </p:spPr>
        <p:txBody>
          <a:bodyPr wrap="square">
            <a:spAutoFit/>
          </a:bodyPr>
          <a:lstStyle/>
          <a:p>
            <a:r>
              <a:rPr lang="en-US" sz="2000" b="1" dirty="0">
                <a:solidFill>
                  <a:schemeClr val="tx2"/>
                </a:solidFill>
              </a:rPr>
              <a:t>Limitations: </a:t>
            </a:r>
            <a:endParaRPr lang="en-IE" sz="2000" b="1" dirty="0">
              <a:solidFill>
                <a:schemeClr val="tx2"/>
              </a:solidFill>
            </a:endParaRPr>
          </a:p>
        </p:txBody>
      </p:sp>
      <p:pic>
        <p:nvPicPr>
          <p:cNvPr id="27" name="Picture 26">
            <a:extLst>
              <a:ext uri="{FF2B5EF4-FFF2-40B4-BE49-F238E27FC236}">
                <a16:creationId xmlns:a16="http://schemas.microsoft.com/office/drawing/2014/main" id="{C1654B0B-D78E-6541-078F-1572FED3F822}"/>
              </a:ext>
            </a:extLst>
          </p:cNvPr>
          <p:cNvPicPr>
            <a:picLocks noChangeAspect="1"/>
          </p:cNvPicPr>
          <p:nvPr/>
        </p:nvPicPr>
        <p:blipFill>
          <a:blip r:embed="rId2"/>
          <a:stretch>
            <a:fillRect/>
          </a:stretch>
        </p:blipFill>
        <p:spPr>
          <a:xfrm>
            <a:off x="9262612" y="622536"/>
            <a:ext cx="2603284" cy="1632908"/>
          </a:xfrm>
          <a:prstGeom prst="rect">
            <a:avLst/>
          </a:prstGeom>
        </p:spPr>
      </p:pic>
      <p:pic>
        <p:nvPicPr>
          <p:cNvPr id="29" name="Picture 28">
            <a:extLst>
              <a:ext uri="{FF2B5EF4-FFF2-40B4-BE49-F238E27FC236}">
                <a16:creationId xmlns:a16="http://schemas.microsoft.com/office/drawing/2014/main" id="{3427C33E-0698-C7BD-15FB-BB81E631CE8E}"/>
              </a:ext>
            </a:extLst>
          </p:cNvPr>
          <p:cNvPicPr>
            <a:picLocks noChangeAspect="1"/>
          </p:cNvPicPr>
          <p:nvPr/>
        </p:nvPicPr>
        <p:blipFill>
          <a:blip r:embed="rId3"/>
          <a:stretch>
            <a:fillRect/>
          </a:stretch>
        </p:blipFill>
        <p:spPr>
          <a:xfrm>
            <a:off x="7681027" y="2281987"/>
            <a:ext cx="1885240" cy="950004"/>
          </a:xfrm>
          <a:prstGeom prst="rect">
            <a:avLst/>
          </a:prstGeom>
        </p:spPr>
      </p:pic>
      <p:pic>
        <p:nvPicPr>
          <p:cNvPr id="31" name="Picture 30">
            <a:extLst>
              <a:ext uri="{FF2B5EF4-FFF2-40B4-BE49-F238E27FC236}">
                <a16:creationId xmlns:a16="http://schemas.microsoft.com/office/drawing/2014/main" id="{BD4C35EE-C76B-DA30-D250-F92E7819CB8F}"/>
              </a:ext>
            </a:extLst>
          </p:cNvPr>
          <p:cNvPicPr>
            <a:picLocks noChangeAspect="1"/>
          </p:cNvPicPr>
          <p:nvPr/>
        </p:nvPicPr>
        <p:blipFill>
          <a:blip r:embed="rId4"/>
          <a:stretch>
            <a:fillRect/>
          </a:stretch>
        </p:blipFill>
        <p:spPr>
          <a:xfrm>
            <a:off x="9771633" y="2281987"/>
            <a:ext cx="2331936" cy="1202404"/>
          </a:xfrm>
          <a:prstGeom prst="rect">
            <a:avLst/>
          </a:prstGeom>
        </p:spPr>
      </p:pic>
      <p:pic>
        <p:nvPicPr>
          <p:cNvPr id="33" name="Picture 32">
            <a:extLst>
              <a:ext uri="{FF2B5EF4-FFF2-40B4-BE49-F238E27FC236}">
                <a16:creationId xmlns:a16="http://schemas.microsoft.com/office/drawing/2014/main" id="{362867D8-D7B0-6DBE-AF94-AE31600ECC54}"/>
              </a:ext>
            </a:extLst>
          </p:cNvPr>
          <p:cNvPicPr>
            <a:picLocks noChangeAspect="1"/>
          </p:cNvPicPr>
          <p:nvPr/>
        </p:nvPicPr>
        <p:blipFill>
          <a:blip r:embed="rId5"/>
          <a:stretch>
            <a:fillRect/>
          </a:stretch>
        </p:blipFill>
        <p:spPr>
          <a:xfrm>
            <a:off x="7408541" y="3605230"/>
            <a:ext cx="2157726" cy="1087314"/>
          </a:xfrm>
          <a:prstGeom prst="rect">
            <a:avLst/>
          </a:prstGeom>
        </p:spPr>
      </p:pic>
      <p:pic>
        <p:nvPicPr>
          <p:cNvPr id="35" name="Picture 34">
            <a:extLst>
              <a:ext uri="{FF2B5EF4-FFF2-40B4-BE49-F238E27FC236}">
                <a16:creationId xmlns:a16="http://schemas.microsoft.com/office/drawing/2014/main" id="{A9F4A7E7-9319-2F3B-6219-BF0DCF02C2FB}"/>
              </a:ext>
            </a:extLst>
          </p:cNvPr>
          <p:cNvPicPr>
            <a:picLocks noChangeAspect="1"/>
          </p:cNvPicPr>
          <p:nvPr/>
        </p:nvPicPr>
        <p:blipFill>
          <a:blip r:embed="rId6"/>
          <a:stretch>
            <a:fillRect/>
          </a:stretch>
        </p:blipFill>
        <p:spPr>
          <a:xfrm>
            <a:off x="10002214" y="3649622"/>
            <a:ext cx="1885240" cy="1066841"/>
          </a:xfrm>
          <a:prstGeom prst="rect">
            <a:avLst/>
          </a:prstGeom>
        </p:spPr>
      </p:pic>
      <p:pic>
        <p:nvPicPr>
          <p:cNvPr id="37" name="Picture 36">
            <a:extLst>
              <a:ext uri="{FF2B5EF4-FFF2-40B4-BE49-F238E27FC236}">
                <a16:creationId xmlns:a16="http://schemas.microsoft.com/office/drawing/2014/main" id="{50E2AB2A-A52C-7B4D-0C19-0E8BDCDFA2C1}"/>
              </a:ext>
            </a:extLst>
          </p:cNvPr>
          <p:cNvPicPr>
            <a:picLocks noChangeAspect="1"/>
          </p:cNvPicPr>
          <p:nvPr/>
        </p:nvPicPr>
        <p:blipFill>
          <a:blip r:embed="rId7"/>
          <a:stretch>
            <a:fillRect/>
          </a:stretch>
        </p:blipFill>
        <p:spPr>
          <a:xfrm>
            <a:off x="7944117" y="5163777"/>
            <a:ext cx="2049596" cy="1118913"/>
          </a:xfrm>
          <a:prstGeom prst="rect">
            <a:avLst/>
          </a:prstGeom>
        </p:spPr>
      </p:pic>
      <p:pic>
        <p:nvPicPr>
          <p:cNvPr id="39" name="Picture 38">
            <a:extLst>
              <a:ext uri="{FF2B5EF4-FFF2-40B4-BE49-F238E27FC236}">
                <a16:creationId xmlns:a16="http://schemas.microsoft.com/office/drawing/2014/main" id="{C8930377-C379-10CE-6CE7-C894633F2FC0}"/>
              </a:ext>
            </a:extLst>
          </p:cNvPr>
          <p:cNvPicPr>
            <a:picLocks noChangeAspect="1"/>
          </p:cNvPicPr>
          <p:nvPr/>
        </p:nvPicPr>
        <p:blipFill>
          <a:blip r:embed="rId8"/>
          <a:stretch>
            <a:fillRect/>
          </a:stretch>
        </p:blipFill>
        <p:spPr>
          <a:xfrm>
            <a:off x="10053974" y="5189814"/>
            <a:ext cx="2049595" cy="1066841"/>
          </a:xfrm>
          <a:prstGeom prst="rect">
            <a:avLst/>
          </a:prstGeom>
        </p:spPr>
      </p:pic>
    </p:spTree>
    <p:extLst>
      <p:ext uri="{BB962C8B-B14F-4D97-AF65-F5344CB8AC3E}">
        <p14:creationId xmlns:p14="http://schemas.microsoft.com/office/powerpoint/2010/main" val="19807622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8EB33D9-0992-EE8E-AC4D-2C2DBA60D3B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0BC30B-17C5-7E38-AC40-56A614FDDA24}"/>
              </a:ext>
            </a:extLst>
          </p:cNvPr>
          <p:cNvSpPr>
            <a:spLocks noGrp="1"/>
          </p:cNvSpPr>
          <p:nvPr>
            <p:ph type="title"/>
          </p:nvPr>
        </p:nvSpPr>
        <p:spPr>
          <a:xfrm>
            <a:off x="208464" y="1291149"/>
            <a:ext cx="7330214" cy="787314"/>
          </a:xfrm>
        </p:spPr>
        <p:txBody>
          <a:bodyPr>
            <a:normAutofit/>
          </a:bodyPr>
          <a:lstStyle/>
          <a:p>
            <a:r>
              <a:rPr lang="en-IE" sz="2000" dirty="0">
                <a:solidFill>
                  <a:schemeClr val="bg2">
                    <a:lumMod val="10000"/>
                  </a:schemeClr>
                </a:solidFill>
              </a:rPr>
              <a:t>Rigid pincers break things; soft grippers struggle with size variety.</a:t>
            </a:r>
          </a:p>
        </p:txBody>
      </p:sp>
      <p:sp>
        <p:nvSpPr>
          <p:cNvPr id="4" name="Title 1">
            <a:extLst>
              <a:ext uri="{FF2B5EF4-FFF2-40B4-BE49-F238E27FC236}">
                <a16:creationId xmlns:a16="http://schemas.microsoft.com/office/drawing/2014/main" id="{CF7A11C7-9B14-956F-C90E-E5DE29041FF1}"/>
              </a:ext>
            </a:extLst>
          </p:cNvPr>
          <p:cNvSpPr txBox="1">
            <a:spLocks/>
          </p:cNvSpPr>
          <p:nvPr/>
        </p:nvSpPr>
        <p:spPr>
          <a:xfrm>
            <a:off x="145200" y="111354"/>
            <a:ext cx="9064390" cy="787314"/>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400" b="1" kern="1200">
                <a:solidFill>
                  <a:schemeClr val="bg1"/>
                </a:solidFill>
                <a:latin typeface="+mn-lt"/>
                <a:ea typeface="+mj-ea"/>
                <a:cs typeface="+mj-cs"/>
              </a:defRPr>
            </a:lvl1pPr>
          </a:lstStyle>
          <a:p>
            <a:r>
              <a:rPr lang="en-US" b="0" dirty="0">
                <a:solidFill>
                  <a:srgbClr val="002060"/>
                </a:solidFill>
              </a:rPr>
              <a:t>Literature : Report</a:t>
            </a:r>
          </a:p>
        </p:txBody>
      </p:sp>
      <p:sp>
        <p:nvSpPr>
          <p:cNvPr id="7" name="Title 1">
            <a:extLst>
              <a:ext uri="{FF2B5EF4-FFF2-40B4-BE49-F238E27FC236}">
                <a16:creationId xmlns:a16="http://schemas.microsoft.com/office/drawing/2014/main" id="{4F0A6A8D-E3C2-FD1C-2179-CA3C203172C9}"/>
              </a:ext>
            </a:extLst>
          </p:cNvPr>
          <p:cNvSpPr txBox="1">
            <a:spLocks/>
          </p:cNvSpPr>
          <p:nvPr/>
        </p:nvSpPr>
        <p:spPr>
          <a:xfrm>
            <a:off x="199870" y="2489532"/>
            <a:ext cx="7380700" cy="787314"/>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3400" b="1" kern="1200">
                <a:solidFill>
                  <a:schemeClr val="bg1"/>
                </a:solidFill>
                <a:latin typeface="+mn-lt"/>
                <a:ea typeface="+mj-ea"/>
                <a:cs typeface="+mj-cs"/>
              </a:defRPr>
            </a:lvl1pPr>
          </a:lstStyle>
          <a:p>
            <a:r>
              <a:rPr lang="en-IE" sz="2000" dirty="0">
                <a:solidFill>
                  <a:schemeClr val="bg2">
                    <a:lumMod val="10000"/>
                  </a:schemeClr>
                </a:solidFill>
              </a:rPr>
              <a:t>Rigid rack-and-pinion base + massive, highly compressible 3D-printed TPU cushions.</a:t>
            </a:r>
            <a:endParaRPr lang="en-US" sz="2000" b="0" dirty="0">
              <a:solidFill>
                <a:schemeClr val="bg2">
                  <a:lumMod val="10000"/>
                </a:schemeClr>
              </a:solidFill>
            </a:endParaRPr>
          </a:p>
        </p:txBody>
      </p:sp>
      <p:sp>
        <p:nvSpPr>
          <p:cNvPr id="9" name="Title 1">
            <a:extLst>
              <a:ext uri="{FF2B5EF4-FFF2-40B4-BE49-F238E27FC236}">
                <a16:creationId xmlns:a16="http://schemas.microsoft.com/office/drawing/2014/main" id="{086042BB-15D4-CA8D-DADE-3DACA7636CB7}"/>
              </a:ext>
            </a:extLst>
          </p:cNvPr>
          <p:cNvSpPr txBox="1">
            <a:spLocks/>
          </p:cNvSpPr>
          <p:nvPr/>
        </p:nvSpPr>
        <p:spPr>
          <a:xfrm>
            <a:off x="225648" y="4298887"/>
            <a:ext cx="6738629" cy="787314"/>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400" b="1" kern="1200">
                <a:solidFill>
                  <a:schemeClr val="bg1"/>
                </a:solidFill>
                <a:latin typeface="+mn-lt"/>
                <a:ea typeface="+mj-ea"/>
                <a:cs typeface="+mj-cs"/>
              </a:defRPr>
            </a:lvl1pPr>
          </a:lstStyle>
          <a:p>
            <a:r>
              <a:rPr lang="en-IE" sz="2000" dirty="0">
                <a:solidFill>
                  <a:schemeClr val="bg2">
                    <a:lumMod val="10000"/>
                  </a:schemeClr>
                </a:solidFill>
              </a:rPr>
              <a:t>Wraps perfectly around irregular shapes (glasses, eggs) without smart algorithms.</a:t>
            </a:r>
            <a:endParaRPr lang="en-US" sz="2000" b="0" dirty="0">
              <a:solidFill>
                <a:schemeClr val="bg2">
                  <a:lumMod val="10000"/>
                </a:schemeClr>
              </a:solidFill>
            </a:endParaRPr>
          </a:p>
        </p:txBody>
      </p:sp>
      <p:sp>
        <p:nvSpPr>
          <p:cNvPr id="10" name="Title 1">
            <a:extLst>
              <a:ext uri="{FF2B5EF4-FFF2-40B4-BE49-F238E27FC236}">
                <a16:creationId xmlns:a16="http://schemas.microsoft.com/office/drawing/2014/main" id="{803A9543-20D2-8632-6288-7A7970614A9A}"/>
              </a:ext>
            </a:extLst>
          </p:cNvPr>
          <p:cNvSpPr txBox="1">
            <a:spLocks/>
          </p:cNvSpPr>
          <p:nvPr/>
        </p:nvSpPr>
        <p:spPr>
          <a:xfrm>
            <a:off x="225648" y="5607719"/>
            <a:ext cx="7380700" cy="787314"/>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400" b="1" kern="1200">
                <a:solidFill>
                  <a:schemeClr val="bg1"/>
                </a:solidFill>
                <a:latin typeface="+mn-lt"/>
                <a:ea typeface="+mj-ea"/>
                <a:cs typeface="+mj-cs"/>
              </a:defRPr>
            </a:lvl1pPr>
          </a:lstStyle>
          <a:p>
            <a:r>
              <a:rPr lang="en-IE" sz="2000" dirty="0">
                <a:solidFill>
                  <a:schemeClr val="bg2">
                    <a:lumMod val="10000"/>
                  </a:schemeClr>
                </a:solidFill>
              </a:rPr>
              <a:t>Huge dead weight (2.5 kg) ruins the robot arm's payload. Zero sensors.</a:t>
            </a:r>
            <a:endParaRPr lang="en-US" sz="2000" b="0" dirty="0">
              <a:solidFill>
                <a:schemeClr val="bg2">
                  <a:lumMod val="10000"/>
                </a:schemeClr>
              </a:solidFill>
            </a:endParaRPr>
          </a:p>
        </p:txBody>
      </p:sp>
      <p:sp>
        <p:nvSpPr>
          <p:cNvPr id="11" name="Title 1">
            <a:extLst>
              <a:ext uri="{FF2B5EF4-FFF2-40B4-BE49-F238E27FC236}">
                <a16:creationId xmlns:a16="http://schemas.microsoft.com/office/drawing/2014/main" id="{6DE1433C-DEDF-06E8-8A98-04466A845F17}"/>
              </a:ext>
            </a:extLst>
          </p:cNvPr>
          <p:cNvSpPr txBox="1">
            <a:spLocks/>
          </p:cNvSpPr>
          <p:nvPr/>
        </p:nvSpPr>
        <p:spPr>
          <a:xfrm>
            <a:off x="5043336" y="218044"/>
            <a:ext cx="6888136" cy="787314"/>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3400" b="1" kern="1200">
                <a:solidFill>
                  <a:schemeClr val="bg1"/>
                </a:solidFill>
                <a:latin typeface="+mn-lt"/>
                <a:ea typeface="+mj-ea"/>
                <a:cs typeface="+mj-cs"/>
              </a:defRPr>
            </a:lvl1pPr>
          </a:lstStyle>
          <a:p>
            <a:r>
              <a:rPr lang="en-IE" sz="1600" dirty="0">
                <a:solidFill>
                  <a:schemeClr val="bg2">
                    <a:lumMod val="10000"/>
                  </a:schemeClr>
                </a:solidFill>
                <a:highlight>
                  <a:srgbClr val="FFFF00"/>
                </a:highlight>
              </a:rPr>
              <a:t>Design and Implementation of a Compliant Gripper for Form Closure of Diverse Objects</a:t>
            </a:r>
            <a:r>
              <a:rPr lang="en-IE" sz="1600" b="0" dirty="0">
                <a:solidFill>
                  <a:schemeClr val="bg2">
                    <a:lumMod val="10000"/>
                  </a:schemeClr>
                </a:solidFill>
                <a:highlight>
                  <a:srgbClr val="FFFF00"/>
                </a:highlight>
              </a:rPr>
              <a:t>   </a:t>
            </a:r>
            <a:r>
              <a:rPr lang="en-IE" sz="1600" dirty="0">
                <a:solidFill>
                  <a:schemeClr val="bg2">
                    <a:lumMod val="10000"/>
                  </a:schemeClr>
                </a:solidFill>
                <a:highlight>
                  <a:srgbClr val="FFFF00"/>
                </a:highlight>
              </a:rPr>
              <a:t>Kyler C. Bingham</a:t>
            </a:r>
            <a:r>
              <a:rPr lang="en-IE" sz="1600" b="0" dirty="0">
                <a:solidFill>
                  <a:schemeClr val="bg2">
                    <a:lumMod val="10000"/>
                  </a:schemeClr>
                </a:solidFill>
                <a:highlight>
                  <a:srgbClr val="FFFF00"/>
                </a:highlight>
              </a:rPr>
              <a:t> </a:t>
            </a:r>
            <a:r>
              <a:rPr lang="en-IE" sz="1600" dirty="0">
                <a:solidFill>
                  <a:schemeClr val="bg2">
                    <a:lumMod val="10000"/>
                  </a:schemeClr>
                </a:solidFill>
                <a:highlight>
                  <a:srgbClr val="FFFF00"/>
                </a:highlight>
              </a:rPr>
              <a:t>Matthew </a:t>
            </a:r>
            <a:r>
              <a:rPr lang="en-IE" sz="1600" dirty="0" err="1">
                <a:solidFill>
                  <a:schemeClr val="bg2">
                    <a:lumMod val="10000"/>
                  </a:schemeClr>
                </a:solidFill>
                <a:highlight>
                  <a:srgbClr val="FFFF00"/>
                </a:highlight>
              </a:rPr>
              <a:t>HesslerSafal</a:t>
            </a:r>
            <a:r>
              <a:rPr lang="en-IE" sz="1600" dirty="0">
                <a:solidFill>
                  <a:schemeClr val="bg2">
                    <a:lumMod val="10000"/>
                  </a:schemeClr>
                </a:solidFill>
                <a:highlight>
                  <a:srgbClr val="FFFF00"/>
                </a:highlight>
              </a:rPr>
              <a:t> Lama Taher </a:t>
            </a:r>
            <a:r>
              <a:rPr lang="en-IE" sz="1600" dirty="0" err="1">
                <a:solidFill>
                  <a:schemeClr val="bg2">
                    <a:lumMod val="10000"/>
                  </a:schemeClr>
                </a:solidFill>
                <a:highlight>
                  <a:srgbClr val="FFFF00"/>
                </a:highlight>
              </a:rPr>
              <a:t>Deemyad</a:t>
            </a:r>
            <a:endParaRPr lang="en-IE" sz="1600" dirty="0">
              <a:solidFill>
                <a:schemeClr val="bg2">
                  <a:lumMod val="10000"/>
                </a:schemeClr>
              </a:solidFill>
              <a:highlight>
                <a:srgbClr val="FFFF00"/>
              </a:highlight>
            </a:endParaRPr>
          </a:p>
        </p:txBody>
      </p:sp>
      <p:sp>
        <p:nvSpPr>
          <p:cNvPr id="18" name="TextBox 17">
            <a:extLst>
              <a:ext uri="{FF2B5EF4-FFF2-40B4-BE49-F238E27FC236}">
                <a16:creationId xmlns:a16="http://schemas.microsoft.com/office/drawing/2014/main" id="{09CD2AEF-D8CE-51E5-EC43-508957E30912}"/>
              </a:ext>
            </a:extLst>
          </p:cNvPr>
          <p:cNvSpPr txBox="1"/>
          <p:nvPr/>
        </p:nvSpPr>
        <p:spPr>
          <a:xfrm>
            <a:off x="260528" y="856624"/>
            <a:ext cx="7068312" cy="400110"/>
          </a:xfrm>
          <a:prstGeom prst="rect">
            <a:avLst/>
          </a:prstGeom>
          <a:noFill/>
        </p:spPr>
        <p:txBody>
          <a:bodyPr wrap="square">
            <a:spAutoFit/>
          </a:bodyPr>
          <a:lstStyle/>
          <a:p>
            <a:r>
              <a:rPr lang="en-US" sz="2000" b="1" dirty="0">
                <a:solidFill>
                  <a:schemeClr val="tx2"/>
                </a:solidFill>
              </a:rPr>
              <a:t>Question/Gap: </a:t>
            </a:r>
            <a:endParaRPr lang="en-IE" sz="2000" b="1" dirty="0">
              <a:solidFill>
                <a:schemeClr val="tx2"/>
              </a:solidFill>
            </a:endParaRPr>
          </a:p>
        </p:txBody>
      </p:sp>
      <p:sp>
        <p:nvSpPr>
          <p:cNvPr id="19" name="TextBox 18">
            <a:extLst>
              <a:ext uri="{FF2B5EF4-FFF2-40B4-BE49-F238E27FC236}">
                <a16:creationId xmlns:a16="http://schemas.microsoft.com/office/drawing/2014/main" id="{C6D2FA6F-A6AE-58BD-3069-51D64BD12E06}"/>
              </a:ext>
            </a:extLst>
          </p:cNvPr>
          <p:cNvSpPr txBox="1"/>
          <p:nvPr/>
        </p:nvSpPr>
        <p:spPr>
          <a:xfrm>
            <a:off x="208464" y="2123416"/>
            <a:ext cx="7068312" cy="400110"/>
          </a:xfrm>
          <a:prstGeom prst="rect">
            <a:avLst/>
          </a:prstGeom>
          <a:noFill/>
        </p:spPr>
        <p:txBody>
          <a:bodyPr wrap="square">
            <a:spAutoFit/>
          </a:bodyPr>
          <a:lstStyle/>
          <a:p>
            <a:r>
              <a:rPr lang="en-US" sz="2000" b="1" dirty="0">
                <a:solidFill>
                  <a:schemeClr val="tx2"/>
                </a:solidFill>
              </a:rPr>
              <a:t>Method: </a:t>
            </a:r>
            <a:endParaRPr lang="en-IE" sz="2000" b="1" dirty="0">
              <a:solidFill>
                <a:schemeClr val="tx2"/>
              </a:solidFill>
            </a:endParaRPr>
          </a:p>
        </p:txBody>
      </p:sp>
      <p:sp>
        <p:nvSpPr>
          <p:cNvPr id="20" name="TextBox 19">
            <a:extLst>
              <a:ext uri="{FF2B5EF4-FFF2-40B4-BE49-F238E27FC236}">
                <a16:creationId xmlns:a16="http://schemas.microsoft.com/office/drawing/2014/main" id="{82934E24-CEF0-3B37-9C7A-FB11F070A14E}"/>
              </a:ext>
            </a:extLst>
          </p:cNvPr>
          <p:cNvSpPr txBox="1"/>
          <p:nvPr/>
        </p:nvSpPr>
        <p:spPr>
          <a:xfrm>
            <a:off x="166087" y="3857481"/>
            <a:ext cx="7068312" cy="400110"/>
          </a:xfrm>
          <a:prstGeom prst="rect">
            <a:avLst/>
          </a:prstGeom>
          <a:noFill/>
        </p:spPr>
        <p:txBody>
          <a:bodyPr wrap="square">
            <a:spAutoFit/>
          </a:bodyPr>
          <a:lstStyle/>
          <a:p>
            <a:r>
              <a:rPr lang="en-US" sz="2000" b="1" dirty="0">
                <a:solidFill>
                  <a:schemeClr val="tx2"/>
                </a:solidFill>
              </a:rPr>
              <a:t>Results: </a:t>
            </a:r>
            <a:endParaRPr lang="en-IE" sz="2000" b="1" dirty="0">
              <a:solidFill>
                <a:schemeClr val="tx2"/>
              </a:solidFill>
            </a:endParaRPr>
          </a:p>
        </p:txBody>
      </p:sp>
      <p:sp>
        <p:nvSpPr>
          <p:cNvPr id="21" name="TextBox 20">
            <a:extLst>
              <a:ext uri="{FF2B5EF4-FFF2-40B4-BE49-F238E27FC236}">
                <a16:creationId xmlns:a16="http://schemas.microsoft.com/office/drawing/2014/main" id="{62139EA8-78F5-3CE1-A981-01BA5E83D0DD}"/>
              </a:ext>
            </a:extLst>
          </p:cNvPr>
          <p:cNvSpPr txBox="1"/>
          <p:nvPr/>
        </p:nvSpPr>
        <p:spPr>
          <a:xfrm>
            <a:off x="260528" y="5189814"/>
            <a:ext cx="7068312" cy="400110"/>
          </a:xfrm>
          <a:prstGeom prst="rect">
            <a:avLst/>
          </a:prstGeom>
          <a:noFill/>
        </p:spPr>
        <p:txBody>
          <a:bodyPr wrap="square">
            <a:spAutoFit/>
          </a:bodyPr>
          <a:lstStyle/>
          <a:p>
            <a:r>
              <a:rPr lang="en-US" sz="2000" b="1" dirty="0">
                <a:solidFill>
                  <a:schemeClr val="tx2"/>
                </a:solidFill>
              </a:rPr>
              <a:t>Limitations: </a:t>
            </a:r>
            <a:endParaRPr lang="en-IE" sz="2000" b="1" dirty="0">
              <a:solidFill>
                <a:schemeClr val="tx2"/>
              </a:solidFill>
            </a:endParaRPr>
          </a:p>
        </p:txBody>
      </p:sp>
      <p:pic>
        <p:nvPicPr>
          <p:cNvPr id="15" name="Picture 14">
            <a:extLst>
              <a:ext uri="{FF2B5EF4-FFF2-40B4-BE49-F238E27FC236}">
                <a16:creationId xmlns:a16="http://schemas.microsoft.com/office/drawing/2014/main" id="{2AC0E793-DB02-6841-EA7E-D2B53BD2DDDC}"/>
              </a:ext>
            </a:extLst>
          </p:cNvPr>
          <p:cNvPicPr>
            <a:picLocks noChangeAspect="1"/>
          </p:cNvPicPr>
          <p:nvPr/>
        </p:nvPicPr>
        <p:blipFill>
          <a:blip r:embed="rId2"/>
          <a:stretch>
            <a:fillRect/>
          </a:stretch>
        </p:blipFill>
        <p:spPr>
          <a:xfrm>
            <a:off x="9977944" y="1315407"/>
            <a:ext cx="2214056" cy="1130059"/>
          </a:xfrm>
          <a:prstGeom prst="rect">
            <a:avLst/>
          </a:prstGeom>
        </p:spPr>
      </p:pic>
      <p:pic>
        <p:nvPicPr>
          <p:cNvPr id="23" name="Picture 22">
            <a:extLst>
              <a:ext uri="{FF2B5EF4-FFF2-40B4-BE49-F238E27FC236}">
                <a16:creationId xmlns:a16="http://schemas.microsoft.com/office/drawing/2014/main" id="{D77572C0-7F40-59B2-BFC5-993EB03381DC}"/>
              </a:ext>
            </a:extLst>
          </p:cNvPr>
          <p:cNvPicPr>
            <a:picLocks noChangeAspect="1"/>
          </p:cNvPicPr>
          <p:nvPr/>
        </p:nvPicPr>
        <p:blipFill>
          <a:blip r:embed="rId3"/>
          <a:stretch>
            <a:fillRect/>
          </a:stretch>
        </p:blipFill>
        <p:spPr>
          <a:xfrm>
            <a:off x="7815548" y="3294079"/>
            <a:ext cx="4020111" cy="2295845"/>
          </a:xfrm>
          <a:prstGeom prst="rect">
            <a:avLst/>
          </a:prstGeom>
        </p:spPr>
      </p:pic>
      <p:pic>
        <p:nvPicPr>
          <p:cNvPr id="25" name="Picture 24">
            <a:extLst>
              <a:ext uri="{FF2B5EF4-FFF2-40B4-BE49-F238E27FC236}">
                <a16:creationId xmlns:a16="http://schemas.microsoft.com/office/drawing/2014/main" id="{F0E667D6-DCC8-717F-2A28-2271BEB851B7}"/>
              </a:ext>
            </a:extLst>
          </p:cNvPr>
          <p:cNvPicPr>
            <a:picLocks noChangeAspect="1"/>
          </p:cNvPicPr>
          <p:nvPr/>
        </p:nvPicPr>
        <p:blipFill>
          <a:blip r:embed="rId4"/>
          <a:stretch>
            <a:fillRect/>
          </a:stretch>
        </p:blipFill>
        <p:spPr>
          <a:xfrm>
            <a:off x="7672466" y="898668"/>
            <a:ext cx="2347370" cy="2110200"/>
          </a:xfrm>
          <a:prstGeom prst="rect">
            <a:avLst/>
          </a:prstGeom>
        </p:spPr>
      </p:pic>
    </p:spTree>
    <p:extLst>
      <p:ext uri="{BB962C8B-B14F-4D97-AF65-F5344CB8AC3E}">
        <p14:creationId xmlns:p14="http://schemas.microsoft.com/office/powerpoint/2010/main" val="4890867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B31C31C-EF5B-891E-5BB5-E999A14437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5EB8E53-806B-1555-C3AC-80314EF4AD72}"/>
              </a:ext>
            </a:extLst>
          </p:cNvPr>
          <p:cNvSpPr>
            <a:spLocks noGrp="1"/>
          </p:cNvSpPr>
          <p:nvPr>
            <p:ph type="title"/>
          </p:nvPr>
        </p:nvSpPr>
        <p:spPr>
          <a:xfrm>
            <a:off x="1563805" y="3035343"/>
            <a:ext cx="9064390" cy="787314"/>
          </a:xfrm>
        </p:spPr>
        <p:txBody>
          <a:bodyPr>
            <a:normAutofit/>
          </a:bodyPr>
          <a:lstStyle/>
          <a:p>
            <a:pPr algn="ctr"/>
            <a:r>
              <a:rPr lang="en-US" sz="4800" dirty="0"/>
              <a:t>Literature GRIPPER</a:t>
            </a:r>
          </a:p>
        </p:txBody>
      </p:sp>
    </p:spTree>
    <p:extLst>
      <p:ext uri="{BB962C8B-B14F-4D97-AF65-F5344CB8AC3E}">
        <p14:creationId xmlns:p14="http://schemas.microsoft.com/office/powerpoint/2010/main" val="12241158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084E46-4CBC-0641-A29A-45C9F14FAF14}"/>
              </a:ext>
            </a:extLst>
          </p:cNvPr>
          <p:cNvSpPr>
            <a:spLocks noGrp="1"/>
          </p:cNvSpPr>
          <p:nvPr>
            <p:ph type="title"/>
          </p:nvPr>
        </p:nvSpPr>
        <p:spPr>
          <a:xfrm>
            <a:off x="277788" y="1254066"/>
            <a:ext cx="5818212" cy="787314"/>
          </a:xfrm>
        </p:spPr>
        <p:txBody>
          <a:bodyPr>
            <a:noAutofit/>
          </a:bodyPr>
          <a:lstStyle/>
          <a:p>
            <a:r>
              <a:rPr lang="en-IE" sz="2000" dirty="0">
                <a:solidFill>
                  <a:schemeClr val="bg2">
                    <a:lumMod val="10000"/>
                  </a:schemeClr>
                </a:solidFill>
              </a:rPr>
              <a:t>Non-</a:t>
            </a:r>
            <a:r>
              <a:rPr lang="en-IE" sz="2000" dirty="0" err="1">
                <a:solidFill>
                  <a:schemeClr val="bg2">
                    <a:lumMod val="10000"/>
                  </a:schemeClr>
                </a:solidFill>
              </a:rPr>
              <a:t>backdrivable</a:t>
            </a:r>
            <a:r>
              <a:rPr lang="en-IE" sz="2000" dirty="0">
                <a:solidFill>
                  <a:schemeClr val="bg2">
                    <a:lumMod val="10000"/>
                  </a:schemeClr>
                </a:solidFill>
              </a:rPr>
              <a:t> grippers (like worm gears) can't feel forces and easily crush objects. </a:t>
            </a:r>
            <a:endParaRPr lang="en-US" sz="2000" dirty="0">
              <a:solidFill>
                <a:schemeClr val="bg2">
                  <a:lumMod val="10000"/>
                </a:schemeClr>
              </a:solidFill>
            </a:endParaRPr>
          </a:p>
        </p:txBody>
      </p:sp>
      <p:sp>
        <p:nvSpPr>
          <p:cNvPr id="4" name="Title 1">
            <a:extLst>
              <a:ext uri="{FF2B5EF4-FFF2-40B4-BE49-F238E27FC236}">
                <a16:creationId xmlns:a16="http://schemas.microsoft.com/office/drawing/2014/main" id="{D304E062-B1C7-8593-E20F-610F37A02ABA}"/>
              </a:ext>
            </a:extLst>
          </p:cNvPr>
          <p:cNvSpPr txBox="1">
            <a:spLocks/>
          </p:cNvSpPr>
          <p:nvPr/>
        </p:nvSpPr>
        <p:spPr>
          <a:xfrm>
            <a:off x="145200" y="111354"/>
            <a:ext cx="9064390" cy="787314"/>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400" b="1" kern="1200">
                <a:solidFill>
                  <a:schemeClr val="bg1"/>
                </a:solidFill>
                <a:latin typeface="+mn-lt"/>
                <a:ea typeface="+mj-ea"/>
                <a:cs typeface="+mj-cs"/>
              </a:defRPr>
            </a:lvl1pPr>
          </a:lstStyle>
          <a:p>
            <a:r>
              <a:rPr lang="en-US" b="0" dirty="0">
                <a:solidFill>
                  <a:srgbClr val="002060"/>
                </a:solidFill>
              </a:rPr>
              <a:t>Literature : Gripper</a:t>
            </a:r>
          </a:p>
        </p:txBody>
      </p:sp>
      <p:sp>
        <p:nvSpPr>
          <p:cNvPr id="7" name="Title 1">
            <a:extLst>
              <a:ext uri="{FF2B5EF4-FFF2-40B4-BE49-F238E27FC236}">
                <a16:creationId xmlns:a16="http://schemas.microsoft.com/office/drawing/2014/main" id="{653712F1-9F49-4828-3E14-5BA968EA443A}"/>
              </a:ext>
            </a:extLst>
          </p:cNvPr>
          <p:cNvSpPr txBox="1">
            <a:spLocks/>
          </p:cNvSpPr>
          <p:nvPr/>
        </p:nvSpPr>
        <p:spPr>
          <a:xfrm>
            <a:off x="218352" y="2568479"/>
            <a:ext cx="5944704" cy="787314"/>
          </a:xfrm>
          <a:prstGeom prst="rect">
            <a:avLst/>
          </a:prstGeom>
        </p:spPr>
        <p:txBody>
          <a:bodyPr vert="horz" lIns="91440" tIns="45720" rIns="91440" bIns="45720" rtlCol="0" anchor="t">
            <a:normAutofit fontScale="92500" lnSpcReduction="20000"/>
          </a:bodyPr>
          <a:lstStyle>
            <a:lvl1pPr algn="l" defTabSz="914400" rtl="0" eaLnBrk="1" latinLnBrk="0" hangingPunct="1">
              <a:lnSpc>
                <a:spcPct val="90000"/>
              </a:lnSpc>
              <a:spcBef>
                <a:spcPct val="0"/>
              </a:spcBef>
              <a:buNone/>
              <a:defRPr sz="3400" b="1" kern="1200">
                <a:solidFill>
                  <a:schemeClr val="bg1"/>
                </a:solidFill>
                <a:latin typeface="+mn-lt"/>
                <a:ea typeface="+mj-ea"/>
                <a:cs typeface="+mj-cs"/>
              </a:defRPr>
            </a:lvl1pPr>
          </a:lstStyle>
          <a:p>
            <a:r>
              <a:rPr lang="en-IE" sz="2000" dirty="0">
                <a:solidFill>
                  <a:schemeClr val="bg2">
                    <a:lumMod val="10000"/>
                  </a:schemeClr>
                </a:solidFill>
              </a:rPr>
              <a:t>Non-</a:t>
            </a:r>
            <a:r>
              <a:rPr lang="en-IE" sz="2000" dirty="0" err="1">
                <a:solidFill>
                  <a:schemeClr val="bg2">
                    <a:lumMod val="10000"/>
                  </a:schemeClr>
                </a:solidFill>
              </a:rPr>
              <a:t>backdrivable</a:t>
            </a:r>
            <a:r>
              <a:rPr lang="en-IE" sz="2000" dirty="0">
                <a:solidFill>
                  <a:schemeClr val="bg2">
                    <a:lumMod val="10000"/>
                  </a:schemeClr>
                </a:solidFill>
              </a:rPr>
              <a:t> mechanism. Add Force Sensitive Resistors (FSRs) and soft TPU pads to the fingers for real-time feedback.</a:t>
            </a:r>
            <a:endParaRPr lang="en-US" sz="2000" dirty="0">
              <a:solidFill>
                <a:schemeClr val="bg2">
                  <a:lumMod val="10000"/>
                </a:schemeClr>
              </a:solidFill>
            </a:endParaRPr>
          </a:p>
        </p:txBody>
      </p:sp>
      <p:sp>
        <p:nvSpPr>
          <p:cNvPr id="9" name="Title 1">
            <a:extLst>
              <a:ext uri="{FF2B5EF4-FFF2-40B4-BE49-F238E27FC236}">
                <a16:creationId xmlns:a16="http://schemas.microsoft.com/office/drawing/2014/main" id="{FA977FE0-4127-A0CB-2E12-38DB1EA0E571}"/>
              </a:ext>
            </a:extLst>
          </p:cNvPr>
          <p:cNvSpPr txBox="1">
            <a:spLocks/>
          </p:cNvSpPr>
          <p:nvPr/>
        </p:nvSpPr>
        <p:spPr>
          <a:xfrm>
            <a:off x="208464" y="3827530"/>
            <a:ext cx="5731344" cy="787314"/>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400" b="1" kern="1200">
                <a:solidFill>
                  <a:schemeClr val="bg1"/>
                </a:solidFill>
                <a:latin typeface="+mn-lt"/>
                <a:ea typeface="+mj-ea"/>
                <a:cs typeface="+mj-cs"/>
              </a:defRPr>
            </a:lvl1pPr>
          </a:lstStyle>
          <a:p>
            <a:r>
              <a:rPr lang="en-IE" sz="2000" dirty="0">
                <a:solidFill>
                  <a:schemeClr val="bg2">
                    <a:lumMod val="10000"/>
                  </a:schemeClr>
                </a:solidFill>
              </a:rPr>
              <a:t>Closed-loop control stabilizes the grip at 50 N and auto-adjusts if the object slips.</a:t>
            </a:r>
            <a:endParaRPr lang="en-US" sz="2000" dirty="0">
              <a:solidFill>
                <a:schemeClr val="bg2">
                  <a:lumMod val="10000"/>
                </a:schemeClr>
              </a:solidFill>
            </a:endParaRPr>
          </a:p>
        </p:txBody>
      </p:sp>
      <p:sp>
        <p:nvSpPr>
          <p:cNvPr id="10" name="Title 1">
            <a:extLst>
              <a:ext uri="{FF2B5EF4-FFF2-40B4-BE49-F238E27FC236}">
                <a16:creationId xmlns:a16="http://schemas.microsoft.com/office/drawing/2014/main" id="{19F14257-CAC1-CA8C-9083-1422317474E3}"/>
              </a:ext>
            </a:extLst>
          </p:cNvPr>
          <p:cNvSpPr txBox="1">
            <a:spLocks/>
          </p:cNvSpPr>
          <p:nvPr/>
        </p:nvSpPr>
        <p:spPr>
          <a:xfrm>
            <a:off x="145200" y="5182029"/>
            <a:ext cx="5222328" cy="787314"/>
          </a:xfrm>
          <a:prstGeom prst="rect">
            <a:avLst/>
          </a:prstGeom>
        </p:spPr>
        <p:txBody>
          <a:bodyPr vert="horz" lIns="91440" tIns="45720" rIns="91440" bIns="45720" rtlCol="0" anchor="t">
            <a:normAutofit fontScale="92500" lnSpcReduction="20000"/>
          </a:bodyPr>
          <a:lstStyle>
            <a:lvl1pPr algn="l" defTabSz="914400" rtl="0" eaLnBrk="1" latinLnBrk="0" hangingPunct="1">
              <a:lnSpc>
                <a:spcPct val="90000"/>
              </a:lnSpc>
              <a:spcBef>
                <a:spcPct val="0"/>
              </a:spcBef>
              <a:buNone/>
              <a:defRPr sz="3400" b="1" kern="1200">
                <a:solidFill>
                  <a:schemeClr val="bg1"/>
                </a:solidFill>
                <a:latin typeface="+mn-lt"/>
                <a:ea typeface="+mj-ea"/>
                <a:cs typeface="+mj-cs"/>
              </a:defRPr>
            </a:lvl1pPr>
          </a:lstStyle>
          <a:p>
            <a:r>
              <a:rPr lang="en-IE" sz="2000" dirty="0">
                <a:solidFill>
                  <a:schemeClr val="bg2">
                    <a:lumMod val="10000"/>
                  </a:schemeClr>
                </a:solidFill>
              </a:rPr>
              <a:t>Hard contacts cause massive force spikes; soft pads are absolutely mandatory to absorb the impact.</a:t>
            </a:r>
            <a:endParaRPr lang="en-US" sz="2000" dirty="0">
              <a:solidFill>
                <a:schemeClr val="bg2">
                  <a:lumMod val="10000"/>
                </a:schemeClr>
              </a:solidFill>
            </a:endParaRPr>
          </a:p>
        </p:txBody>
      </p:sp>
      <p:sp>
        <p:nvSpPr>
          <p:cNvPr id="11" name="Title 1">
            <a:extLst>
              <a:ext uri="{FF2B5EF4-FFF2-40B4-BE49-F238E27FC236}">
                <a16:creationId xmlns:a16="http://schemas.microsoft.com/office/drawing/2014/main" id="{F4165798-D449-EDD4-F55F-C211AC39BF47}"/>
              </a:ext>
            </a:extLst>
          </p:cNvPr>
          <p:cNvSpPr txBox="1">
            <a:spLocks/>
          </p:cNvSpPr>
          <p:nvPr/>
        </p:nvSpPr>
        <p:spPr>
          <a:xfrm>
            <a:off x="4611072" y="199418"/>
            <a:ext cx="6194640" cy="787314"/>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400" b="1" kern="1200">
                <a:solidFill>
                  <a:schemeClr val="bg1"/>
                </a:solidFill>
                <a:latin typeface="+mn-lt"/>
                <a:ea typeface="+mj-ea"/>
                <a:cs typeface="+mj-cs"/>
              </a:defRPr>
            </a:lvl1pPr>
          </a:lstStyle>
          <a:p>
            <a:r>
              <a:rPr lang="en-IE" sz="1600" dirty="0">
                <a:solidFill>
                  <a:schemeClr val="bg2">
                    <a:lumMod val="10000"/>
                  </a:schemeClr>
                </a:solidFill>
              </a:rPr>
              <a:t>Force Control and Slip Detection for A Non-</a:t>
            </a:r>
            <a:r>
              <a:rPr lang="en-IE" sz="1600" dirty="0" err="1">
                <a:solidFill>
                  <a:schemeClr val="bg2">
                    <a:lumMod val="10000"/>
                  </a:schemeClr>
                </a:solidFill>
              </a:rPr>
              <a:t>Backdrivable</a:t>
            </a:r>
            <a:r>
              <a:rPr lang="en-IE" sz="1600" dirty="0">
                <a:solidFill>
                  <a:schemeClr val="bg2">
                    <a:lumMod val="10000"/>
                  </a:schemeClr>
                </a:solidFill>
              </a:rPr>
              <a:t> Robotic Gripper (Joshy et al., 2024)</a:t>
            </a:r>
            <a:endParaRPr lang="en-US" sz="1600" b="0" dirty="0">
              <a:solidFill>
                <a:schemeClr val="bg2">
                  <a:lumMod val="10000"/>
                </a:schemeClr>
              </a:solidFill>
            </a:endParaRPr>
          </a:p>
        </p:txBody>
      </p:sp>
      <p:sp>
        <p:nvSpPr>
          <p:cNvPr id="17" name="TextBox 16">
            <a:extLst>
              <a:ext uri="{FF2B5EF4-FFF2-40B4-BE49-F238E27FC236}">
                <a16:creationId xmlns:a16="http://schemas.microsoft.com/office/drawing/2014/main" id="{73951AC0-994C-9962-7C29-3BAF9311F975}"/>
              </a:ext>
            </a:extLst>
          </p:cNvPr>
          <p:cNvSpPr txBox="1"/>
          <p:nvPr/>
        </p:nvSpPr>
        <p:spPr>
          <a:xfrm>
            <a:off x="260528" y="856624"/>
            <a:ext cx="7068312" cy="400110"/>
          </a:xfrm>
          <a:prstGeom prst="rect">
            <a:avLst/>
          </a:prstGeom>
          <a:noFill/>
        </p:spPr>
        <p:txBody>
          <a:bodyPr wrap="square">
            <a:spAutoFit/>
          </a:bodyPr>
          <a:lstStyle/>
          <a:p>
            <a:r>
              <a:rPr lang="en-US" sz="2000" b="1" dirty="0">
                <a:solidFill>
                  <a:schemeClr val="tx2"/>
                </a:solidFill>
              </a:rPr>
              <a:t>Question/Gap: </a:t>
            </a:r>
            <a:endParaRPr lang="en-IE" sz="2000" b="1" dirty="0">
              <a:solidFill>
                <a:schemeClr val="tx2"/>
              </a:solidFill>
            </a:endParaRPr>
          </a:p>
        </p:txBody>
      </p:sp>
      <p:sp>
        <p:nvSpPr>
          <p:cNvPr id="18" name="TextBox 17">
            <a:extLst>
              <a:ext uri="{FF2B5EF4-FFF2-40B4-BE49-F238E27FC236}">
                <a16:creationId xmlns:a16="http://schemas.microsoft.com/office/drawing/2014/main" id="{D4B45CDC-FB80-A7DB-9147-E917C1971CAC}"/>
              </a:ext>
            </a:extLst>
          </p:cNvPr>
          <p:cNvSpPr txBox="1"/>
          <p:nvPr/>
        </p:nvSpPr>
        <p:spPr>
          <a:xfrm>
            <a:off x="208464" y="2123416"/>
            <a:ext cx="7068312" cy="400110"/>
          </a:xfrm>
          <a:prstGeom prst="rect">
            <a:avLst/>
          </a:prstGeom>
          <a:noFill/>
        </p:spPr>
        <p:txBody>
          <a:bodyPr wrap="square">
            <a:spAutoFit/>
          </a:bodyPr>
          <a:lstStyle/>
          <a:p>
            <a:r>
              <a:rPr lang="en-US" sz="2000" b="1" dirty="0">
                <a:solidFill>
                  <a:schemeClr val="tx2"/>
                </a:solidFill>
              </a:rPr>
              <a:t>Method: </a:t>
            </a:r>
            <a:endParaRPr lang="en-IE" sz="2000" b="1" dirty="0">
              <a:solidFill>
                <a:schemeClr val="tx2"/>
              </a:solidFill>
            </a:endParaRPr>
          </a:p>
        </p:txBody>
      </p:sp>
      <p:sp>
        <p:nvSpPr>
          <p:cNvPr id="19" name="TextBox 18">
            <a:extLst>
              <a:ext uri="{FF2B5EF4-FFF2-40B4-BE49-F238E27FC236}">
                <a16:creationId xmlns:a16="http://schemas.microsoft.com/office/drawing/2014/main" id="{F81DF284-53C5-0487-D28E-12BE49824B66}"/>
              </a:ext>
            </a:extLst>
          </p:cNvPr>
          <p:cNvSpPr txBox="1"/>
          <p:nvPr/>
        </p:nvSpPr>
        <p:spPr>
          <a:xfrm>
            <a:off x="166087" y="3426304"/>
            <a:ext cx="7068312" cy="400110"/>
          </a:xfrm>
          <a:prstGeom prst="rect">
            <a:avLst/>
          </a:prstGeom>
          <a:noFill/>
        </p:spPr>
        <p:txBody>
          <a:bodyPr wrap="square">
            <a:spAutoFit/>
          </a:bodyPr>
          <a:lstStyle/>
          <a:p>
            <a:r>
              <a:rPr lang="en-US" sz="2000" b="1" dirty="0">
                <a:solidFill>
                  <a:schemeClr val="tx2"/>
                </a:solidFill>
              </a:rPr>
              <a:t>Results: </a:t>
            </a:r>
            <a:endParaRPr lang="en-IE" sz="2000" b="1" dirty="0">
              <a:solidFill>
                <a:schemeClr val="tx2"/>
              </a:solidFill>
            </a:endParaRPr>
          </a:p>
        </p:txBody>
      </p:sp>
      <p:sp>
        <p:nvSpPr>
          <p:cNvPr id="20" name="TextBox 19">
            <a:extLst>
              <a:ext uri="{FF2B5EF4-FFF2-40B4-BE49-F238E27FC236}">
                <a16:creationId xmlns:a16="http://schemas.microsoft.com/office/drawing/2014/main" id="{3DC81C89-19AE-BA07-B4D0-31FE09719B48}"/>
              </a:ext>
            </a:extLst>
          </p:cNvPr>
          <p:cNvSpPr txBox="1"/>
          <p:nvPr/>
        </p:nvSpPr>
        <p:spPr>
          <a:xfrm>
            <a:off x="166087" y="4795041"/>
            <a:ext cx="7068312" cy="400110"/>
          </a:xfrm>
          <a:prstGeom prst="rect">
            <a:avLst/>
          </a:prstGeom>
          <a:noFill/>
        </p:spPr>
        <p:txBody>
          <a:bodyPr wrap="square">
            <a:spAutoFit/>
          </a:bodyPr>
          <a:lstStyle/>
          <a:p>
            <a:r>
              <a:rPr lang="en-US" sz="2000" b="1" dirty="0">
                <a:solidFill>
                  <a:schemeClr val="tx2"/>
                </a:solidFill>
              </a:rPr>
              <a:t>Limitations: </a:t>
            </a:r>
            <a:endParaRPr lang="en-IE" sz="2000" b="1" dirty="0">
              <a:solidFill>
                <a:schemeClr val="tx2"/>
              </a:solidFill>
            </a:endParaRPr>
          </a:p>
        </p:txBody>
      </p:sp>
      <p:pic>
        <p:nvPicPr>
          <p:cNvPr id="5" name="Picture 4">
            <a:extLst>
              <a:ext uri="{FF2B5EF4-FFF2-40B4-BE49-F238E27FC236}">
                <a16:creationId xmlns:a16="http://schemas.microsoft.com/office/drawing/2014/main" id="{A064FF5C-E1AE-E877-7327-E7307EC16490}"/>
              </a:ext>
            </a:extLst>
          </p:cNvPr>
          <p:cNvPicPr>
            <a:picLocks noChangeAspect="1"/>
          </p:cNvPicPr>
          <p:nvPr/>
        </p:nvPicPr>
        <p:blipFill>
          <a:blip r:embed="rId2"/>
          <a:stretch>
            <a:fillRect/>
          </a:stretch>
        </p:blipFill>
        <p:spPr>
          <a:xfrm>
            <a:off x="7110656" y="522470"/>
            <a:ext cx="4197867" cy="3696415"/>
          </a:xfrm>
          <a:prstGeom prst="rect">
            <a:avLst/>
          </a:prstGeom>
        </p:spPr>
      </p:pic>
      <p:pic>
        <p:nvPicPr>
          <p:cNvPr id="8" name="Picture 7">
            <a:extLst>
              <a:ext uri="{FF2B5EF4-FFF2-40B4-BE49-F238E27FC236}">
                <a16:creationId xmlns:a16="http://schemas.microsoft.com/office/drawing/2014/main" id="{127225A6-50B2-C760-E113-C44F98A5719F}"/>
              </a:ext>
            </a:extLst>
          </p:cNvPr>
          <p:cNvPicPr>
            <a:picLocks noChangeAspect="1"/>
          </p:cNvPicPr>
          <p:nvPr/>
        </p:nvPicPr>
        <p:blipFill>
          <a:blip r:embed="rId3"/>
          <a:stretch>
            <a:fillRect/>
          </a:stretch>
        </p:blipFill>
        <p:spPr>
          <a:xfrm>
            <a:off x="6611112" y="4308984"/>
            <a:ext cx="3966423" cy="2302189"/>
          </a:xfrm>
          <a:prstGeom prst="rect">
            <a:avLst/>
          </a:prstGeom>
        </p:spPr>
      </p:pic>
    </p:spTree>
    <p:extLst>
      <p:ext uri="{BB962C8B-B14F-4D97-AF65-F5344CB8AC3E}">
        <p14:creationId xmlns:p14="http://schemas.microsoft.com/office/powerpoint/2010/main" val="32693369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1F8FE7E-5B86-FB32-2F77-42B84E987C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0C2DE53-DD55-31A5-AA07-140BDF124E7F}"/>
              </a:ext>
            </a:extLst>
          </p:cNvPr>
          <p:cNvSpPr>
            <a:spLocks noGrp="1"/>
          </p:cNvSpPr>
          <p:nvPr>
            <p:ph type="title"/>
          </p:nvPr>
        </p:nvSpPr>
        <p:spPr>
          <a:xfrm>
            <a:off x="277788" y="1254066"/>
            <a:ext cx="4879428" cy="787314"/>
          </a:xfrm>
        </p:spPr>
        <p:txBody>
          <a:bodyPr>
            <a:normAutofit/>
          </a:bodyPr>
          <a:lstStyle/>
          <a:p>
            <a:r>
              <a:rPr lang="en-IE" sz="2000" dirty="0">
                <a:solidFill>
                  <a:schemeClr val="bg2">
                    <a:lumMod val="10000"/>
                  </a:schemeClr>
                </a:solidFill>
              </a:rPr>
              <a:t>Industrial grippers use complex, heavy internal gears.</a:t>
            </a:r>
            <a:endParaRPr lang="en-US" sz="2000" dirty="0">
              <a:solidFill>
                <a:schemeClr val="bg2">
                  <a:lumMod val="10000"/>
                </a:schemeClr>
              </a:solidFill>
            </a:endParaRPr>
          </a:p>
        </p:txBody>
      </p:sp>
      <p:sp>
        <p:nvSpPr>
          <p:cNvPr id="4" name="Title 1">
            <a:extLst>
              <a:ext uri="{FF2B5EF4-FFF2-40B4-BE49-F238E27FC236}">
                <a16:creationId xmlns:a16="http://schemas.microsoft.com/office/drawing/2014/main" id="{B913BEBE-E940-A237-A8DB-0429C1C724F4}"/>
              </a:ext>
            </a:extLst>
          </p:cNvPr>
          <p:cNvSpPr txBox="1">
            <a:spLocks/>
          </p:cNvSpPr>
          <p:nvPr/>
        </p:nvSpPr>
        <p:spPr>
          <a:xfrm>
            <a:off x="145200" y="111354"/>
            <a:ext cx="9064390" cy="787314"/>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400" b="1" kern="1200">
                <a:solidFill>
                  <a:schemeClr val="bg1"/>
                </a:solidFill>
                <a:latin typeface="+mn-lt"/>
                <a:ea typeface="+mj-ea"/>
                <a:cs typeface="+mj-cs"/>
              </a:defRPr>
            </a:lvl1pPr>
          </a:lstStyle>
          <a:p>
            <a:r>
              <a:rPr lang="en-US" b="0" dirty="0">
                <a:solidFill>
                  <a:srgbClr val="002060"/>
                </a:solidFill>
              </a:rPr>
              <a:t>Literature : Gripper</a:t>
            </a:r>
          </a:p>
        </p:txBody>
      </p:sp>
      <p:sp>
        <p:nvSpPr>
          <p:cNvPr id="7" name="Title 1">
            <a:extLst>
              <a:ext uri="{FF2B5EF4-FFF2-40B4-BE49-F238E27FC236}">
                <a16:creationId xmlns:a16="http://schemas.microsoft.com/office/drawing/2014/main" id="{09CC8143-C651-268E-DA14-8B691DDB94F0}"/>
              </a:ext>
            </a:extLst>
          </p:cNvPr>
          <p:cNvSpPr txBox="1">
            <a:spLocks/>
          </p:cNvSpPr>
          <p:nvPr/>
        </p:nvSpPr>
        <p:spPr>
          <a:xfrm>
            <a:off x="208464" y="2527127"/>
            <a:ext cx="5460072" cy="787314"/>
          </a:xfrm>
          <a:prstGeom prst="rect">
            <a:avLst/>
          </a:prstGeom>
        </p:spPr>
        <p:txBody>
          <a:bodyPr vert="horz" lIns="91440" tIns="45720" rIns="91440" bIns="45720" rtlCol="0" anchor="t">
            <a:normAutofit fontScale="92500"/>
          </a:bodyPr>
          <a:lstStyle>
            <a:lvl1pPr algn="l" defTabSz="914400" rtl="0" eaLnBrk="1" latinLnBrk="0" hangingPunct="1">
              <a:lnSpc>
                <a:spcPct val="90000"/>
              </a:lnSpc>
              <a:spcBef>
                <a:spcPct val="0"/>
              </a:spcBef>
              <a:buNone/>
              <a:defRPr sz="3400" b="1" kern="1200">
                <a:solidFill>
                  <a:schemeClr val="bg1"/>
                </a:solidFill>
                <a:latin typeface="+mn-lt"/>
                <a:ea typeface="+mj-ea"/>
                <a:cs typeface="+mj-cs"/>
              </a:defRPr>
            </a:lvl1pPr>
          </a:lstStyle>
          <a:p>
            <a:r>
              <a:rPr lang="en-IE" sz="2000" dirty="0">
                <a:solidFill>
                  <a:schemeClr val="bg2">
                    <a:lumMod val="10000"/>
                  </a:schemeClr>
                </a:solidFill>
              </a:rPr>
              <a:t>Build a simple sheet-metal gripper driven directly by a 24V DC motor, a lead screw, and an FSR sensor.</a:t>
            </a:r>
            <a:endParaRPr lang="en-US" sz="2000" dirty="0">
              <a:solidFill>
                <a:schemeClr val="bg2">
                  <a:lumMod val="10000"/>
                </a:schemeClr>
              </a:solidFill>
            </a:endParaRPr>
          </a:p>
        </p:txBody>
      </p:sp>
      <p:sp>
        <p:nvSpPr>
          <p:cNvPr id="9" name="Title 1">
            <a:extLst>
              <a:ext uri="{FF2B5EF4-FFF2-40B4-BE49-F238E27FC236}">
                <a16:creationId xmlns:a16="http://schemas.microsoft.com/office/drawing/2014/main" id="{7426889E-51C0-6131-1E98-1A5F6347994B}"/>
              </a:ext>
            </a:extLst>
          </p:cNvPr>
          <p:cNvSpPr txBox="1">
            <a:spLocks/>
          </p:cNvSpPr>
          <p:nvPr/>
        </p:nvSpPr>
        <p:spPr>
          <a:xfrm>
            <a:off x="145200" y="3826414"/>
            <a:ext cx="4893144" cy="787314"/>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400" b="1" kern="1200">
                <a:solidFill>
                  <a:schemeClr val="bg1"/>
                </a:solidFill>
                <a:latin typeface="+mn-lt"/>
                <a:ea typeface="+mj-ea"/>
                <a:cs typeface="+mj-cs"/>
              </a:defRPr>
            </a:lvl1pPr>
          </a:lstStyle>
          <a:p>
            <a:r>
              <a:rPr lang="en-IE" sz="2000" dirty="0">
                <a:solidFill>
                  <a:schemeClr val="bg2">
                    <a:lumMod val="10000"/>
                  </a:schemeClr>
                </a:solidFill>
              </a:rPr>
              <a:t>Outputs ~59 N of linear force, easily holding 3 kg water bottles.</a:t>
            </a:r>
            <a:endParaRPr lang="en-US" sz="2000" dirty="0">
              <a:solidFill>
                <a:schemeClr val="bg2">
                  <a:lumMod val="10000"/>
                </a:schemeClr>
              </a:solidFill>
            </a:endParaRPr>
          </a:p>
        </p:txBody>
      </p:sp>
      <p:sp>
        <p:nvSpPr>
          <p:cNvPr id="10" name="Title 1">
            <a:extLst>
              <a:ext uri="{FF2B5EF4-FFF2-40B4-BE49-F238E27FC236}">
                <a16:creationId xmlns:a16="http://schemas.microsoft.com/office/drawing/2014/main" id="{3FA718BD-0DD5-5C96-511E-83DEC830544E}"/>
              </a:ext>
            </a:extLst>
          </p:cNvPr>
          <p:cNvSpPr txBox="1">
            <a:spLocks/>
          </p:cNvSpPr>
          <p:nvPr/>
        </p:nvSpPr>
        <p:spPr>
          <a:xfrm>
            <a:off x="173108" y="5172885"/>
            <a:ext cx="5495428" cy="787314"/>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400" b="1" kern="1200">
                <a:solidFill>
                  <a:schemeClr val="bg1"/>
                </a:solidFill>
                <a:latin typeface="+mn-lt"/>
                <a:ea typeface="+mj-ea"/>
                <a:cs typeface="+mj-cs"/>
              </a:defRPr>
            </a:lvl1pPr>
          </a:lstStyle>
          <a:p>
            <a:r>
              <a:rPr lang="en-IE" sz="2000" dirty="0">
                <a:solidFill>
                  <a:schemeClr val="bg2">
                    <a:lumMod val="10000"/>
                  </a:schemeClr>
                </a:solidFill>
              </a:rPr>
              <a:t>Bare metal jaws are too slippery; rubber pads are needed to grip rigid objects properly.</a:t>
            </a:r>
            <a:endParaRPr lang="en-US" sz="2000" dirty="0">
              <a:solidFill>
                <a:schemeClr val="bg2">
                  <a:lumMod val="10000"/>
                </a:schemeClr>
              </a:solidFill>
            </a:endParaRPr>
          </a:p>
        </p:txBody>
      </p:sp>
      <p:sp>
        <p:nvSpPr>
          <p:cNvPr id="11" name="Title 1">
            <a:extLst>
              <a:ext uri="{FF2B5EF4-FFF2-40B4-BE49-F238E27FC236}">
                <a16:creationId xmlns:a16="http://schemas.microsoft.com/office/drawing/2014/main" id="{15C5A734-C2C0-936A-55F3-5834B0CA9059}"/>
              </a:ext>
            </a:extLst>
          </p:cNvPr>
          <p:cNvSpPr txBox="1">
            <a:spLocks/>
          </p:cNvSpPr>
          <p:nvPr/>
        </p:nvSpPr>
        <p:spPr>
          <a:xfrm>
            <a:off x="4918891" y="189200"/>
            <a:ext cx="4631016" cy="787314"/>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400" b="1" kern="1200">
                <a:solidFill>
                  <a:schemeClr val="bg1"/>
                </a:solidFill>
                <a:latin typeface="+mn-lt"/>
                <a:ea typeface="+mj-ea"/>
                <a:cs typeface="+mj-cs"/>
              </a:defRPr>
            </a:lvl1pPr>
          </a:lstStyle>
          <a:p>
            <a:r>
              <a:rPr lang="en-IE" sz="1600" dirty="0">
                <a:solidFill>
                  <a:schemeClr val="bg2">
                    <a:lumMod val="10000"/>
                  </a:schemeClr>
                </a:solidFill>
              </a:rPr>
              <a:t>DESIGN AND DEVELOPMENT OF A LEAD SCREW GRIPPER FOR ROBOTIC APPLICATION </a:t>
            </a:r>
            <a:r>
              <a:rPr lang="en-IE" sz="1600" dirty="0" err="1">
                <a:solidFill>
                  <a:schemeClr val="bg2">
                    <a:lumMod val="10000"/>
                  </a:schemeClr>
                </a:solidFill>
              </a:rPr>
              <a:t>Krithikanand</a:t>
            </a:r>
            <a:r>
              <a:rPr lang="en-IE" sz="1600" dirty="0">
                <a:solidFill>
                  <a:schemeClr val="bg2">
                    <a:lumMod val="10000"/>
                  </a:schemeClr>
                </a:solidFill>
              </a:rPr>
              <a:t> Krishnamoorthy </a:t>
            </a:r>
            <a:endParaRPr lang="en-US" sz="1600" dirty="0">
              <a:solidFill>
                <a:schemeClr val="bg2">
                  <a:lumMod val="10000"/>
                </a:schemeClr>
              </a:solidFill>
            </a:endParaRPr>
          </a:p>
        </p:txBody>
      </p:sp>
      <p:sp>
        <p:nvSpPr>
          <p:cNvPr id="17" name="TextBox 16">
            <a:extLst>
              <a:ext uri="{FF2B5EF4-FFF2-40B4-BE49-F238E27FC236}">
                <a16:creationId xmlns:a16="http://schemas.microsoft.com/office/drawing/2014/main" id="{15331E09-1E13-5D4F-F2EC-7C84EB47C706}"/>
              </a:ext>
            </a:extLst>
          </p:cNvPr>
          <p:cNvSpPr txBox="1"/>
          <p:nvPr/>
        </p:nvSpPr>
        <p:spPr>
          <a:xfrm>
            <a:off x="260528" y="856624"/>
            <a:ext cx="7068312" cy="400110"/>
          </a:xfrm>
          <a:prstGeom prst="rect">
            <a:avLst/>
          </a:prstGeom>
          <a:noFill/>
        </p:spPr>
        <p:txBody>
          <a:bodyPr wrap="square">
            <a:spAutoFit/>
          </a:bodyPr>
          <a:lstStyle/>
          <a:p>
            <a:r>
              <a:rPr lang="en-US" sz="2000" b="1" dirty="0">
                <a:solidFill>
                  <a:schemeClr val="tx2"/>
                </a:solidFill>
              </a:rPr>
              <a:t>Question/Gap: </a:t>
            </a:r>
            <a:endParaRPr lang="en-IE" sz="2000" b="1" dirty="0">
              <a:solidFill>
                <a:schemeClr val="tx2"/>
              </a:solidFill>
            </a:endParaRPr>
          </a:p>
        </p:txBody>
      </p:sp>
      <p:sp>
        <p:nvSpPr>
          <p:cNvPr id="18" name="TextBox 17">
            <a:extLst>
              <a:ext uri="{FF2B5EF4-FFF2-40B4-BE49-F238E27FC236}">
                <a16:creationId xmlns:a16="http://schemas.microsoft.com/office/drawing/2014/main" id="{7421EC4B-DBEB-A2E9-D280-A88C4C837775}"/>
              </a:ext>
            </a:extLst>
          </p:cNvPr>
          <p:cNvSpPr txBox="1"/>
          <p:nvPr/>
        </p:nvSpPr>
        <p:spPr>
          <a:xfrm>
            <a:off x="208464" y="2123416"/>
            <a:ext cx="7068312" cy="400110"/>
          </a:xfrm>
          <a:prstGeom prst="rect">
            <a:avLst/>
          </a:prstGeom>
          <a:noFill/>
        </p:spPr>
        <p:txBody>
          <a:bodyPr wrap="square">
            <a:spAutoFit/>
          </a:bodyPr>
          <a:lstStyle/>
          <a:p>
            <a:r>
              <a:rPr lang="en-US" sz="2000" b="1" dirty="0">
                <a:solidFill>
                  <a:schemeClr val="tx2"/>
                </a:solidFill>
              </a:rPr>
              <a:t>Method: </a:t>
            </a:r>
            <a:endParaRPr lang="en-IE" sz="2000" b="1" dirty="0">
              <a:solidFill>
                <a:schemeClr val="tx2"/>
              </a:solidFill>
            </a:endParaRPr>
          </a:p>
        </p:txBody>
      </p:sp>
      <p:sp>
        <p:nvSpPr>
          <p:cNvPr id="19" name="TextBox 18">
            <a:extLst>
              <a:ext uri="{FF2B5EF4-FFF2-40B4-BE49-F238E27FC236}">
                <a16:creationId xmlns:a16="http://schemas.microsoft.com/office/drawing/2014/main" id="{AFCFEC01-C1B4-50EB-14E1-8C305E5C1D6D}"/>
              </a:ext>
            </a:extLst>
          </p:cNvPr>
          <p:cNvSpPr txBox="1"/>
          <p:nvPr/>
        </p:nvSpPr>
        <p:spPr>
          <a:xfrm>
            <a:off x="166087" y="3426304"/>
            <a:ext cx="7068312" cy="400110"/>
          </a:xfrm>
          <a:prstGeom prst="rect">
            <a:avLst/>
          </a:prstGeom>
          <a:noFill/>
        </p:spPr>
        <p:txBody>
          <a:bodyPr wrap="square">
            <a:spAutoFit/>
          </a:bodyPr>
          <a:lstStyle/>
          <a:p>
            <a:r>
              <a:rPr lang="en-US" sz="2000" b="1" dirty="0">
                <a:solidFill>
                  <a:schemeClr val="tx2"/>
                </a:solidFill>
              </a:rPr>
              <a:t>Results: </a:t>
            </a:r>
            <a:endParaRPr lang="en-IE" sz="2000" b="1" dirty="0">
              <a:solidFill>
                <a:schemeClr val="tx2"/>
              </a:solidFill>
            </a:endParaRPr>
          </a:p>
        </p:txBody>
      </p:sp>
      <p:sp>
        <p:nvSpPr>
          <p:cNvPr id="20" name="TextBox 19">
            <a:extLst>
              <a:ext uri="{FF2B5EF4-FFF2-40B4-BE49-F238E27FC236}">
                <a16:creationId xmlns:a16="http://schemas.microsoft.com/office/drawing/2014/main" id="{29C0087A-AEB3-77E0-0652-5BD48E23AE13}"/>
              </a:ext>
            </a:extLst>
          </p:cNvPr>
          <p:cNvSpPr txBox="1"/>
          <p:nvPr/>
        </p:nvSpPr>
        <p:spPr>
          <a:xfrm>
            <a:off x="166087" y="4795041"/>
            <a:ext cx="7068312" cy="400110"/>
          </a:xfrm>
          <a:prstGeom prst="rect">
            <a:avLst/>
          </a:prstGeom>
          <a:noFill/>
        </p:spPr>
        <p:txBody>
          <a:bodyPr wrap="square">
            <a:spAutoFit/>
          </a:bodyPr>
          <a:lstStyle/>
          <a:p>
            <a:r>
              <a:rPr lang="en-US" sz="2000" b="1" dirty="0">
                <a:solidFill>
                  <a:schemeClr val="tx2"/>
                </a:solidFill>
              </a:rPr>
              <a:t>Limitations: </a:t>
            </a:r>
            <a:endParaRPr lang="en-IE" sz="2000" b="1" dirty="0">
              <a:solidFill>
                <a:schemeClr val="tx2"/>
              </a:solidFill>
            </a:endParaRPr>
          </a:p>
        </p:txBody>
      </p:sp>
      <p:pic>
        <p:nvPicPr>
          <p:cNvPr id="5" name="Picture 4">
            <a:extLst>
              <a:ext uri="{FF2B5EF4-FFF2-40B4-BE49-F238E27FC236}">
                <a16:creationId xmlns:a16="http://schemas.microsoft.com/office/drawing/2014/main" id="{A2CD8D80-E227-89BB-F7D0-8E9D41236259}"/>
              </a:ext>
            </a:extLst>
          </p:cNvPr>
          <p:cNvPicPr>
            <a:picLocks noChangeAspect="1"/>
          </p:cNvPicPr>
          <p:nvPr/>
        </p:nvPicPr>
        <p:blipFill>
          <a:blip r:embed="rId2"/>
          <a:stretch>
            <a:fillRect/>
          </a:stretch>
        </p:blipFill>
        <p:spPr>
          <a:xfrm>
            <a:off x="7234399" y="724043"/>
            <a:ext cx="4631016" cy="3312577"/>
          </a:xfrm>
          <a:prstGeom prst="rect">
            <a:avLst/>
          </a:prstGeom>
        </p:spPr>
      </p:pic>
      <p:pic>
        <p:nvPicPr>
          <p:cNvPr id="8" name="Picture 7">
            <a:extLst>
              <a:ext uri="{FF2B5EF4-FFF2-40B4-BE49-F238E27FC236}">
                <a16:creationId xmlns:a16="http://schemas.microsoft.com/office/drawing/2014/main" id="{37742367-BB44-679F-2FBF-A08675BC156F}"/>
              </a:ext>
            </a:extLst>
          </p:cNvPr>
          <p:cNvPicPr>
            <a:picLocks noChangeAspect="1"/>
          </p:cNvPicPr>
          <p:nvPr/>
        </p:nvPicPr>
        <p:blipFill>
          <a:blip r:embed="rId3"/>
          <a:stretch>
            <a:fillRect/>
          </a:stretch>
        </p:blipFill>
        <p:spPr>
          <a:xfrm>
            <a:off x="5545836" y="4118657"/>
            <a:ext cx="2767666" cy="2644226"/>
          </a:xfrm>
          <a:prstGeom prst="rect">
            <a:avLst/>
          </a:prstGeom>
        </p:spPr>
      </p:pic>
      <p:pic>
        <p:nvPicPr>
          <p:cNvPr id="13" name="Picture 12">
            <a:extLst>
              <a:ext uri="{FF2B5EF4-FFF2-40B4-BE49-F238E27FC236}">
                <a16:creationId xmlns:a16="http://schemas.microsoft.com/office/drawing/2014/main" id="{C0154CAF-3D6C-BECC-37B8-A081883BC3D5}"/>
              </a:ext>
            </a:extLst>
          </p:cNvPr>
          <p:cNvPicPr>
            <a:picLocks noChangeAspect="1"/>
          </p:cNvPicPr>
          <p:nvPr/>
        </p:nvPicPr>
        <p:blipFill>
          <a:blip r:embed="rId4"/>
          <a:stretch>
            <a:fillRect/>
          </a:stretch>
        </p:blipFill>
        <p:spPr>
          <a:xfrm>
            <a:off x="8820994" y="4128029"/>
            <a:ext cx="2767666" cy="2684159"/>
          </a:xfrm>
          <a:prstGeom prst="rect">
            <a:avLst/>
          </a:prstGeom>
        </p:spPr>
      </p:pic>
    </p:spTree>
    <p:extLst>
      <p:ext uri="{BB962C8B-B14F-4D97-AF65-F5344CB8AC3E}">
        <p14:creationId xmlns:p14="http://schemas.microsoft.com/office/powerpoint/2010/main" val="23145674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21E221D-C468-AE77-DB51-252F440DF59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988A6B-BE4A-C8ED-16E0-54E14B793F16}"/>
              </a:ext>
            </a:extLst>
          </p:cNvPr>
          <p:cNvSpPr>
            <a:spLocks noGrp="1"/>
          </p:cNvSpPr>
          <p:nvPr>
            <p:ph type="title"/>
          </p:nvPr>
        </p:nvSpPr>
        <p:spPr>
          <a:xfrm>
            <a:off x="277788" y="1254066"/>
            <a:ext cx="4925148" cy="787314"/>
          </a:xfrm>
        </p:spPr>
        <p:txBody>
          <a:bodyPr>
            <a:normAutofit/>
          </a:bodyPr>
          <a:lstStyle/>
          <a:p>
            <a:r>
              <a:rPr lang="en-IE" sz="2000" dirty="0">
                <a:solidFill>
                  <a:schemeClr val="bg2">
                    <a:lumMod val="10000"/>
                  </a:schemeClr>
                </a:solidFill>
              </a:rPr>
              <a:t>Passive grippers usually need to crash into the ground to release an object.</a:t>
            </a:r>
            <a:endParaRPr lang="en-US" sz="2000" dirty="0">
              <a:solidFill>
                <a:schemeClr val="bg2">
                  <a:lumMod val="10000"/>
                </a:schemeClr>
              </a:solidFill>
            </a:endParaRPr>
          </a:p>
        </p:txBody>
      </p:sp>
      <p:sp>
        <p:nvSpPr>
          <p:cNvPr id="4" name="Title 1">
            <a:extLst>
              <a:ext uri="{FF2B5EF4-FFF2-40B4-BE49-F238E27FC236}">
                <a16:creationId xmlns:a16="http://schemas.microsoft.com/office/drawing/2014/main" id="{C8EE0365-B7CD-5DBE-52A1-7E65EE638CC0}"/>
              </a:ext>
            </a:extLst>
          </p:cNvPr>
          <p:cNvSpPr txBox="1">
            <a:spLocks/>
          </p:cNvSpPr>
          <p:nvPr/>
        </p:nvSpPr>
        <p:spPr>
          <a:xfrm>
            <a:off x="145200" y="111354"/>
            <a:ext cx="9064390" cy="787314"/>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400" b="1" kern="1200">
                <a:solidFill>
                  <a:schemeClr val="bg1"/>
                </a:solidFill>
                <a:latin typeface="+mn-lt"/>
                <a:ea typeface="+mj-ea"/>
                <a:cs typeface="+mj-cs"/>
              </a:defRPr>
            </a:lvl1pPr>
          </a:lstStyle>
          <a:p>
            <a:r>
              <a:rPr lang="en-US" b="0" dirty="0">
                <a:solidFill>
                  <a:srgbClr val="002060"/>
                </a:solidFill>
              </a:rPr>
              <a:t>Literature : Gripper</a:t>
            </a:r>
          </a:p>
        </p:txBody>
      </p:sp>
      <p:sp>
        <p:nvSpPr>
          <p:cNvPr id="7" name="Title 1">
            <a:extLst>
              <a:ext uri="{FF2B5EF4-FFF2-40B4-BE49-F238E27FC236}">
                <a16:creationId xmlns:a16="http://schemas.microsoft.com/office/drawing/2014/main" id="{D4351038-B7AA-41E0-18D7-FD018CE93EAE}"/>
              </a:ext>
            </a:extLst>
          </p:cNvPr>
          <p:cNvSpPr txBox="1">
            <a:spLocks/>
          </p:cNvSpPr>
          <p:nvPr/>
        </p:nvSpPr>
        <p:spPr>
          <a:xfrm>
            <a:off x="200064" y="2528743"/>
            <a:ext cx="5002872" cy="787314"/>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400" b="1" kern="1200">
                <a:solidFill>
                  <a:schemeClr val="bg1"/>
                </a:solidFill>
                <a:latin typeface="+mn-lt"/>
                <a:ea typeface="+mj-ea"/>
                <a:cs typeface="+mj-cs"/>
              </a:defRPr>
            </a:lvl1pPr>
          </a:lstStyle>
          <a:p>
            <a:r>
              <a:rPr lang="en-IE" sz="2000" dirty="0">
                <a:solidFill>
                  <a:schemeClr val="bg2">
                    <a:lumMod val="10000"/>
                  </a:schemeClr>
                </a:solidFill>
              </a:rPr>
              <a:t>Uses Fin Ray fingers to grab, a linear ratchet to hold, and a gravity/spring system to drop.</a:t>
            </a:r>
            <a:endParaRPr lang="en-US" sz="2000" dirty="0">
              <a:solidFill>
                <a:schemeClr val="bg2">
                  <a:lumMod val="10000"/>
                </a:schemeClr>
              </a:solidFill>
            </a:endParaRPr>
          </a:p>
        </p:txBody>
      </p:sp>
      <p:sp>
        <p:nvSpPr>
          <p:cNvPr id="9" name="Title 1">
            <a:extLst>
              <a:ext uri="{FF2B5EF4-FFF2-40B4-BE49-F238E27FC236}">
                <a16:creationId xmlns:a16="http://schemas.microsoft.com/office/drawing/2014/main" id="{C7B47621-F100-3F8D-1238-FB692B158CD2}"/>
              </a:ext>
            </a:extLst>
          </p:cNvPr>
          <p:cNvSpPr txBox="1">
            <a:spLocks/>
          </p:cNvSpPr>
          <p:nvPr/>
        </p:nvSpPr>
        <p:spPr>
          <a:xfrm>
            <a:off x="145200" y="3841966"/>
            <a:ext cx="4673688" cy="787314"/>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400" b="1" kern="1200">
                <a:solidFill>
                  <a:schemeClr val="bg1"/>
                </a:solidFill>
                <a:latin typeface="+mn-lt"/>
                <a:ea typeface="+mj-ea"/>
                <a:cs typeface="+mj-cs"/>
              </a:defRPr>
            </a:lvl1pPr>
          </a:lstStyle>
          <a:p>
            <a:r>
              <a:rPr lang="en-IE" sz="2000" dirty="0">
                <a:solidFill>
                  <a:schemeClr val="bg2">
                    <a:lumMod val="10000"/>
                  </a:schemeClr>
                </a:solidFill>
              </a:rPr>
              <a:t>100% passive grip and hold. Drops objects mid-air just by tilting the robot arm.</a:t>
            </a:r>
            <a:endParaRPr lang="en-US" sz="2000" dirty="0">
              <a:solidFill>
                <a:schemeClr val="bg2">
                  <a:lumMod val="10000"/>
                </a:schemeClr>
              </a:solidFill>
            </a:endParaRPr>
          </a:p>
        </p:txBody>
      </p:sp>
      <p:sp>
        <p:nvSpPr>
          <p:cNvPr id="10" name="Title 1">
            <a:extLst>
              <a:ext uri="{FF2B5EF4-FFF2-40B4-BE49-F238E27FC236}">
                <a16:creationId xmlns:a16="http://schemas.microsoft.com/office/drawing/2014/main" id="{C74CD896-FDCC-E15A-F1E3-0A0018C08E2E}"/>
              </a:ext>
            </a:extLst>
          </p:cNvPr>
          <p:cNvSpPr txBox="1">
            <a:spLocks/>
          </p:cNvSpPr>
          <p:nvPr/>
        </p:nvSpPr>
        <p:spPr>
          <a:xfrm>
            <a:off x="145200" y="5189814"/>
            <a:ext cx="4938864" cy="787314"/>
          </a:xfrm>
          <a:prstGeom prst="rect">
            <a:avLst/>
          </a:prstGeom>
        </p:spPr>
        <p:txBody>
          <a:bodyPr vert="horz" lIns="91440" tIns="45720" rIns="91440" bIns="45720" rtlCol="0" anchor="t">
            <a:normAutofit fontScale="92500" lnSpcReduction="20000"/>
          </a:bodyPr>
          <a:lstStyle>
            <a:lvl1pPr algn="l" defTabSz="914400" rtl="0" eaLnBrk="1" latinLnBrk="0" hangingPunct="1">
              <a:lnSpc>
                <a:spcPct val="90000"/>
              </a:lnSpc>
              <a:spcBef>
                <a:spcPct val="0"/>
              </a:spcBef>
              <a:buNone/>
              <a:defRPr sz="3400" b="1" kern="1200">
                <a:solidFill>
                  <a:schemeClr val="bg1"/>
                </a:solidFill>
                <a:latin typeface="+mn-lt"/>
                <a:ea typeface="+mj-ea"/>
                <a:cs typeface="+mj-cs"/>
              </a:defRPr>
            </a:lvl1pPr>
          </a:lstStyle>
          <a:p>
            <a:r>
              <a:rPr lang="en-IE" sz="2000" dirty="0">
                <a:solidFill>
                  <a:schemeClr val="bg2">
                    <a:lumMod val="10000"/>
                  </a:schemeClr>
                </a:solidFill>
              </a:rPr>
              <a:t>Fails on very short, tapered, or soft objects. The release mechanism breaks if the 3D print is slightly inaccurate.</a:t>
            </a:r>
            <a:endParaRPr lang="en-US" sz="2000" dirty="0">
              <a:solidFill>
                <a:schemeClr val="bg2">
                  <a:lumMod val="10000"/>
                </a:schemeClr>
              </a:solidFill>
            </a:endParaRPr>
          </a:p>
        </p:txBody>
      </p:sp>
      <p:sp>
        <p:nvSpPr>
          <p:cNvPr id="11" name="Title 1">
            <a:extLst>
              <a:ext uri="{FF2B5EF4-FFF2-40B4-BE49-F238E27FC236}">
                <a16:creationId xmlns:a16="http://schemas.microsoft.com/office/drawing/2014/main" id="{F57FAE1C-780C-4CA0-0E7F-AB44E57CC89C}"/>
              </a:ext>
            </a:extLst>
          </p:cNvPr>
          <p:cNvSpPr txBox="1">
            <a:spLocks/>
          </p:cNvSpPr>
          <p:nvPr/>
        </p:nvSpPr>
        <p:spPr>
          <a:xfrm>
            <a:off x="4690291" y="218044"/>
            <a:ext cx="5088216" cy="787314"/>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400" b="1" kern="1200">
                <a:solidFill>
                  <a:schemeClr val="bg1"/>
                </a:solidFill>
                <a:latin typeface="+mn-lt"/>
                <a:ea typeface="+mj-ea"/>
                <a:cs typeface="+mj-cs"/>
              </a:defRPr>
            </a:lvl1pPr>
          </a:lstStyle>
          <a:p>
            <a:r>
              <a:rPr lang="en-IE" sz="1600" dirty="0">
                <a:solidFill>
                  <a:schemeClr val="bg2">
                    <a:lumMod val="10000"/>
                  </a:schemeClr>
                </a:solidFill>
              </a:rPr>
              <a:t>Passive Adaptive Object Prehension, Retention, and Release With a Mechanically Intelligent Gripper Ming Chun Chan , Student Member, IEEE, </a:t>
            </a:r>
            <a:r>
              <a:rPr lang="en-IE" sz="1600" dirty="0" err="1">
                <a:solidFill>
                  <a:schemeClr val="bg2">
                    <a:lumMod val="10000"/>
                  </a:schemeClr>
                </a:solidFill>
              </a:rPr>
              <a:t>Jiayun</a:t>
            </a:r>
            <a:r>
              <a:rPr lang="en-IE" sz="1600" dirty="0">
                <a:solidFill>
                  <a:schemeClr val="bg2">
                    <a:lumMod val="10000"/>
                  </a:schemeClr>
                </a:solidFill>
              </a:rPr>
              <a:t> Li</a:t>
            </a:r>
            <a:endParaRPr lang="en-US" sz="1600" b="0" dirty="0">
              <a:solidFill>
                <a:schemeClr val="bg2">
                  <a:lumMod val="10000"/>
                </a:schemeClr>
              </a:solidFill>
            </a:endParaRPr>
          </a:p>
        </p:txBody>
      </p:sp>
      <p:sp>
        <p:nvSpPr>
          <p:cNvPr id="17" name="TextBox 16">
            <a:extLst>
              <a:ext uri="{FF2B5EF4-FFF2-40B4-BE49-F238E27FC236}">
                <a16:creationId xmlns:a16="http://schemas.microsoft.com/office/drawing/2014/main" id="{57F9F1A2-8952-7AE9-1CE7-39F157D5E09F}"/>
              </a:ext>
            </a:extLst>
          </p:cNvPr>
          <p:cNvSpPr txBox="1"/>
          <p:nvPr/>
        </p:nvSpPr>
        <p:spPr>
          <a:xfrm>
            <a:off x="260528" y="856624"/>
            <a:ext cx="7068312" cy="400110"/>
          </a:xfrm>
          <a:prstGeom prst="rect">
            <a:avLst/>
          </a:prstGeom>
          <a:noFill/>
        </p:spPr>
        <p:txBody>
          <a:bodyPr wrap="square">
            <a:spAutoFit/>
          </a:bodyPr>
          <a:lstStyle/>
          <a:p>
            <a:r>
              <a:rPr lang="en-US" sz="2000" b="1" dirty="0">
                <a:solidFill>
                  <a:schemeClr val="tx2"/>
                </a:solidFill>
              </a:rPr>
              <a:t>Question/Gap: </a:t>
            </a:r>
            <a:endParaRPr lang="en-IE" sz="2000" b="1" dirty="0">
              <a:solidFill>
                <a:schemeClr val="tx2"/>
              </a:solidFill>
            </a:endParaRPr>
          </a:p>
        </p:txBody>
      </p:sp>
      <p:sp>
        <p:nvSpPr>
          <p:cNvPr id="18" name="TextBox 17">
            <a:extLst>
              <a:ext uri="{FF2B5EF4-FFF2-40B4-BE49-F238E27FC236}">
                <a16:creationId xmlns:a16="http://schemas.microsoft.com/office/drawing/2014/main" id="{355D157D-7594-BFA1-39A4-A351EE583184}"/>
              </a:ext>
            </a:extLst>
          </p:cNvPr>
          <p:cNvSpPr txBox="1"/>
          <p:nvPr/>
        </p:nvSpPr>
        <p:spPr>
          <a:xfrm>
            <a:off x="208464" y="2123416"/>
            <a:ext cx="7068312" cy="400110"/>
          </a:xfrm>
          <a:prstGeom prst="rect">
            <a:avLst/>
          </a:prstGeom>
          <a:noFill/>
        </p:spPr>
        <p:txBody>
          <a:bodyPr wrap="square">
            <a:spAutoFit/>
          </a:bodyPr>
          <a:lstStyle/>
          <a:p>
            <a:r>
              <a:rPr lang="en-US" sz="2000" b="1" dirty="0">
                <a:solidFill>
                  <a:schemeClr val="tx2"/>
                </a:solidFill>
              </a:rPr>
              <a:t>Method: </a:t>
            </a:r>
            <a:endParaRPr lang="en-IE" sz="2000" b="1" dirty="0">
              <a:solidFill>
                <a:schemeClr val="tx2"/>
              </a:solidFill>
            </a:endParaRPr>
          </a:p>
        </p:txBody>
      </p:sp>
      <p:sp>
        <p:nvSpPr>
          <p:cNvPr id="19" name="TextBox 18">
            <a:extLst>
              <a:ext uri="{FF2B5EF4-FFF2-40B4-BE49-F238E27FC236}">
                <a16:creationId xmlns:a16="http://schemas.microsoft.com/office/drawing/2014/main" id="{832DF16E-E754-1F0E-A4C2-921CCCCC1A4F}"/>
              </a:ext>
            </a:extLst>
          </p:cNvPr>
          <p:cNvSpPr txBox="1"/>
          <p:nvPr/>
        </p:nvSpPr>
        <p:spPr>
          <a:xfrm>
            <a:off x="166087" y="3426304"/>
            <a:ext cx="7068312" cy="400110"/>
          </a:xfrm>
          <a:prstGeom prst="rect">
            <a:avLst/>
          </a:prstGeom>
          <a:noFill/>
        </p:spPr>
        <p:txBody>
          <a:bodyPr wrap="square">
            <a:spAutoFit/>
          </a:bodyPr>
          <a:lstStyle/>
          <a:p>
            <a:r>
              <a:rPr lang="en-US" sz="2000" b="1" dirty="0">
                <a:solidFill>
                  <a:schemeClr val="tx2"/>
                </a:solidFill>
              </a:rPr>
              <a:t>Results: </a:t>
            </a:r>
            <a:endParaRPr lang="en-IE" sz="2000" b="1" dirty="0">
              <a:solidFill>
                <a:schemeClr val="tx2"/>
              </a:solidFill>
            </a:endParaRPr>
          </a:p>
        </p:txBody>
      </p:sp>
      <p:sp>
        <p:nvSpPr>
          <p:cNvPr id="20" name="TextBox 19">
            <a:extLst>
              <a:ext uri="{FF2B5EF4-FFF2-40B4-BE49-F238E27FC236}">
                <a16:creationId xmlns:a16="http://schemas.microsoft.com/office/drawing/2014/main" id="{8172D599-FF56-1740-18F6-C3AB47E79CD0}"/>
              </a:ext>
            </a:extLst>
          </p:cNvPr>
          <p:cNvSpPr txBox="1"/>
          <p:nvPr/>
        </p:nvSpPr>
        <p:spPr>
          <a:xfrm>
            <a:off x="166087" y="4795041"/>
            <a:ext cx="7068312" cy="400110"/>
          </a:xfrm>
          <a:prstGeom prst="rect">
            <a:avLst/>
          </a:prstGeom>
          <a:noFill/>
        </p:spPr>
        <p:txBody>
          <a:bodyPr wrap="square">
            <a:spAutoFit/>
          </a:bodyPr>
          <a:lstStyle/>
          <a:p>
            <a:r>
              <a:rPr lang="en-US" sz="2000" b="1" dirty="0">
                <a:solidFill>
                  <a:schemeClr val="tx2"/>
                </a:solidFill>
              </a:rPr>
              <a:t>Limitations: </a:t>
            </a:r>
            <a:endParaRPr lang="en-IE" sz="2000" b="1" dirty="0">
              <a:solidFill>
                <a:schemeClr val="tx2"/>
              </a:solidFill>
            </a:endParaRPr>
          </a:p>
        </p:txBody>
      </p:sp>
      <p:pic>
        <p:nvPicPr>
          <p:cNvPr id="5" name="Picture 4">
            <a:extLst>
              <a:ext uri="{FF2B5EF4-FFF2-40B4-BE49-F238E27FC236}">
                <a16:creationId xmlns:a16="http://schemas.microsoft.com/office/drawing/2014/main" id="{7C3E6425-664F-79D2-CE26-2347B04B6AFA}"/>
              </a:ext>
            </a:extLst>
          </p:cNvPr>
          <p:cNvPicPr>
            <a:picLocks noChangeAspect="1"/>
          </p:cNvPicPr>
          <p:nvPr/>
        </p:nvPicPr>
        <p:blipFill>
          <a:blip r:embed="rId2"/>
          <a:stretch>
            <a:fillRect/>
          </a:stretch>
        </p:blipFill>
        <p:spPr>
          <a:xfrm>
            <a:off x="7346100" y="1008259"/>
            <a:ext cx="4498923" cy="2380969"/>
          </a:xfrm>
          <a:prstGeom prst="rect">
            <a:avLst/>
          </a:prstGeom>
        </p:spPr>
      </p:pic>
      <p:pic>
        <p:nvPicPr>
          <p:cNvPr id="8" name="Picture 7">
            <a:extLst>
              <a:ext uri="{FF2B5EF4-FFF2-40B4-BE49-F238E27FC236}">
                <a16:creationId xmlns:a16="http://schemas.microsoft.com/office/drawing/2014/main" id="{02E64C0F-A5BF-A988-BF94-BBFCA06A9C4E}"/>
              </a:ext>
            </a:extLst>
          </p:cNvPr>
          <p:cNvPicPr>
            <a:picLocks noChangeAspect="1"/>
          </p:cNvPicPr>
          <p:nvPr/>
        </p:nvPicPr>
        <p:blipFill>
          <a:blip r:embed="rId3"/>
          <a:stretch>
            <a:fillRect/>
          </a:stretch>
        </p:blipFill>
        <p:spPr>
          <a:xfrm>
            <a:off x="7607808" y="3447489"/>
            <a:ext cx="4183069" cy="3095213"/>
          </a:xfrm>
          <a:prstGeom prst="rect">
            <a:avLst/>
          </a:prstGeom>
        </p:spPr>
      </p:pic>
      <p:pic>
        <p:nvPicPr>
          <p:cNvPr id="13" name="Picture 12">
            <a:extLst>
              <a:ext uri="{FF2B5EF4-FFF2-40B4-BE49-F238E27FC236}">
                <a16:creationId xmlns:a16="http://schemas.microsoft.com/office/drawing/2014/main" id="{0329711D-0466-F342-CDF9-92CF3363BC25}"/>
              </a:ext>
            </a:extLst>
          </p:cNvPr>
          <p:cNvPicPr>
            <a:picLocks noChangeAspect="1"/>
          </p:cNvPicPr>
          <p:nvPr/>
        </p:nvPicPr>
        <p:blipFill>
          <a:blip r:embed="rId4"/>
          <a:stretch>
            <a:fillRect/>
          </a:stretch>
        </p:blipFill>
        <p:spPr>
          <a:xfrm>
            <a:off x="5343420" y="3748274"/>
            <a:ext cx="2108940" cy="2282460"/>
          </a:xfrm>
          <a:prstGeom prst="rect">
            <a:avLst/>
          </a:prstGeom>
        </p:spPr>
      </p:pic>
    </p:spTree>
    <p:extLst>
      <p:ext uri="{BB962C8B-B14F-4D97-AF65-F5344CB8AC3E}">
        <p14:creationId xmlns:p14="http://schemas.microsoft.com/office/powerpoint/2010/main" val="35436970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EF71499-CB2F-285E-D57E-0B690FBAE0C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D68E77-5DBC-29F6-73BF-DB7AAF66698B}"/>
              </a:ext>
            </a:extLst>
          </p:cNvPr>
          <p:cNvSpPr>
            <a:spLocks noGrp="1"/>
          </p:cNvSpPr>
          <p:nvPr>
            <p:ph type="title"/>
          </p:nvPr>
        </p:nvSpPr>
        <p:spPr>
          <a:xfrm>
            <a:off x="277788" y="1254066"/>
            <a:ext cx="4010748" cy="787314"/>
          </a:xfrm>
        </p:spPr>
        <p:txBody>
          <a:bodyPr>
            <a:normAutofit/>
          </a:bodyPr>
          <a:lstStyle/>
          <a:p>
            <a:r>
              <a:rPr lang="en-IE" sz="2000" dirty="0">
                <a:solidFill>
                  <a:schemeClr val="bg2">
                    <a:lumMod val="10000"/>
                  </a:schemeClr>
                </a:solidFill>
              </a:rPr>
              <a:t>Standard grippers can't pick up flat things (like coins) from a table.</a:t>
            </a:r>
            <a:endParaRPr lang="en-US" sz="2000" dirty="0">
              <a:solidFill>
                <a:schemeClr val="bg2">
                  <a:lumMod val="10000"/>
                </a:schemeClr>
              </a:solidFill>
            </a:endParaRPr>
          </a:p>
        </p:txBody>
      </p:sp>
      <p:sp>
        <p:nvSpPr>
          <p:cNvPr id="4" name="Title 1">
            <a:extLst>
              <a:ext uri="{FF2B5EF4-FFF2-40B4-BE49-F238E27FC236}">
                <a16:creationId xmlns:a16="http://schemas.microsoft.com/office/drawing/2014/main" id="{C08041F6-3FF0-B013-0F89-4F7EB19C37E9}"/>
              </a:ext>
            </a:extLst>
          </p:cNvPr>
          <p:cNvSpPr txBox="1">
            <a:spLocks/>
          </p:cNvSpPr>
          <p:nvPr/>
        </p:nvSpPr>
        <p:spPr>
          <a:xfrm>
            <a:off x="145200" y="111354"/>
            <a:ext cx="9064390" cy="787314"/>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400" b="1" kern="1200">
                <a:solidFill>
                  <a:schemeClr val="bg1"/>
                </a:solidFill>
                <a:latin typeface="+mn-lt"/>
                <a:ea typeface="+mj-ea"/>
                <a:cs typeface="+mj-cs"/>
              </a:defRPr>
            </a:lvl1pPr>
          </a:lstStyle>
          <a:p>
            <a:r>
              <a:rPr lang="en-US" b="0" dirty="0">
                <a:solidFill>
                  <a:srgbClr val="002060"/>
                </a:solidFill>
              </a:rPr>
              <a:t>Literature : Gripper</a:t>
            </a:r>
          </a:p>
        </p:txBody>
      </p:sp>
      <p:sp>
        <p:nvSpPr>
          <p:cNvPr id="7" name="Title 1">
            <a:extLst>
              <a:ext uri="{FF2B5EF4-FFF2-40B4-BE49-F238E27FC236}">
                <a16:creationId xmlns:a16="http://schemas.microsoft.com/office/drawing/2014/main" id="{326B5BE1-C503-ED7C-18C0-EA61089926F1}"/>
              </a:ext>
            </a:extLst>
          </p:cNvPr>
          <p:cNvSpPr txBox="1">
            <a:spLocks/>
          </p:cNvSpPr>
          <p:nvPr/>
        </p:nvSpPr>
        <p:spPr>
          <a:xfrm>
            <a:off x="208464" y="2543697"/>
            <a:ext cx="4774272" cy="787314"/>
          </a:xfrm>
          <a:prstGeom prst="rect">
            <a:avLst/>
          </a:prstGeom>
        </p:spPr>
        <p:txBody>
          <a:bodyPr vert="horz" lIns="91440" tIns="45720" rIns="91440" bIns="45720" rtlCol="0" anchor="t">
            <a:normAutofit fontScale="92500" lnSpcReduction="20000"/>
          </a:bodyPr>
          <a:lstStyle>
            <a:lvl1pPr algn="l" defTabSz="914400" rtl="0" eaLnBrk="1" latinLnBrk="0" hangingPunct="1">
              <a:lnSpc>
                <a:spcPct val="90000"/>
              </a:lnSpc>
              <a:spcBef>
                <a:spcPct val="0"/>
              </a:spcBef>
              <a:buNone/>
              <a:defRPr sz="3400" b="1" kern="1200">
                <a:solidFill>
                  <a:schemeClr val="bg1"/>
                </a:solidFill>
                <a:latin typeface="+mn-lt"/>
                <a:ea typeface="+mj-ea"/>
                <a:cs typeface="+mj-cs"/>
              </a:defRPr>
            </a:lvl1pPr>
          </a:lstStyle>
          <a:p>
            <a:r>
              <a:rPr lang="en-IE" sz="2000" dirty="0">
                <a:solidFill>
                  <a:schemeClr val="bg2">
                    <a:lumMod val="10000"/>
                  </a:schemeClr>
                </a:solidFill>
              </a:rPr>
              <a:t>Idle scooping: one finger acts as a wall, while a compliant thumb (using planetary gears) slides under the object.</a:t>
            </a:r>
            <a:endParaRPr lang="en-US" sz="2000" dirty="0">
              <a:solidFill>
                <a:schemeClr val="bg2">
                  <a:lumMod val="10000"/>
                </a:schemeClr>
              </a:solidFill>
            </a:endParaRPr>
          </a:p>
        </p:txBody>
      </p:sp>
      <p:sp>
        <p:nvSpPr>
          <p:cNvPr id="9" name="Title 1">
            <a:extLst>
              <a:ext uri="{FF2B5EF4-FFF2-40B4-BE49-F238E27FC236}">
                <a16:creationId xmlns:a16="http://schemas.microsoft.com/office/drawing/2014/main" id="{7DD4E992-34DC-1070-50A0-83E9B2A1B849}"/>
              </a:ext>
            </a:extLst>
          </p:cNvPr>
          <p:cNvSpPr txBox="1">
            <a:spLocks/>
          </p:cNvSpPr>
          <p:nvPr/>
        </p:nvSpPr>
        <p:spPr>
          <a:xfrm>
            <a:off x="166087" y="3840132"/>
            <a:ext cx="4911432" cy="787314"/>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400" b="1" kern="1200">
                <a:solidFill>
                  <a:schemeClr val="bg1"/>
                </a:solidFill>
                <a:latin typeface="+mn-lt"/>
                <a:ea typeface="+mj-ea"/>
                <a:cs typeface="+mj-cs"/>
              </a:defRPr>
            </a:lvl1pPr>
          </a:lstStyle>
          <a:p>
            <a:r>
              <a:rPr lang="en-IE" sz="2000" dirty="0">
                <a:solidFill>
                  <a:schemeClr val="bg2">
                    <a:lumMod val="10000"/>
                  </a:schemeClr>
                </a:solidFill>
              </a:rPr>
              <a:t>Grabs thin objects without moving the robot arm during the scoop.</a:t>
            </a:r>
            <a:endParaRPr lang="en-US" sz="2000" dirty="0">
              <a:solidFill>
                <a:schemeClr val="bg2">
                  <a:lumMod val="10000"/>
                </a:schemeClr>
              </a:solidFill>
            </a:endParaRPr>
          </a:p>
        </p:txBody>
      </p:sp>
      <p:sp>
        <p:nvSpPr>
          <p:cNvPr id="10" name="Title 1">
            <a:extLst>
              <a:ext uri="{FF2B5EF4-FFF2-40B4-BE49-F238E27FC236}">
                <a16:creationId xmlns:a16="http://schemas.microsoft.com/office/drawing/2014/main" id="{D69A127D-A841-B504-8DEE-E63F6D02AEF8}"/>
              </a:ext>
            </a:extLst>
          </p:cNvPr>
          <p:cNvSpPr txBox="1">
            <a:spLocks/>
          </p:cNvSpPr>
          <p:nvPr/>
        </p:nvSpPr>
        <p:spPr>
          <a:xfrm>
            <a:off x="166087" y="5189814"/>
            <a:ext cx="4618080" cy="787314"/>
          </a:xfrm>
          <a:prstGeom prst="rect">
            <a:avLst/>
          </a:prstGeom>
        </p:spPr>
        <p:txBody>
          <a:bodyPr vert="horz" lIns="91440" tIns="45720" rIns="91440" bIns="45720" rtlCol="0" anchor="t">
            <a:normAutofit fontScale="92500" lnSpcReduction="20000"/>
          </a:bodyPr>
          <a:lstStyle>
            <a:lvl1pPr algn="l" defTabSz="914400" rtl="0" eaLnBrk="1" latinLnBrk="0" hangingPunct="1">
              <a:lnSpc>
                <a:spcPct val="90000"/>
              </a:lnSpc>
              <a:spcBef>
                <a:spcPct val="0"/>
              </a:spcBef>
              <a:buNone/>
              <a:defRPr sz="3400" b="1" kern="1200">
                <a:solidFill>
                  <a:schemeClr val="bg1"/>
                </a:solidFill>
                <a:latin typeface="+mn-lt"/>
                <a:ea typeface="+mj-ea"/>
                <a:cs typeface="+mj-cs"/>
              </a:defRPr>
            </a:lvl1pPr>
          </a:lstStyle>
          <a:p>
            <a:r>
              <a:rPr lang="en-IE" sz="2000" dirty="0">
                <a:solidFill>
                  <a:schemeClr val="bg2">
                    <a:lumMod val="10000"/>
                  </a:schemeClr>
                </a:solidFill>
              </a:rPr>
              <a:t>The thumb needs a slippery nail to slide under, but a sticky pad to hold the object (requires a complex retractable nail).</a:t>
            </a:r>
            <a:endParaRPr lang="en-US" sz="2000" dirty="0">
              <a:solidFill>
                <a:schemeClr val="bg2">
                  <a:lumMod val="10000"/>
                </a:schemeClr>
              </a:solidFill>
            </a:endParaRPr>
          </a:p>
        </p:txBody>
      </p:sp>
      <p:sp>
        <p:nvSpPr>
          <p:cNvPr id="11" name="Title 1">
            <a:extLst>
              <a:ext uri="{FF2B5EF4-FFF2-40B4-BE49-F238E27FC236}">
                <a16:creationId xmlns:a16="http://schemas.microsoft.com/office/drawing/2014/main" id="{5D457ED1-97E3-9F14-13BB-50D9930C5C75}"/>
              </a:ext>
            </a:extLst>
          </p:cNvPr>
          <p:cNvSpPr txBox="1">
            <a:spLocks/>
          </p:cNvSpPr>
          <p:nvPr/>
        </p:nvSpPr>
        <p:spPr>
          <a:xfrm>
            <a:off x="5043336" y="218044"/>
            <a:ext cx="5307672" cy="787314"/>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400" b="1" kern="1200">
                <a:solidFill>
                  <a:schemeClr val="bg1"/>
                </a:solidFill>
                <a:latin typeface="+mn-lt"/>
                <a:ea typeface="+mj-ea"/>
                <a:cs typeface="+mj-cs"/>
              </a:defRPr>
            </a:lvl1pPr>
          </a:lstStyle>
          <a:p>
            <a:r>
              <a:rPr lang="en-IE" sz="1600" dirty="0">
                <a:solidFill>
                  <a:schemeClr val="bg2">
                    <a:lumMod val="10000"/>
                  </a:schemeClr>
                </a:solidFill>
              </a:rPr>
              <a:t>Picking, grasping, or scooping small objects lying on flat surfaces: A design approach Vincent Babin and </a:t>
            </a:r>
            <a:r>
              <a:rPr lang="en-IE" sz="1600" dirty="0" err="1">
                <a:solidFill>
                  <a:schemeClr val="bg2">
                    <a:lumMod val="10000"/>
                  </a:schemeClr>
                </a:solidFill>
              </a:rPr>
              <a:t>Cle´ment</a:t>
            </a:r>
            <a:r>
              <a:rPr lang="en-IE" sz="1600" dirty="0">
                <a:solidFill>
                  <a:schemeClr val="bg2">
                    <a:lumMod val="10000"/>
                  </a:schemeClr>
                </a:solidFill>
              </a:rPr>
              <a:t> Gosselin</a:t>
            </a:r>
            <a:endParaRPr lang="en-US" sz="1600" b="0" dirty="0">
              <a:solidFill>
                <a:schemeClr val="bg2">
                  <a:lumMod val="10000"/>
                </a:schemeClr>
              </a:solidFill>
            </a:endParaRPr>
          </a:p>
        </p:txBody>
      </p:sp>
      <p:sp>
        <p:nvSpPr>
          <p:cNvPr id="17" name="TextBox 16">
            <a:extLst>
              <a:ext uri="{FF2B5EF4-FFF2-40B4-BE49-F238E27FC236}">
                <a16:creationId xmlns:a16="http://schemas.microsoft.com/office/drawing/2014/main" id="{36CB0BC4-8938-7284-18B7-A3E3E59EFB91}"/>
              </a:ext>
            </a:extLst>
          </p:cNvPr>
          <p:cNvSpPr txBox="1"/>
          <p:nvPr/>
        </p:nvSpPr>
        <p:spPr>
          <a:xfrm>
            <a:off x="260528" y="856624"/>
            <a:ext cx="7068312" cy="400110"/>
          </a:xfrm>
          <a:prstGeom prst="rect">
            <a:avLst/>
          </a:prstGeom>
          <a:noFill/>
        </p:spPr>
        <p:txBody>
          <a:bodyPr wrap="square">
            <a:spAutoFit/>
          </a:bodyPr>
          <a:lstStyle/>
          <a:p>
            <a:r>
              <a:rPr lang="en-US" sz="2000" b="1" dirty="0">
                <a:solidFill>
                  <a:schemeClr val="tx2"/>
                </a:solidFill>
              </a:rPr>
              <a:t>Question/Gap: </a:t>
            </a:r>
            <a:endParaRPr lang="en-IE" sz="2000" b="1" dirty="0">
              <a:solidFill>
                <a:schemeClr val="tx2"/>
              </a:solidFill>
            </a:endParaRPr>
          </a:p>
        </p:txBody>
      </p:sp>
      <p:sp>
        <p:nvSpPr>
          <p:cNvPr id="18" name="TextBox 17">
            <a:extLst>
              <a:ext uri="{FF2B5EF4-FFF2-40B4-BE49-F238E27FC236}">
                <a16:creationId xmlns:a16="http://schemas.microsoft.com/office/drawing/2014/main" id="{E1244D09-9EDA-FCBF-9D17-674976EDF714}"/>
              </a:ext>
            </a:extLst>
          </p:cNvPr>
          <p:cNvSpPr txBox="1"/>
          <p:nvPr/>
        </p:nvSpPr>
        <p:spPr>
          <a:xfrm>
            <a:off x="208464" y="2123416"/>
            <a:ext cx="7068312" cy="400110"/>
          </a:xfrm>
          <a:prstGeom prst="rect">
            <a:avLst/>
          </a:prstGeom>
          <a:noFill/>
        </p:spPr>
        <p:txBody>
          <a:bodyPr wrap="square">
            <a:spAutoFit/>
          </a:bodyPr>
          <a:lstStyle/>
          <a:p>
            <a:r>
              <a:rPr lang="en-US" sz="2000" b="1" dirty="0">
                <a:solidFill>
                  <a:schemeClr val="tx2"/>
                </a:solidFill>
              </a:rPr>
              <a:t>Method: </a:t>
            </a:r>
            <a:endParaRPr lang="en-IE" sz="2000" b="1" dirty="0">
              <a:solidFill>
                <a:schemeClr val="tx2"/>
              </a:solidFill>
            </a:endParaRPr>
          </a:p>
        </p:txBody>
      </p:sp>
      <p:sp>
        <p:nvSpPr>
          <p:cNvPr id="19" name="TextBox 18">
            <a:extLst>
              <a:ext uri="{FF2B5EF4-FFF2-40B4-BE49-F238E27FC236}">
                <a16:creationId xmlns:a16="http://schemas.microsoft.com/office/drawing/2014/main" id="{85C2EBDE-7DFD-49D6-26F4-113E80AC0894}"/>
              </a:ext>
            </a:extLst>
          </p:cNvPr>
          <p:cNvSpPr txBox="1"/>
          <p:nvPr/>
        </p:nvSpPr>
        <p:spPr>
          <a:xfrm>
            <a:off x="166087" y="3426304"/>
            <a:ext cx="7068312" cy="400110"/>
          </a:xfrm>
          <a:prstGeom prst="rect">
            <a:avLst/>
          </a:prstGeom>
          <a:noFill/>
        </p:spPr>
        <p:txBody>
          <a:bodyPr wrap="square">
            <a:spAutoFit/>
          </a:bodyPr>
          <a:lstStyle/>
          <a:p>
            <a:r>
              <a:rPr lang="en-US" sz="2000" b="1" dirty="0">
                <a:solidFill>
                  <a:schemeClr val="tx2"/>
                </a:solidFill>
              </a:rPr>
              <a:t>Results: </a:t>
            </a:r>
            <a:endParaRPr lang="en-IE" sz="2000" b="1" dirty="0">
              <a:solidFill>
                <a:schemeClr val="tx2"/>
              </a:solidFill>
            </a:endParaRPr>
          </a:p>
        </p:txBody>
      </p:sp>
      <p:sp>
        <p:nvSpPr>
          <p:cNvPr id="20" name="TextBox 19">
            <a:extLst>
              <a:ext uri="{FF2B5EF4-FFF2-40B4-BE49-F238E27FC236}">
                <a16:creationId xmlns:a16="http://schemas.microsoft.com/office/drawing/2014/main" id="{63E001BF-61DC-AFDD-8AF5-EEC6F0394A18}"/>
              </a:ext>
            </a:extLst>
          </p:cNvPr>
          <p:cNvSpPr txBox="1"/>
          <p:nvPr/>
        </p:nvSpPr>
        <p:spPr>
          <a:xfrm>
            <a:off x="166087" y="4795041"/>
            <a:ext cx="7068312" cy="400110"/>
          </a:xfrm>
          <a:prstGeom prst="rect">
            <a:avLst/>
          </a:prstGeom>
          <a:noFill/>
        </p:spPr>
        <p:txBody>
          <a:bodyPr wrap="square">
            <a:spAutoFit/>
          </a:bodyPr>
          <a:lstStyle/>
          <a:p>
            <a:r>
              <a:rPr lang="en-US" sz="2000" b="1" dirty="0">
                <a:solidFill>
                  <a:schemeClr val="tx2"/>
                </a:solidFill>
              </a:rPr>
              <a:t>Limitations: </a:t>
            </a:r>
            <a:endParaRPr lang="en-IE" sz="2000" b="1" dirty="0">
              <a:solidFill>
                <a:schemeClr val="tx2"/>
              </a:solidFill>
            </a:endParaRPr>
          </a:p>
        </p:txBody>
      </p:sp>
      <p:pic>
        <p:nvPicPr>
          <p:cNvPr id="5" name="Picture 4">
            <a:extLst>
              <a:ext uri="{FF2B5EF4-FFF2-40B4-BE49-F238E27FC236}">
                <a16:creationId xmlns:a16="http://schemas.microsoft.com/office/drawing/2014/main" id="{9F0B6E30-A28F-95CA-DE2E-DB736267E3FD}"/>
              </a:ext>
            </a:extLst>
          </p:cNvPr>
          <p:cNvPicPr>
            <a:picLocks noChangeAspect="1"/>
          </p:cNvPicPr>
          <p:nvPr/>
        </p:nvPicPr>
        <p:blipFill>
          <a:blip r:embed="rId2"/>
          <a:stretch>
            <a:fillRect/>
          </a:stretch>
        </p:blipFill>
        <p:spPr>
          <a:xfrm>
            <a:off x="7697172" y="1476270"/>
            <a:ext cx="4418347" cy="2094511"/>
          </a:xfrm>
          <a:prstGeom prst="rect">
            <a:avLst/>
          </a:prstGeom>
        </p:spPr>
      </p:pic>
      <p:pic>
        <p:nvPicPr>
          <p:cNvPr id="8" name="Picture 7">
            <a:extLst>
              <a:ext uri="{FF2B5EF4-FFF2-40B4-BE49-F238E27FC236}">
                <a16:creationId xmlns:a16="http://schemas.microsoft.com/office/drawing/2014/main" id="{BDEED530-AD39-54CF-4948-4D473F98E2B6}"/>
              </a:ext>
            </a:extLst>
          </p:cNvPr>
          <p:cNvPicPr>
            <a:picLocks noChangeAspect="1"/>
          </p:cNvPicPr>
          <p:nvPr/>
        </p:nvPicPr>
        <p:blipFill>
          <a:blip r:embed="rId3"/>
          <a:stretch>
            <a:fillRect/>
          </a:stretch>
        </p:blipFill>
        <p:spPr>
          <a:xfrm>
            <a:off x="4801168" y="1003288"/>
            <a:ext cx="2896004" cy="2210108"/>
          </a:xfrm>
          <a:prstGeom prst="rect">
            <a:avLst/>
          </a:prstGeom>
        </p:spPr>
      </p:pic>
      <p:pic>
        <p:nvPicPr>
          <p:cNvPr id="13" name="Picture 12">
            <a:extLst>
              <a:ext uri="{FF2B5EF4-FFF2-40B4-BE49-F238E27FC236}">
                <a16:creationId xmlns:a16="http://schemas.microsoft.com/office/drawing/2014/main" id="{115E01B4-F61B-68CF-A763-135100D4E81C}"/>
              </a:ext>
            </a:extLst>
          </p:cNvPr>
          <p:cNvPicPr>
            <a:picLocks noChangeAspect="1"/>
          </p:cNvPicPr>
          <p:nvPr/>
        </p:nvPicPr>
        <p:blipFill>
          <a:blip r:embed="rId4"/>
          <a:stretch>
            <a:fillRect/>
          </a:stretch>
        </p:blipFill>
        <p:spPr>
          <a:xfrm>
            <a:off x="5166545" y="4384178"/>
            <a:ext cx="6231775" cy="2134464"/>
          </a:xfrm>
          <a:prstGeom prst="rect">
            <a:avLst/>
          </a:prstGeom>
        </p:spPr>
      </p:pic>
    </p:spTree>
    <p:extLst>
      <p:ext uri="{BB962C8B-B14F-4D97-AF65-F5344CB8AC3E}">
        <p14:creationId xmlns:p14="http://schemas.microsoft.com/office/powerpoint/2010/main" val="2580440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E891F17-B200-10EB-871D-1E59649527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C19FEB-5561-9C86-B228-6300CFD70931}"/>
              </a:ext>
            </a:extLst>
          </p:cNvPr>
          <p:cNvSpPr>
            <a:spLocks noGrp="1"/>
          </p:cNvSpPr>
          <p:nvPr>
            <p:ph type="title"/>
          </p:nvPr>
        </p:nvSpPr>
        <p:spPr>
          <a:xfrm>
            <a:off x="277788" y="1254066"/>
            <a:ext cx="4897716" cy="787314"/>
          </a:xfrm>
        </p:spPr>
        <p:txBody>
          <a:bodyPr>
            <a:normAutofit/>
          </a:bodyPr>
          <a:lstStyle/>
          <a:p>
            <a:r>
              <a:rPr lang="en-IE" sz="2000" dirty="0">
                <a:solidFill>
                  <a:schemeClr val="bg2">
                    <a:lumMod val="10000"/>
                  </a:schemeClr>
                </a:solidFill>
              </a:rPr>
              <a:t>Gluing sensors onto soft robots is difficult and they peel off easily.</a:t>
            </a:r>
            <a:endParaRPr lang="en-US" sz="2000" dirty="0">
              <a:solidFill>
                <a:schemeClr val="bg2">
                  <a:lumMod val="10000"/>
                </a:schemeClr>
              </a:solidFill>
            </a:endParaRPr>
          </a:p>
        </p:txBody>
      </p:sp>
      <p:sp>
        <p:nvSpPr>
          <p:cNvPr id="4" name="Title 1">
            <a:extLst>
              <a:ext uri="{FF2B5EF4-FFF2-40B4-BE49-F238E27FC236}">
                <a16:creationId xmlns:a16="http://schemas.microsoft.com/office/drawing/2014/main" id="{4D5263EA-FBA2-FB4A-883A-EDA898E4415E}"/>
              </a:ext>
            </a:extLst>
          </p:cNvPr>
          <p:cNvSpPr txBox="1">
            <a:spLocks/>
          </p:cNvSpPr>
          <p:nvPr/>
        </p:nvSpPr>
        <p:spPr>
          <a:xfrm>
            <a:off x="145200" y="111354"/>
            <a:ext cx="9064390" cy="787314"/>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400" b="1" kern="1200">
                <a:solidFill>
                  <a:schemeClr val="bg1"/>
                </a:solidFill>
                <a:latin typeface="+mn-lt"/>
                <a:ea typeface="+mj-ea"/>
                <a:cs typeface="+mj-cs"/>
              </a:defRPr>
            </a:lvl1pPr>
          </a:lstStyle>
          <a:p>
            <a:r>
              <a:rPr lang="en-US" b="0" dirty="0">
                <a:solidFill>
                  <a:srgbClr val="002060"/>
                </a:solidFill>
              </a:rPr>
              <a:t>Literature : Gripper</a:t>
            </a:r>
          </a:p>
        </p:txBody>
      </p:sp>
      <p:sp>
        <p:nvSpPr>
          <p:cNvPr id="7" name="Title 1">
            <a:extLst>
              <a:ext uri="{FF2B5EF4-FFF2-40B4-BE49-F238E27FC236}">
                <a16:creationId xmlns:a16="http://schemas.microsoft.com/office/drawing/2014/main" id="{5F19B062-E2AE-EA1F-1260-33E082F35CCD}"/>
              </a:ext>
            </a:extLst>
          </p:cNvPr>
          <p:cNvSpPr txBox="1">
            <a:spLocks/>
          </p:cNvSpPr>
          <p:nvPr/>
        </p:nvSpPr>
        <p:spPr>
          <a:xfrm>
            <a:off x="208464" y="2543697"/>
            <a:ext cx="5202936" cy="787314"/>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3400" b="1" kern="1200">
                <a:solidFill>
                  <a:schemeClr val="bg1"/>
                </a:solidFill>
                <a:latin typeface="+mn-lt"/>
                <a:ea typeface="+mj-ea"/>
                <a:cs typeface="+mj-cs"/>
              </a:defRPr>
            </a:lvl1pPr>
          </a:lstStyle>
          <a:p>
            <a:r>
              <a:rPr lang="en-IE" sz="2000" dirty="0">
                <a:solidFill>
                  <a:schemeClr val="bg2">
                    <a:lumMod val="10000"/>
                  </a:schemeClr>
                </a:solidFill>
              </a:rPr>
              <a:t>Use a dual-nozzle 3D printer to print the TPU gripper and the carbon-black conductive sensor simultaneously.</a:t>
            </a:r>
            <a:endParaRPr lang="en-US" sz="2000" dirty="0">
              <a:solidFill>
                <a:schemeClr val="bg2">
                  <a:lumMod val="10000"/>
                </a:schemeClr>
              </a:solidFill>
            </a:endParaRPr>
          </a:p>
        </p:txBody>
      </p:sp>
      <p:sp>
        <p:nvSpPr>
          <p:cNvPr id="9" name="Title 1">
            <a:extLst>
              <a:ext uri="{FF2B5EF4-FFF2-40B4-BE49-F238E27FC236}">
                <a16:creationId xmlns:a16="http://schemas.microsoft.com/office/drawing/2014/main" id="{354FAFD6-89CC-0C3E-1B98-F06C292172F8}"/>
              </a:ext>
            </a:extLst>
          </p:cNvPr>
          <p:cNvSpPr txBox="1">
            <a:spLocks/>
          </p:cNvSpPr>
          <p:nvPr/>
        </p:nvSpPr>
        <p:spPr>
          <a:xfrm>
            <a:off x="166086" y="3840132"/>
            <a:ext cx="5420897" cy="787314"/>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3400" b="1" kern="1200">
                <a:solidFill>
                  <a:schemeClr val="bg1"/>
                </a:solidFill>
                <a:latin typeface="+mn-lt"/>
                <a:ea typeface="+mj-ea"/>
                <a:cs typeface="+mj-cs"/>
              </a:defRPr>
            </a:lvl1pPr>
          </a:lstStyle>
          <a:p>
            <a:r>
              <a:rPr lang="en-IE" sz="2000" dirty="0">
                <a:solidFill>
                  <a:schemeClr val="bg2">
                    <a:lumMod val="10000"/>
                  </a:schemeClr>
                </a:solidFill>
              </a:rPr>
              <a:t>Sensors successfully detect if the gripper is open, closed, blocked, or holding a big/small object.</a:t>
            </a:r>
            <a:endParaRPr lang="en-US" sz="2000" dirty="0">
              <a:solidFill>
                <a:schemeClr val="bg2">
                  <a:lumMod val="10000"/>
                </a:schemeClr>
              </a:solidFill>
            </a:endParaRPr>
          </a:p>
        </p:txBody>
      </p:sp>
      <p:sp>
        <p:nvSpPr>
          <p:cNvPr id="10" name="Title 1">
            <a:extLst>
              <a:ext uri="{FF2B5EF4-FFF2-40B4-BE49-F238E27FC236}">
                <a16:creationId xmlns:a16="http://schemas.microsoft.com/office/drawing/2014/main" id="{3303299B-EF07-F52F-ACA4-2A5E9A840531}"/>
              </a:ext>
            </a:extLst>
          </p:cNvPr>
          <p:cNvSpPr txBox="1">
            <a:spLocks/>
          </p:cNvSpPr>
          <p:nvPr/>
        </p:nvSpPr>
        <p:spPr>
          <a:xfrm>
            <a:off x="166086" y="5189814"/>
            <a:ext cx="5558057" cy="787314"/>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3400" b="1" kern="1200">
                <a:solidFill>
                  <a:schemeClr val="bg1"/>
                </a:solidFill>
                <a:latin typeface="+mn-lt"/>
                <a:ea typeface="+mj-ea"/>
                <a:cs typeface="+mj-cs"/>
              </a:defRPr>
            </a:lvl1pPr>
          </a:lstStyle>
          <a:p>
            <a:r>
              <a:rPr lang="en-IE" sz="2000" dirty="0">
                <a:solidFill>
                  <a:schemeClr val="bg2">
                    <a:lumMod val="10000"/>
                  </a:schemeClr>
                </a:solidFill>
              </a:rPr>
              <a:t>TPU material "creeps" over time, causing huge sensor drift and bad data if stretched beyond 30%.</a:t>
            </a:r>
            <a:endParaRPr lang="en-US" sz="2000" dirty="0">
              <a:solidFill>
                <a:schemeClr val="bg2">
                  <a:lumMod val="10000"/>
                </a:schemeClr>
              </a:solidFill>
            </a:endParaRPr>
          </a:p>
        </p:txBody>
      </p:sp>
      <p:sp>
        <p:nvSpPr>
          <p:cNvPr id="11" name="Title 1">
            <a:extLst>
              <a:ext uri="{FF2B5EF4-FFF2-40B4-BE49-F238E27FC236}">
                <a16:creationId xmlns:a16="http://schemas.microsoft.com/office/drawing/2014/main" id="{26646C81-A765-DDCD-EE40-B32D16FCCF22}"/>
              </a:ext>
            </a:extLst>
          </p:cNvPr>
          <p:cNvSpPr txBox="1">
            <a:spLocks/>
          </p:cNvSpPr>
          <p:nvPr/>
        </p:nvSpPr>
        <p:spPr>
          <a:xfrm>
            <a:off x="5043336" y="218044"/>
            <a:ext cx="5307672" cy="787314"/>
          </a:xfrm>
          <a:prstGeom prst="rect">
            <a:avLst/>
          </a:prstGeom>
        </p:spPr>
        <p:txBody>
          <a:bodyPr vert="horz" lIns="91440" tIns="45720" rIns="91440" bIns="45720" rtlCol="0" anchor="t">
            <a:normAutofit fontScale="92500" lnSpcReduction="20000"/>
          </a:bodyPr>
          <a:lstStyle>
            <a:lvl1pPr algn="l" defTabSz="914400" rtl="0" eaLnBrk="1" latinLnBrk="0" hangingPunct="1">
              <a:lnSpc>
                <a:spcPct val="90000"/>
              </a:lnSpc>
              <a:spcBef>
                <a:spcPct val="0"/>
              </a:spcBef>
              <a:buNone/>
              <a:defRPr sz="3400" b="1" kern="1200">
                <a:solidFill>
                  <a:schemeClr val="bg1"/>
                </a:solidFill>
                <a:latin typeface="+mn-lt"/>
                <a:ea typeface="+mj-ea"/>
                <a:cs typeface="+mj-cs"/>
              </a:defRPr>
            </a:lvl1pPr>
          </a:lstStyle>
          <a:p>
            <a:r>
              <a:rPr lang="en-IE" sz="1600" dirty="0">
                <a:solidFill>
                  <a:schemeClr val="bg2">
                    <a:lumMod val="10000"/>
                  </a:schemeClr>
                </a:solidFill>
              </a:rPr>
              <a:t>Fabrication of a Soft Robotic Gripper With Integrated Strain Sensing Elements Using Multi-Material Additive Manufacturing Antonia Georgopoulou1,2*, Bram Vanderborght2 and Frank Clemens1</a:t>
            </a:r>
            <a:endParaRPr lang="en-US" sz="1600" b="0" dirty="0">
              <a:solidFill>
                <a:schemeClr val="bg2">
                  <a:lumMod val="10000"/>
                </a:schemeClr>
              </a:solidFill>
            </a:endParaRPr>
          </a:p>
        </p:txBody>
      </p:sp>
      <p:sp>
        <p:nvSpPr>
          <p:cNvPr id="17" name="TextBox 16">
            <a:extLst>
              <a:ext uri="{FF2B5EF4-FFF2-40B4-BE49-F238E27FC236}">
                <a16:creationId xmlns:a16="http://schemas.microsoft.com/office/drawing/2014/main" id="{1A291ECE-B8CA-BDE6-7146-73941D6D7317}"/>
              </a:ext>
            </a:extLst>
          </p:cNvPr>
          <p:cNvSpPr txBox="1"/>
          <p:nvPr/>
        </p:nvSpPr>
        <p:spPr>
          <a:xfrm>
            <a:off x="260528" y="856624"/>
            <a:ext cx="7068312" cy="400110"/>
          </a:xfrm>
          <a:prstGeom prst="rect">
            <a:avLst/>
          </a:prstGeom>
          <a:noFill/>
        </p:spPr>
        <p:txBody>
          <a:bodyPr wrap="square">
            <a:spAutoFit/>
          </a:bodyPr>
          <a:lstStyle/>
          <a:p>
            <a:r>
              <a:rPr lang="en-US" sz="2000" b="1" dirty="0">
                <a:solidFill>
                  <a:schemeClr val="tx2"/>
                </a:solidFill>
              </a:rPr>
              <a:t>Question/Gap: </a:t>
            </a:r>
            <a:endParaRPr lang="en-IE" sz="2000" b="1" dirty="0">
              <a:solidFill>
                <a:schemeClr val="tx2"/>
              </a:solidFill>
            </a:endParaRPr>
          </a:p>
        </p:txBody>
      </p:sp>
      <p:sp>
        <p:nvSpPr>
          <p:cNvPr id="18" name="TextBox 17">
            <a:extLst>
              <a:ext uri="{FF2B5EF4-FFF2-40B4-BE49-F238E27FC236}">
                <a16:creationId xmlns:a16="http://schemas.microsoft.com/office/drawing/2014/main" id="{139EA585-227C-21DE-A3D8-D085FA3A5EB0}"/>
              </a:ext>
            </a:extLst>
          </p:cNvPr>
          <p:cNvSpPr txBox="1"/>
          <p:nvPr/>
        </p:nvSpPr>
        <p:spPr>
          <a:xfrm>
            <a:off x="208464" y="2123416"/>
            <a:ext cx="7068312" cy="400110"/>
          </a:xfrm>
          <a:prstGeom prst="rect">
            <a:avLst/>
          </a:prstGeom>
          <a:noFill/>
        </p:spPr>
        <p:txBody>
          <a:bodyPr wrap="square">
            <a:spAutoFit/>
          </a:bodyPr>
          <a:lstStyle/>
          <a:p>
            <a:r>
              <a:rPr lang="en-US" sz="2000" b="1" dirty="0">
                <a:solidFill>
                  <a:schemeClr val="tx2"/>
                </a:solidFill>
              </a:rPr>
              <a:t>Method: </a:t>
            </a:r>
            <a:endParaRPr lang="en-IE" sz="2000" b="1" dirty="0">
              <a:solidFill>
                <a:schemeClr val="tx2"/>
              </a:solidFill>
            </a:endParaRPr>
          </a:p>
        </p:txBody>
      </p:sp>
      <p:sp>
        <p:nvSpPr>
          <p:cNvPr id="19" name="TextBox 18">
            <a:extLst>
              <a:ext uri="{FF2B5EF4-FFF2-40B4-BE49-F238E27FC236}">
                <a16:creationId xmlns:a16="http://schemas.microsoft.com/office/drawing/2014/main" id="{7A7B086C-A40A-B17D-5913-BE8DF284FC41}"/>
              </a:ext>
            </a:extLst>
          </p:cNvPr>
          <p:cNvSpPr txBox="1"/>
          <p:nvPr/>
        </p:nvSpPr>
        <p:spPr>
          <a:xfrm>
            <a:off x="166087" y="3426304"/>
            <a:ext cx="7068312" cy="400110"/>
          </a:xfrm>
          <a:prstGeom prst="rect">
            <a:avLst/>
          </a:prstGeom>
          <a:noFill/>
        </p:spPr>
        <p:txBody>
          <a:bodyPr wrap="square">
            <a:spAutoFit/>
          </a:bodyPr>
          <a:lstStyle/>
          <a:p>
            <a:r>
              <a:rPr lang="en-US" sz="2000" b="1" dirty="0">
                <a:solidFill>
                  <a:schemeClr val="tx2"/>
                </a:solidFill>
              </a:rPr>
              <a:t>Results: </a:t>
            </a:r>
            <a:endParaRPr lang="en-IE" sz="2000" b="1" dirty="0">
              <a:solidFill>
                <a:schemeClr val="tx2"/>
              </a:solidFill>
            </a:endParaRPr>
          </a:p>
        </p:txBody>
      </p:sp>
      <p:sp>
        <p:nvSpPr>
          <p:cNvPr id="20" name="TextBox 19">
            <a:extLst>
              <a:ext uri="{FF2B5EF4-FFF2-40B4-BE49-F238E27FC236}">
                <a16:creationId xmlns:a16="http://schemas.microsoft.com/office/drawing/2014/main" id="{D25367AC-D603-0B8D-D369-03D671EE6680}"/>
              </a:ext>
            </a:extLst>
          </p:cNvPr>
          <p:cNvSpPr txBox="1"/>
          <p:nvPr/>
        </p:nvSpPr>
        <p:spPr>
          <a:xfrm>
            <a:off x="166087" y="4795041"/>
            <a:ext cx="7068312" cy="400110"/>
          </a:xfrm>
          <a:prstGeom prst="rect">
            <a:avLst/>
          </a:prstGeom>
          <a:noFill/>
        </p:spPr>
        <p:txBody>
          <a:bodyPr wrap="square">
            <a:spAutoFit/>
          </a:bodyPr>
          <a:lstStyle/>
          <a:p>
            <a:r>
              <a:rPr lang="en-US" sz="2000" b="1" dirty="0">
                <a:solidFill>
                  <a:schemeClr val="tx2"/>
                </a:solidFill>
              </a:rPr>
              <a:t>Limitations: </a:t>
            </a:r>
            <a:endParaRPr lang="en-IE" sz="2000" b="1" dirty="0">
              <a:solidFill>
                <a:schemeClr val="tx2"/>
              </a:solidFill>
            </a:endParaRPr>
          </a:p>
        </p:txBody>
      </p:sp>
      <p:pic>
        <p:nvPicPr>
          <p:cNvPr id="6" name="Picture 5">
            <a:extLst>
              <a:ext uri="{FF2B5EF4-FFF2-40B4-BE49-F238E27FC236}">
                <a16:creationId xmlns:a16="http://schemas.microsoft.com/office/drawing/2014/main" id="{551C390E-7656-F634-1A32-BBD36A1C70F3}"/>
              </a:ext>
            </a:extLst>
          </p:cNvPr>
          <p:cNvPicPr>
            <a:picLocks noChangeAspect="1"/>
          </p:cNvPicPr>
          <p:nvPr/>
        </p:nvPicPr>
        <p:blipFill>
          <a:blip r:embed="rId2"/>
          <a:stretch>
            <a:fillRect/>
          </a:stretch>
        </p:blipFill>
        <p:spPr>
          <a:xfrm>
            <a:off x="6323159" y="810470"/>
            <a:ext cx="5202936" cy="2748721"/>
          </a:xfrm>
          <a:prstGeom prst="rect">
            <a:avLst/>
          </a:prstGeom>
        </p:spPr>
      </p:pic>
      <p:pic>
        <p:nvPicPr>
          <p:cNvPr id="14" name="Picture 13">
            <a:extLst>
              <a:ext uri="{FF2B5EF4-FFF2-40B4-BE49-F238E27FC236}">
                <a16:creationId xmlns:a16="http://schemas.microsoft.com/office/drawing/2014/main" id="{D125459A-3300-1029-26D6-8BDBD6FE787A}"/>
              </a:ext>
            </a:extLst>
          </p:cNvPr>
          <p:cNvPicPr>
            <a:picLocks noChangeAspect="1"/>
          </p:cNvPicPr>
          <p:nvPr/>
        </p:nvPicPr>
        <p:blipFill>
          <a:blip r:embed="rId3"/>
          <a:stretch>
            <a:fillRect/>
          </a:stretch>
        </p:blipFill>
        <p:spPr>
          <a:xfrm>
            <a:off x="6137479" y="3784370"/>
            <a:ext cx="4477375" cy="3010320"/>
          </a:xfrm>
          <a:prstGeom prst="rect">
            <a:avLst/>
          </a:prstGeom>
        </p:spPr>
      </p:pic>
    </p:spTree>
    <p:extLst>
      <p:ext uri="{BB962C8B-B14F-4D97-AF65-F5344CB8AC3E}">
        <p14:creationId xmlns:p14="http://schemas.microsoft.com/office/powerpoint/2010/main" val="14728828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5342725-7AB8-B2EB-2A19-47254D4DF8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D0F69FF-A3A8-8E94-D6FD-C3B379FA97C6}"/>
              </a:ext>
            </a:extLst>
          </p:cNvPr>
          <p:cNvSpPr>
            <a:spLocks noGrp="1"/>
          </p:cNvSpPr>
          <p:nvPr>
            <p:ph type="title"/>
          </p:nvPr>
        </p:nvSpPr>
        <p:spPr>
          <a:xfrm>
            <a:off x="277788" y="1254066"/>
            <a:ext cx="7224864" cy="787314"/>
          </a:xfrm>
        </p:spPr>
        <p:txBody>
          <a:bodyPr>
            <a:normAutofit/>
          </a:bodyPr>
          <a:lstStyle/>
          <a:p>
            <a:r>
              <a:rPr lang="en-IE" sz="2000" dirty="0">
                <a:solidFill>
                  <a:schemeClr val="bg2">
                    <a:lumMod val="10000"/>
                  </a:schemeClr>
                </a:solidFill>
              </a:rPr>
              <a:t>Complex </a:t>
            </a:r>
            <a:r>
              <a:rPr lang="en-IE" sz="2000" dirty="0" err="1">
                <a:solidFill>
                  <a:schemeClr val="bg2">
                    <a:lumMod val="10000"/>
                  </a:schemeClr>
                </a:solidFill>
              </a:rPr>
              <a:t>molding</a:t>
            </a:r>
            <a:r>
              <a:rPr lang="en-IE" sz="2000" dirty="0">
                <a:solidFill>
                  <a:schemeClr val="bg2">
                    <a:lumMod val="10000"/>
                  </a:schemeClr>
                </a:solidFill>
              </a:rPr>
              <a:t> processes limit the rapid prototyping of soft grippers for fragile objects.</a:t>
            </a:r>
            <a:r>
              <a:rPr lang="en-US" sz="2000" dirty="0">
                <a:solidFill>
                  <a:schemeClr val="bg2">
                    <a:lumMod val="10000"/>
                  </a:schemeClr>
                </a:solidFill>
              </a:rPr>
              <a:t> </a:t>
            </a:r>
          </a:p>
        </p:txBody>
      </p:sp>
      <p:sp>
        <p:nvSpPr>
          <p:cNvPr id="4" name="Title 1">
            <a:extLst>
              <a:ext uri="{FF2B5EF4-FFF2-40B4-BE49-F238E27FC236}">
                <a16:creationId xmlns:a16="http://schemas.microsoft.com/office/drawing/2014/main" id="{AF4BBEC2-42FC-1C67-3729-7B79857FEC4A}"/>
              </a:ext>
            </a:extLst>
          </p:cNvPr>
          <p:cNvSpPr txBox="1">
            <a:spLocks/>
          </p:cNvSpPr>
          <p:nvPr/>
        </p:nvSpPr>
        <p:spPr>
          <a:xfrm>
            <a:off x="145200" y="111354"/>
            <a:ext cx="9064390" cy="787314"/>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400" b="1" kern="1200">
                <a:solidFill>
                  <a:schemeClr val="bg1"/>
                </a:solidFill>
                <a:latin typeface="+mn-lt"/>
                <a:ea typeface="+mj-ea"/>
                <a:cs typeface="+mj-cs"/>
              </a:defRPr>
            </a:lvl1pPr>
          </a:lstStyle>
          <a:p>
            <a:r>
              <a:rPr lang="en-US" b="0" dirty="0">
                <a:solidFill>
                  <a:srgbClr val="002060"/>
                </a:solidFill>
              </a:rPr>
              <a:t>Literature : Gripper</a:t>
            </a:r>
          </a:p>
        </p:txBody>
      </p:sp>
      <p:sp>
        <p:nvSpPr>
          <p:cNvPr id="7" name="Title 1">
            <a:extLst>
              <a:ext uri="{FF2B5EF4-FFF2-40B4-BE49-F238E27FC236}">
                <a16:creationId xmlns:a16="http://schemas.microsoft.com/office/drawing/2014/main" id="{F87A3A3D-EC39-0F6D-9F76-CCD75C360D64}"/>
              </a:ext>
            </a:extLst>
          </p:cNvPr>
          <p:cNvSpPr txBox="1">
            <a:spLocks/>
          </p:cNvSpPr>
          <p:nvPr/>
        </p:nvSpPr>
        <p:spPr>
          <a:xfrm>
            <a:off x="364656" y="2568479"/>
            <a:ext cx="7343736" cy="787314"/>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400" b="1" kern="1200">
                <a:solidFill>
                  <a:schemeClr val="bg1"/>
                </a:solidFill>
                <a:latin typeface="+mn-lt"/>
                <a:ea typeface="+mj-ea"/>
                <a:cs typeface="+mj-cs"/>
              </a:defRPr>
            </a:lvl1pPr>
          </a:lstStyle>
          <a:p>
            <a:r>
              <a:rPr lang="en-IE" sz="2000" dirty="0">
                <a:solidFill>
                  <a:schemeClr val="bg2">
                    <a:lumMod val="10000"/>
                  </a:schemeClr>
                </a:solidFill>
              </a:rPr>
              <a:t>Fully 3D-printed modular soft fingers utilizing a screwless snap-lock base for quick assembly (pneumatic).</a:t>
            </a:r>
            <a:endParaRPr lang="en-US" sz="2000" dirty="0">
              <a:solidFill>
                <a:schemeClr val="bg2">
                  <a:lumMod val="10000"/>
                </a:schemeClr>
              </a:solidFill>
            </a:endParaRPr>
          </a:p>
        </p:txBody>
      </p:sp>
      <p:sp>
        <p:nvSpPr>
          <p:cNvPr id="9" name="Title 1">
            <a:extLst>
              <a:ext uri="{FF2B5EF4-FFF2-40B4-BE49-F238E27FC236}">
                <a16:creationId xmlns:a16="http://schemas.microsoft.com/office/drawing/2014/main" id="{8973EB03-3EF3-87F2-638D-6B154DD33FD9}"/>
              </a:ext>
            </a:extLst>
          </p:cNvPr>
          <p:cNvSpPr txBox="1">
            <a:spLocks/>
          </p:cNvSpPr>
          <p:nvPr/>
        </p:nvSpPr>
        <p:spPr>
          <a:xfrm>
            <a:off x="364656" y="3895864"/>
            <a:ext cx="7051128" cy="787314"/>
          </a:xfrm>
          <a:prstGeom prst="rect">
            <a:avLst/>
          </a:prstGeom>
        </p:spPr>
        <p:txBody>
          <a:bodyPr vert="horz" lIns="91440" tIns="45720" rIns="91440" bIns="45720" rtlCol="0" anchor="t">
            <a:normAutofit fontScale="92500"/>
          </a:bodyPr>
          <a:lstStyle>
            <a:lvl1pPr algn="l" defTabSz="914400" rtl="0" eaLnBrk="1" latinLnBrk="0" hangingPunct="1">
              <a:lnSpc>
                <a:spcPct val="90000"/>
              </a:lnSpc>
              <a:spcBef>
                <a:spcPct val="0"/>
              </a:spcBef>
              <a:buNone/>
              <a:defRPr sz="3400" b="1" kern="1200">
                <a:solidFill>
                  <a:schemeClr val="bg1"/>
                </a:solidFill>
                <a:latin typeface="+mn-lt"/>
                <a:ea typeface="+mj-ea"/>
                <a:cs typeface="+mj-cs"/>
              </a:defRPr>
            </a:lvl1pPr>
          </a:lstStyle>
          <a:p>
            <a:r>
              <a:rPr lang="en-IE" sz="2000" dirty="0">
                <a:solidFill>
                  <a:schemeClr val="bg2">
                    <a:lumMod val="10000"/>
                  </a:schemeClr>
                </a:solidFill>
              </a:rPr>
              <a:t>The snap-lock mechanism enables extremely fast assembly, but multi-material structures generate high internal mechanical stress.</a:t>
            </a:r>
            <a:r>
              <a:rPr lang="en-US" sz="2000" dirty="0">
                <a:solidFill>
                  <a:schemeClr val="bg2">
                    <a:lumMod val="10000"/>
                  </a:schemeClr>
                </a:solidFill>
              </a:rPr>
              <a:t> </a:t>
            </a:r>
          </a:p>
        </p:txBody>
      </p:sp>
      <p:sp>
        <p:nvSpPr>
          <p:cNvPr id="10" name="Title 1">
            <a:extLst>
              <a:ext uri="{FF2B5EF4-FFF2-40B4-BE49-F238E27FC236}">
                <a16:creationId xmlns:a16="http://schemas.microsoft.com/office/drawing/2014/main" id="{5AE0EB51-457C-47D4-51A3-9F88CA26E244}"/>
              </a:ext>
            </a:extLst>
          </p:cNvPr>
          <p:cNvSpPr txBox="1">
            <a:spLocks/>
          </p:cNvSpPr>
          <p:nvPr/>
        </p:nvSpPr>
        <p:spPr>
          <a:xfrm>
            <a:off x="364656" y="5189814"/>
            <a:ext cx="7243152" cy="787314"/>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400" b="1" kern="1200">
                <a:solidFill>
                  <a:schemeClr val="bg1"/>
                </a:solidFill>
                <a:latin typeface="+mn-lt"/>
                <a:ea typeface="+mj-ea"/>
                <a:cs typeface="+mj-cs"/>
              </a:defRPr>
            </a:lvl1pPr>
          </a:lstStyle>
          <a:p>
            <a:r>
              <a:rPr lang="en-IE" sz="2000" dirty="0">
                <a:solidFill>
                  <a:schemeClr val="bg2">
                    <a:lumMod val="10000"/>
                  </a:schemeClr>
                </a:solidFill>
              </a:rPr>
              <a:t>Multi-material printing creates internal stress. FEA simulations fail to predict the real bending.</a:t>
            </a:r>
            <a:endParaRPr lang="en-US" sz="2000" dirty="0">
              <a:solidFill>
                <a:schemeClr val="bg2">
                  <a:lumMod val="10000"/>
                </a:schemeClr>
              </a:solidFill>
            </a:endParaRPr>
          </a:p>
        </p:txBody>
      </p:sp>
      <p:sp>
        <p:nvSpPr>
          <p:cNvPr id="11" name="Title 1">
            <a:extLst>
              <a:ext uri="{FF2B5EF4-FFF2-40B4-BE49-F238E27FC236}">
                <a16:creationId xmlns:a16="http://schemas.microsoft.com/office/drawing/2014/main" id="{BDDC72C0-4C7C-C43F-28BD-51F23F5A3ABC}"/>
              </a:ext>
            </a:extLst>
          </p:cNvPr>
          <p:cNvSpPr txBox="1">
            <a:spLocks/>
          </p:cNvSpPr>
          <p:nvPr/>
        </p:nvSpPr>
        <p:spPr>
          <a:xfrm>
            <a:off x="5043336" y="218044"/>
            <a:ext cx="9064390" cy="787314"/>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400" b="1" kern="1200">
                <a:solidFill>
                  <a:schemeClr val="bg1"/>
                </a:solidFill>
                <a:latin typeface="+mn-lt"/>
                <a:ea typeface="+mj-ea"/>
                <a:cs typeface="+mj-cs"/>
              </a:defRPr>
            </a:lvl1pPr>
          </a:lstStyle>
          <a:p>
            <a:r>
              <a:rPr lang="en-US" sz="1600" b="0" dirty="0">
                <a:solidFill>
                  <a:srgbClr val="002060"/>
                </a:solidFill>
              </a:rPr>
              <a:t>3D Printed Soft Gripper for Automatic Lunch Box Packing</a:t>
            </a:r>
          </a:p>
          <a:p>
            <a:r>
              <a:rPr lang="en-US" sz="1600" b="0" dirty="0" err="1">
                <a:solidFill>
                  <a:srgbClr val="002060"/>
                </a:solidFill>
              </a:rPr>
              <a:t>Zhongkui</a:t>
            </a:r>
            <a:r>
              <a:rPr lang="en-US" sz="1600" b="0" dirty="0">
                <a:solidFill>
                  <a:srgbClr val="002060"/>
                </a:solidFill>
              </a:rPr>
              <a:t> Wang, Damith Suresh Chathuranga, and Shinichi Hirai</a:t>
            </a:r>
          </a:p>
        </p:txBody>
      </p:sp>
      <p:pic>
        <p:nvPicPr>
          <p:cNvPr id="14" name="Picture 13">
            <a:extLst>
              <a:ext uri="{FF2B5EF4-FFF2-40B4-BE49-F238E27FC236}">
                <a16:creationId xmlns:a16="http://schemas.microsoft.com/office/drawing/2014/main" id="{929F6956-9350-4476-BD60-03763CD84E0D}"/>
              </a:ext>
            </a:extLst>
          </p:cNvPr>
          <p:cNvPicPr>
            <a:picLocks noChangeAspect="1"/>
          </p:cNvPicPr>
          <p:nvPr/>
        </p:nvPicPr>
        <p:blipFill>
          <a:blip r:embed="rId2"/>
          <a:srcRect r="50383" b="11487"/>
          <a:stretch>
            <a:fillRect/>
          </a:stretch>
        </p:blipFill>
        <p:spPr>
          <a:xfrm>
            <a:off x="8329134" y="769731"/>
            <a:ext cx="2895238" cy="2927027"/>
          </a:xfrm>
          <a:prstGeom prst="rect">
            <a:avLst/>
          </a:prstGeom>
        </p:spPr>
      </p:pic>
      <p:pic>
        <p:nvPicPr>
          <p:cNvPr id="16" name="Picture 15">
            <a:extLst>
              <a:ext uri="{FF2B5EF4-FFF2-40B4-BE49-F238E27FC236}">
                <a16:creationId xmlns:a16="http://schemas.microsoft.com/office/drawing/2014/main" id="{5FA5D863-9832-5DC3-9675-59307FDB07D4}"/>
              </a:ext>
            </a:extLst>
          </p:cNvPr>
          <p:cNvPicPr>
            <a:picLocks noChangeAspect="1"/>
          </p:cNvPicPr>
          <p:nvPr/>
        </p:nvPicPr>
        <p:blipFill>
          <a:blip r:embed="rId3"/>
          <a:stretch>
            <a:fillRect/>
          </a:stretch>
        </p:blipFill>
        <p:spPr>
          <a:xfrm>
            <a:off x="8432164" y="3882239"/>
            <a:ext cx="2440051" cy="2864407"/>
          </a:xfrm>
          <a:prstGeom prst="rect">
            <a:avLst/>
          </a:prstGeom>
        </p:spPr>
      </p:pic>
      <p:sp>
        <p:nvSpPr>
          <p:cNvPr id="17" name="TextBox 16">
            <a:extLst>
              <a:ext uri="{FF2B5EF4-FFF2-40B4-BE49-F238E27FC236}">
                <a16:creationId xmlns:a16="http://schemas.microsoft.com/office/drawing/2014/main" id="{65D8CA9A-1A6C-953C-5BAA-E4F188393A5D}"/>
              </a:ext>
            </a:extLst>
          </p:cNvPr>
          <p:cNvSpPr txBox="1"/>
          <p:nvPr/>
        </p:nvSpPr>
        <p:spPr>
          <a:xfrm>
            <a:off x="260528" y="856624"/>
            <a:ext cx="7068312" cy="400110"/>
          </a:xfrm>
          <a:prstGeom prst="rect">
            <a:avLst/>
          </a:prstGeom>
          <a:noFill/>
        </p:spPr>
        <p:txBody>
          <a:bodyPr wrap="square">
            <a:spAutoFit/>
          </a:bodyPr>
          <a:lstStyle/>
          <a:p>
            <a:r>
              <a:rPr lang="en-US" sz="2000" b="1" dirty="0">
                <a:solidFill>
                  <a:schemeClr val="tx2"/>
                </a:solidFill>
              </a:rPr>
              <a:t>Question/Gap: </a:t>
            </a:r>
            <a:endParaRPr lang="en-IE" sz="2000" b="1" dirty="0">
              <a:solidFill>
                <a:schemeClr val="tx2"/>
              </a:solidFill>
            </a:endParaRPr>
          </a:p>
        </p:txBody>
      </p:sp>
      <p:sp>
        <p:nvSpPr>
          <p:cNvPr id="18" name="TextBox 17">
            <a:extLst>
              <a:ext uri="{FF2B5EF4-FFF2-40B4-BE49-F238E27FC236}">
                <a16:creationId xmlns:a16="http://schemas.microsoft.com/office/drawing/2014/main" id="{965AF222-827F-B64C-FEC3-59A1CC7205E4}"/>
              </a:ext>
            </a:extLst>
          </p:cNvPr>
          <p:cNvSpPr txBox="1"/>
          <p:nvPr/>
        </p:nvSpPr>
        <p:spPr>
          <a:xfrm>
            <a:off x="208464" y="2123416"/>
            <a:ext cx="7068312" cy="400110"/>
          </a:xfrm>
          <a:prstGeom prst="rect">
            <a:avLst/>
          </a:prstGeom>
          <a:noFill/>
        </p:spPr>
        <p:txBody>
          <a:bodyPr wrap="square">
            <a:spAutoFit/>
          </a:bodyPr>
          <a:lstStyle/>
          <a:p>
            <a:r>
              <a:rPr lang="en-US" sz="2000" b="1" dirty="0">
                <a:solidFill>
                  <a:schemeClr val="tx2"/>
                </a:solidFill>
              </a:rPr>
              <a:t>Method: </a:t>
            </a:r>
            <a:endParaRPr lang="en-IE" sz="2000" b="1" dirty="0">
              <a:solidFill>
                <a:schemeClr val="tx2"/>
              </a:solidFill>
            </a:endParaRPr>
          </a:p>
        </p:txBody>
      </p:sp>
      <p:sp>
        <p:nvSpPr>
          <p:cNvPr id="19" name="TextBox 18">
            <a:extLst>
              <a:ext uri="{FF2B5EF4-FFF2-40B4-BE49-F238E27FC236}">
                <a16:creationId xmlns:a16="http://schemas.microsoft.com/office/drawing/2014/main" id="{75351C65-CE84-D444-3D47-8A24705B271C}"/>
              </a:ext>
            </a:extLst>
          </p:cNvPr>
          <p:cNvSpPr txBox="1"/>
          <p:nvPr/>
        </p:nvSpPr>
        <p:spPr>
          <a:xfrm>
            <a:off x="166087" y="3426304"/>
            <a:ext cx="7068312" cy="400110"/>
          </a:xfrm>
          <a:prstGeom prst="rect">
            <a:avLst/>
          </a:prstGeom>
          <a:noFill/>
        </p:spPr>
        <p:txBody>
          <a:bodyPr wrap="square">
            <a:spAutoFit/>
          </a:bodyPr>
          <a:lstStyle/>
          <a:p>
            <a:r>
              <a:rPr lang="en-US" sz="2000" b="1" dirty="0">
                <a:solidFill>
                  <a:schemeClr val="tx2"/>
                </a:solidFill>
              </a:rPr>
              <a:t>Results: </a:t>
            </a:r>
            <a:endParaRPr lang="en-IE" sz="2000" b="1" dirty="0">
              <a:solidFill>
                <a:schemeClr val="tx2"/>
              </a:solidFill>
            </a:endParaRPr>
          </a:p>
        </p:txBody>
      </p:sp>
      <p:sp>
        <p:nvSpPr>
          <p:cNvPr id="20" name="TextBox 19">
            <a:extLst>
              <a:ext uri="{FF2B5EF4-FFF2-40B4-BE49-F238E27FC236}">
                <a16:creationId xmlns:a16="http://schemas.microsoft.com/office/drawing/2014/main" id="{3752DF2D-BF19-E8EB-0C22-6DA17FA70057}"/>
              </a:ext>
            </a:extLst>
          </p:cNvPr>
          <p:cNvSpPr txBox="1"/>
          <p:nvPr/>
        </p:nvSpPr>
        <p:spPr>
          <a:xfrm>
            <a:off x="166087" y="4795041"/>
            <a:ext cx="7068312" cy="400110"/>
          </a:xfrm>
          <a:prstGeom prst="rect">
            <a:avLst/>
          </a:prstGeom>
          <a:noFill/>
        </p:spPr>
        <p:txBody>
          <a:bodyPr wrap="square">
            <a:spAutoFit/>
          </a:bodyPr>
          <a:lstStyle/>
          <a:p>
            <a:r>
              <a:rPr lang="en-US" sz="2000" b="1" dirty="0">
                <a:solidFill>
                  <a:schemeClr val="tx2"/>
                </a:solidFill>
              </a:rPr>
              <a:t>Limitations: </a:t>
            </a:r>
            <a:endParaRPr lang="en-IE" sz="2000" b="1" dirty="0">
              <a:solidFill>
                <a:schemeClr val="tx2"/>
              </a:solidFill>
            </a:endParaRPr>
          </a:p>
        </p:txBody>
      </p:sp>
    </p:spTree>
    <p:extLst>
      <p:ext uri="{BB962C8B-B14F-4D97-AF65-F5344CB8AC3E}">
        <p14:creationId xmlns:p14="http://schemas.microsoft.com/office/powerpoint/2010/main" val="31948902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4FB34E1-5733-AC45-2302-D4A04A19F62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1390D15-A878-A716-3BE2-7B32B6F44405}"/>
              </a:ext>
            </a:extLst>
          </p:cNvPr>
          <p:cNvSpPr>
            <a:spLocks noGrp="1"/>
          </p:cNvSpPr>
          <p:nvPr>
            <p:ph type="title"/>
          </p:nvPr>
        </p:nvSpPr>
        <p:spPr>
          <a:xfrm>
            <a:off x="277788" y="1291149"/>
            <a:ext cx="7224864" cy="787314"/>
          </a:xfrm>
        </p:spPr>
        <p:txBody>
          <a:bodyPr>
            <a:normAutofit/>
          </a:bodyPr>
          <a:lstStyle/>
          <a:p>
            <a:r>
              <a:rPr lang="en-IE" sz="2000" dirty="0">
                <a:solidFill>
                  <a:schemeClr val="bg2">
                    <a:lumMod val="10000"/>
                  </a:schemeClr>
                </a:solidFill>
              </a:rPr>
              <a:t>Pneumatics waste air and fatigue the material just to hold an object.</a:t>
            </a:r>
            <a:endParaRPr lang="en-US" sz="2000" b="0" dirty="0">
              <a:solidFill>
                <a:schemeClr val="bg2">
                  <a:lumMod val="10000"/>
                </a:schemeClr>
              </a:solidFill>
            </a:endParaRPr>
          </a:p>
        </p:txBody>
      </p:sp>
      <p:sp>
        <p:nvSpPr>
          <p:cNvPr id="4" name="Title 1">
            <a:extLst>
              <a:ext uri="{FF2B5EF4-FFF2-40B4-BE49-F238E27FC236}">
                <a16:creationId xmlns:a16="http://schemas.microsoft.com/office/drawing/2014/main" id="{2FF57070-EFAC-0249-1BF4-8202402D9843}"/>
              </a:ext>
            </a:extLst>
          </p:cNvPr>
          <p:cNvSpPr txBox="1">
            <a:spLocks/>
          </p:cNvSpPr>
          <p:nvPr/>
        </p:nvSpPr>
        <p:spPr>
          <a:xfrm>
            <a:off x="145200" y="111354"/>
            <a:ext cx="9064390" cy="787314"/>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400" b="1" kern="1200">
                <a:solidFill>
                  <a:schemeClr val="bg1"/>
                </a:solidFill>
                <a:latin typeface="+mn-lt"/>
                <a:ea typeface="+mj-ea"/>
                <a:cs typeface="+mj-cs"/>
              </a:defRPr>
            </a:lvl1pPr>
          </a:lstStyle>
          <a:p>
            <a:r>
              <a:rPr lang="en-US" b="0" dirty="0">
                <a:solidFill>
                  <a:srgbClr val="002060"/>
                </a:solidFill>
              </a:rPr>
              <a:t>Literature : Gripper</a:t>
            </a:r>
          </a:p>
        </p:txBody>
      </p:sp>
      <p:sp>
        <p:nvSpPr>
          <p:cNvPr id="7" name="Title 1">
            <a:extLst>
              <a:ext uri="{FF2B5EF4-FFF2-40B4-BE49-F238E27FC236}">
                <a16:creationId xmlns:a16="http://schemas.microsoft.com/office/drawing/2014/main" id="{98DE2307-B557-9663-8A79-D41C67D49CB0}"/>
              </a:ext>
            </a:extLst>
          </p:cNvPr>
          <p:cNvSpPr txBox="1">
            <a:spLocks/>
          </p:cNvSpPr>
          <p:nvPr/>
        </p:nvSpPr>
        <p:spPr>
          <a:xfrm>
            <a:off x="277788" y="2551488"/>
            <a:ext cx="7343736" cy="787314"/>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400" b="1" kern="1200">
                <a:solidFill>
                  <a:schemeClr val="bg1"/>
                </a:solidFill>
                <a:latin typeface="+mn-lt"/>
                <a:ea typeface="+mj-ea"/>
                <a:cs typeface="+mj-cs"/>
              </a:defRPr>
            </a:lvl1pPr>
          </a:lstStyle>
          <a:p>
            <a:r>
              <a:rPr lang="en-IE" sz="2000" dirty="0">
                <a:solidFill>
                  <a:schemeClr val="bg2">
                    <a:lumMod val="10000"/>
                  </a:schemeClr>
                </a:solidFill>
              </a:rPr>
              <a:t>6 angled pneumatic fingers lined with Gecko-like adhesive.</a:t>
            </a:r>
            <a:endParaRPr lang="en-US" sz="2000" b="0" dirty="0">
              <a:solidFill>
                <a:schemeClr val="bg2">
                  <a:lumMod val="10000"/>
                </a:schemeClr>
              </a:solidFill>
            </a:endParaRPr>
          </a:p>
        </p:txBody>
      </p:sp>
      <p:sp>
        <p:nvSpPr>
          <p:cNvPr id="9" name="Title 1">
            <a:extLst>
              <a:ext uri="{FF2B5EF4-FFF2-40B4-BE49-F238E27FC236}">
                <a16:creationId xmlns:a16="http://schemas.microsoft.com/office/drawing/2014/main" id="{C3ADB3A7-9FCE-607C-A565-D42B8F1B7DF7}"/>
              </a:ext>
            </a:extLst>
          </p:cNvPr>
          <p:cNvSpPr txBox="1">
            <a:spLocks/>
          </p:cNvSpPr>
          <p:nvPr/>
        </p:nvSpPr>
        <p:spPr>
          <a:xfrm>
            <a:off x="208464" y="3886926"/>
            <a:ext cx="7051128" cy="787314"/>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400" b="1" kern="1200">
                <a:solidFill>
                  <a:schemeClr val="bg1"/>
                </a:solidFill>
                <a:latin typeface="+mn-lt"/>
                <a:ea typeface="+mj-ea"/>
                <a:cs typeface="+mj-cs"/>
              </a:defRPr>
            </a:lvl1pPr>
          </a:lstStyle>
          <a:p>
            <a:r>
              <a:rPr lang="en-IE" sz="2000" dirty="0">
                <a:solidFill>
                  <a:schemeClr val="bg2">
                    <a:lumMod val="10000"/>
                  </a:schemeClr>
                </a:solidFill>
              </a:rPr>
              <a:t>100% passive holding at 0W. Air pressure is only used to detach/peel the gripper off.</a:t>
            </a:r>
            <a:endParaRPr lang="en-US" sz="2000" b="0" dirty="0">
              <a:solidFill>
                <a:schemeClr val="bg2">
                  <a:lumMod val="10000"/>
                </a:schemeClr>
              </a:solidFill>
            </a:endParaRPr>
          </a:p>
        </p:txBody>
      </p:sp>
      <p:sp>
        <p:nvSpPr>
          <p:cNvPr id="10" name="Title 1">
            <a:extLst>
              <a:ext uri="{FF2B5EF4-FFF2-40B4-BE49-F238E27FC236}">
                <a16:creationId xmlns:a16="http://schemas.microsoft.com/office/drawing/2014/main" id="{30D5BC90-F38F-E7C0-9897-85E073486582}"/>
              </a:ext>
            </a:extLst>
          </p:cNvPr>
          <p:cNvSpPr txBox="1">
            <a:spLocks/>
          </p:cNvSpPr>
          <p:nvPr/>
        </p:nvSpPr>
        <p:spPr>
          <a:xfrm>
            <a:off x="208464" y="5189814"/>
            <a:ext cx="9064390" cy="787314"/>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400" b="1" kern="1200">
                <a:solidFill>
                  <a:schemeClr val="bg1"/>
                </a:solidFill>
                <a:latin typeface="+mn-lt"/>
                <a:ea typeface="+mj-ea"/>
                <a:cs typeface="+mj-cs"/>
              </a:defRPr>
            </a:lvl1pPr>
          </a:lstStyle>
          <a:p>
            <a:r>
              <a:rPr lang="en-IE" sz="2000" dirty="0">
                <a:solidFill>
                  <a:schemeClr val="bg2">
                    <a:lumMod val="10000"/>
                  </a:schemeClr>
                </a:solidFill>
              </a:rPr>
              <a:t>Only works on flat objects, hates dust, zero sensors.</a:t>
            </a:r>
            <a:endParaRPr lang="en-US" sz="2000" b="0" dirty="0">
              <a:solidFill>
                <a:schemeClr val="bg2">
                  <a:lumMod val="10000"/>
                </a:schemeClr>
              </a:solidFill>
            </a:endParaRPr>
          </a:p>
        </p:txBody>
      </p:sp>
      <p:sp>
        <p:nvSpPr>
          <p:cNvPr id="11" name="Title 1">
            <a:extLst>
              <a:ext uri="{FF2B5EF4-FFF2-40B4-BE49-F238E27FC236}">
                <a16:creationId xmlns:a16="http://schemas.microsoft.com/office/drawing/2014/main" id="{D2F5F887-6EB9-56E0-E98F-AB62A9E797E3}"/>
              </a:ext>
            </a:extLst>
          </p:cNvPr>
          <p:cNvSpPr txBox="1">
            <a:spLocks/>
          </p:cNvSpPr>
          <p:nvPr/>
        </p:nvSpPr>
        <p:spPr>
          <a:xfrm>
            <a:off x="5043336" y="218044"/>
            <a:ext cx="9064390" cy="787314"/>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400" b="1" kern="1200">
                <a:solidFill>
                  <a:schemeClr val="bg1"/>
                </a:solidFill>
                <a:latin typeface="+mn-lt"/>
                <a:ea typeface="+mj-ea"/>
                <a:cs typeface="+mj-cs"/>
              </a:defRPr>
            </a:lvl1pPr>
          </a:lstStyle>
          <a:p>
            <a:r>
              <a:rPr lang="en-US" sz="1600" b="0" dirty="0">
                <a:solidFill>
                  <a:srgbClr val="002060"/>
                </a:solidFill>
              </a:rPr>
              <a:t>A Gecko-Inspired Soft Passive Gripper</a:t>
            </a:r>
          </a:p>
          <a:p>
            <a:r>
              <a:rPr lang="en-US" sz="1600" b="0" dirty="0">
                <a:solidFill>
                  <a:srgbClr val="002060"/>
                </a:solidFill>
              </a:rPr>
              <a:t>Arthur Seibel * , Mert Yıldız and Berkan </a:t>
            </a:r>
            <a:r>
              <a:rPr lang="en-US" sz="1600" b="0" dirty="0" err="1">
                <a:solidFill>
                  <a:srgbClr val="002060"/>
                </a:solidFill>
              </a:rPr>
              <a:t>Zorluba</a:t>
            </a:r>
            <a:r>
              <a:rPr lang="en-US" sz="1600" b="0" dirty="0">
                <a:solidFill>
                  <a:srgbClr val="002060"/>
                </a:solidFill>
              </a:rPr>
              <a:t>¸</a:t>
            </a:r>
          </a:p>
        </p:txBody>
      </p:sp>
      <p:pic>
        <p:nvPicPr>
          <p:cNvPr id="5" name="Picture 4">
            <a:extLst>
              <a:ext uri="{FF2B5EF4-FFF2-40B4-BE49-F238E27FC236}">
                <a16:creationId xmlns:a16="http://schemas.microsoft.com/office/drawing/2014/main" id="{30102DE6-8760-7592-4668-792573E71B82}"/>
              </a:ext>
            </a:extLst>
          </p:cNvPr>
          <p:cNvPicPr>
            <a:picLocks noChangeAspect="1"/>
          </p:cNvPicPr>
          <p:nvPr/>
        </p:nvPicPr>
        <p:blipFill>
          <a:blip r:embed="rId2"/>
          <a:stretch>
            <a:fillRect/>
          </a:stretch>
        </p:blipFill>
        <p:spPr>
          <a:xfrm>
            <a:off x="6715913" y="1750628"/>
            <a:ext cx="5198636" cy="3671537"/>
          </a:xfrm>
          <a:prstGeom prst="rect">
            <a:avLst/>
          </a:prstGeom>
        </p:spPr>
      </p:pic>
      <p:sp>
        <p:nvSpPr>
          <p:cNvPr id="6" name="TextBox 5">
            <a:extLst>
              <a:ext uri="{FF2B5EF4-FFF2-40B4-BE49-F238E27FC236}">
                <a16:creationId xmlns:a16="http://schemas.microsoft.com/office/drawing/2014/main" id="{7514B49B-F32B-CBA9-C129-9D88F993F851}"/>
              </a:ext>
            </a:extLst>
          </p:cNvPr>
          <p:cNvSpPr txBox="1"/>
          <p:nvPr/>
        </p:nvSpPr>
        <p:spPr>
          <a:xfrm>
            <a:off x="260528" y="856624"/>
            <a:ext cx="7068312" cy="400110"/>
          </a:xfrm>
          <a:prstGeom prst="rect">
            <a:avLst/>
          </a:prstGeom>
          <a:noFill/>
        </p:spPr>
        <p:txBody>
          <a:bodyPr wrap="square">
            <a:spAutoFit/>
          </a:bodyPr>
          <a:lstStyle/>
          <a:p>
            <a:r>
              <a:rPr lang="en-US" sz="2000" b="1" dirty="0">
                <a:solidFill>
                  <a:schemeClr val="tx2"/>
                </a:solidFill>
              </a:rPr>
              <a:t>Question/Gap: </a:t>
            </a:r>
            <a:endParaRPr lang="en-IE" sz="2000" b="1" dirty="0">
              <a:solidFill>
                <a:schemeClr val="tx2"/>
              </a:solidFill>
            </a:endParaRPr>
          </a:p>
        </p:txBody>
      </p:sp>
      <p:sp>
        <p:nvSpPr>
          <p:cNvPr id="8" name="TextBox 7">
            <a:extLst>
              <a:ext uri="{FF2B5EF4-FFF2-40B4-BE49-F238E27FC236}">
                <a16:creationId xmlns:a16="http://schemas.microsoft.com/office/drawing/2014/main" id="{ACBAFE07-58A8-30E9-453E-05DA4D507C84}"/>
              </a:ext>
            </a:extLst>
          </p:cNvPr>
          <p:cNvSpPr txBox="1"/>
          <p:nvPr/>
        </p:nvSpPr>
        <p:spPr>
          <a:xfrm>
            <a:off x="208464" y="2123416"/>
            <a:ext cx="7068312" cy="400110"/>
          </a:xfrm>
          <a:prstGeom prst="rect">
            <a:avLst/>
          </a:prstGeom>
          <a:noFill/>
        </p:spPr>
        <p:txBody>
          <a:bodyPr wrap="square">
            <a:spAutoFit/>
          </a:bodyPr>
          <a:lstStyle/>
          <a:p>
            <a:r>
              <a:rPr lang="en-US" sz="2000" b="1" dirty="0">
                <a:solidFill>
                  <a:schemeClr val="tx2"/>
                </a:solidFill>
              </a:rPr>
              <a:t>Method: </a:t>
            </a:r>
            <a:endParaRPr lang="en-IE" sz="2000" b="1" dirty="0">
              <a:solidFill>
                <a:schemeClr val="tx2"/>
              </a:solidFill>
            </a:endParaRPr>
          </a:p>
        </p:txBody>
      </p:sp>
      <p:sp>
        <p:nvSpPr>
          <p:cNvPr id="12" name="TextBox 11">
            <a:extLst>
              <a:ext uri="{FF2B5EF4-FFF2-40B4-BE49-F238E27FC236}">
                <a16:creationId xmlns:a16="http://schemas.microsoft.com/office/drawing/2014/main" id="{32A0F77D-99D4-6E1C-7F63-639B25BC660F}"/>
              </a:ext>
            </a:extLst>
          </p:cNvPr>
          <p:cNvSpPr txBox="1"/>
          <p:nvPr/>
        </p:nvSpPr>
        <p:spPr>
          <a:xfrm>
            <a:off x="166087" y="3426304"/>
            <a:ext cx="7068312" cy="400110"/>
          </a:xfrm>
          <a:prstGeom prst="rect">
            <a:avLst/>
          </a:prstGeom>
          <a:noFill/>
        </p:spPr>
        <p:txBody>
          <a:bodyPr wrap="square">
            <a:spAutoFit/>
          </a:bodyPr>
          <a:lstStyle/>
          <a:p>
            <a:r>
              <a:rPr lang="en-US" sz="2000" b="1" dirty="0">
                <a:solidFill>
                  <a:schemeClr val="tx2"/>
                </a:solidFill>
              </a:rPr>
              <a:t>Results: </a:t>
            </a:r>
            <a:endParaRPr lang="en-IE" sz="2000" b="1" dirty="0">
              <a:solidFill>
                <a:schemeClr val="tx2"/>
              </a:solidFill>
            </a:endParaRPr>
          </a:p>
        </p:txBody>
      </p:sp>
      <p:sp>
        <p:nvSpPr>
          <p:cNvPr id="13" name="TextBox 12">
            <a:extLst>
              <a:ext uri="{FF2B5EF4-FFF2-40B4-BE49-F238E27FC236}">
                <a16:creationId xmlns:a16="http://schemas.microsoft.com/office/drawing/2014/main" id="{79CAA1FB-6EE1-0511-0C14-37EF68F57F3F}"/>
              </a:ext>
            </a:extLst>
          </p:cNvPr>
          <p:cNvSpPr txBox="1"/>
          <p:nvPr/>
        </p:nvSpPr>
        <p:spPr>
          <a:xfrm>
            <a:off x="166087" y="4795041"/>
            <a:ext cx="7068312" cy="400110"/>
          </a:xfrm>
          <a:prstGeom prst="rect">
            <a:avLst/>
          </a:prstGeom>
          <a:noFill/>
        </p:spPr>
        <p:txBody>
          <a:bodyPr wrap="square">
            <a:spAutoFit/>
          </a:bodyPr>
          <a:lstStyle/>
          <a:p>
            <a:r>
              <a:rPr lang="en-US" sz="2000" b="1" dirty="0">
                <a:solidFill>
                  <a:schemeClr val="tx2"/>
                </a:solidFill>
              </a:rPr>
              <a:t>Limitations: </a:t>
            </a:r>
            <a:endParaRPr lang="en-IE" sz="2000" b="1" dirty="0">
              <a:solidFill>
                <a:schemeClr val="tx2"/>
              </a:solidFill>
            </a:endParaRPr>
          </a:p>
        </p:txBody>
      </p:sp>
    </p:spTree>
    <p:extLst>
      <p:ext uri="{BB962C8B-B14F-4D97-AF65-F5344CB8AC3E}">
        <p14:creationId xmlns:p14="http://schemas.microsoft.com/office/powerpoint/2010/main" val="26517555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0D7C5AE-CB11-FB91-0EBD-EC4EC29232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1452EE-7891-DA82-86D5-1631A97957DE}"/>
              </a:ext>
            </a:extLst>
          </p:cNvPr>
          <p:cNvSpPr>
            <a:spLocks noGrp="1"/>
          </p:cNvSpPr>
          <p:nvPr>
            <p:ph type="title"/>
          </p:nvPr>
        </p:nvSpPr>
        <p:spPr>
          <a:xfrm>
            <a:off x="208464" y="1291149"/>
            <a:ext cx="6809289" cy="787314"/>
          </a:xfrm>
        </p:spPr>
        <p:txBody>
          <a:bodyPr>
            <a:normAutofit/>
          </a:bodyPr>
          <a:lstStyle/>
          <a:p>
            <a:r>
              <a:rPr lang="en-IE" sz="2000" dirty="0">
                <a:solidFill>
                  <a:schemeClr val="bg2">
                    <a:lumMod val="10000"/>
                  </a:schemeClr>
                </a:solidFill>
              </a:rPr>
              <a:t>Micro-spines get stuck in rocks and adapt poorly to shapes.</a:t>
            </a:r>
            <a:endParaRPr lang="en-US" sz="2000" b="0" dirty="0">
              <a:solidFill>
                <a:schemeClr val="bg2">
                  <a:lumMod val="10000"/>
                </a:schemeClr>
              </a:solidFill>
            </a:endParaRPr>
          </a:p>
        </p:txBody>
      </p:sp>
      <p:sp>
        <p:nvSpPr>
          <p:cNvPr id="4" name="Title 1">
            <a:extLst>
              <a:ext uri="{FF2B5EF4-FFF2-40B4-BE49-F238E27FC236}">
                <a16:creationId xmlns:a16="http://schemas.microsoft.com/office/drawing/2014/main" id="{3D2F6FF7-BC82-D57C-8165-5BC85F374C3C}"/>
              </a:ext>
            </a:extLst>
          </p:cNvPr>
          <p:cNvSpPr txBox="1">
            <a:spLocks/>
          </p:cNvSpPr>
          <p:nvPr/>
        </p:nvSpPr>
        <p:spPr>
          <a:xfrm>
            <a:off x="145200" y="111354"/>
            <a:ext cx="9064390" cy="787314"/>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400" b="1" kern="1200">
                <a:solidFill>
                  <a:schemeClr val="bg1"/>
                </a:solidFill>
                <a:latin typeface="+mn-lt"/>
                <a:ea typeface="+mj-ea"/>
                <a:cs typeface="+mj-cs"/>
              </a:defRPr>
            </a:lvl1pPr>
          </a:lstStyle>
          <a:p>
            <a:r>
              <a:rPr lang="en-US" b="0" dirty="0">
                <a:solidFill>
                  <a:srgbClr val="002060"/>
                </a:solidFill>
              </a:rPr>
              <a:t>Literature : Gripper</a:t>
            </a:r>
          </a:p>
        </p:txBody>
      </p:sp>
      <p:sp>
        <p:nvSpPr>
          <p:cNvPr id="7" name="Title 1">
            <a:extLst>
              <a:ext uri="{FF2B5EF4-FFF2-40B4-BE49-F238E27FC236}">
                <a16:creationId xmlns:a16="http://schemas.microsoft.com/office/drawing/2014/main" id="{F382918E-CF67-1764-3A30-2868BE458F6E}"/>
              </a:ext>
            </a:extLst>
          </p:cNvPr>
          <p:cNvSpPr txBox="1">
            <a:spLocks/>
          </p:cNvSpPr>
          <p:nvPr/>
        </p:nvSpPr>
        <p:spPr>
          <a:xfrm>
            <a:off x="208464" y="2534810"/>
            <a:ext cx="7343736" cy="787314"/>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400" b="1" kern="1200">
                <a:solidFill>
                  <a:schemeClr val="bg1"/>
                </a:solidFill>
                <a:latin typeface="+mn-lt"/>
                <a:ea typeface="+mj-ea"/>
                <a:cs typeface="+mj-cs"/>
              </a:defRPr>
            </a:lvl1pPr>
          </a:lstStyle>
          <a:p>
            <a:r>
              <a:rPr lang="en-IE" sz="2000" dirty="0">
                <a:solidFill>
                  <a:schemeClr val="bg2">
                    <a:lumMod val="10000"/>
                  </a:schemeClr>
                </a:solidFill>
              </a:rPr>
              <a:t>4 underactuated fingers armed with 20 steel spines each.</a:t>
            </a:r>
            <a:endParaRPr lang="en-US" sz="2000" b="0" dirty="0">
              <a:solidFill>
                <a:schemeClr val="bg2">
                  <a:lumMod val="10000"/>
                </a:schemeClr>
              </a:solidFill>
            </a:endParaRPr>
          </a:p>
        </p:txBody>
      </p:sp>
      <p:sp>
        <p:nvSpPr>
          <p:cNvPr id="9" name="Title 1">
            <a:extLst>
              <a:ext uri="{FF2B5EF4-FFF2-40B4-BE49-F238E27FC236}">
                <a16:creationId xmlns:a16="http://schemas.microsoft.com/office/drawing/2014/main" id="{49EEC033-166D-C418-07F8-64F8FCBB8CC5}"/>
              </a:ext>
            </a:extLst>
          </p:cNvPr>
          <p:cNvSpPr txBox="1">
            <a:spLocks/>
          </p:cNvSpPr>
          <p:nvPr/>
        </p:nvSpPr>
        <p:spPr>
          <a:xfrm>
            <a:off x="208464" y="3886926"/>
            <a:ext cx="7051128" cy="787314"/>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400" b="1" kern="1200">
                <a:solidFill>
                  <a:schemeClr val="bg1"/>
                </a:solidFill>
                <a:latin typeface="+mn-lt"/>
                <a:ea typeface="+mj-ea"/>
                <a:cs typeface="+mj-cs"/>
              </a:defRPr>
            </a:lvl1pPr>
          </a:lstStyle>
          <a:p>
            <a:r>
              <a:rPr lang="en-IE" sz="2000" dirty="0">
                <a:solidFill>
                  <a:schemeClr val="bg2">
                    <a:lumMod val="10000"/>
                  </a:schemeClr>
                </a:solidFill>
              </a:rPr>
              <a:t>Grips and releases in &lt;3s. Holds 47 N of force while weighing only 350g.</a:t>
            </a:r>
            <a:endParaRPr lang="en-US" sz="2000" b="0" dirty="0">
              <a:solidFill>
                <a:schemeClr val="bg2">
                  <a:lumMod val="10000"/>
                </a:schemeClr>
              </a:solidFill>
            </a:endParaRPr>
          </a:p>
        </p:txBody>
      </p:sp>
      <p:sp>
        <p:nvSpPr>
          <p:cNvPr id="10" name="Title 1">
            <a:extLst>
              <a:ext uri="{FF2B5EF4-FFF2-40B4-BE49-F238E27FC236}">
                <a16:creationId xmlns:a16="http://schemas.microsoft.com/office/drawing/2014/main" id="{6895F5AB-507C-CEDB-1743-E15175069926}"/>
              </a:ext>
            </a:extLst>
          </p:cNvPr>
          <p:cNvSpPr txBox="1">
            <a:spLocks/>
          </p:cNvSpPr>
          <p:nvPr/>
        </p:nvSpPr>
        <p:spPr>
          <a:xfrm>
            <a:off x="166087" y="5175614"/>
            <a:ext cx="6582185" cy="787314"/>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400" b="1" kern="1200">
                <a:solidFill>
                  <a:schemeClr val="bg1"/>
                </a:solidFill>
                <a:latin typeface="+mn-lt"/>
                <a:ea typeface="+mj-ea"/>
                <a:cs typeface="+mj-cs"/>
              </a:defRPr>
            </a:lvl1pPr>
          </a:lstStyle>
          <a:p>
            <a:r>
              <a:rPr lang="en-IE" sz="2000" dirty="0">
                <a:solidFill>
                  <a:schemeClr val="bg2">
                    <a:lumMod val="10000"/>
                  </a:schemeClr>
                </a:solidFill>
              </a:rPr>
              <a:t>Steel spines bend permanently over time. No tactile skin for control.</a:t>
            </a:r>
            <a:endParaRPr lang="en-US" sz="2000" b="0" dirty="0">
              <a:solidFill>
                <a:schemeClr val="bg2">
                  <a:lumMod val="10000"/>
                </a:schemeClr>
              </a:solidFill>
            </a:endParaRPr>
          </a:p>
        </p:txBody>
      </p:sp>
      <p:sp>
        <p:nvSpPr>
          <p:cNvPr id="11" name="Title 1">
            <a:extLst>
              <a:ext uri="{FF2B5EF4-FFF2-40B4-BE49-F238E27FC236}">
                <a16:creationId xmlns:a16="http://schemas.microsoft.com/office/drawing/2014/main" id="{62624F91-36F4-75CA-1C38-FF905B3C5669}"/>
              </a:ext>
            </a:extLst>
          </p:cNvPr>
          <p:cNvSpPr txBox="1">
            <a:spLocks/>
          </p:cNvSpPr>
          <p:nvPr/>
        </p:nvSpPr>
        <p:spPr>
          <a:xfrm>
            <a:off x="5043336" y="218044"/>
            <a:ext cx="9064390" cy="787314"/>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400" b="1" kern="1200">
                <a:solidFill>
                  <a:schemeClr val="bg1"/>
                </a:solidFill>
                <a:latin typeface="+mn-lt"/>
                <a:ea typeface="+mj-ea"/>
                <a:cs typeface="+mj-cs"/>
              </a:defRPr>
            </a:lvl1pPr>
          </a:lstStyle>
          <a:p>
            <a:r>
              <a:rPr lang="en-US" sz="1600" b="0" dirty="0">
                <a:solidFill>
                  <a:srgbClr val="002060"/>
                </a:solidFill>
                <a:highlight>
                  <a:srgbClr val="FFFF00"/>
                </a:highlight>
              </a:rPr>
              <a:t>A mechanical adhesive gripper inspired by beetle claw for a rock </a:t>
            </a:r>
          </a:p>
          <a:p>
            <a:r>
              <a:rPr lang="en-US" sz="1600" b="0" dirty="0">
                <a:solidFill>
                  <a:srgbClr val="002060"/>
                </a:solidFill>
                <a:highlight>
                  <a:srgbClr val="FFFF00"/>
                </a:highlight>
              </a:rPr>
              <a:t>climbing robot </a:t>
            </a:r>
          </a:p>
          <a:p>
            <a:r>
              <a:rPr lang="en-US" sz="1600" b="0" dirty="0" err="1">
                <a:solidFill>
                  <a:srgbClr val="002060"/>
                </a:solidFill>
              </a:rPr>
              <a:t>Peijin</a:t>
            </a:r>
            <a:r>
              <a:rPr lang="en-US" sz="1600" b="0" dirty="0">
                <a:solidFill>
                  <a:srgbClr val="002060"/>
                </a:solidFill>
              </a:rPr>
              <a:t> Zi, Kun Xu, </a:t>
            </a:r>
            <a:r>
              <a:rPr lang="en-US" sz="1600" b="0" dirty="0" err="1">
                <a:solidFill>
                  <a:srgbClr val="002060"/>
                </a:solidFill>
              </a:rPr>
              <a:t>Yaobin</a:t>
            </a:r>
            <a:r>
              <a:rPr lang="en-US" sz="1600" b="0" dirty="0">
                <a:solidFill>
                  <a:srgbClr val="002060"/>
                </a:solidFill>
              </a:rPr>
              <a:t> Tian, </a:t>
            </a:r>
            <a:r>
              <a:rPr lang="en-US" sz="1600" b="0" dirty="0" err="1">
                <a:solidFill>
                  <a:srgbClr val="002060"/>
                </a:solidFill>
              </a:rPr>
              <a:t>Xilun</a:t>
            </a:r>
            <a:r>
              <a:rPr lang="en-US" sz="1600" b="0" dirty="0">
                <a:solidFill>
                  <a:srgbClr val="002060"/>
                </a:solidFill>
              </a:rPr>
              <a:t> Ding</a:t>
            </a:r>
          </a:p>
        </p:txBody>
      </p:sp>
      <p:pic>
        <p:nvPicPr>
          <p:cNvPr id="6" name="Picture 5">
            <a:extLst>
              <a:ext uri="{FF2B5EF4-FFF2-40B4-BE49-F238E27FC236}">
                <a16:creationId xmlns:a16="http://schemas.microsoft.com/office/drawing/2014/main" id="{6D60F6B8-C8D1-1767-3888-134AAB2D8B17}"/>
              </a:ext>
            </a:extLst>
          </p:cNvPr>
          <p:cNvPicPr>
            <a:picLocks noChangeAspect="1"/>
          </p:cNvPicPr>
          <p:nvPr/>
        </p:nvPicPr>
        <p:blipFill>
          <a:blip r:embed="rId2"/>
          <a:stretch>
            <a:fillRect/>
          </a:stretch>
        </p:blipFill>
        <p:spPr>
          <a:xfrm>
            <a:off x="9752343" y="1118385"/>
            <a:ext cx="2231193" cy="2507974"/>
          </a:xfrm>
          <a:prstGeom prst="rect">
            <a:avLst/>
          </a:prstGeom>
        </p:spPr>
      </p:pic>
      <p:pic>
        <p:nvPicPr>
          <p:cNvPr id="12" name="Picture 11">
            <a:extLst>
              <a:ext uri="{FF2B5EF4-FFF2-40B4-BE49-F238E27FC236}">
                <a16:creationId xmlns:a16="http://schemas.microsoft.com/office/drawing/2014/main" id="{428370D8-0513-ED73-9AFC-24A13BF4D156}"/>
              </a:ext>
            </a:extLst>
          </p:cNvPr>
          <p:cNvPicPr>
            <a:picLocks noChangeAspect="1"/>
          </p:cNvPicPr>
          <p:nvPr/>
        </p:nvPicPr>
        <p:blipFill>
          <a:blip r:embed="rId3"/>
          <a:stretch>
            <a:fillRect/>
          </a:stretch>
        </p:blipFill>
        <p:spPr>
          <a:xfrm>
            <a:off x="6701808" y="4466302"/>
            <a:ext cx="2595016" cy="2109498"/>
          </a:xfrm>
          <a:prstGeom prst="rect">
            <a:avLst/>
          </a:prstGeom>
        </p:spPr>
      </p:pic>
      <p:pic>
        <p:nvPicPr>
          <p:cNvPr id="14" name="Picture 13">
            <a:extLst>
              <a:ext uri="{FF2B5EF4-FFF2-40B4-BE49-F238E27FC236}">
                <a16:creationId xmlns:a16="http://schemas.microsoft.com/office/drawing/2014/main" id="{49AA9721-A4E2-2E43-E2B5-981FAC8FDD81}"/>
              </a:ext>
            </a:extLst>
          </p:cNvPr>
          <p:cNvPicPr>
            <a:picLocks noChangeAspect="1"/>
          </p:cNvPicPr>
          <p:nvPr/>
        </p:nvPicPr>
        <p:blipFill>
          <a:blip r:embed="rId4"/>
          <a:stretch>
            <a:fillRect/>
          </a:stretch>
        </p:blipFill>
        <p:spPr>
          <a:xfrm>
            <a:off x="6601968" y="1062252"/>
            <a:ext cx="2956828" cy="2905468"/>
          </a:xfrm>
          <a:prstGeom prst="rect">
            <a:avLst/>
          </a:prstGeom>
        </p:spPr>
      </p:pic>
      <p:pic>
        <p:nvPicPr>
          <p:cNvPr id="16" name="Picture 15">
            <a:extLst>
              <a:ext uri="{FF2B5EF4-FFF2-40B4-BE49-F238E27FC236}">
                <a16:creationId xmlns:a16="http://schemas.microsoft.com/office/drawing/2014/main" id="{1E55BA84-1F01-0F0A-C56A-9718BEFF0359}"/>
              </a:ext>
            </a:extLst>
          </p:cNvPr>
          <p:cNvPicPr>
            <a:picLocks noChangeAspect="1"/>
          </p:cNvPicPr>
          <p:nvPr/>
        </p:nvPicPr>
        <p:blipFill>
          <a:blip r:embed="rId5"/>
          <a:srcRect r="13647"/>
          <a:stretch>
            <a:fillRect/>
          </a:stretch>
        </p:blipFill>
        <p:spPr>
          <a:xfrm>
            <a:off x="9223573" y="4002883"/>
            <a:ext cx="2759963" cy="2384536"/>
          </a:xfrm>
          <a:prstGeom prst="rect">
            <a:avLst/>
          </a:prstGeom>
        </p:spPr>
      </p:pic>
      <p:sp>
        <p:nvSpPr>
          <p:cNvPr id="18" name="TextBox 17">
            <a:extLst>
              <a:ext uri="{FF2B5EF4-FFF2-40B4-BE49-F238E27FC236}">
                <a16:creationId xmlns:a16="http://schemas.microsoft.com/office/drawing/2014/main" id="{58467080-E563-9427-D4C1-581B1FD08FB7}"/>
              </a:ext>
            </a:extLst>
          </p:cNvPr>
          <p:cNvSpPr txBox="1"/>
          <p:nvPr/>
        </p:nvSpPr>
        <p:spPr>
          <a:xfrm>
            <a:off x="260528" y="856624"/>
            <a:ext cx="7068312" cy="400110"/>
          </a:xfrm>
          <a:prstGeom prst="rect">
            <a:avLst/>
          </a:prstGeom>
          <a:noFill/>
        </p:spPr>
        <p:txBody>
          <a:bodyPr wrap="square">
            <a:spAutoFit/>
          </a:bodyPr>
          <a:lstStyle/>
          <a:p>
            <a:r>
              <a:rPr lang="en-US" sz="2000" b="1" dirty="0">
                <a:solidFill>
                  <a:schemeClr val="tx2"/>
                </a:solidFill>
              </a:rPr>
              <a:t>Question/Gap: </a:t>
            </a:r>
            <a:endParaRPr lang="en-IE" sz="2000" b="1" dirty="0">
              <a:solidFill>
                <a:schemeClr val="tx2"/>
              </a:solidFill>
            </a:endParaRPr>
          </a:p>
        </p:txBody>
      </p:sp>
      <p:sp>
        <p:nvSpPr>
          <p:cNvPr id="19" name="TextBox 18">
            <a:extLst>
              <a:ext uri="{FF2B5EF4-FFF2-40B4-BE49-F238E27FC236}">
                <a16:creationId xmlns:a16="http://schemas.microsoft.com/office/drawing/2014/main" id="{F0CCFA0C-6AFC-0951-10D4-C73037EE5D29}"/>
              </a:ext>
            </a:extLst>
          </p:cNvPr>
          <p:cNvSpPr txBox="1"/>
          <p:nvPr/>
        </p:nvSpPr>
        <p:spPr>
          <a:xfrm>
            <a:off x="208464" y="2123416"/>
            <a:ext cx="7068312" cy="400110"/>
          </a:xfrm>
          <a:prstGeom prst="rect">
            <a:avLst/>
          </a:prstGeom>
          <a:noFill/>
        </p:spPr>
        <p:txBody>
          <a:bodyPr wrap="square">
            <a:spAutoFit/>
          </a:bodyPr>
          <a:lstStyle/>
          <a:p>
            <a:r>
              <a:rPr lang="en-US" sz="2000" b="1" dirty="0">
                <a:solidFill>
                  <a:schemeClr val="tx2"/>
                </a:solidFill>
              </a:rPr>
              <a:t>Method: </a:t>
            </a:r>
            <a:endParaRPr lang="en-IE" sz="2000" b="1" dirty="0">
              <a:solidFill>
                <a:schemeClr val="tx2"/>
              </a:solidFill>
            </a:endParaRPr>
          </a:p>
        </p:txBody>
      </p:sp>
      <p:sp>
        <p:nvSpPr>
          <p:cNvPr id="20" name="TextBox 19">
            <a:extLst>
              <a:ext uri="{FF2B5EF4-FFF2-40B4-BE49-F238E27FC236}">
                <a16:creationId xmlns:a16="http://schemas.microsoft.com/office/drawing/2014/main" id="{62D5AA28-9C19-1488-F913-2AC270BF1876}"/>
              </a:ext>
            </a:extLst>
          </p:cNvPr>
          <p:cNvSpPr txBox="1"/>
          <p:nvPr/>
        </p:nvSpPr>
        <p:spPr>
          <a:xfrm>
            <a:off x="166087" y="3426304"/>
            <a:ext cx="7068312" cy="400110"/>
          </a:xfrm>
          <a:prstGeom prst="rect">
            <a:avLst/>
          </a:prstGeom>
          <a:noFill/>
        </p:spPr>
        <p:txBody>
          <a:bodyPr wrap="square">
            <a:spAutoFit/>
          </a:bodyPr>
          <a:lstStyle/>
          <a:p>
            <a:r>
              <a:rPr lang="en-US" sz="2000" b="1" dirty="0">
                <a:solidFill>
                  <a:schemeClr val="tx2"/>
                </a:solidFill>
              </a:rPr>
              <a:t>Results: </a:t>
            </a:r>
            <a:endParaRPr lang="en-IE" sz="2000" b="1" dirty="0">
              <a:solidFill>
                <a:schemeClr val="tx2"/>
              </a:solidFill>
            </a:endParaRPr>
          </a:p>
        </p:txBody>
      </p:sp>
      <p:sp>
        <p:nvSpPr>
          <p:cNvPr id="21" name="TextBox 20">
            <a:extLst>
              <a:ext uri="{FF2B5EF4-FFF2-40B4-BE49-F238E27FC236}">
                <a16:creationId xmlns:a16="http://schemas.microsoft.com/office/drawing/2014/main" id="{62007525-F537-878B-3791-E71CA8E0D08D}"/>
              </a:ext>
            </a:extLst>
          </p:cNvPr>
          <p:cNvSpPr txBox="1"/>
          <p:nvPr/>
        </p:nvSpPr>
        <p:spPr>
          <a:xfrm>
            <a:off x="166087" y="4795041"/>
            <a:ext cx="7068312" cy="400110"/>
          </a:xfrm>
          <a:prstGeom prst="rect">
            <a:avLst/>
          </a:prstGeom>
          <a:noFill/>
        </p:spPr>
        <p:txBody>
          <a:bodyPr wrap="square">
            <a:spAutoFit/>
          </a:bodyPr>
          <a:lstStyle/>
          <a:p>
            <a:r>
              <a:rPr lang="en-US" sz="2000" b="1" dirty="0">
                <a:solidFill>
                  <a:schemeClr val="tx2"/>
                </a:solidFill>
              </a:rPr>
              <a:t>Limitations: </a:t>
            </a:r>
            <a:endParaRPr lang="en-IE" sz="2000" b="1" dirty="0">
              <a:solidFill>
                <a:schemeClr val="tx2"/>
              </a:solidFill>
            </a:endParaRPr>
          </a:p>
        </p:txBody>
      </p:sp>
    </p:spTree>
    <p:extLst>
      <p:ext uri="{BB962C8B-B14F-4D97-AF65-F5344CB8AC3E}">
        <p14:creationId xmlns:p14="http://schemas.microsoft.com/office/powerpoint/2010/main" val="14103474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1CA4B05-A080-4A3A-E174-23E8AC0C559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FAAECC6-E55E-E655-1FB7-33B80EF4C883}"/>
              </a:ext>
            </a:extLst>
          </p:cNvPr>
          <p:cNvSpPr>
            <a:spLocks noGrp="1"/>
          </p:cNvSpPr>
          <p:nvPr>
            <p:ph type="title"/>
          </p:nvPr>
        </p:nvSpPr>
        <p:spPr>
          <a:xfrm>
            <a:off x="208464" y="1291149"/>
            <a:ext cx="6809289" cy="787314"/>
          </a:xfrm>
        </p:spPr>
        <p:txBody>
          <a:bodyPr>
            <a:normAutofit/>
          </a:bodyPr>
          <a:lstStyle/>
          <a:p>
            <a:r>
              <a:rPr lang="en-IE" sz="2000" dirty="0">
                <a:solidFill>
                  <a:schemeClr val="bg2">
                    <a:lumMod val="10000"/>
                  </a:schemeClr>
                </a:solidFill>
              </a:rPr>
              <a:t>Wires and batteries prevent the creation of micro-grippers.</a:t>
            </a:r>
            <a:endParaRPr lang="en-US" sz="2000" b="0" dirty="0">
              <a:solidFill>
                <a:schemeClr val="bg2">
                  <a:lumMod val="10000"/>
                </a:schemeClr>
              </a:solidFill>
            </a:endParaRPr>
          </a:p>
        </p:txBody>
      </p:sp>
      <p:sp>
        <p:nvSpPr>
          <p:cNvPr id="4" name="Title 1">
            <a:extLst>
              <a:ext uri="{FF2B5EF4-FFF2-40B4-BE49-F238E27FC236}">
                <a16:creationId xmlns:a16="http://schemas.microsoft.com/office/drawing/2014/main" id="{12B013F5-1A9C-8F30-BBEC-6CD95A7A44E7}"/>
              </a:ext>
            </a:extLst>
          </p:cNvPr>
          <p:cNvSpPr txBox="1">
            <a:spLocks/>
          </p:cNvSpPr>
          <p:nvPr/>
        </p:nvSpPr>
        <p:spPr>
          <a:xfrm>
            <a:off x="145200" y="111354"/>
            <a:ext cx="9064390" cy="787314"/>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400" b="1" kern="1200">
                <a:solidFill>
                  <a:schemeClr val="bg1"/>
                </a:solidFill>
                <a:latin typeface="+mn-lt"/>
                <a:ea typeface="+mj-ea"/>
                <a:cs typeface="+mj-cs"/>
              </a:defRPr>
            </a:lvl1pPr>
          </a:lstStyle>
          <a:p>
            <a:r>
              <a:rPr lang="en-US" b="0" dirty="0">
                <a:solidFill>
                  <a:srgbClr val="002060"/>
                </a:solidFill>
              </a:rPr>
              <a:t>Literature : Gripper</a:t>
            </a:r>
          </a:p>
        </p:txBody>
      </p:sp>
      <p:sp>
        <p:nvSpPr>
          <p:cNvPr id="7" name="Title 1">
            <a:extLst>
              <a:ext uri="{FF2B5EF4-FFF2-40B4-BE49-F238E27FC236}">
                <a16:creationId xmlns:a16="http://schemas.microsoft.com/office/drawing/2014/main" id="{97421504-CEAA-167A-F132-FDF6A0BBD55F}"/>
              </a:ext>
            </a:extLst>
          </p:cNvPr>
          <p:cNvSpPr txBox="1">
            <a:spLocks/>
          </p:cNvSpPr>
          <p:nvPr/>
        </p:nvSpPr>
        <p:spPr>
          <a:xfrm>
            <a:off x="364656" y="2568479"/>
            <a:ext cx="7343736" cy="787314"/>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400" b="1" kern="1200">
                <a:solidFill>
                  <a:schemeClr val="bg1"/>
                </a:solidFill>
                <a:latin typeface="+mn-lt"/>
                <a:ea typeface="+mj-ea"/>
                <a:cs typeface="+mj-cs"/>
              </a:defRPr>
            </a:lvl1pPr>
          </a:lstStyle>
          <a:p>
            <a:r>
              <a:rPr lang="en-IE" sz="2000" dirty="0">
                <a:solidFill>
                  <a:schemeClr val="bg2">
                    <a:lumMod val="10000"/>
                  </a:schemeClr>
                </a:solidFill>
              </a:rPr>
              <a:t>4D print smart materials (like hydrogels) that react to the environment.</a:t>
            </a:r>
            <a:endParaRPr lang="en-US" sz="2000" b="0" dirty="0">
              <a:solidFill>
                <a:schemeClr val="bg2">
                  <a:lumMod val="10000"/>
                </a:schemeClr>
              </a:solidFill>
            </a:endParaRPr>
          </a:p>
        </p:txBody>
      </p:sp>
      <p:sp>
        <p:nvSpPr>
          <p:cNvPr id="9" name="Title 1">
            <a:extLst>
              <a:ext uri="{FF2B5EF4-FFF2-40B4-BE49-F238E27FC236}">
                <a16:creationId xmlns:a16="http://schemas.microsoft.com/office/drawing/2014/main" id="{30D2F225-4761-12CE-CDEF-F9B3CEE0BB48}"/>
              </a:ext>
            </a:extLst>
          </p:cNvPr>
          <p:cNvSpPr txBox="1">
            <a:spLocks/>
          </p:cNvSpPr>
          <p:nvPr/>
        </p:nvSpPr>
        <p:spPr>
          <a:xfrm>
            <a:off x="278695" y="4017251"/>
            <a:ext cx="7343736" cy="787314"/>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3400" b="1" kern="1200">
                <a:solidFill>
                  <a:schemeClr val="bg1"/>
                </a:solidFill>
                <a:latin typeface="+mn-lt"/>
                <a:ea typeface="+mj-ea"/>
                <a:cs typeface="+mj-cs"/>
              </a:defRPr>
            </a:lvl1pPr>
          </a:lstStyle>
          <a:p>
            <a:r>
              <a:rPr lang="en-IE" sz="2000" dirty="0">
                <a:solidFill>
                  <a:schemeClr val="bg2">
                    <a:lumMod val="10000"/>
                  </a:schemeClr>
                </a:solidFill>
              </a:rPr>
              <a:t>100% autonomous folding triggered by light, pH, or heat.</a:t>
            </a:r>
            <a:endParaRPr lang="en-US" sz="2000" b="0" dirty="0">
              <a:solidFill>
                <a:schemeClr val="bg2">
                  <a:lumMod val="10000"/>
                </a:schemeClr>
              </a:solidFill>
            </a:endParaRPr>
          </a:p>
        </p:txBody>
      </p:sp>
      <p:sp>
        <p:nvSpPr>
          <p:cNvPr id="10" name="Title 1">
            <a:extLst>
              <a:ext uri="{FF2B5EF4-FFF2-40B4-BE49-F238E27FC236}">
                <a16:creationId xmlns:a16="http://schemas.microsoft.com/office/drawing/2014/main" id="{9BB5512C-D597-67D9-C7D7-C3AA45CDA9AD}"/>
              </a:ext>
            </a:extLst>
          </p:cNvPr>
          <p:cNvSpPr txBox="1">
            <a:spLocks/>
          </p:cNvSpPr>
          <p:nvPr/>
        </p:nvSpPr>
        <p:spPr>
          <a:xfrm>
            <a:off x="364656" y="5466023"/>
            <a:ext cx="7755216" cy="787314"/>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3400" b="1" kern="1200">
                <a:solidFill>
                  <a:schemeClr val="bg1"/>
                </a:solidFill>
                <a:latin typeface="+mn-lt"/>
                <a:ea typeface="+mj-ea"/>
                <a:cs typeface="+mj-cs"/>
              </a:defRPr>
            </a:lvl1pPr>
          </a:lstStyle>
          <a:p>
            <a:r>
              <a:rPr lang="en-IE" sz="2000" dirty="0">
                <a:solidFill>
                  <a:schemeClr val="bg2">
                    <a:lumMod val="10000"/>
                  </a:schemeClr>
                </a:solidFill>
              </a:rPr>
              <a:t>Chemical reactions are extremely slow. Zero real-time haptic closed-loop control.</a:t>
            </a:r>
            <a:endParaRPr lang="en-US" sz="2000" b="0" dirty="0">
              <a:solidFill>
                <a:schemeClr val="bg2">
                  <a:lumMod val="10000"/>
                </a:schemeClr>
              </a:solidFill>
            </a:endParaRPr>
          </a:p>
        </p:txBody>
      </p:sp>
      <p:sp>
        <p:nvSpPr>
          <p:cNvPr id="11" name="Title 1">
            <a:extLst>
              <a:ext uri="{FF2B5EF4-FFF2-40B4-BE49-F238E27FC236}">
                <a16:creationId xmlns:a16="http://schemas.microsoft.com/office/drawing/2014/main" id="{72B1C06A-6B26-54C9-E0FC-AB1E08AE2EA4}"/>
              </a:ext>
            </a:extLst>
          </p:cNvPr>
          <p:cNvSpPr txBox="1">
            <a:spLocks/>
          </p:cNvSpPr>
          <p:nvPr/>
        </p:nvSpPr>
        <p:spPr>
          <a:xfrm>
            <a:off x="4869600" y="241620"/>
            <a:ext cx="9064390" cy="787314"/>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400" b="1" kern="1200">
                <a:solidFill>
                  <a:schemeClr val="bg1"/>
                </a:solidFill>
                <a:latin typeface="+mn-lt"/>
                <a:ea typeface="+mj-ea"/>
                <a:cs typeface="+mj-cs"/>
              </a:defRPr>
            </a:lvl1pPr>
          </a:lstStyle>
          <a:p>
            <a:r>
              <a:rPr lang="en-GB" sz="1600" b="0" dirty="0">
                <a:solidFill>
                  <a:srgbClr val="002060"/>
                </a:solidFill>
                <a:highlight>
                  <a:srgbClr val="FFFF00"/>
                </a:highlight>
              </a:rPr>
              <a:t>Advances in biomimetic stimuli responsive </a:t>
            </a:r>
          </a:p>
          <a:p>
            <a:r>
              <a:rPr lang="en-GB" sz="1600" b="0" dirty="0">
                <a:solidFill>
                  <a:srgbClr val="002060"/>
                </a:solidFill>
                <a:highlight>
                  <a:srgbClr val="FFFF00"/>
                </a:highlight>
              </a:rPr>
              <a:t>soft grippers</a:t>
            </a:r>
          </a:p>
          <a:p>
            <a:r>
              <a:rPr lang="en-GB" sz="1600" b="0" dirty="0" err="1">
                <a:solidFill>
                  <a:srgbClr val="002060"/>
                </a:solidFill>
              </a:rPr>
              <a:t>ChangKyu</a:t>
            </a:r>
            <a:r>
              <a:rPr lang="en-GB" sz="1600" b="0" dirty="0">
                <a:solidFill>
                  <a:srgbClr val="002060"/>
                </a:solidFill>
              </a:rPr>
              <a:t> Yoon</a:t>
            </a:r>
            <a:endParaRPr lang="en-US" sz="1600" b="0" dirty="0">
              <a:solidFill>
                <a:srgbClr val="002060"/>
              </a:solidFill>
            </a:endParaRPr>
          </a:p>
        </p:txBody>
      </p:sp>
      <p:sp>
        <p:nvSpPr>
          <p:cNvPr id="18" name="TextBox 17">
            <a:extLst>
              <a:ext uri="{FF2B5EF4-FFF2-40B4-BE49-F238E27FC236}">
                <a16:creationId xmlns:a16="http://schemas.microsoft.com/office/drawing/2014/main" id="{CEB3240C-4A11-7B63-C1F8-9D8F7F63D523}"/>
              </a:ext>
            </a:extLst>
          </p:cNvPr>
          <p:cNvSpPr txBox="1"/>
          <p:nvPr/>
        </p:nvSpPr>
        <p:spPr>
          <a:xfrm>
            <a:off x="260528" y="856624"/>
            <a:ext cx="7068312" cy="400110"/>
          </a:xfrm>
          <a:prstGeom prst="rect">
            <a:avLst/>
          </a:prstGeom>
          <a:noFill/>
        </p:spPr>
        <p:txBody>
          <a:bodyPr wrap="square">
            <a:spAutoFit/>
          </a:bodyPr>
          <a:lstStyle/>
          <a:p>
            <a:r>
              <a:rPr lang="en-US" sz="2000" b="1" dirty="0">
                <a:solidFill>
                  <a:schemeClr val="tx2"/>
                </a:solidFill>
              </a:rPr>
              <a:t>Question/Gap: </a:t>
            </a:r>
            <a:endParaRPr lang="en-IE" sz="2000" b="1" dirty="0">
              <a:solidFill>
                <a:schemeClr val="tx2"/>
              </a:solidFill>
            </a:endParaRPr>
          </a:p>
        </p:txBody>
      </p:sp>
      <p:sp>
        <p:nvSpPr>
          <p:cNvPr id="19" name="TextBox 18">
            <a:extLst>
              <a:ext uri="{FF2B5EF4-FFF2-40B4-BE49-F238E27FC236}">
                <a16:creationId xmlns:a16="http://schemas.microsoft.com/office/drawing/2014/main" id="{13116DCC-1ECD-617F-5E28-67A9DDBFEB74}"/>
              </a:ext>
            </a:extLst>
          </p:cNvPr>
          <p:cNvSpPr txBox="1"/>
          <p:nvPr/>
        </p:nvSpPr>
        <p:spPr>
          <a:xfrm>
            <a:off x="208464" y="2123416"/>
            <a:ext cx="7068312" cy="400110"/>
          </a:xfrm>
          <a:prstGeom prst="rect">
            <a:avLst/>
          </a:prstGeom>
          <a:noFill/>
        </p:spPr>
        <p:txBody>
          <a:bodyPr wrap="square">
            <a:spAutoFit/>
          </a:bodyPr>
          <a:lstStyle/>
          <a:p>
            <a:r>
              <a:rPr lang="en-US" sz="2000" b="1" dirty="0">
                <a:solidFill>
                  <a:schemeClr val="tx2"/>
                </a:solidFill>
              </a:rPr>
              <a:t>Method: </a:t>
            </a:r>
            <a:endParaRPr lang="en-IE" sz="2000" b="1" dirty="0">
              <a:solidFill>
                <a:schemeClr val="tx2"/>
              </a:solidFill>
            </a:endParaRPr>
          </a:p>
        </p:txBody>
      </p:sp>
      <p:sp>
        <p:nvSpPr>
          <p:cNvPr id="20" name="TextBox 19">
            <a:extLst>
              <a:ext uri="{FF2B5EF4-FFF2-40B4-BE49-F238E27FC236}">
                <a16:creationId xmlns:a16="http://schemas.microsoft.com/office/drawing/2014/main" id="{351A62B0-0A89-0B11-CE48-55D24AB62C87}"/>
              </a:ext>
            </a:extLst>
          </p:cNvPr>
          <p:cNvSpPr txBox="1"/>
          <p:nvPr/>
        </p:nvSpPr>
        <p:spPr>
          <a:xfrm>
            <a:off x="166087" y="3585654"/>
            <a:ext cx="7068312" cy="400110"/>
          </a:xfrm>
          <a:prstGeom prst="rect">
            <a:avLst/>
          </a:prstGeom>
          <a:noFill/>
        </p:spPr>
        <p:txBody>
          <a:bodyPr wrap="square">
            <a:spAutoFit/>
          </a:bodyPr>
          <a:lstStyle/>
          <a:p>
            <a:r>
              <a:rPr lang="en-US" sz="2000" b="1" dirty="0">
                <a:solidFill>
                  <a:schemeClr val="tx2"/>
                </a:solidFill>
              </a:rPr>
              <a:t>Results: </a:t>
            </a:r>
            <a:endParaRPr lang="en-IE" sz="2000" b="1" dirty="0">
              <a:solidFill>
                <a:schemeClr val="tx2"/>
              </a:solidFill>
            </a:endParaRPr>
          </a:p>
        </p:txBody>
      </p:sp>
      <p:sp>
        <p:nvSpPr>
          <p:cNvPr id="21" name="TextBox 20">
            <a:extLst>
              <a:ext uri="{FF2B5EF4-FFF2-40B4-BE49-F238E27FC236}">
                <a16:creationId xmlns:a16="http://schemas.microsoft.com/office/drawing/2014/main" id="{ACD8D40A-27BD-09F4-BB01-1C6969E75608}"/>
              </a:ext>
            </a:extLst>
          </p:cNvPr>
          <p:cNvSpPr txBox="1"/>
          <p:nvPr/>
        </p:nvSpPr>
        <p:spPr>
          <a:xfrm>
            <a:off x="166087" y="5071250"/>
            <a:ext cx="7068312" cy="400110"/>
          </a:xfrm>
          <a:prstGeom prst="rect">
            <a:avLst/>
          </a:prstGeom>
          <a:noFill/>
        </p:spPr>
        <p:txBody>
          <a:bodyPr wrap="square">
            <a:spAutoFit/>
          </a:bodyPr>
          <a:lstStyle/>
          <a:p>
            <a:r>
              <a:rPr lang="en-US" sz="2000" b="1" dirty="0">
                <a:solidFill>
                  <a:schemeClr val="tx2"/>
                </a:solidFill>
              </a:rPr>
              <a:t>Limitations: </a:t>
            </a:r>
            <a:endParaRPr lang="en-IE" sz="2000" b="1" dirty="0">
              <a:solidFill>
                <a:schemeClr val="tx2"/>
              </a:solidFill>
            </a:endParaRPr>
          </a:p>
        </p:txBody>
      </p:sp>
      <p:pic>
        <p:nvPicPr>
          <p:cNvPr id="5" name="Picture 4">
            <a:extLst>
              <a:ext uri="{FF2B5EF4-FFF2-40B4-BE49-F238E27FC236}">
                <a16:creationId xmlns:a16="http://schemas.microsoft.com/office/drawing/2014/main" id="{8EF5D6BF-A1E4-B95B-6B7A-A8CB1FCCAFC1}"/>
              </a:ext>
            </a:extLst>
          </p:cNvPr>
          <p:cNvPicPr>
            <a:picLocks noChangeAspect="1"/>
          </p:cNvPicPr>
          <p:nvPr/>
        </p:nvPicPr>
        <p:blipFill>
          <a:blip r:embed="rId2"/>
          <a:stretch>
            <a:fillRect/>
          </a:stretch>
        </p:blipFill>
        <p:spPr>
          <a:xfrm>
            <a:off x="8854985" y="557784"/>
            <a:ext cx="3386007" cy="3306927"/>
          </a:xfrm>
          <a:prstGeom prst="rect">
            <a:avLst/>
          </a:prstGeom>
        </p:spPr>
      </p:pic>
      <p:pic>
        <p:nvPicPr>
          <p:cNvPr id="13" name="Picture 12">
            <a:extLst>
              <a:ext uri="{FF2B5EF4-FFF2-40B4-BE49-F238E27FC236}">
                <a16:creationId xmlns:a16="http://schemas.microsoft.com/office/drawing/2014/main" id="{1D98551E-B813-0419-2A7F-9F20126F7003}"/>
              </a:ext>
            </a:extLst>
          </p:cNvPr>
          <p:cNvPicPr>
            <a:picLocks noChangeAspect="1"/>
          </p:cNvPicPr>
          <p:nvPr/>
        </p:nvPicPr>
        <p:blipFill>
          <a:blip r:embed="rId3"/>
          <a:srcRect b="41850"/>
          <a:stretch>
            <a:fillRect/>
          </a:stretch>
        </p:blipFill>
        <p:spPr>
          <a:xfrm>
            <a:off x="6529006" y="1159200"/>
            <a:ext cx="2325980" cy="2670548"/>
          </a:xfrm>
          <a:prstGeom prst="rect">
            <a:avLst/>
          </a:prstGeom>
        </p:spPr>
      </p:pic>
      <p:pic>
        <p:nvPicPr>
          <p:cNvPr id="17" name="Picture 16">
            <a:extLst>
              <a:ext uri="{FF2B5EF4-FFF2-40B4-BE49-F238E27FC236}">
                <a16:creationId xmlns:a16="http://schemas.microsoft.com/office/drawing/2014/main" id="{F8426C01-BF30-AE00-FEDE-EA395077A075}"/>
              </a:ext>
            </a:extLst>
          </p:cNvPr>
          <p:cNvPicPr>
            <a:picLocks noChangeAspect="1"/>
          </p:cNvPicPr>
          <p:nvPr/>
        </p:nvPicPr>
        <p:blipFill>
          <a:blip r:embed="rId4"/>
          <a:stretch>
            <a:fillRect/>
          </a:stretch>
        </p:blipFill>
        <p:spPr>
          <a:xfrm>
            <a:off x="7708392" y="4180875"/>
            <a:ext cx="4442376" cy="2479689"/>
          </a:xfrm>
          <a:prstGeom prst="rect">
            <a:avLst/>
          </a:prstGeom>
        </p:spPr>
      </p:pic>
    </p:spTree>
    <p:extLst>
      <p:ext uri="{BB962C8B-B14F-4D97-AF65-F5344CB8AC3E}">
        <p14:creationId xmlns:p14="http://schemas.microsoft.com/office/powerpoint/2010/main" val="9020971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4341A57-6599-C82F-F386-375119A0082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F8D087-C9F2-31D8-878E-454D0FB0F750}"/>
              </a:ext>
            </a:extLst>
          </p:cNvPr>
          <p:cNvSpPr>
            <a:spLocks noGrp="1"/>
          </p:cNvSpPr>
          <p:nvPr>
            <p:ph type="title"/>
          </p:nvPr>
        </p:nvSpPr>
        <p:spPr>
          <a:xfrm>
            <a:off x="208464" y="1291149"/>
            <a:ext cx="6809289" cy="787314"/>
          </a:xfrm>
        </p:spPr>
        <p:txBody>
          <a:bodyPr>
            <a:normAutofit/>
          </a:bodyPr>
          <a:lstStyle/>
          <a:p>
            <a:r>
              <a:rPr lang="en-IE" sz="2000" dirty="0">
                <a:solidFill>
                  <a:schemeClr val="bg2">
                    <a:lumMod val="10000"/>
                  </a:schemeClr>
                </a:solidFill>
              </a:rPr>
              <a:t>How to copy nature's multi-scale architectures for zero-energy adhesives.</a:t>
            </a:r>
            <a:endParaRPr lang="en-US" sz="2000" b="0" dirty="0">
              <a:solidFill>
                <a:schemeClr val="bg2">
                  <a:lumMod val="10000"/>
                </a:schemeClr>
              </a:solidFill>
            </a:endParaRPr>
          </a:p>
        </p:txBody>
      </p:sp>
      <p:sp>
        <p:nvSpPr>
          <p:cNvPr id="4" name="Title 1">
            <a:extLst>
              <a:ext uri="{FF2B5EF4-FFF2-40B4-BE49-F238E27FC236}">
                <a16:creationId xmlns:a16="http://schemas.microsoft.com/office/drawing/2014/main" id="{DB4D45FF-2674-82D8-5A35-1CBEDCB4491D}"/>
              </a:ext>
            </a:extLst>
          </p:cNvPr>
          <p:cNvSpPr txBox="1">
            <a:spLocks/>
          </p:cNvSpPr>
          <p:nvPr/>
        </p:nvSpPr>
        <p:spPr>
          <a:xfrm>
            <a:off x="145200" y="111354"/>
            <a:ext cx="9064390" cy="787314"/>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400" b="1" kern="1200">
                <a:solidFill>
                  <a:schemeClr val="bg1"/>
                </a:solidFill>
                <a:latin typeface="+mn-lt"/>
                <a:ea typeface="+mj-ea"/>
                <a:cs typeface="+mj-cs"/>
              </a:defRPr>
            </a:lvl1pPr>
          </a:lstStyle>
          <a:p>
            <a:r>
              <a:rPr lang="en-US" b="0" dirty="0">
                <a:solidFill>
                  <a:srgbClr val="002060"/>
                </a:solidFill>
              </a:rPr>
              <a:t>Literature : Gripper</a:t>
            </a:r>
          </a:p>
        </p:txBody>
      </p:sp>
      <p:sp>
        <p:nvSpPr>
          <p:cNvPr id="7" name="Title 1">
            <a:extLst>
              <a:ext uri="{FF2B5EF4-FFF2-40B4-BE49-F238E27FC236}">
                <a16:creationId xmlns:a16="http://schemas.microsoft.com/office/drawing/2014/main" id="{374E6C03-09B4-6E30-A607-FC02642B03EC}"/>
              </a:ext>
            </a:extLst>
          </p:cNvPr>
          <p:cNvSpPr txBox="1">
            <a:spLocks/>
          </p:cNvSpPr>
          <p:nvPr/>
        </p:nvSpPr>
        <p:spPr>
          <a:xfrm>
            <a:off x="199870" y="2551488"/>
            <a:ext cx="7380700" cy="787314"/>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3400" b="1" kern="1200">
                <a:solidFill>
                  <a:schemeClr val="bg1"/>
                </a:solidFill>
                <a:latin typeface="+mn-lt"/>
                <a:ea typeface="+mj-ea"/>
                <a:cs typeface="+mj-cs"/>
              </a:defRPr>
            </a:lvl1pPr>
          </a:lstStyle>
          <a:p>
            <a:r>
              <a:rPr lang="en-IE" sz="2000" dirty="0">
                <a:solidFill>
                  <a:schemeClr val="bg2">
                    <a:lumMod val="10000"/>
                  </a:schemeClr>
                </a:solidFill>
              </a:rPr>
              <a:t>Global review (gecko, frog pads, biological sensors).</a:t>
            </a:r>
            <a:endParaRPr lang="en-US" sz="2000" b="0" dirty="0">
              <a:solidFill>
                <a:schemeClr val="bg2">
                  <a:lumMod val="10000"/>
                </a:schemeClr>
              </a:solidFill>
            </a:endParaRPr>
          </a:p>
        </p:txBody>
      </p:sp>
      <p:sp>
        <p:nvSpPr>
          <p:cNvPr id="9" name="Title 1">
            <a:extLst>
              <a:ext uri="{FF2B5EF4-FFF2-40B4-BE49-F238E27FC236}">
                <a16:creationId xmlns:a16="http://schemas.microsoft.com/office/drawing/2014/main" id="{B65057CF-C62C-3649-AC6C-3C411AF4569E}"/>
              </a:ext>
            </a:extLst>
          </p:cNvPr>
          <p:cNvSpPr txBox="1">
            <a:spLocks/>
          </p:cNvSpPr>
          <p:nvPr/>
        </p:nvSpPr>
        <p:spPr>
          <a:xfrm>
            <a:off x="260528" y="4319311"/>
            <a:ext cx="7051128" cy="787314"/>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400" b="1" kern="1200">
                <a:solidFill>
                  <a:schemeClr val="bg1"/>
                </a:solidFill>
                <a:latin typeface="+mn-lt"/>
                <a:ea typeface="+mj-ea"/>
                <a:cs typeface="+mj-cs"/>
              </a:defRPr>
            </a:lvl1pPr>
          </a:lstStyle>
          <a:p>
            <a:r>
              <a:rPr lang="en-IE" sz="2000" dirty="0">
                <a:solidFill>
                  <a:schemeClr val="bg2">
                    <a:lumMod val="10000"/>
                  </a:schemeClr>
                </a:solidFill>
              </a:rPr>
              <a:t>Splitting contact pads at the nano-scale massively boosts adhesion without using glue.</a:t>
            </a:r>
            <a:endParaRPr lang="en-US" sz="2000" b="0" dirty="0">
              <a:solidFill>
                <a:schemeClr val="bg2">
                  <a:lumMod val="10000"/>
                </a:schemeClr>
              </a:solidFill>
            </a:endParaRPr>
          </a:p>
        </p:txBody>
      </p:sp>
      <p:sp>
        <p:nvSpPr>
          <p:cNvPr id="10" name="Title 1">
            <a:extLst>
              <a:ext uri="{FF2B5EF4-FFF2-40B4-BE49-F238E27FC236}">
                <a16:creationId xmlns:a16="http://schemas.microsoft.com/office/drawing/2014/main" id="{D1F0310D-3541-9F40-6EFE-F13F4094EEF9}"/>
              </a:ext>
            </a:extLst>
          </p:cNvPr>
          <p:cNvSpPr txBox="1">
            <a:spLocks/>
          </p:cNvSpPr>
          <p:nvPr/>
        </p:nvSpPr>
        <p:spPr>
          <a:xfrm>
            <a:off x="260528" y="5566851"/>
            <a:ext cx="9064390" cy="787314"/>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400" b="1" kern="1200">
                <a:solidFill>
                  <a:schemeClr val="bg1"/>
                </a:solidFill>
                <a:latin typeface="+mn-lt"/>
                <a:ea typeface="+mj-ea"/>
                <a:cs typeface="+mj-cs"/>
              </a:defRPr>
            </a:lvl1pPr>
          </a:lstStyle>
          <a:p>
            <a:r>
              <a:rPr lang="en-IE" sz="2000" dirty="0">
                <a:solidFill>
                  <a:schemeClr val="bg2">
                    <a:lumMod val="10000"/>
                  </a:schemeClr>
                </a:solidFill>
              </a:rPr>
              <a:t>Extremely hard to manufacture at scale. Artificial sensors are nowhere near biological speeds.</a:t>
            </a:r>
            <a:endParaRPr lang="en-US" sz="2000" b="0" dirty="0">
              <a:solidFill>
                <a:schemeClr val="bg2">
                  <a:lumMod val="10000"/>
                </a:schemeClr>
              </a:solidFill>
            </a:endParaRPr>
          </a:p>
        </p:txBody>
      </p:sp>
      <p:sp>
        <p:nvSpPr>
          <p:cNvPr id="11" name="Title 1">
            <a:extLst>
              <a:ext uri="{FF2B5EF4-FFF2-40B4-BE49-F238E27FC236}">
                <a16:creationId xmlns:a16="http://schemas.microsoft.com/office/drawing/2014/main" id="{464288DA-675B-82F0-C999-4B1EEDB386C4}"/>
              </a:ext>
            </a:extLst>
          </p:cNvPr>
          <p:cNvSpPr txBox="1">
            <a:spLocks/>
          </p:cNvSpPr>
          <p:nvPr/>
        </p:nvSpPr>
        <p:spPr>
          <a:xfrm>
            <a:off x="5043336" y="218044"/>
            <a:ext cx="9064390" cy="787314"/>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400" b="1" kern="1200">
                <a:solidFill>
                  <a:schemeClr val="bg1"/>
                </a:solidFill>
                <a:latin typeface="+mn-lt"/>
                <a:ea typeface="+mj-ea"/>
                <a:cs typeface="+mj-cs"/>
              </a:defRPr>
            </a:lvl1pPr>
          </a:lstStyle>
          <a:p>
            <a:r>
              <a:rPr lang="en-GB" sz="1600" b="0" dirty="0">
                <a:solidFill>
                  <a:srgbClr val="002060"/>
                </a:solidFill>
              </a:rPr>
              <a:t>Biomimetics: lessons from nature – an overview</a:t>
            </a:r>
          </a:p>
          <a:p>
            <a:r>
              <a:rPr lang="en-GB" sz="1600" b="0" dirty="0">
                <a:solidFill>
                  <a:srgbClr val="002060"/>
                </a:solidFill>
              </a:rPr>
              <a:t>BY BHARAT BHUSHAN</a:t>
            </a:r>
            <a:endParaRPr lang="en-US" sz="1600" b="0" dirty="0">
              <a:solidFill>
                <a:srgbClr val="002060"/>
              </a:solidFill>
            </a:endParaRPr>
          </a:p>
        </p:txBody>
      </p:sp>
      <p:sp>
        <p:nvSpPr>
          <p:cNvPr id="18" name="TextBox 17">
            <a:extLst>
              <a:ext uri="{FF2B5EF4-FFF2-40B4-BE49-F238E27FC236}">
                <a16:creationId xmlns:a16="http://schemas.microsoft.com/office/drawing/2014/main" id="{84514F12-60F7-57F8-C526-FE1EED319765}"/>
              </a:ext>
            </a:extLst>
          </p:cNvPr>
          <p:cNvSpPr txBox="1"/>
          <p:nvPr/>
        </p:nvSpPr>
        <p:spPr>
          <a:xfrm>
            <a:off x="260528" y="856624"/>
            <a:ext cx="7068312" cy="400110"/>
          </a:xfrm>
          <a:prstGeom prst="rect">
            <a:avLst/>
          </a:prstGeom>
          <a:noFill/>
        </p:spPr>
        <p:txBody>
          <a:bodyPr wrap="square">
            <a:spAutoFit/>
          </a:bodyPr>
          <a:lstStyle/>
          <a:p>
            <a:r>
              <a:rPr lang="en-US" sz="2000" b="1" dirty="0">
                <a:solidFill>
                  <a:schemeClr val="tx2"/>
                </a:solidFill>
              </a:rPr>
              <a:t>Question/Gap: </a:t>
            </a:r>
            <a:endParaRPr lang="en-IE" sz="2000" b="1" dirty="0">
              <a:solidFill>
                <a:schemeClr val="tx2"/>
              </a:solidFill>
            </a:endParaRPr>
          </a:p>
        </p:txBody>
      </p:sp>
      <p:sp>
        <p:nvSpPr>
          <p:cNvPr id="19" name="TextBox 18">
            <a:extLst>
              <a:ext uri="{FF2B5EF4-FFF2-40B4-BE49-F238E27FC236}">
                <a16:creationId xmlns:a16="http://schemas.microsoft.com/office/drawing/2014/main" id="{3D70F2BD-564B-D1A6-A0AE-8A4B9D4E1F36}"/>
              </a:ext>
            </a:extLst>
          </p:cNvPr>
          <p:cNvSpPr txBox="1"/>
          <p:nvPr/>
        </p:nvSpPr>
        <p:spPr>
          <a:xfrm>
            <a:off x="208464" y="2123416"/>
            <a:ext cx="7068312" cy="400110"/>
          </a:xfrm>
          <a:prstGeom prst="rect">
            <a:avLst/>
          </a:prstGeom>
          <a:noFill/>
        </p:spPr>
        <p:txBody>
          <a:bodyPr wrap="square">
            <a:spAutoFit/>
          </a:bodyPr>
          <a:lstStyle/>
          <a:p>
            <a:r>
              <a:rPr lang="en-US" sz="2000" b="1" dirty="0">
                <a:solidFill>
                  <a:schemeClr val="tx2"/>
                </a:solidFill>
              </a:rPr>
              <a:t>Method: </a:t>
            </a:r>
            <a:endParaRPr lang="en-IE" sz="2000" b="1" dirty="0">
              <a:solidFill>
                <a:schemeClr val="tx2"/>
              </a:solidFill>
            </a:endParaRPr>
          </a:p>
        </p:txBody>
      </p:sp>
      <p:sp>
        <p:nvSpPr>
          <p:cNvPr id="20" name="TextBox 19">
            <a:extLst>
              <a:ext uri="{FF2B5EF4-FFF2-40B4-BE49-F238E27FC236}">
                <a16:creationId xmlns:a16="http://schemas.microsoft.com/office/drawing/2014/main" id="{751F8426-766A-65B9-8FCF-062155C0F218}"/>
              </a:ext>
            </a:extLst>
          </p:cNvPr>
          <p:cNvSpPr txBox="1"/>
          <p:nvPr/>
        </p:nvSpPr>
        <p:spPr>
          <a:xfrm>
            <a:off x="166087" y="3857481"/>
            <a:ext cx="7068312" cy="400110"/>
          </a:xfrm>
          <a:prstGeom prst="rect">
            <a:avLst/>
          </a:prstGeom>
          <a:noFill/>
        </p:spPr>
        <p:txBody>
          <a:bodyPr wrap="square">
            <a:spAutoFit/>
          </a:bodyPr>
          <a:lstStyle/>
          <a:p>
            <a:r>
              <a:rPr lang="en-US" sz="2000" b="1" dirty="0">
                <a:solidFill>
                  <a:schemeClr val="tx2"/>
                </a:solidFill>
              </a:rPr>
              <a:t>Results: </a:t>
            </a:r>
            <a:endParaRPr lang="en-IE" sz="2000" b="1" dirty="0">
              <a:solidFill>
                <a:schemeClr val="tx2"/>
              </a:solidFill>
            </a:endParaRPr>
          </a:p>
        </p:txBody>
      </p:sp>
      <p:sp>
        <p:nvSpPr>
          <p:cNvPr id="21" name="TextBox 20">
            <a:extLst>
              <a:ext uri="{FF2B5EF4-FFF2-40B4-BE49-F238E27FC236}">
                <a16:creationId xmlns:a16="http://schemas.microsoft.com/office/drawing/2014/main" id="{FFCDC11B-F652-620D-FA03-3B5A54EF5C98}"/>
              </a:ext>
            </a:extLst>
          </p:cNvPr>
          <p:cNvSpPr txBox="1"/>
          <p:nvPr/>
        </p:nvSpPr>
        <p:spPr>
          <a:xfrm>
            <a:off x="260528" y="5189814"/>
            <a:ext cx="7068312" cy="400110"/>
          </a:xfrm>
          <a:prstGeom prst="rect">
            <a:avLst/>
          </a:prstGeom>
          <a:noFill/>
        </p:spPr>
        <p:txBody>
          <a:bodyPr wrap="square">
            <a:spAutoFit/>
          </a:bodyPr>
          <a:lstStyle/>
          <a:p>
            <a:r>
              <a:rPr lang="en-US" sz="2000" b="1" dirty="0">
                <a:solidFill>
                  <a:schemeClr val="tx2"/>
                </a:solidFill>
              </a:rPr>
              <a:t>Limitations: </a:t>
            </a:r>
            <a:endParaRPr lang="en-IE" sz="2000" b="1" dirty="0">
              <a:solidFill>
                <a:schemeClr val="tx2"/>
              </a:solidFill>
            </a:endParaRPr>
          </a:p>
        </p:txBody>
      </p:sp>
      <p:pic>
        <p:nvPicPr>
          <p:cNvPr id="5" name="Picture 4">
            <a:extLst>
              <a:ext uri="{FF2B5EF4-FFF2-40B4-BE49-F238E27FC236}">
                <a16:creationId xmlns:a16="http://schemas.microsoft.com/office/drawing/2014/main" id="{4966FA1E-FBA0-829D-688A-AFA37C3ADDE1}"/>
              </a:ext>
            </a:extLst>
          </p:cNvPr>
          <p:cNvPicPr>
            <a:picLocks noChangeAspect="1"/>
          </p:cNvPicPr>
          <p:nvPr/>
        </p:nvPicPr>
        <p:blipFill>
          <a:blip r:embed="rId2"/>
          <a:stretch>
            <a:fillRect/>
          </a:stretch>
        </p:blipFill>
        <p:spPr>
          <a:xfrm>
            <a:off x="6888155" y="1088547"/>
            <a:ext cx="5303845" cy="2575818"/>
          </a:xfrm>
          <a:prstGeom prst="rect">
            <a:avLst/>
          </a:prstGeom>
        </p:spPr>
      </p:pic>
      <p:pic>
        <p:nvPicPr>
          <p:cNvPr id="13" name="Picture 12">
            <a:extLst>
              <a:ext uri="{FF2B5EF4-FFF2-40B4-BE49-F238E27FC236}">
                <a16:creationId xmlns:a16="http://schemas.microsoft.com/office/drawing/2014/main" id="{5646E6B3-3897-6661-72BA-C5016848BB2E}"/>
              </a:ext>
            </a:extLst>
          </p:cNvPr>
          <p:cNvPicPr>
            <a:picLocks noChangeAspect="1"/>
          </p:cNvPicPr>
          <p:nvPr/>
        </p:nvPicPr>
        <p:blipFill>
          <a:blip r:embed="rId3"/>
          <a:stretch>
            <a:fillRect/>
          </a:stretch>
        </p:blipFill>
        <p:spPr>
          <a:xfrm>
            <a:off x="8559750" y="4295961"/>
            <a:ext cx="3526414" cy="2187816"/>
          </a:xfrm>
          <a:prstGeom prst="rect">
            <a:avLst/>
          </a:prstGeom>
        </p:spPr>
      </p:pic>
    </p:spTree>
    <p:extLst>
      <p:ext uri="{BB962C8B-B14F-4D97-AF65-F5344CB8AC3E}">
        <p14:creationId xmlns:p14="http://schemas.microsoft.com/office/powerpoint/2010/main" val="26261351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DF38553-1065-F68B-3941-268A761A6D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74BB63-A060-3865-BD8F-30165FE91BF2}"/>
              </a:ext>
            </a:extLst>
          </p:cNvPr>
          <p:cNvSpPr>
            <a:spLocks noGrp="1"/>
          </p:cNvSpPr>
          <p:nvPr>
            <p:ph type="title"/>
          </p:nvPr>
        </p:nvSpPr>
        <p:spPr>
          <a:xfrm>
            <a:off x="208464" y="1291149"/>
            <a:ext cx="6809289" cy="787314"/>
          </a:xfrm>
        </p:spPr>
        <p:txBody>
          <a:bodyPr>
            <a:normAutofit/>
          </a:bodyPr>
          <a:lstStyle/>
          <a:p>
            <a:r>
              <a:rPr lang="en-IE" sz="2000" dirty="0">
                <a:solidFill>
                  <a:schemeClr val="bg2">
                    <a:lumMod val="10000"/>
                  </a:schemeClr>
                </a:solidFill>
              </a:rPr>
              <a:t>Elastomers are slow and constantly drain power.</a:t>
            </a:r>
          </a:p>
        </p:txBody>
      </p:sp>
      <p:sp>
        <p:nvSpPr>
          <p:cNvPr id="4" name="Title 1">
            <a:extLst>
              <a:ext uri="{FF2B5EF4-FFF2-40B4-BE49-F238E27FC236}">
                <a16:creationId xmlns:a16="http://schemas.microsoft.com/office/drawing/2014/main" id="{369E9AD6-B374-356E-0874-91C0E65C467B}"/>
              </a:ext>
            </a:extLst>
          </p:cNvPr>
          <p:cNvSpPr txBox="1">
            <a:spLocks/>
          </p:cNvSpPr>
          <p:nvPr/>
        </p:nvSpPr>
        <p:spPr>
          <a:xfrm>
            <a:off x="145200" y="111354"/>
            <a:ext cx="9064390" cy="787314"/>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400" b="1" kern="1200">
                <a:solidFill>
                  <a:schemeClr val="bg1"/>
                </a:solidFill>
                <a:latin typeface="+mn-lt"/>
                <a:ea typeface="+mj-ea"/>
                <a:cs typeface="+mj-cs"/>
              </a:defRPr>
            </a:lvl1pPr>
          </a:lstStyle>
          <a:p>
            <a:r>
              <a:rPr lang="en-US" b="0" dirty="0">
                <a:solidFill>
                  <a:srgbClr val="002060"/>
                </a:solidFill>
              </a:rPr>
              <a:t>Literature : Gripper</a:t>
            </a:r>
          </a:p>
        </p:txBody>
      </p:sp>
      <p:sp>
        <p:nvSpPr>
          <p:cNvPr id="7" name="Title 1">
            <a:extLst>
              <a:ext uri="{FF2B5EF4-FFF2-40B4-BE49-F238E27FC236}">
                <a16:creationId xmlns:a16="http://schemas.microsoft.com/office/drawing/2014/main" id="{36157E7F-D33B-309B-2A14-4AB573198B23}"/>
              </a:ext>
            </a:extLst>
          </p:cNvPr>
          <p:cNvSpPr txBox="1">
            <a:spLocks/>
          </p:cNvSpPr>
          <p:nvPr/>
        </p:nvSpPr>
        <p:spPr>
          <a:xfrm>
            <a:off x="199870" y="2551488"/>
            <a:ext cx="6933211" cy="787314"/>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3400" b="1" kern="1200">
                <a:solidFill>
                  <a:schemeClr val="bg1"/>
                </a:solidFill>
                <a:latin typeface="+mn-lt"/>
                <a:ea typeface="+mj-ea"/>
                <a:cs typeface="+mj-cs"/>
              </a:defRPr>
            </a:lvl1pPr>
          </a:lstStyle>
          <a:p>
            <a:r>
              <a:rPr lang="en-IE" sz="2000" dirty="0">
                <a:solidFill>
                  <a:schemeClr val="bg2">
                    <a:lumMod val="10000"/>
                  </a:schemeClr>
                </a:solidFill>
              </a:rPr>
              <a:t>Bistable jaw (acts like a light switch) mixing rigid PLA links and PVC sheets.</a:t>
            </a:r>
            <a:endParaRPr lang="en-US" sz="2000" b="0" dirty="0">
              <a:solidFill>
                <a:schemeClr val="bg2">
                  <a:lumMod val="10000"/>
                </a:schemeClr>
              </a:solidFill>
            </a:endParaRPr>
          </a:p>
        </p:txBody>
      </p:sp>
      <p:sp>
        <p:nvSpPr>
          <p:cNvPr id="9" name="Title 1">
            <a:extLst>
              <a:ext uri="{FF2B5EF4-FFF2-40B4-BE49-F238E27FC236}">
                <a16:creationId xmlns:a16="http://schemas.microsoft.com/office/drawing/2014/main" id="{AEDBBB50-C0D7-8562-7270-4F16B5B7C471}"/>
              </a:ext>
            </a:extLst>
          </p:cNvPr>
          <p:cNvSpPr txBox="1">
            <a:spLocks/>
          </p:cNvSpPr>
          <p:nvPr/>
        </p:nvSpPr>
        <p:spPr>
          <a:xfrm>
            <a:off x="260528" y="4315940"/>
            <a:ext cx="7051128" cy="787314"/>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400" b="1" kern="1200">
                <a:solidFill>
                  <a:schemeClr val="bg1"/>
                </a:solidFill>
                <a:latin typeface="+mn-lt"/>
                <a:ea typeface="+mj-ea"/>
                <a:cs typeface="+mj-cs"/>
              </a:defRPr>
            </a:lvl1pPr>
          </a:lstStyle>
          <a:p>
            <a:r>
              <a:rPr lang="en-IE" sz="2000" dirty="0">
                <a:solidFill>
                  <a:schemeClr val="bg2">
                    <a:lumMod val="10000"/>
                  </a:schemeClr>
                </a:solidFill>
              </a:rPr>
              <a:t>Lightning-fast closing (28 </a:t>
            </a:r>
            <a:r>
              <a:rPr lang="en-IE" sz="2000" dirty="0" err="1">
                <a:solidFill>
                  <a:schemeClr val="bg2">
                    <a:lumMod val="10000"/>
                  </a:schemeClr>
                </a:solidFill>
              </a:rPr>
              <a:t>ms</a:t>
            </a:r>
            <a:r>
              <a:rPr lang="en-IE" sz="2000" dirty="0">
                <a:solidFill>
                  <a:schemeClr val="bg2">
                    <a:lumMod val="10000"/>
                  </a:schemeClr>
                </a:solidFill>
              </a:rPr>
              <a:t>) and mechanical holding at 0W.</a:t>
            </a:r>
            <a:endParaRPr lang="en-US" sz="2000" b="0" dirty="0">
              <a:solidFill>
                <a:schemeClr val="bg2">
                  <a:lumMod val="10000"/>
                </a:schemeClr>
              </a:solidFill>
            </a:endParaRPr>
          </a:p>
        </p:txBody>
      </p:sp>
      <p:sp>
        <p:nvSpPr>
          <p:cNvPr id="10" name="Title 1">
            <a:extLst>
              <a:ext uri="{FF2B5EF4-FFF2-40B4-BE49-F238E27FC236}">
                <a16:creationId xmlns:a16="http://schemas.microsoft.com/office/drawing/2014/main" id="{1B2B6B42-4A38-6164-6892-0F80593BFAB1}"/>
              </a:ext>
            </a:extLst>
          </p:cNvPr>
          <p:cNvSpPr txBox="1">
            <a:spLocks/>
          </p:cNvSpPr>
          <p:nvPr/>
        </p:nvSpPr>
        <p:spPr>
          <a:xfrm>
            <a:off x="302903" y="5579650"/>
            <a:ext cx="6609961" cy="787314"/>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400" b="1" kern="1200">
                <a:solidFill>
                  <a:schemeClr val="bg1"/>
                </a:solidFill>
                <a:latin typeface="+mn-lt"/>
                <a:ea typeface="+mj-ea"/>
                <a:cs typeface="+mj-cs"/>
              </a:defRPr>
            </a:lvl1pPr>
          </a:lstStyle>
          <a:p>
            <a:r>
              <a:rPr lang="en-IE" sz="2000" dirty="0">
                <a:solidFill>
                  <a:schemeClr val="bg2">
                    <a:lumMod val="10000"/>
                  </a:schemeClr>
                </a:solidFill>
              </a:rPr>
              <a:t>Extremely low payload capacity (&lt;47 g) and entirely lacks any tactile or force feedback.</a:t>
            </a:r>
            <a:endParaRPr lang="en-US" sz="2000" b="0" dirty="0">
              <a:solidFill>
                <a:schemeClr val="bg2">
                  <a:lumMod val="10000"/>
                </a:schemeClr>
              </a:solidFill>
            </a:endParaRPr>
          </a:p>
        </p:txBody>
      </p:sp>
      <p:sp>
        <p:nvSpPr>
          <p:cNvPr id="11" name="Title 1">
            <a:extLst>
              <a:ext uri="{FF2B5EF4-FFF2-40B4-BE49-F238E27FC236}">
                <a16:creationId xmlns:a16="http://schemas.microsoft.com/office/drawing/2014/main" id="{D795D4A2-1062-5A7E-E9B4-998B40A29BF0}"/>
              </a:ext>
            </a:extLst>
          </p:cNvPr>
          <p:cNvSpPr txBox="1">
            <a:spLocks/>
          </p:cNvSpPr>
          <p:nvPr/>
        </p:nvSpPr>
        <p:spPr>
          <a:xfrm>
            <a:off x="5043336" y="218044"/>
            <a:ext cx="9064390" cy="787314"/>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400" b="1" kern="1200">
                <a:solidFill>
                  <a:schemeClr val="bg1"/>
                </a:solidFill>
                <a:latin typeface="+mn-lt"/>
                <a:ea typeface="+mj-ea"/>
                <a:cs typeface="+mj-cs"/>
              </a:defRPr>
            </a:lvl1pPr>
          </a:lstStyle>
          <a:p>
            <a:r>
              <a:rPr lang="en-GB" sz="1600" b="0" dirty="0">
                <a:solidFill>
                  <a:srgbClr val="002060"/>
                </a:solidFill>
                <a:highlight>
                  <a:srgbClr val="FFFF00"/>
                </a:highlight>
              </a:rPr>
              <a:t>Mechanically controlled robotic gripper with</a:t>
            </a:r>
          </a:p>
          <a:p>
            <a:r>
              <a:rPr lang="en-GB" sz="1600" b="0" dirty="0" err="1">
                <a:solidFill>
                  <a:srgbClr val="002060"/>
                </a:solidFill>
                <a:highlight>
                  <a:srgbClr val="FFFF00"/>
                </a:highlight>
              </a:rPr>
              <a:t>bistability</a:t>
            </a:r>
            <a:r>
              <a:rPr lang="en-GB" sz="1600" b="0" dirty="0">
                <a:solidFill>
                  <a:srgbClr val="002060"/>
                </a:solidFill>
                <a:highlight>
                  <a:srgbClr val="FFFF00"/>
                </a:highlight>
              </a:rPr>
              <a:t> for fast and adaptive grasping</a:t>
            </a:r>
          </a:p>
          <a:p>
            <a:r>
              <a:rPr lang="en-GB" sz="1600" b="0" dirty="0">
                <a:solidFill>
                  <a:srgbClr val="002060"/>
                </a:solidFill>
              </a:rPr>
              <a:t>To cite this article: Xianyang Cai and Bin Tang 2023 </a:t>
            </a:r>
            <a:r>
              <a:rPr lang="en-GB" sz="1600" b="0" dirty="0" err="1">
                <a:solidFill>
                  <a:srgbClr val="002060"/>
                </a:solidFill>
              </a:rPr>
              <a:t>Bioinspir</a:t>
            </a:r>
            <a:r>
              <a:rPr lang="en-GB" sz="1600" b="0" dirty="0">
                <a:solidFill>
                  <a:srgbClr val="002060"/>
                </a:solidFill>
              </a:rPr>
              <a:t>. </a:t>
            </a:r>
            <a:r>
              <a:rPr lang="en-GB" sz="1600" b="0" dirty="0" err="1">
                <a:solidFill>
                  <a:srgbClr val="002060"/>
                </a:solidFill>
              </a:rPr>
              <a:t>Biomim</a:t>
            </a:r>
            <a:r>
              <a:rPr lang="en-GB" sz="1600" b="0" dirty="0">
                <a:solidFill>
                  <a:srgbClr val="002060"/>
                </a:solidFill>
              </a:rPr>
              <a:t>.</a:t>
            </a:r>
            <a:endParaRPr lang="en-US" sz="1600" b="0" dirty="0">
              <a:solidFill>
                <a:srgbClr val="002060"/>
              </a:solidFill>
            </a:endParaRPr>
          </a:p>
        </p:txBody>
      </p:sp>
      <p:sp>
        <p:nvSpPr>
          <p:cNvPr id="18" name="TextBox 17">
            <a:extLst>
              <a:ext uri="{FF2B5EF4-FFF2-40B4-BE49-F238E27FC236}">
                <a16:creationId xmlns:a16="http://schemas.microsoft.com/office/drawing/2014/main" id="{4C2C61AC-6767-B196-04CF-20328BE0007A}"/>
              </a:ext>
            </a:extLst>
          </p:cNvPr>
          <p:cNvSpPr txBox="1"/>
          <p:nvPr/>
        </p:nvSpPr>
        <p:spPr>
          <a:xfrm>
            <a:off x="260528" y="856624"/>
            <a:ext cx="7068312" cy="400110"/>
          </a:xfrm>
          <a:prstGeom prst="rect">
            <a:avLst/>
          </a:prstGeom>
          <a:noFill/>
        </p:spPr>
        <p:txBody>
          <a:bodyPr wrap="square">
            <a:spAutoFit/>
          </a:bodyPr>
          <a:lstStyle/>
          <a:p>
            <a:r>
              <a:rPr lang="en-US" sz="2000" b="1" dirty="0">
                <a:solidFill>
                  <a:schemeClr val="tx2"/>
                </a:solidFill>
              </a:rPr>
              <a:t>Question/Gap: </a:t>
            </a:r>
            <a:endParaRPr lang="en-IE" sz="2000" b="1" dirty="0">
              <a:solidFill>
                <a:schemeClr val="tx2"/>
              </a:solidFill>
            </a:endParaRPr>
          </a:p>
        </p:txBody>
      </p:sp>
      <p:sp>
        <p:nvSpPr>
          <p:cNvPr id="19" name="TextBox 18">
            <a:extLst>
              <a:ext uri="{FF2B5EF4-FFF2-40B4-BE49-F238E27FC236}">
                <a16:creationId xmlns:a16="http://schemas.microsoft.com/office/drawing/2014/main" id="{D81F38F1-FB99-0464-977B-990834A16A01}"/>
              </a:ext>
            </a:extLst>
          </p:cNvPr>
          <p:cNvSpPr txBox="1"/>
          <p:nvPr/>
        </p:nvSpPr>
        <p:spPr>
          <a:xfrm>
            <a:off x="208464" y="2123416"/>
            <a:ext cx="7068312" cy="400110"/>
          </a:xfrm>
          <a:prstGeom prst="rect">
            <a:avLst/>
          </a:prstGeom>
          <a:noFill/>
        </p:spPr>
        <p:txBody>
          <a:bodyPr wrap="square">
            <a:spAutoFit/>
          </a:bodyPr>
          <a:lstStyle/>
          <a:p>
            <a:r>
              <a:rPr lang="en-US" sz="2000" b="1" dirty="0">
                <a:solidFill>
                  <a:schemeClr val="tx2"/>
                </a:solidFill>
              </a:rPr>
              <a:t>Method: </a:t>
            </a:r>
            <a:endParaRPr lang="en-IE" sz="2000" b="1" dirty="0">
              <a:solidFill>
                <a:schemeClr val="tx2"/>
              </a:solidFill>
            </a:endParaRPr>
          </a:p>
        </p:txBody>
      </p:sp>
      <p:sp>
        <p:nvSpPr>
          <p:cNvPr id="20" name="TextBox 19">
            <a:extLst>
              <a:ext uri="{FF2B5EF4-FFF2-40B4-BE49-F238E27FC236}">
                <a16:creationId xmlns:a16="http://schemas.microsoft.com/office/drawing/2014/main" id="{96968752-3921-5F6E-7138-54F2CAE1B7D0}"/>
              </a:ext>
            </a:extLst>
          </p:cNvPr>
          <p:cNvSpPr txBox="1"/>
          <p:nvPr/>
        </p:nvSpPr>
        <p:spPr>
          <a:xfrm>
            <a:off x="166087" y="3857481"/>
            <a:ext cx="7068312" cy="400110"/>
          </a:xfrm>
          <a:prstGeom prst="rect">
            <a:avLst/>
          </a:prstGeom>
          <a:noFill/>
        </p:spPr>
        <p:txBody>
          <a:bodyPr wrap="square">
            <a:spAutoFit/>
          </a:bodyPr>
          <a:lstStyle/>
          <a:p>
            <a:r>
              <a:rPr lang="en-US" sz="2000" b="1" dirty="0">
                <a:solidFill>
                  <a:schemeClr val="tx2"/>
                </a:solidFill>
              </a:rPr>
              <a:t>Results: </a:t>
            </a:r>
            <a:endParaRPr lang="en-IE" sz="2000" b="1" dirty="0">
              <a:solidFill>
                <a:schemeClr val="tx2"/>
              </a:solidFill>
            </a:endParaRPr>
          </a:p>
        </p:txBody>
      </p:sp>
      <p:sp>
        <p:nvSpPr>
          <p:cNvPr id="21" name="TextBox 20">
            <a:extLst>
              <a:ext uri="{FF2B5EF4-FFF2-40B4-BE49-F238E27FC236}">
                <a16:creationId xmlns:a16="http://schemas.microsoft.com/office/drawing/2014/main" id="{5CEB630F-F452-139B-C683-1EDDAB8DE33A}"/>
              </a:ext>
            </a:extLst>
          </p:cNvPr>
          <p:cNvSpPr txBox="1"/>
          <p:nvPr/>
        </p:nvSpPr>
        <p:spPr>
          <a:xfrm>
            <a:off x="260528" y="5189814"/>
            <a:ext cx="7068312" cy="400110"/>
          </a:xfrm>
          <a:prstGeom prst="rect">
            <a:avLst/>
          </a:prstGeom>
          <a:noFill/>
        </p:spPr>
        <p:txBody>
          <a:bodyPr wrap="square">
            <a:spAutoFit/>
          </a:bodyPr>
          <a:lstStyle/>
          <a:p>
            <a:r>
              <a:rPr lang="en-US" sz="2000" b="1" dirty="0">
                <a:solidFill>
                  <a:schemeClr val="tx2"/>
                </a:solidFill>
              </a:rPr>
              <a:t>Limitations: </a:t>
            </a:r>
            <a:endParaRPr lang="en-IE" sz="2000" b="1" dirty="0">
              <a:solidFill>
                <a:schemeClr val="tx2"/>
              </a:solidFill>
            </a:endParaRPr>
          </a:p>
        </p:txBody>
      </p:sp>
      <p:pic>
        <p:nvPicPr>
          <p:cNvPr id="6" name="Picture 5">
            <a:extLst>
              <a:ext uri="{FF2B5EF4-FFF2-40B4-BE49-F238E27FC236}">
                <a16:creationId xmlns:a16="http://schemas.microsoft.com/office/drawing/2014/main" id="{27343418-C954-5DB8-D438-13B8291E81DB}"/>
              </a:ext>
            </a:extLst>
          </p:cNvPr>
          <p:cNvPicPr>
            <a:picLocks noChangeAspect="1"/>
          </p:cNvPicPr>
          <p:nvPr/>
        </p:nvPicPr>
        <p:blipFill>
          <a:blip r:embed="rId2"/>
          <a:stretch>
            <a:fillRect/>
          </a:stretch>
        </p:blipFill>
        <p:spPr>
          <a:xfrm>
            <a:off x="7444168" y="1083329"/>
            <a:ext cx="3803714" cy="3803714"/>
          </a:xfrm>
          <a:prstGeom prst="rect">
            <a:avLst/>
          </a:prstGeom>
        </p:spPr>
      </p:pic>
      <p:pic>
        <p:nvPicPr>
          <p:cNvPr id="12" name="Picture 11">
            <a:extLst>
              <a:ext uri="{FF2B5EF4-FFF2-40B4-BE49-F238E27FC236}">
                <a16:creationId xmlns:a16="http://schemas.microsoft.com/office/drawing/2014/main" id="{AB47C450-7438-58F7-630B-6875F1ECD554}"/>
              </a:ext>
            </a:extLst>
          </p:cNvPr>
          <p:cNvPicPr>
            <a:picLocks noChangeAspect="1"/>
          </p:cNvPicPr>
          <p:nvPr/>
        </p:nvPicPr>
        <p:blipFill>
          <a:blip r:embed="rId3"/>
          <a:stretch>
            <a:fillRect/>
          </a:stretch>
        </p:blipFill>
        <p:spPr>
          <a:xfrm>
            <a:off x="6456852" y="4931996"/>
            <a:ext cx="5735148" cy="1707960"/>
          </a:xfrm>
          <a:prstGeom prst="rect">
            <a:avLst/>
          </a:prstGeom>
        </p:spPr>
      </p:pic>
    </p:spTree>
    <p:extLst>
      <p:ext uri="{BB962C8B-B14F-4D97-AF65-F5344CB8AC3E}">
        <p14:creationId xmlns:p14="http://schemas.microsoft.com/office/powerpoint/2010/main" val="11587088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8F0BC1D-409A-9687-01C8-32518403BA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5EC0D4D-F308-5DDB-D2E8-6BCA81758230}"/>
              </a:ext>
            </a:extLst>
          </p:cNvPr>
          <p:cNvSpPr>
            <a:spLocks noGrp="1"/>
          </p:cNvSpPr>
          <p:nvPr>
            <p:ph type="title"/>
          </p:nvPr>
        </p:nvSpPr>
        <p:spPr>
          <a:xfrm>
            <a:off x="208464" y="1291149"/>
            <a:ext cx="6809289" cy="787314"/>
          </a:xfrm>
        </p:spPr>
        <p:txBody>
          <a:bodyPr>
            <a:normAutofit/>
          </a:bodyPr>
          <a:lstStyle/>
          <a:p>
            <a:r>
              <a:rPr lang="en-IE" sz="2000" dirty="0">
                <a:solidFill>
                  <a:schemeClr val="bg2">
                    <a:lumMod val="10000"/>
                  </a:schemeClr>
                </a:solidFill>
              </a:rPr>
              <a:t>Underactuated kinematics are complex and manage grasping force poorly.</a:t>
            </a:r>
          </a:p>
        </p:txBody>
      </p:sp>
      <p:sp>
        <p:nvSpPr>
          <p:cNvPr id="4" name="Title 1">
            <a:extLst>
              <a:ext uri="{FF2B5EF4-FFF2-40B4-BE49-F238E27FC236}">
                <a16:creationId xmlns:a16="http://schemas.microsoft.com/office/drawing/2014/main" id="{0D9FAD9B-A503-2F8B-CC18-9D1ECE21AA9E}"/>
              </a:ext>
            </a:extLst>
          </p:cNvPr>
          <p:cNvSpPr txBox="1">
            <a:spLocks/>
          </p:cNvSpPr>
          <p:nvPr/>
        </p:nvSpPr>
        <p:spPr>
          <a:xfrm>
            <a:off x="145200" y="111354"/>
            <a:ext cx="9064390" cy="787314"/>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400" b="1" kern="1200">
                <a:solidFill>
                  <a:schemeClr val="bg1"/>
                </a:solidFill>
                <a:latin typeface="+mn-lt"/>
                <a:ea typeface="+mj-ea"/>
                <a:cs typeface="+mj-cs"/>
              </a:defRPr>
            </a:lvl1pPr>
          </a:lstStyle>
          <a:p>
            <a:r>
              <a:rPr lang="en-US" b="0" dirty="0">
                <a:solidFill>
                  <a:srgbClr val="002060"/>
                </a:solidFill>
              </a:rPr>
              <a:t>Literature : Gripper</a:t>
            </a:r>
          </a:p>
        </p:txBody>
      </p:sp>
      <p:sp>
        <p:nvSpPr>
          <p:cNvPr id="7" name="Title 1">
            <a:extLst>
              <a:ext uri="{FF2B5EF4-FFF2-40B4-BE49-F238E27FC236}">
                <a16:creationId xmlns:a16="http://schemas.microsoft.com/office/drawing/2014/main" id="{EAA504C2-DB62-2EFA-EB25-C732B4E282C1}"/>
              </a:ext>
            </a:extLst>
          </p:cNvPr>
          <p:cNvSpPr txBox="1">
            <a:spLocks/>
          </p:cNvSpPr>
          <p:nvPr/>
        </p:nvSpPr>
        <p:spPr>
          <a:xfrm>
            <a:off x="199870" y="2551488"/>
            <a:ext cx="6392954" cy="787314"/>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3400" b="1" kern="1200">
                <a:solidFill>
                  <a:schemeClr val="bg1"/>
                </a:solidFill>
                <a:latin typeface="+mn-lt"/>
                <a:ea typeface="+mj-ea"/>
                <a:cs typeface="+mj-cs"/>
              </a:defRPr>
            </a:lvl1pPr>
          </a:lstStyle>
          <a:p>
            <a:r>
              <a:rPr lang="en-IE" sz="2000" dirty="0">
                <a:solidFill>
                  <a:schemeClr val="bg2">
                    <a:lumMod val="10000"/>
                  </a:schemeClr>
                </a:solidFill>
              </a:rPr>
              <a:t>1 motor + self-locking worm gear + commercial </a:t>
            </a:r>
            <a:r>
              <a:rPr lang="en-IE" sz="2000" dirty="0" err="1">
                <a:solidFill>
                  <a:schemeClr val="bg2">
                    <a:lumMod val="10000"/>
                  </a:schemeClr>
                </a:solidFill>
              </a:rPr>
              <a:t>FlexiForce</a:t>
            </a:r>
            <a:r>
              <a:rPr lang="en-IE" sz="2000" dirty="0">
                <a:solidFill>
                  <a:schemeClr val="bg2">
                    <a:lumMod val="10000"/>
                  </a:schemeClr>
                </a:solidFill>
              </a:rPr>
              <a:t> sensors.</a:t>
            </a:r>
            <a:endParaRPr lang="en-US" sz="2000" b="0" dirty="0">
              <a:solidFill>
                <a:schemeClr val="bg2">
                  <a:lumMod val="10000"/>
                </a:schemeClr>
              </a:solidFill>
            </a:endParaRPr>
          </a:p>
        </p:txBody>
      </p:sp>
      <p:sp>
        <p:nvSpPr>
          <p:cNvPr id="9" name="Title 1">
            <a:extLst>
              <a:ext uri="{FF2B5EF4-FFF2-40B4-BE49-F238E27FC236}">
                <a16:creationId xmlns:a16="http://schemas.microsoft.com/office/drawing/2014/main" id="{543945FB-05B6-EDA6-1670-C79EF529E298}"/>
              </a:ext>
            </a:extLst>
          </p:cNvPr>
          <p:cNvSpPr txBox="1">
            <a:spLocks/>
          </p:cNvSpPr>
          <p:nvPr/>
        </p:nvSpPr>
        <p:spPr>
          <a:xfrm>
            <a:off x="208464" y="4279100"/>
            <a:ext cx="6148579" cy="787314"/>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400" b="1" kern="1200">
                <a:solidFill>
                  <a:schemeClr val="bg1"/>
                </a:solidFill>
                <a:latin typeface="+mn-lt"/>
                <a:ea typeface="+mj-ea"/>
                <a:cs typeface="+mj-cs"/>
              </a:defRPr>
            </a:lvl1pPr>
          </a:lstStyle>
          <a:p>
            <a:r>
              <a:rPr lang="en-IE" sz="2000" dirty="0">
                <a:solidFill>
                  <a:schemeClr val="bg2">
                    <a:lumMod val="10000"/>
                  </a:schemeClr>
                </a:solidFill>
              </a:rPr>
              <a:t>Passive locking (0W) achieved purely through worm gear friction.</a:t>
            </a:r>
            <a:endParaRPr lang="en-US" sz="2000" b="0" dirty="0">
              <a:solidFill>
                <a:schemeClr val="bg2">
                  <a:lumMod val="10000"/>
                </a:schemeClr>
              </a:solidFill>
            </a:endParaRPr>
          </a:p>
        </p:txBody>
      </p:sp>
      <p:sp>
        <p:nvSpPr>
          <p:cNvPr id="10" name="Title 1">
            <a:extLst>
              <a:ext uri="{FF2B5EF4-FFF2-40B4-BE49-F238E27FC236}">
                <a16:creationId xmlns:a16="http://schemas.microsoft.com/office/drawing/2014/main" id="{F81C945F-3420-E86A-E981-DFF81B5AFABF}"/>
              </a:ext>
            </a:extLst>
          </p:cNvPr>
          <p:cNvSpPr txBox="1">
            <a:spLocks/>
          </p:cNvSpPr>
          <p:nvPr/>
        </p:nvSpPr>
        <p:spPr>
          <a:xfrm>
            <a:off x="199870" y="5604980"/>
            <a:ext cx="6024745" cy="787314"/>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400" b="1" kern="1200">
                <a:solidFill>
                  <a:schemeClr val="bg1"/>
                </a:solidFill>
                <a:latin typeface="+mn-lt"/>
                <a:ea typeface="+mj-ea"/>
                <a:cs typeface="+mj-cs"/>
              </a:defRPr>
            </a:lvl1pPr>
          </a:lstStyle>
          <a:p>
            <a:r>
              <a:rPr lang="en-IE" sz="2000" dirty="0">
                <a:solidFill>
                  <a:schemeClr val="bg2">
                    <a:lumMod val="10000"/>
                  </a:schemeClr>
                </a:solidFill>
              </a:rPr>
              <a:t>Heavy design (2.2 kg). Commercial sensors suffer from severe hysteresis and drift.</a:t>
            </a:r>
            <a:endParaRPr lang="en-US" sz="2000" b="0" dirty="0">
              <a:solidFill>
                <a:schemeClr val="bg2">
                  <a:lumMod val="10000"/>
                </a:schemeClr>
              </a:solidFill>
            </a:endParaRPr>
          </a:p>
        </p:txBody>
      </p:sp>
      <p:sp>
        <p:nvSpPr>
          <p:cNvPr id="11" name="Title 1">
            <a:extLst>
              <a:ext uri="{FF2B5EF4-FFF2-40B4-BE49-F238E27FC236}">
                <a16:creationId xmlns:a16="http://schemas.microsoft.com/office/drawing/2014/main" id="{A647E2A8-760F-3236-02DC-73CCACC53DD1}"/>
              </a:ext>
            </a:extLst>
          </p:cNvPr>
          <p:cNvSpPr txBox="1">
            <a:spLocks/>
          </p:cNvSpPr>
          <p:nvPr/>
        </p:nvSpPr>
        <p:spPr>
          <a:xfrm>
            <a:off x="5043336" y="218044"/>
            <a:ext cx="6888136" cy="787314"/>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400" b="1" kern="1200">
                <a:solidFill>
                  <a:schemeClr val="bg1"/>
                </a:solidFill>
                <a:latin typeface="+mn-lt"/>
                <a:ea typeface="+mj-ea"/>
                <a:cs typeface="+mj-cs"/>
              </a:defRPr>
            </a:lvl1pPr>
          </a:lstStyle>
          <a:p>
            <a:r>
              <a:rPr lang="en-GB" sz="1600" b="0" dirty="0">
                <a:solidFill>
                  <a:srgbClr val="002060"/>
                </a:solidFill>
                <a:highlight>
                  <a:srgbClr val="FFFF00"/>
                </a:highlight>
              </a:rPr>
              <a:t>Design and Analysis of Underactuated Robotic Gripper with Adaptive Fingers for Objects Grasping Tasks</a:t>
            </a:r>
          </a:p>
          <a:p>
            <a:r>
              <a:rPr lang="en-GB" sz="1600" b="0" dirty="0">
                <a:solidFill>
                  <a:srgbClr val="002060"/>
                </a:solidFill>
              </a:rPr>
              <a:t>Bin Gao, Shuai Yang, Haiyang Jin*, Ying Hu*, Xiaojun Yang, Jianwei Zhang</a:t>
            </a:r>
          </a:p>
        </p:txBody>
      </p:sp>
      <p:sp>
        <p:nvSpPr>
          <p:cNvPr id="18" name="TextBox 17">
            <a:extLst>
              <a:ext uri="{FF2B5EF4-FFF2-40B4-BE49-F238E27FC236}">
                <a16:creationId xmlns:a16="http://schemas.microsoft.com/office/drawing/2014/main" id="{92992C0B-E7D3-7D87-FD79-07DB7DA413C1}"/>
              </a:ext>
            </a:extLst>
          </p:cNvPr>
          <p:cNvSpPr txBox="1"/>
          <p:nvPr/>
        </p:nvSpPr>
        <p:spPr>
          <a:xfrm>
            <a:off x="260528" y="856624"/>
            <a:ext cx="7068312" cy="400110"/>
          </a:xfrm>
          <a:prstGeom prst="rect">
            <a:avLst/>
          </a:prstGeom>
          <a:noFill/>
        </p:spPr>
        <p:txBody>
          <a:bodyPr wrap="square">
            <a:spAutoFit/>
          </a:bodyPr>
          <a:lstStyle/>
          <a:p>
            <a:r>
              <a:rPr lang="en-US" sz="2000" b="1" dirty="0">
                <a:solidFill>
                  <a:schemeClr val="tx2"/>
                </a:solidFill>
              </a:rPr>
              <a:t>Question/Gap: </a:t>
            </a:r>
            <a:endParaRPr lang="en-IE" sz="2000" b="1" dirty="0">
              <a:solidFill>
                <a:schemeClr val="tx2"/>
              </a:solidFill>
            </a:endParaRPr>
          </a:p>
        </p:txBody>
      </p:sp>
      <p:sp>
        <p:nvSpPr>
          <p:cNvPr id="19" name="TextBox 18">
            <a:extLst>
              <a:ext uri="{FF2B5EF4-FFF2-40B4-BE49-F238E27FC236}">
                <a16:creationId xmlns:a16="http://schemas.microsoft.com/office/drawing/2014/main" id="{D5DF08DB-CB92-4319-D465-D34FFA3E1457}"/>
              </a:ext>
            </a:extLst>
          </p:cNvPr>
          <p:cNvSpPr txBox="1"/>
          <p:nvPr/>
        </p:nvSpPr>
        <p:spPr>
          <a:xfrm>
            <a:off x="208464" y="2123416"/>
            <a:ext cx="7068312" cy="400110"/>
          </a:xfrm>
          <a:prstGeom prst="rect">
            <a:avLst/>
          </a:prstGeom>
          <a:noFill/>
        </p:spPr>
        <p:txBody>
          <a:bodyPr wrap="square">
            <a:spAutoFit/>
          </a:bodyPr>
          <a:lstStyle/>
          <a:p>
            <a:r>
              <a:rPr lang="en-US" sz="2000" b="1" dirty="0">
                <a:solidFill>
                  <a:schemeClr val="tx2"/>
                </a:solidFill>
              </a:rPr>
              <a:t>Method: </a:t>
            </a:r>
            <a:endParaRPr lang="en-IE" sz="2000" b="1" dirty="0">
              <a:solidFill>
                <a:schemeClr val="tx2"/>
              </a:solidFill>
            </a:endParaRPr>
          </a:p>
        </p:txBody>
      </p:sp>
      <p:sp>
        <p:nvSpPr>
          <p:cNvPr id="20" name="TextBox 19">
            <a:extLst>
              <a:ext uri="{FF2B5EF4-FFF2-40B4-BE49-F238E27FC236}">
                <a16:creationId xmlns:a16="http://schemas.microsoft.com/office/drawing/2014/main" id="{BBB146CA-0C50-09B8-57DB-5545E9692B3A}"/>
              </a:ext>
            </a:extLst>
          </p:cNvPr>
          <p:cNvSpPr txBox="1"/>
          <p:nvPr/>
        </p:nvSpPr>
        <p:spPr>
          <a:xfrm>
            <a:off x="166087" y="3857481"/>
            <a:ext cx="7068312" cy="400110"/>
          </a:xfrm>
          <a:prstGeom prst="rect">
            <a:avLst/>
          </a:prstGeom>
          <a:noFill/>
        </p:spPr>
        <p:txBody>
          <a:bodyPr wrap="square">
            <a:spAutoFit/>
          </a:bodyPr>
          <a:lstStyle/>
          <a:p>
            <a:r>
              <a:rPr lang="en-US" sz="2000" b="1" dirty="0">
                <a:solidFill>
                  <a:schemeClr val="tx2"/>
                </a:solidFill>
              </a:rPr>
              <a:t>Results: </a:t>
            </a:r>
            <a:endParaRPr lang="en-IE" sz="2000" b="1" dirty="0">
              <a:solidFill>
                <a:schemeClr val="tx2"/>
              </a:solidFill>
            </a:endParaRPr>
          </a:p>
        </p:txBody>
      </p:sp>
      <p:sp>
        <p:nvSpPr>
          <p:cNvPr id="21" name="TextBox 20">
            <a:extLst>
              <a:ext uri="{FF2B5EF4-FFF2-40B4-BE49-F238E27FC236}">
                <a16:creationId xmlns:a16="http://schemas.microsoft.com/office/drawing/2014/main" id="{44F8ADB6-1D55-BFCB-8D03-DDE496FE09A2}"/>
              </a:ext>
            </a:extLst>
          </p:cNvPr>
          <p:cNvSpPr txBox="1"/>
          <p:nvPr/>
        </p:nvSpPr>
        <p:spPr>
          <a:xfrm>
            <a:off x="208464" y="5166741"/>
            <a:ext cx="7068312" cy="400110"/>
          </a:xfrm>
          <a:prstGeom prst="rect">
            <a:avLst/>
          </a:prstGeom>
          <a:noFill/>
        </p:spPr>
        <p:txBody>
          <a:bodyPr wrap="square">
            <a:spAutoFit/>
          </a:bodyPr>
          <a:lstStyle/>
          <a:p>
            <a:r>
              <a:rPr lang="en-US" sz="2000" b="1" dirty="0">
                <a:solidFill>
                  <a:schemeClr val="tx2"/>
                </a:solidFill>
              </a:rPr>
              <a:t>Limitations: </a:t>
            </a:r>
            <a:endParaRPr lang="en-IE" sz="2000" b="1" dirty="0">
              <a:solidFill>
                <a:schemeClr val="tx2"/>
              </a:solidFill>
            </a:endParaRPr>
          </a:p>
        </p:txBody>
      </p:sp>
      <p:pic>
        <p:nvPicPr>
          <p:cNvPr id="5" name="Picture 4">
            <a:extLst>
              <a:ext uri="{FF2B5EF4-FFF2-40B4-BE49-F238E27FC236}">
                <a16:creationId xmlns:a16="http://schemas.microsoft.com/office/drawing/2014/main" id="{1F28FB2B-C736-7B8B-A6FA-86E565B0AD16}"/>
              </a:ext>
            </a:extLst>
          </p:cNvPr>
          <p:cNvPicPr>
            <a:picLocks noChangeAspect="1"/>
          </p:cNvPicPr>
          <p:nvPr/>
        </p:nvPicPr>
        <p:blipFill>
          <a:blip r:embed="rId2"/>
          <a:stretch>
            <a:fillRect/>
          </a:stretch>
        </p:blipFill>
        <p:spPr>
          <a:xfrm>
            <a:off x="6538467" y="1711699"/>
            <a:ext cx="1807216" cy="2281994"/>
          </a:xfrm>
          <a:prstGeom prst="rect">
            <a:avLst/>
          </a:prstGeom>
        </p:spPr>
      </p:pic>
      <p:pic>
        <p:nvPicPr>
          <p:cNvPr id="13" name="Picture 12">
            <a:extLst>
              <a:ext uri="{FF2B5EF4-FFF2-40B4-BE49-F238E27FC236}">
                <a16:creationId xmlns:a16="http://schemas.microsoft.com/office/drawing/2014/main" id="{8AF306A2-961D-8850-D775-AC9BE146800C}"/>
              </a:ext>
            </a:extLst>
          </p:cNvPr>
          <p:cNvPicPr>
            <a:picLocks noChangeAspect="1"/>
          </p:cNvPicPr>
          <p:nvPr/>
        </p:nvPicPr>
        <p:blipFill>
          <a:blip r:embed="rId3"/>
          <a:stretch>
            <a:fillRect/>
          </a:stretch>
        </p:blipFill>
        <p:spPr>
          <a:xfrm>
            <a:off x="8484361" y="1163743"/>
            <a:ext cx="3507769" cy="1919345"/>
          </a:xfrm>
          <a:prstGeom prst="rect">
            <a:avLst/>
          </a:prstGeom>
        </p:spPr>
      </p:pic>
      <p:pic>
        <p:nvPicPr>
          <p:cNvPr id="15" name="Picture 14">
            <a:extLst>
              <a:ext uri="{FF2B5EF4-FFF2-40B4-BE49-F238E27FC236}">
                <a16:creationId xmlns:a16="http://schemas.microsoft.com/office/drawing/2014/main" id="{20C5AFD6-D4AB-D09D-5801-43EA0A5F545D}"/>
              </a:ext>
            </a:extLst>
          </p:cNvPr>
          <p:cNvPicPr>
            <a:picLocks noChangeAspect="1"/>
          </p:cNvPicPr>
          <p:nvPr/>
        </p:nvPicPr>
        <p:blipFill>
          <a:blip r:embed="rId4"/>
          <a:stretch>
            <a:fillRect/>
          </a:stretch>
        </p:blipFill>
        <p:spPr>
          <a:xfrm>
            <a:off x="6096000" y="4091207"/>
            <a:ext cx="2749809" cy="2562566"/>
          </a:xfrm>
          <a:prstGeom prst="rect">
            <a:avLst/>
          </a:prstGeom>
        </p:spPr>
      </p:pic>
      <p:pic>
        <p:nvPicPr>
          <p:cNvPr id="17" name="Picture 16">
            <a:extLst>
              <a:ext uri="{FF2B5EF4-FFF2-40B4-BE49-F238E27FC236}">
                <a16:creationId xmlns:a16="http://schemas.microsoft.com/office/drawing/2014/main" id="{80F69085-77FA-A454-F07C-124A512B5E80}"/>
              </a:ext>
            </a:extLst>
          </p:cNvPr>
          <p:cNvPicPr>
            <a:picLocks noChangeAspect="1"/>
          </p:cNvPicPr>
          <p:nvPr/>
        </p:nvPicPr>
        <p:blipFill>
          <a:blip r:embed="rId5"/>
          <a:stretch>
            <a:fillRect/>
          </a:stretch>
        </p:blipFill>
        <p:spPr>
          <a:xfrm>
            <a:off x="8978237" y="3275707"/>
            <a:ext cx="2849107" cy="1746898"/>
          </a:xfrm>
          <a:prstGeom prst="rect">
            <a:avLst/>
          </a:prstGeom>
        </p:spPr>
      </p:pic>
      <p:pic>
        <p:nvPicPr>
          <p:cNvPr id="23" name="Picture 22">
            <a:extLst>
              <a:ext uri="{FF2B5EF4-FFF2-40B4-BE49-F238E27FC236}">
                <a16:creationId xmlns:a16="http://schemas.microsoft.com/office/drawing/2014/main" id="{7D405988-B83A-1418-A0D6-B7994E235652}"/>
              </a:ext>
            </a:extLst>
          </p:cNvPr>
          <p:cNvPicPr>
            <a:picLocks noChangeAspect="1"/>
          </p:cNvPicPr>
          <p:nvPr/>
        </p:nvPicPr>
        <p:blipFill>
          <a:blip r:embed="rId6"/>
          <a:stretch>
            <a:fillRect/>
          </a:stretch>
        </p:blipFill>
        <p:spPr>
          <a:xfrm>
            <a:off x="8978237" y="5225338"/>
            <a:ext cx="3044503" cy="1414618"/>
          </a:xfrm>
          <a:prstGeom prst="rect">
            <a:avLst/>
          </a:prstGeom>
        </p:spPr>
      </p:pic>
    </p:spTree>
    <p:extLst>
      <p:ext uri="{BB962C8B-B14F-4D97-AF65-F5344CB8AC3E}">
        <p14:creationId xmlns:p14="http://schemas.microsoft.com/office/powerpoint/2010/main" val="23577355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93824F8-84B7-AE10-9C14-FF9E98A895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C1347C0-B293-546A-1CEB-60FA8A569619}"/>
              </a:ext>
            </a:extLst>
          </p:cNvPr>
          <p:cNvSpPr>
            <a:spLocks noGrp="1"/>
          </p:cNvSpPr>
          <p:nvPr>
            <p:ph type="title"/>
          </p:nvPr>
        </p:nvSpPr>
        <p:spPr>
          <a:xfrm>
            <a:off x="208464" y="1291149"/>
            <a:ext cx="6809289" cy="787314"/>
          </a:xfrm>
        </p:spPr>
        <p:txBody>
          <a:bodyPr>
            <a:normAutofit/>
          </a:bodyPr>
          <a:lstStyle/>
          <a:p>
            <a:r>
              <a:rPr lang="en-IE" sz="2000" dirty="0">
                <a:solidFill>
                  <a:schemeClr val="bg2">
                    <a:lumMod val="10000"/>
                  </a:schemeClr>
                </a:solidFill>
              </a:rPr>
              <a:t>Cast silicone is way too heavy.</a:t>
            </a:r>
          </a:p>
        </p:txBody>
      </p:sp>
      <p:sp>
        <p:nvSpPr>
          <p:cNvPr id="4" name="Title 1">
            <a:extLst>
              <a:ext uri="{FF2B5EF4-FFF2-40B4-BE49-F238E27FC236}">
                <a16:creationId xmlns:a16="http://schemas.microsoft.com/office/drawing/2014/main" id="{0CC814D9-3781-AE9F-66E1-2069AC704BC4}"/>
              </a:ext>
            </a:extLst>
          </p:cNvPr>
          <p:cNvSpPr txBox="1">
            <a:spLocks/>
          </p:cNvSpPr>
          <p:nvPr/>
        </p:nvSpPr>
        <p:spPr>
          <a:xfrm>
            <a:off x="145200" y="111354"/>
            <a:ext cx="9064390" cy="787314"/>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400" b="1" kern="1200">
                <a:solidFill>
                  <a:schemeClr val="bg1"/>
                </a:solidFill>
                <a:latin typeface="+mn-lt"/>
                <a:ea typeface="+mj-ea"/>
                <a:cs typeface="+mj-cs"/>
              </a:defRPr>
            </a:lvl1pPr>
          </a:lstStyle>
          <a:p>
            <a:r>
              <a:rPr lang="en-US" b="0" dirty="0">
                <a:solidFill>
                  <a:srgbClr val="002060"/>
                </a:solidFill>
              </a:rPr>
              <a:t>Literature : Gripper</a:t>
            </a:r>
          </a:p>
        </p:txBody>
      </p:sp>
      <p:sp>
        <p:nvSpPr>
          <p:cNvPr id="7" name="Title 1">
            <a:extLst>
              <a:ext uri="{FF2B5EF4-FFF2-40B4-BE49-F238E27FC236}">
                <a16:creationId xmlns:a16="http://schemas.microsoft.com/office/drawing/2014/main" id="{CE676C45-B00B-AC3C-E6E8-DAB5214FCFC3}"/>
              </a:ext>
            </a:extLst>
          </p:cNvPr>
          <p:cNvSpPr txBox="1">
            <a:spLocks/>
          </p:cNvSpPr>
          <p:nvPr/>
        </p:nvSpPr>
        <p:spPr>
          <a:xfrm>
            <a:off x="199870" y="2551488"/>
            <a:ext cx="7380700" cy="787314"/>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3400" b="1" kern="1200">
                <a:solidFill>
                  <a:schemeClr val="bg1"/>
                </a:solidFill>
                <a:latin typeface="+mn-lt"/>
                <a:ea typeface="+mj-ea"/>
                <a:cs typeface="+mj-cs"/>
              </a:defRPr>
            </a:lvl1pPr>
          </a:lstStyle>
          <a:p>
            <a:r>
              <a:rPr lang="en-IE" sz="2000" dirty="0">
                <a:solidFill>
                  <a:schemeClr val="bg2">
                    <a:lumMod val="10000"/>
                  </a:schemeClr>
                </a:solidFill>
              </a:rPr>
              <a:t>100% inflatable fabric arm (heat-sealed TPU-coated cloth).</a:t>
            </a:r>
            <a:endParaRPr lang="en-US" sz="2000" b="0" dirty="0">
              <a:solidFill>
                <a:schemeClr val="bg2">
                  <a:lumMod val="10000"/>
                </a:schemeClr>
              </a:solidFill>
            </a:endParaRPr>
          </a:p>
        </p:txBody>
      </p:sp>
      <p:sp>
        <p:nvSpPr>
          <p:cNvPr id="9" name="Title 1">
            <a:extLst>
              <a:ext uri="{FF2B5EF4-FFF2-40B4-BE49-F238E27FC236}">
                <a16:creationId xmlns:a16="http://schemas.microsoft.com/office/drawing/2014/main" id="{040661D0-AF4A-F72B-D231-270394AD1939}"/>
              </a:ext>
            </a:extLst>
          </p:cNvPr>
          <p:cNvSpPr txBox="1">
            <a:spLocks/>
          </p:cNvSpPr>
          <p:nvPr/>
        </p:nvSpPr>
        <p:spPr>
          <a:xfrm>
            <a:off x="166087" y="4327041"/>
            <a:ext cx="7051128" cy="787314"/>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400" b="1" kern="1200">
                <a:solidFill>
                  <a:schemeClr val="bg1"/>
                </a:solidFill>
                <a:latin typeface="+mn-lt"/>
                <a:ea typeface="+mj-ea"/>
                <a:cs typeface="+mj-cs"/>
              </a:defRPr>
            </a:lvl1pPr>
          </a:lstStyle>
          <a:p>
            <a:r>
              <a:rPr lang="en-IE" sz="2000" dirty="0">
                <a:solidFill>
                  <a:schemeClr val="bg2">
                    <a:lumMod val="10000"/>
                  </a:schemeClr>
                </a:solidFill>
              </a:rPr>
              <a:t>Featherweight (80 g), lifts 1.6 kg, and can roll onto itself.</a:t>
            </a:r>
            <a:endParaRPr lang="en-US" sz="2000" b="0" dirty="0">
              <a:solidFill>
                <a:schemeClr val="bg2">
                  <a:lumMod val="10000"/>
                </a:schemeClr>
              </a:solidFill>
            </a:endParaRPr>
          </a:p>
        </p:txBody>
      </p:sp>
      <p:sp>
        <p:nvSpPr>
          <p:cNvPr id="10" name="Title 1">
            <a:extLst>
              <a:ext uri="{FF2B5EF4-FFF2-40B4-BE49-F238E27FC236}">
                <a16:creationId xmlns:a16="http://schemas.microsoft.com/office/drawing/2014/main" id="{0789D34A-F38F-30C4-2850-373073B4E585}"/>
              </a:ext>
            </a:extLst>
          </p:cNvPr>
          <p:cNvSpPr txBox="1">
            <a:spLocks/>
          </p:cNvSpPr>
          <p:nvPr/>
        </p:nvSpPr>
        <p:spPr>
          <a:xfrm>
            <a:off x="180388" y="5581161"/>
            <a:ext cx="6430724" cy="787314"/>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400" b="1" kern="1200">
                <a:solidFill>
                  <a:schemeClr val="bg1"/>
                </a:solidFill>
                <a:latin typeface="+mn-lt"/>
                <a:ea typeface="+mj-ea"/>
                <a:cs typeface="+mj-cs"/>
              </a:defRPr>
            </a:lvl1pPr>
          </a:lstStyle>
          <a:p>
            <a:r>
              <a:rPr lang="en-IE" sz="2000" dirty="0">
                <a:solidFill>
                  <a:schemeClr val="bg2">
                    <a:lumMod val="10000"/>
                  </a:schemeClr>
                </a:solidFill>
              </a:rPr>
              <a:t>Pressure is capped at 30 kPa (burst risk). No haptic sensors.</a:t>
            </a:r>
            <a:endParaRPr lang="en-US" sz="2000" b="0" dirty="0">
              <a:solidFill>
                <a:schemeClr val="bg2">
                  <a:lumMod val="10000"/>
                </a:schemeClr>
              </a:solidFill>
            </a:endParaRPr>
          </a:p>
        </p:txBody>
      </p:sp>
      <p:sp>
        <p:nvSpPr>
          <p:cNvPr id="11" name="Title 1">
            <a:extLst>
              <a:ext uri="{FF2B5EF4-FFF2-40B4-BE49-F238E27FC236}">
                <a16:creationId xmlns:a16="http://schemas.microsoft.com/office/drawing/2014/main" id="{1FC2347F-1434-A862-DBB6-5080D293C64F}"/>
              </a:ext>
            </a:extLst>
          </p:cNvPr>
          <p:cNvSpPr txBox="1">
            <a:spLocks/>
          </p:cNvSpPr>
          <p:nvPr/>
        </p:nvSpPr>
        <p:spPr>
          <a:xfrm>
            <a:off x="5043336" y="218044"/>
            <a:ext cx="6888136" cy="787314"/>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3400" b="1" kern="1200">
                <a:solidFill>
                  <a:schemeClr val="bg1"/>
                </a:solidFill>
                <a:latin typeface="+mn-lt"/>
                <a:ea typeface="+mj-ea"/>
                <a:cs typeface="+mj-cs"/>
              </a:defRPr>
            </a:lvl1pPr>
          </a:lstStyle>
          <a:p>
            <a:r>
              <a:rPr lang="en-GB" sz="1200" b="0" dirty="0">
                <a:solidFill>
                  <a:srgbClr val="002060"/>
                </a:solidFill>
              </a:rPr>
              <a:t>Design and Characterization of a Novel Fabric-based Robotic Arm for Future Wearable Robot Application </a:t>
            </a:r>
            <a:r>
              <a:rPr lang="en-GB" sz="1200" b="0" dirty="0" err="1">
                <a:solidFill>
                  <a:srgbClr val="002060"/>
                </a:solidFill>
              </a:rPr>
              <a:t>Xinquan</a:t>
            </a:r>
            <a:r>
              <a:rPr lang="en-GB" sz="1200" b="0" dirty="0">
                <a:solidFill>
                  <a:srgbClr val="002060"/>
                </a:solidFill>
              </a:rPr>
              <a:t> Liang, Hong Kai Yap, Jin Guo and Raye Chen Hua Yeow*</a:t>
            </a:r>
          </a:p>
        </p:txBody>
      </p:sp>
      <p:sp>
        <p:nvSpPr>
          <p:cNvPr id="18" name="TextBox 17">
            <a:extLst>
              <a:ext uri="{FF2B5EF4-FFF2-40B4-BE49-F238E27FC236}">
                <a16:creationId xmlns:a16="http://schemas.microsoft.com/office/drawing/2014/main" id="{A4E86DF9-C6E7-82D2-4647-760653E0094D}"/>
              </a:ext>
            </a:extLst>
          </p:cNvPr>
          <p:cNvSpPr txBox="1"/>
          <p:nvPr/>
        </p:nvSpPr>
        <p:spPr>
          <a:xfrm>
            <a:off x="260528" y="856624"/>
            <a:ext cx="7068312" cy="400110"/>
          </a:xfrm>
          <a:prstGeom prst="rect">
            <a:avLst/>
          </a:prstGeom>
          <a:noFill/>
        </p:spPr>
        <p:txBody>
          <a:bodyPr wrap="square">
            <a:spAutoFit/>
          </a:bodyPr>
          <a:lstStyle/>
          <a:p>
            <a:r>
              <a:rPr lang="en-US" sz="2000" b="1" dirty="0">
                <a:solidFill>
                  <a:schemeClr val="tx2"/>
                </a:solidFill>
              </a:rPr>
              <a:t>Question/Gap: </a:t>
            </a:r>
            <a:endParaRPr lang="en-IE" sz="2000" b="1" dirty="0">
              <a:solidFill>
                <a:schemeClr val="tx2"/>
              </a:solidFill>
            </a:endParaRPr>
          </a:p>
        </p:txBody>
      </p:sp>
      <p:sp>
        <p:nvSpPr>
          <p:cNvPr id="19" name="TextBox 18">
            <a:extLst>
              <a:ext uri="{FF2B5EF4-FFF2-40B4-BE49-F238E27FC236}">
                <a16:creationId xmlns:a16="http://schemas.microsoft.com/office/drawing/2014/main" id="{55828BEE-505F-F227-C1A9-5949B383C312}"/>
              </a:ext>
            </a:extLst>
          </p:cNvPr>
          <p:cNvSpPr txBox="1"/>
          <p:nvPr/>
        </p:nvSpPr>
        <p:spPr>
          <a:xfrm>
            <a:off x="208464" y="2123416"/>
            <a:ext cx="7068312" cy="400110"/>
          </a:xfrm>
          <a:prstGeom prst="rect">
            <a:avLst/>
          </a:prstGeom>
          <a:noFill/>
        </p:spPr>
        <p:txBody>
          <a:bodyPr wrap="square">
            <a:spAutoFit/>
          </a:bodyPr>
          <a:lstStyle/>
          <a:p>
            <a:r>
              <a:rPr lang="en-US" sz="2000" b="1" dirty="0">
                <a:solidFill>
                  <a:schemeClr val="tx2"/>
                </a:solidFill>
              </a:rPr>
              <a:t>Method: </a:t>
            </a:r>
            <a:endParaRPr lang="en-IE" sz="2000" b="1" dirty="0">
              <a:solidFill>
                <a:schemeClr val="tx2"/>
              </a:solidFill>
            </a:endParaRPr>
          </a:p>
        </p:txBody>
      </p:sp>
      <p:sp>
        <p:nvSpPr>
          <p:cNvPr id="20" name="TextBox 19">
            <a:extLst>
              <a:ext uri="{FF2B5EF4-FFF2-40B4-BE49-F238E27FC236}">
                <a16:creationId xmlns:a16="http://schemas.microsoft.com/office/drawing/2014/main" id="{9C080D56-3E84-2231-8481-56292AB46E80}"/>
              </a:ext>
            </a:extLst>
          </p:cNvPr>
          <p:cNvSpPr txBox="1"/>
          <p:nvPr/>
        </p:nvSpPr>
        <p:spPr>
          <a:xfrm>
            <a:off x="166087" y="3857481"/>
            <a:ext cx="7068312" cy="400110"/>
          </a:xfrm>
          <a:prstGeom prst="rect">
            <a:avLst/>
          </a:prstGeom>
          <a:noFill/>
        </p:spPr>
        <p:txBody>
          <a:bodyPr wrap="square">
            <a:spAutoFit/>
          </a:bodyPr>
          <a:lstStyle/>
          <a:p>
            <a:r>
              <a:rPr lang="en-US" sz="2000" b="1" dirty="0">
                <a:solidFill>
                  <a:schemeClr val="tx2"/>
                </a:solidFill>
              </a:rPr>
              <a:t>Results: </a:t>
            </a:r>
            <a:endParaRPr lang="en-IE" sz="2000" b="1" dirty="0">
              <a:solidFill>
                <a:schemeClr val="tx2"/>
              </a:solidFill>
            </a:endParaRPr>
          </a:p>
        </p:txBody>
      </p:sp>
      <p:sp>
        <p:nvSpPr>
          <p:cNvPr id="21" name="TextBox 20">
            <a:extLst>
              <a:ext uri="{FF2B5EF4-FFF2-40B4-BE49-F238E27FC236}">
                <a16:creationId xmlns:a16="http://schemas.microsoft.com/office/drawing/2014/main" id="{A5BD1E59-EA80-7A2C-5839-FB289E5E9C13}"/>
              </a:ext>
            </a:extLst>
          </p:cNvPr>
          <p:cNvSpPr txBox="1"/>
          <p:nvPr/>
        </p:nvSpPr>
        <p:spPr>
          <a:xfrm>
            <a:off x="166087" y="5181051"/>
            <a:ext cx="7068312" cy="400110"/>
          </a:xfrm>
          <a:prstGeom prst="rect">
            <a:avLst/>
          </a:prstGeom>
          <a:noFill/>
        </p:spPr>
        <p:txBody>
          <a:bodyPr wrap="square">
            <a:spAutoFit/>
          </a:bodyPr>
          <a:lstStyle/>
          <a:p>
            <a:r>
              <a:rPr lang="en-US" sz="2000" b="1" dirty="0">
                <a:solidFill>
                  <a:schemeClr val="tx2"/>
                </a:solidFill>
              </a:rPr>
              <a:t>Limitations: </a:t>
            </a:r>
            <a:endParaRPr lang="en-IE" sz="2000" b="1" dirty="0">
              <a:solidFill>
                <a:schemeClr val="tx2"/>
              </a:solidFill>
            </a:endParaRPr>
          </a:p>
        </p:txBody>
      </p:sp>
      <p:pic>
        <p:nvPicPr>
          <p:cNvPr id="5" name="Picture 4">
            <a:extLst>
              <a:ext uri="{FF2B5EF4-FFF2-40B4-BE49-F238E27FC236}">
                <a16:creationId xmlns:a16="http://schemas.microsoft.com/office/drawing/2014/main" id="{4805C693-BBE3-2051-6ADD-F184AB963120}"/>
              </a:ext>
            </a:extLst>
          </p:cNvPr>
          <p:cNvPicPr>
            <a:picLocks noChangeAspect="1"/>
          </p:cNvPicPr>
          <p:nvPr/>
        </p:nvPicPr>
        <p:blipFill>
          <a:blip r:embed="rId2"/>
          <a:stretch>
            <a:fillRect/>
          </a:stretch>
        </p:blipFill>
        <p:spPr>
          <a:xfrm>
            <a:off x="7580570" y="3693324"/>
            <a:ext cx="3479559" cy="2975454"/>
          </a:xfrm>
          <a:prstGeom prst="rect">
            <a:avLst/>
          </a:prstGeom>
        </p:spPr>
      </p:pic>
      <p:pic>
        <p:nvPicPr>
          <p:cNvPr id="8" name="Picture 7">
            <a:extLst>
              <a:ext uri="{FF2B5EF4-FFF2-40B4-BE49-F238E27FC236}">
                <a16:creationId xmlns:a16="http://schemas.microsoft.com/office/drawing/2014/main" id="{04BD2387-FDE2-B519-1B91-79B61B38C494}"/>
              </a:ext>
            </a:extLst>
          </p:cNvPr>
          <p:cNvPicPr>
            <a:picLocks noChangeAspect="1"/>
          </p:cNvPicPr>
          <p:nvPr/>
        </p:nvPicPr>
        <p:blipFill>
          <a:blip r:embed="rId3"/>
          <a:srcRect t="35351"/>
          <a:stretch>
            <a:fillRect/>
          </a:stretch>
        </p:blipFill>
        <p:spPr>
          <a:xfrm>
            <a:off x="7826203" y="856624"/>
            <a:ext cx="2959349" cy="2793113"/>
          </a:xfrm>
          <a:prstGeom prst="rect">
            <a:avLst/>
          </a:prstGeom>
        </p:spPr>
      </p:pic>
    </p:spTree>
    <p:extLst>
      <p:ext uri="{BB962C8B-B14F-4D97-AF65-F5344CB8AC3E}">
        <p14:creationId xmlns:p14="http://schemas.microsoft.com/office/powerpoint/2010/main" val="15301767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2E477F6-BD13-60CA-10AE-4FBD97D9A7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9D8B2C-55CE-D916-3E72-24812D52D095}"/>
              </a:ext>
            </a:extLst>
          </p:cNvPr>
          <p:cNvSpPr>
            <a:spLocks noGrp="1"/>
          </p:cNvSpPr>
          <p:nvPr>
            <p:ph type="title"/>
          </p:nvPr>
        </p:nvSpPr>
        <p:spPr>
          <a:xfrm>
            <a:off x="208464" y="1291149"/>
            <a:ext cx="6809289" cy="787314"/>
          </a:xfrm>
        </p:spPr>
        <p:txBody>
          <a:bodyPr>
            <a:normAutofit/>
          </a:bodyPr>
          <a:lstStyle/>
          <a:p>
            <a:r>
              <a:rPr lang="en-IE" sz="2000" dirty="0">
                <a:solidFill>
                  <a:schemeClr val="bg2">
                    <a:lumMod val="10000"/>
                  </a:schemeClr>
                </a:solidFill>
              </a:rPr>
              <a:t>Adding a 6-axis force sensor to the wrist takes up too much space and weight.</a:t>
            </a:r>
          </a:p>
        </p:txBody>
      </p:sp>
      <p:sp>
        <p:nvSpPr>
          <p:cNvPr id="4" name="Title 1">
            <a:extLst>
              <a:ext uri="{FF2B5EF4-FFF2-40B4-BE49-F238E27FC236}">
                <a16:creationId xmlns:a16="http://schemas.microsoft.com/office/drawing/2014/main" id="{E1D04B1F-40A3-FDF8-C4CF-204A12364AF4}"/>
              </a:ext>
            </a:extLst>
          </p:cNvPr>
          <p:cNvSpPr txBox="1">
            <a:spLocks/>
          </p:cNvSpPr>
          <p:nvPr/>
        </p:nvSpPr>
        <p:spPr>
          <a:xfrm>
            <a:off x="145200" y="111354"/>
            <a:ext cx="9064390" cy="787314"/>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400" b="1" kern="1200">
                <a:solidFill>
                  <a:schemeClr val="bg1"/>
                </a:solidFill>
                <a:latin typeface="+mn-lt"/>
                <a:ea typeface="+mj-ea"/>
                <a:cs typeface="+mj-cs"/>
              </a:defRPr>
            </a:lvl1pPr>
          </a:lstStyle>
          <a:p>
            <a:r>
              <a:rPr lang="en-US" b="0" dirty="0">
                <a:solidFill>
                  <a:srgbClr val="002060"/>
                </a:solidFill>
              </a:rPr>
              <a:t>Literature : Gripper</a:t>
            </a:r>
          </a:p>
        </p:txBody>
      </p:sp>
      <p:sp>
        <p:nvSpPr>
          <p:cNvPr id="7" name="Title 1">
            <a:extLst>
              <a:ext uri="{FF2B5EF4-FFF2-40B4-BE49-F238E27FC236}">
                <a16:creationId xmlns:a16="http://schemas.microsoft.com/office/drawing/2014/main" id="{CDF0E081-2299-24C4-C205-FEEA62C45E1D}"/>
              </a:ext>
            </a:extLst>
          </p:cNvPr>
          <p:cNvSpPr txBox="1">
            <a:spLocks/>
          </p:cNvSpPr>
          <p:nvPr/>
        </p:nvSpPr>
        <p:spPr>
          <a:xfrm>
            <a:off x="199870" y="2551488"/>
            <a:ext cx="7128970" cy="787314"/>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3400" b="1" kern="1200">
                <a:solidFill>
                  <a:schemeClr val="bg1"/>
                </a:solidFill>
                <a:latin typeface="+mn-lt"/>
                <a:ea typeface="+mj-ea"/>
                <a:cs typeface="+mj-cs"/>
              </a:defRPr>
            </a:lvl1pPr>
          </a:lstStyle>
          <a:p>
            <a:r>
              <a:rPr lang="en-IE" sz="2000" dirty="0">
                <a:solidFill>
                  <a:schemeClr val="bg2">
                    <a:lumMod val="10000"/>
                  </a:schemeClr>
                </a:solidFill>
              </a:rPr>
              <a:t>AI (Neural Network) guesses the wrist force by reading tiny strain gauges placed on the fingers.</a:t>
            </a:r>
            <a:endParaRPr lang="en-US" sz="2000" b="0" dirty="0">
              <a:solidFill>
                <a:schemeClr val="bg2">
                  <a:lumMod val="10000"/>
                </a:schemeClr>
              </a:solidFill>
            </a:endParaRPr>
          </a:p>
        </p:txBody>
      </p:sp>
      <p:sp>
        <p:nvSpPr>
          <p:cNvPr id="9" name="Title 1">
            <a:extLst>
              <a:ext uri="{FF2B5EF4-FFF2-40B4-BE49-F238E27FC236}">
                <a16:creationId xmlns:a16="http://schemas.microsoft.com/office/drawing/2014/main" id="{63E06A20-4007-0161-CB13-532DF691785D}"/>
              </a:ext>
            </a:extLst>
          </p:cNvPr>
          <p:cNvSpPr txBox="1">
            <a:spLocks/>
          </p:cNvSpPr>
          <p:nvPr/>
        </p:nvSpPr>
        <p:spPr>
          <a:xfrm>
            <a:off x="174679" y="4259520"/>
            <a:ext cx="7051128" cy="787314"/>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400" b="1" kern="1200">
                <a:solidFill>
                  <a:schemeClr val="bg1"/>
                </a:solidFill>
                <a:latin typeface="+mn-lt"/>
                <a:ea typeface="+mj-ea"/>
                <a:cs typeface="+mj-cs"/>
              </a:defRPr>
            </a:lvl1pPr>
          </a:lstStyle>
          <a:p>
            <a:r>
              <a:rPr lang="en-IE" sz="2000" dirty="0">
                <a:solidFill>
                  <a:schemeClr val="bg2">
                    <a:lumMod val="10000"/>
                  </a:schemeClr>
                </a:solidFill>
              </a:rPr>
              <a:t>Accurate real-time estimation (&lt;6% error) without a physical wrist sensor.</a:t>
            </a:r>
            <a:endParaRPr lang="en-US" sz="2000" b="0" dirty="0">
              <a:solidFill>
                <a:schemeClr val="bg2">
                  <a:lumMod val="10000"/>
                </a:schemeClr>
              </a:solidFill>
            </a:endParaRPr>
          </a:p>
        </p:txBody>
      </p:sp>
      <p:sp>
        <p:nvSpPr>
          <p:cNvPr id="10" name="Title 1">
            <a:extLst>
              <a:ext uri="{FF2B5EF4-FFF2-40B4-BE49-F238E27FC236}">
                <a16:creationId xmlns:a16="http://schemas.microsoft.com/office/drawing/2014/main" id="{10FE6870-869A-6DED-C875-C95E0F7F0842}"/>
              </a:ext>
            </a:extLst>
          </p:cNvPr>
          <p:cNvSpPr txBox="1">
            <a:spLocks/>
          </p:cNvSpPr>
          <p:nvPr/>
        </p:nvSpPr>
        <p:spPr>
          <a:xfrm>
            <a:off x="166087" y="5563172"/>
            <a:ext cx="7624601" cy="787314"/>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400" b="1" kern="1200">
                <a:solidFill>
                  <a:schemeClr val="bg1"/>
                </a:solidFill>
                <a:latin typeface="+mn-lt"/>
                <a:ea typeface="+mj-ea"/>
                <a:cs typeface="+mj-cs"/>
              </a:defRPr>
            </a:lvl1pPr>
          </a:lstStyle>
          <a:p>
            <a:r>
              <a:rPr lang="en-IE" sz="2000" dirty="0">
                <a:solidFill>
                  <a:schemeClr val="bg2">
                    <a:lumMod val="10000"/>
                  </a:schemeClr>
                </a:solidFill>
              </a:rPr>
              <a:t>Requires a massive calibration dataset. Metal gauges don't work on soft fabrics.</a:t>
            </a:r>
            <a:endParaRPr lang="en-US" sz="2000" b="0" dirty="0">
              <a:solidFill>
                <a:schemeClr val="bg2">
                  <a:lumMod val="10000"/>
                </a:schemeClr>
              </a:solidFill>
            </a:endParaRPr>
          </a:p>
        </p:txBody>
      </p:sp>
      <p:sp>
        <p:nvSpPr>
          <p:cNvPr id="11" name="Title 1">
            <a:extLst>
              <a:ext uri="{FF2B5EF4-FFF2-40B4-BE49-F238E27FC236}">
                <a16:creationId xmlns:a16="http://schemas.microsoft.com/office/drawing/2014/main" id="{2A3CAE39-9FD8-193C-E09C-24CBD65D3056}"/>
              </a:ext>
            </a:extLst>
          </p:cNvPr>
          <p:cNvSpPr txBox="1">
            <a:spLocks/>
          </p:cNvSpPr>
          <p:nvPr/>
        </p:nvSpPr>
        <p:spPr>
          <a:xfrm>
            <a:off x="5043336" y="218044"/>
            <a:ext cx="6888136" cy="787314"/>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3400" b="1" kern="1200">
                <a:solidFill>
                  <a:schemeClr val="bg1"/>
                </a:solidFill>
                <a:latin typeface="+mn-lt"/>
                <a:ea typeface="+mj-ea"/>
                <a:cs typeface="+mj-cs"/>
              </a:defRPr>
            </a:lvl1pPr>
          </a:lstStyle>
          <a:p>
            <a:r>
              <a:rPr lang="en-GB" sz="1200" b="0" dirty="0">
                <a:solidFill>
                  <a:srgbClr val="002060"/>
                </a:solidFill>
              </a:rPr>
              <a:t>Estimation of Wrist Force/torque for Robot Gripper using</a:t>
            </a:r>
          </a:p>
          <a:p>
            <a:r>
              <a:rPr lang="en-GB" sz="1200" b="0" dirty="0">
                <a:solidFill>
                  <a:srgbClr val="002060"/>
                </a:solidFill>
              </a:rPr>
              <a:t>Neural Network</a:t>
            </a:r>
          </a:p>
          <a:p>
            <a:r>
              <a:rPr lang="en-GB" sz="1200" b="0" dirty="0">
                <a:solidFill>
                  <a:srgbClr val="002060"/>
                </a:solidFill>
              </a:rPr>
              <a:t>Guo-</a:t>
            </a:r>
            <a:r>
              <a:rPr lang="en-GB" sz="1200" b="0" dirty="0" err="1">
                <a:solidFill>
                  <a:srgbClr val="002060"/>
                </a:solidFill>
              </a:rPr>
              <a:t>zheng</a:t>
            </a:r>
            <a:r>
              <a:rPr lang="en-GB" sz="1200" b="0" dirty="0">
                <a:solidFill>
                  <a:srgbClr val="002060"/>
                </a:solidFill>
              </a:rPr>
              <a:t> Yan and Ting Wu</a:t>
            </a:r>
          </a:p>
        </p:txBody>
      </p:sp>
      <p:sp>
        <p:nvSpPr>
          <p:cNvPr id="18" name="TextBox 17">
            <a:extLst>
              <a:ext uri="{FF2B5EF4-FFF2-40B4-BE49-F238E27FC236}">
                <a16:creationId xmlns:a16="http://schemas.microsoft.com/office/drawing/2014/main" id="{DF1A84D4-6E1E-47A0-5C81-3ABA6FD8417A}"/>
              </a:ext>
            </a:extLst>
          </p:cNvPr>
          <p:cNvSpPr txBox="1"/>
          <p:nvPr/>
        </p:nvSpPr>
        <p:spPr>
          <a:xfrm>
            <a:off x="260528" y="856624"/>
            <a:ext cx="7068312" cy="400110"/>
          </a:xfrm>
          <a:prstGeom prst="rect">
            <a:avLst/>
          </a:prstGeom>
          <a:noFill/>
        </p:spPr>
        <p:txBody>
          <a:bodyPr wrap="square">
            <a:spAutoFit/>
          </a:bodyPr>
          <a:lstStyle/>
          <a:p>
            <a:r>
              <a:rPr lang="en-US" sz="2000" b="1" dirty="0">
                <a:solidFill>
                  <a:schemeClr val="tx2"/>
                </a:solidFill>
              </a:rPr>
              <a:t>Question/Gap: </a:t>
            </a:r>
            <a:endParaRPr lang="en-IE" sz="2000" b="1" dirty="0">
              <a:solidFill>
                <a:schemeClr val="tx2"/>
              </a:solidFill>
            </a:endParaRPr>
          </a:p>
        </p:txBody>
      </p:sp>
      <p:sp>
        <p:nvSpPr>
          <p:cNvPr id="19" name="TextBox 18">
            <a:extLst>
              <a:ext uri="{FF2B5EF4-FFF2-40B4-BE49-F238E27FC236}">
                <a16:creationId xmlns:a16="http://schemas.microsoft.com/office/drawing/2014/main" id="{81F6DA76-2E70-3669-4A6F-40227C29E41D}"/>
              </a:ext>
            </a:extLst>
          </p:cNvPr>
          <p:cNvSpPr txBox="1"/>
          <p:nvPr/>
        </p:nvSpPr>
        <p:spPr>
          <a:xfrm>
            <a:off x="208464" y="2123416"/>
            <a:ext cx="7068312" cy="400110"/>
          </a:xfrm>
          <a:prstGeom prst="rect">
            <a:avLst/>
          </a:prstGeom>
          <a:noFill/>
        </p:spPr>
        <p:txBody>
          <a:bodyPr wrap="square">
            <a:spAutoFit/>
          </a:bodyPr>
          <a:lstStyle/>
          <a:p>
            <a:r>
              <a:rPr lang="en-US" sz="2000" b="1" dirty="0">
                <a:solidFill>
                  <a:schemeClr val="tx2"/>
                </a:solidFill>
              </a:rPr>
              <a:t>Method: </a:t>
            </a:r>
            <a:endParaRPr lang="en-IE" sz="2000" b="1" dirty="0">
              <a:solidFill>
                <a:schemeClr val="tx2"/>
              </a:solidFill>
            </a:endParaRPr>
          </a:p>
        </p:txBody>
      </p:sp>
      <p:sp>
        <p:nvSpPr>
          <p:cNvPr id="20" name="TextBox 19">
            <a:extLst>
              <a:ext uri="{FF2B5EF4-FFF2-40B4-BE49-F238E27FC236}">
                <a16:creationId xmlns:a16="http://schemas.microsoft.com/office/drawing/2014/main" id="{4FD6A862-15D4-EF38-6A0F-679BC7253B1F}"/>
              </a:ext>
            </a:extLst>
          </p:cNvPr>
          <p:cNvSpPr txBox="1"/>
          <p:nvPr/>
        </p:nvSpPr>
        <p:spPr>
          <a:xfrm>
            <a:off x="166087" y="3857481"/>
            <a:ext cx="7068312" cy="400110"/>
          </a:xfrm>
          <a:prstGeom prst="rect">
            <a:avLst/>
          </a:prstGeom>
          <a:noFill/>
        </p:spPr>
        <p:txBody>
          <a:bodyPr wrap="square">
            <a:spAutoFit/>
          </a:bodyPr>
          <a:lstStyle/>
          <a:p>
            <a:r>
              <a:rPr lang="en-US" sz="2000" b="1" dirty="0">
                <a:solidFill>
                  <a:schemeClr val="tx2"/>
                </a:solidFill>
              </a:rPr>
              <a:t>Results: </a:t>
            </a:r>
            <a:endParaRPr lang="en-IE" sz="2000" b="1" dirty="0">
              <a:solidFill>
                <a:schemeClr val="tx2"/>
              </a:solidFill>
            </a:endParaRPr>
          </a:p>
        </p:txBody>
      </p:sp>
      <p:sp>
        <p:nvSpPr>
          <p:cNvPr id="21" name="TextBox 20">
            <a:extLst>
              <a:ext uri="{FF2B5EF4-FFF2-40B4-BE49-F238E27FC236}">
                <a16:creationId xmlns:a16="http://schemas.microsoft.com/office/drawing/2014/main" id="{920F56AC-C6CB-0FDA-BD8F-4378D23A089D}"/>
              </a:ext>
            </a:extLst>
          </p:cNvPr>
          <p:cNvSpPr txBox="1"/>
          <p:nvPr/>
        </p:nvSpPr>
        <p:spPr>
          <a:xfrm>
            <a:off x="174679" y="5179540"/>
            <a:ext cx="7068312" cy="400110"/>
          </a:xfrm>
          <a:prstGeom prst="rect">
            <a:avLst/>
          </a:prstGeom>
          <a:noFill/>
        </p:spPr>
        <p:txBody>
          <a:bodyPr wrap="square">
            <a:spAutoFit/>
          </a:bodyPr>
          <a:lstStyle/>
          <a:p>
            <a:r>
              <a:rPr lang="en-US" sz="2000" b="1" dirty="0">
                <a:solidFill>
                  <a:schemeClr val="tx2"/>
                </a:solidFill>
              </a:rPr>
              <a:t>Limitations: </a:t>
            </a:r>
            <a:endParaRPr lang="en-IE" sz="2000" b="1" dirty="0">
              <a:solidFill>
                <a:schemeClr val="tx2"/>
              </a:solidFill>
            </a:endParaRPr>
          </a:p>
        </p:txBody>
      </p:sp>
      <p:pic>
        <p:nvPicPr>
          <p:cNvPr id="6" name="Picture 5">
            <a:extLst>
              <a:ext uri="{FF2B5EF4-FFF2-40B4-BE49-F238E27FC236}">
                <a16:creationId xmlns:a16="http://schemas.microsoft.com/office/drawing/2014/main" id="{79633D4C-B597-F182-6717-854C5A727682}"/>
              </a:ext>
            </a:extLst>
          </p:cNvPr>
          <p:cNvPicPr>
            <a:picLocks noChangeAspect="1"/>
          </p:cNvPicPr>
          <p:nvPr/>
        </p:nvPicPr>
        <p:blipFill>
          <a:blip r:embed="rId2"/>
          <a:stretch>
            <a:fillRect/>
          </a:stretch>
        </p:blipFill>
        <p:spPr>
          <a:xfrm>
            <a:off x="7854696" y="1224207"/>
            <a:ext cx="3776471" cy="4013425"/>
          </a:xfrm>
          <a:prstGeom prst="rect">
            <a:avLst/>
          </a:prstGeom>
        </p:spPr>
      </p:pic>
    </p:spTree>
    <p:extLst>
      <p:ext uri="{BB962C8B-B14F-4D97-AF65-F5344CB8AC3E}">
        <p14:creationId xmlns:p14="http://schemas.microsoft.com/office/powerpoint/2010/main" val="11621919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AB55674-D4BF-5733-8709-1162D04B0B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B6B83D-DCD2-AD98-A526-2B9267A26B77}"/>
              </a:ext>
            </a:extLst>
          </p:cNvPr>
          <p:cNvSpPr>
            <a:spLocks noGrp="1"/>
          </p:cNvSpPr>
          <p:nvPr>
            <p:ph type="title"/>
          </p:nvPr>
        </p:nvSpPr>
        <p:spPr>
          <a:xfrm>
            <a:off x="208464" y="1291149"/>
            <a:ext cx="6809289" cy="787314"/>
          </a:xfrm>
        </p:spPr>
        <p:txBody>
          <a:bodyPr>
            <a:normAutofit/>
          </a:bodyPr>
          <a:lstStyle/>
          <a:p>
            <a:r>
              <a:rPr lang="en-IE" sz="2000" dirty="0">
                <a:solidFill>
                  <a:schemeClr val="bg2">
                    <a:lumMod val="10000"/>
                  </a:schemeClr>
                </a:solidFill>
              </a:rPr>
              <a:t>Granular jamming (like coffee grounds) doesn't </a:t>
            </a:r>
            <a:r>
              <a:rPr lang="en-IE" sz="2000" dirty="0" err="1">
                <a:solidFill>
                  <a:schemeClr val="bg2">
                    <a:lumMod val="10000"/>
                  </a:schemeClr>
                </a:solidFill>
              </a:rPr>
              <a:t>mold</a:t>
            </a:r>
            <a:r>
              <a:rPr lang="en-IE" sz="2000" dirty="0">
                <a:solidFill>
                  <a:schemeClr val="bg2">
                    <a:lumMod val="10000"/>
                  </a:schemeClr>
                </a:solidFill>
              </a:rPr>
              <a:t> well around ultra-fragile objects.</a:t>
            </a:r>
          </a:p>
        </p:txBody>
      </p:sp>
      <p:sp>
        <p:nvSpPr>
          <p:cNvPr id="4" name="Title 1">
            <a:extLst>
              <a:ext uri="{FF2B5EF4-FFF2-40B4-BE49-F238E27FC236}">
                <a16:creationId xmlns:a16="http://schemas.microsoft.com/office/drawing/2014/main" id="{07FDB4DD-2B51-AF5B-23E3-980B28ABC4F6}"/>
              </a:ext>
            </a:extLst>
          </p:cNvPr>
          <p:cNvSpPr txBox="1">
            <a:spLocks/>
          </p:cNvSpPr>
          <p:nvPr/>
        </p:nvSpPr>
        <p:spPr>
          <a:xfrm>
            <a:off x="145200" y="111354"/>
            <a:ext cx="9064390" cy="787314"/>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400" b="1" kern="1200">
                <a:solidFill>
                  <a:schemeClr val="bg1"/>
                </a:solidFill>
                <a:latin typeface="+mn-lt"/>
                <a:ea typeface="+mj-ea"/>
                <a:cs typeface="+mj-cs"/>
              </a:defRPr>
            </a:lvl1pPr>
          </a:lstStyle>
          <a:p>
            <a:r>
              <a:rPr lang="en-US" b="0" dirty="0">
                <a:solidFill>
                  <a:srgbClr val="002060"/>
                </a:solidFill>
              </a:rPr>
              <a:t>Literature : Gripper</a:t>
            </a:r>
          </a:p>
        </p:txBody>
      </p:sp>
      <p:sp>
        <p:nvSpPr>
          <p:cNvPr id="7" name="Title 1">
            <a:extLst>
              <a:ext uri="{FF2B5EF4-FFF2-40B4-BE49-F238E27FC236}">
                <a16:creationId xmlns:a16="http://schemas.microsoft.com/office/drawing/2014/main" id="{9D488EA3-5531-FEB4-4DD1-6EB7B4894493}"/>
              </a:ext>
            </a:extLst>
          </p:cNvPr>
          <p:cNvSpPr txBox="1">
            <a:spLocks/>
          </p:cNvSpPr>
          <p:nvPr/>
        </p:nvSpPr>
        <p:spPr>
          <a:xfrm>
            <a:off x="199870" y="2551488"/>
            <a:ext cx="7380700" cy="787314"/>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3400" b="1" kern="1200">
                <a:solidFill>
                  <a:schemeClr val="bg1"/>
                </a:solidFill>
                <a:latin typeface="+mn-lt"/>
                <a:ea typeface="+mj-ea"/>
                <a:cs typeface="+mj-cs"/>
              </a:defRPr>
            </a:lvl1pPr>
          </a:lstStyle>
          <a:p>
            <a:r>
              <a:rPr lang="en-IE" sz="2000" dirty="0">
                <a:solidFill>
                  <a:schemeClr val="bg2">
                    <a:lumMod val="10000"/>
                  </a:schemeClr>
                </a:solidFill>
              </a:rPr>
              <a:t>Grains floating in a fluid suspension + an inner airbag.</a:t>
            </a:r>
            <a:endParaRPr lang="en-US" sz="2000" b="0" dirty="0">
              <a:solidFill>
                <a:schemeClr val="bg2">
                  <a:lumMod val="10000"/>
                </a:schemeClr>
              </a:solidFill>
            </a:endParaRPr>
          </a:p>
        </p:txBody>
      </p:sp>
      <p:sp>
        <p:nvSpPr>
          <p:cNvPr id="9" name="Title 1">
            <a:extLst>
              <a:ext uri="{FF2B5EF4-FFF2-40B4-BE49-F238E27FC236}">
                <a16:creationId xmlns:a16="http://schemas.microsoft.com/office/drawing/2014/main" id="{AEABE1BA-AD11-1AAB-9427-6C823A8551EF}"/>
              </a:ext>
            </a:extLst>
          </p:cNvPr>
          <p:cNvSpPr txBox="1">
            <a:spLocks/>
          </p:cNvSpPr>
          <p:nvPr/>
        </p:nvSpPr>
        <p:spPr>
          <a:xfrm>
            <a:off x="164297" y="4327041"/>
            <a:ext cx="7051128" cy="787314"/>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400" b="1" kern="1200">
                <a:solidFill>
                  <a:schemeClr val="bg1"/>
                </a:solidFill>
                <a:latin typeface="+mn-lt"/>
                <a:ea typeface="+mj-ea"/>
                <a:cs typeface="+mj-cs"/>
              </a:defRPr>
            </a:lvl1pPr>
          </a:lstStyle>
          <a:p>
            <a:r>
              <a:rPr lang="en-IE" sz="2000" dirty="0">
                <a:solidFill>
                  <a:schemeClr val="bg2">
                    <a:lumMod val="10000"/>
                  </a:schemeClr>
                </a:solidFill>
              </a:rPr>
              <a:t>Wraps super smoothly, then freezes rock-solid.</a:t>
            </a:r>
            <a:endParaRPr lang="en-US" sz="2000" b="0" dirty="0">
              <a:solidFill>
                <a:schemeClr val="bg2">
                  <a:lumMod val="10000"/>
                </a:schemeClr>
              </a:solidFill>
            </a:endParaRPr>
          </a:p>
        </p:txBody>
      </p:sp>
      <p:sp>
        <p:nvSpPr>
          <p:cNvPr id="10" name="Title 1">
            <a:extLst>
              <a:ext uri="{FF2B5EF4-FFF2-40B4-BE49-F238E27FC236}">
                <a16:creationId xmlns:a16="http://schemas.microsoft.com/office/drawing/2014/main" id="{3033A3AF-D7C8-B3BE-A3AA-28AF9004A8FA}"/>
              </a:ext>
            </a:extLst>
          </p:cNvPr>
          <p:cNvSpPr txBox="1">
            <a:spLocks/>
          </p:cNvSpPr>
          <p:nvPr/>
        </p:nvSpPr>
        <p:spPr>
          <a:xfrm>
            <a:off x="302903" y="5579650"/>
            <a:ext cx="5494393" cy="787314"/>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400" b="1" kern="1200">
                <a:solidFill>
                  <a:schemeClr val="bg1"/>
                </a:solidFill>
                <a:latin typeface="+mn-lt"/>
                <a:ea typeface="+mj-ea"/>
                <a:cs typeface="+mj-cs"/>
              </a:defRPr>
            </a:lvl1pPr>
          </a:lstStyle>
          <a:p>
            <a:r>
              <a:rPr lang="en-IE" sz="2000" dirty="0">
                <a:solidFill>
                  <a:schemeClr val="bg2">
                    <a:lumMod val="10000"/>
                  </a:schemeClr>
                </a:solidFill>
              </a:rPr>
              <a:t>Must constantly pump air to keep the grip locked (no 0W mode). No sensors.</a:t>
            </a:r>
            <a:endParaRPr lang="en-US" sz="2000" b="0" dirty="0">
              <a:solidFill>
                <a:schemeClr val="bg2">
                  <a:lumMod val="10000"/>
                </a:schemeClr>
              </a:solidFill>
            </a:endParaRPr>
          </a:p>
        </p:txBody>
      </p:sp>
      <p:sp>
        <p:nvSpPr>
          <p:cNvPr id="11" name="Title 1">
            <a:extLst>
              <a:ext uri="{FF2B5EF4-FFF2-40B4-BE49-F238E27FC236}">
                <a16:creationId xmlns:a16="http://schemas.microsoft.com/office/drawing/2014/main" id="{585B0C8B-B3C7-BD47-104E-D5BF28B1DDF4}"/>
              </a:ext>
            </a:extLst>
          </p:cNvPr>
          <p:cNvSpPr txBox="1">
            <a:spLocks/>
          </p:cNvSpPr>
          <p:nvPr/>
        </p:nvSpPr>
        <p:spPr>
          <a:xfrm>
            <a:off x="5043336" y="218044"/>
            <a:ext cx="6888136" cy="787314"/>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3400" b="1" kern="1200">
                <a:solidFill>
                  <a:schemeClr val="bg1"/>
                </a:solidFill>
                <a:latin typeface="+mn-lt"/>
                <a:ea typeface="+mj-ea"/>
                <a:cs typeface="+mj-cs"/>
              </a:defRPr>
            </a:lvl1pPr>
          </a:lstStyle>
          <a:p>
            <a:r>
              <a:rPr lang="en-GB" sz="1200" b="0" dirty="0">
                <a:solidFill>
                  <a:srgbClr val="002060"/>
                </a:solidFill>
              </a:rPr>
              <a:t>Investigation of Fluidic Universal Gripper for Delicate</a:t>
            </a:r>
          </a:p>
          <a:p>
            <a:r>
              <a:rPr lang="en-GB" sz="1200" b="0" dirty="0">
                <a:solidFill>
                  <a:srgbClr val="002060"/>
                </a:solidFill>
              </a:rPr>
              <a:t>Object Manipulation Changchun Wu 1, Hao Liu 1, </a:t>
            </a:r>
            <a:r>
              <a:rPr lang="en-GB" sz="1200" b="0" dirty="0" err="1">
                <a:solidFill>
                  <a:srgbClr val="002060"/>
                </a:solidFill>
              </a:rPr>
              <a:t>Senyuan</a:t>
            </a:r>
            <a:r>
              <a:rPr lang="en-GB" sz="1200" b="0" dirty="0">
                <a:solidFill>
                  <a:srgbClr val="002060"/>
                </a:solidFill>
              </a:rPr>
              <a:t> Lin 1, </a:t>
            </a:r>
            <a:r>
              <a:rPr lang="en-GB" sz="1200" b="0" dirty="0" err="1">
                <a:solidFill>
                  <a:srgbClr val="002060"/>
                </a:solidFill>
              </a:rPr>
              <a:t>Yunquan</a:t>
            </a:r>
            <a:r>
              <a:rPr lang="en-GB" sz="1200" b="0" dirty="0">
                <a:solidFill>
                  <a:srgbClr val="002060"/>
                </a:solidFill>
              </a:rPr>
              <a:t> Li 2 and Yonghua Chen</a:t>
            </a:r>
          </a:p>
        </p:txBody>
      </p:sp>
      <p:sp>
        <p:nvSpPr>
          <p:cNvPr id="18" name="TextBox 17">
            <a:extLst>
              <a:ext uri="{FF2B5EF4-FFF2-40B4-BE49-F238E27FC236}">
                <a16:creationId xmlns:a16="http://schemas.microsoft.com/office/drawing/2014/main" id="{74EB106F-6873-0A61-E371-6BB4B89726EE}"/>
              </a:ext>
            </a:extLst>
          </p:cNvPr>
          <p:cNvSpPr txBox="1"/>
          <p:nvPr/>
        </p:nvSpPr>
        <p:spPr>
          <a:xfrm>
            <a:off x="260528" y="856624"/>
            <a:ext cx="7068312" cy="400110"/>
          </a:xfrm>
          <a:prstGeom prst="rect">
            <a:avLst/>
          </a:prstGeom>
          <a:noFill/>
        </p:spPr>
        <p:txBody>
          <a:bodyPr wrap="square">
            <a:spAutoFit/>
          </a:bodyPr>
          <a:lstStyle/>
          <a:p>
            <a:r>
              <a:rPr lang="en-US" sz="2000" b="1" dirty="0">
                <a:solidFill>
                  <a:schemeClr val="tx2"/>
                </a:solidFill>
              </a:rPr>
              <a:t>Question/Gap: </a:t>
            </a:r>
            <a:endParaRPr lang="en-IE" sz="2000" b="1" dirty="0">
              <a:solidFill>
                <a:schemeClr val="tx2"/>
              </a:solidFill>
            </a:endParaRPr>
          </a:p>
        </p:txBody>
      </p:sp>
      <p:sp>
        <p:nvSpPr>
          <p:cNvPr id="19" name="TextBox 18">
            <a:extLst>
              <a:ext uri="{FF2B5EF4-FFF2-40B4-BE49-F238E27FC236}">
                <a16:creationId xmlns:a16="http://schemas.microsoft.com/office/drawing/2014/main" id="{EAA2FB2D-6EF9-27E6-B01D-1EBBD3B214DA}"/>
              </a:ext>
            </a:extLst>
          </p:cNvPr>
          <p:cNvSpPr txBox="1"/>
          <p:nvPr/>
        </p:nvSpPr>
        <p:spPr>
          <a:xfrm>
            <a:off x="208464" y="2123416"/>
            <a:ext cx="7068312" cy="400110"/>
          </a:xfrm>
          <a:prstGeom prst="rect">
            <a:avLst/>
          </a:prstGeom>
          <a:noFill/>
        </p:spPr>
        <p:txBody>
          <a:bodyPr wrap="square">
            <a:spAutoFit/>
          </a:bodyPr>
          <a:lstStyle/>
          <a:p>
            <a:r>
              <a:rPr lang="en-US" sz="2000" b="1" dirty="0">
                <a:solidFill>
                  <a:schemeClr val="tx2"/>
                </a:solidFill>
              </a:rPr>
              <a:t>Method: </a:t>
            </a:r>
            <a:endParaRPr lang="en-IE" sz="2000" b="1" dirty="0">
              <a:solidFill>
                <a:schemeClr val="tx2"/>
              </a:solidFill>
            </a:endParaRPr>
          </a:p>
        </p:txBody>
      </p:sp>
      <p:sp>
        <p:nvSpPr>
          <p:cNvPr id="20" name="TextBox 19">
            <a:extLst>
              <a:ext uri="{FF2B5EF4-FFF2-40B4-BE49-F238E27FC236}">
                <a16:creationId xmlns:a16="http://schemas.microsoft.com/office/drawing/2014/main" id="{160CCA7B-1B7F-5E90-EEBE-2D048AF4237D}"/>
              </a:ext>
            </a:extLst>
          </p:cNvPr>
          <p:cNvSpPr txBox="1"/>
          <p:nvPr/>
        </p:nvSpPr>
        <p:spPr>
          <a:xfrm>
            <a:off x="166087" y="3857481"/>
            <a:ext cx="7068312" cy="400110"/>
          </a:xfrm>
          <a:prstGeom prst="rect">
            <a:avLst/>
          </a:prstGeom>
          <a:noFill/>
        </p:spPr>
        <p:txBody>
          <a:bodyPr wrap="square">
            <a:spAutoFit/>
          </a:bodyPr>
          <a:lstStyle/>
          <a:p>
            <a:r>
              <a:rPr lang="en-US" sz="2000" b="1" dirty="0">
                <a:solidFill>
                  <a:schemeClr val="tx2"/>
                </a:solidFill>
              </a:rPr>
              <a:t>Results: </a:t>
            </a:r>
            <a:endParaRPr lang="en-IE" sz="2000" b="1" dirty="0">
              <a:solidFill>
                <a:schemeClr val="tx2"/>
              </a:solidFill>
            </a:endParaRPr>
          </a:p>
        </p:txBody>
      </p:sp>
      <p:sp>
        <p:nvSpPr>
          <p:cNvPr id="21" name="TextBox 20">
            <a:extLst>
              <a:ext uri="{FF2B5EF4-FFF2-40B4-BE49-F238E27FC236}">
                <a16:creationId xmlns:a16="http://schemas.microsoft.com/office/drawing/2014/main" id="{7C4EE4F7-8AE1-151C-7ABA-52A3DCCF6878}"/>
              </a:ext>
            </a:extLst>
          </p:cNvPr>
          <p:cNvSpPr txBox="1"/>
          <p:nvPr/>
        </p:nvSpPr>
        <p:spPr>
          <a:xfrm>
            <a:off x="260528" y="5189814"/>
            <a:ext cx="7068312" cy="400110"/>
          </a:xfrm>
          <a:prstGeom prst="rect">
            <a:avLst/>
          </a:prstGeom>
          <a:noFill/>
        </p:spPr>
        <p:txBody>
          <a:bodyPr wrap="square">
            <a:spAutoFit/>
          </a:bodyPr>
          <a:lstStyle/>
          <a:p>
            <a:r>
              <a:rPr lang="en-US" sz="2000" b="1" dirty="0">
                <a:solidFill>
                  <a:schemeClr val="tx2"/>
                </a:solidFill>
              </a:rPr>
              <a:t>Limitations: </a:t>
            </a:r>
            <a:endParaRPr lang="en-IE" sz="2000" b="1" dirty="0">
              <a:solidFill>
                <a:schemeClr val="tx2"/>
              </a:solidFill>
            </a:endParaRPr>
          </a:p>
        </p:txBody>
      </p:sp>
      <p:pic>
        <p:nvPicPr>
          <p:cNvPr id="5" name="Picture 4">
            <a:extLst>
              <a:ext uri="{FF2B5EF4-FFF2-40B4-BE49-F238E27FC236}">
                <a16:creationId xmlns:a16="http://schemas.microsoft.com/office/drawing/2014/main" id="{3875BF54-815F-D1B7-21BA-8FDC93D30DD2}"/>
              </a:ext>
            </a:extLst>
          </p:cNvPr>
          <p:cNvPicPr>
            <a:picLocks noChangeAspect="1"/>
          </p:cNvPicPr>
          <p:nvPr/>
        </p:nvPicPr>
        <p:blipFill>
          <a:blip r:embed="rId2"/>
          <a:stretch>
            <a:fillRect/>
          </a:stretch>
        </p:blipFill>
        <p:spPr>
          <a:xfrm>
            <a:off x="7342480" y="778231"/>
            <a:ext cx="4363059" cy="2105319"/>
          </a:xfrm>
          <a:prstGeom prst="rect">
            <a:avLst/>
          </a:prstGeom>
        </p:spPr>
      </p:pic>
      <p:pic>
        <p:nvPicPr>
          <p:cNvPr id="12" name="Picture 11">
            <a:extLst>
              <a:ext uri="{FF2B5EF4-FFF2-40B4-BE49-F238E27FC236}">
                <a16:creationId xmlns:a16="http://schemas.microsoft.com/office/drawing/2014/main" id="{4399AC1C-83D3-1E9C-FF62-E70C3A635AFB}"/>
              </a:ext>
            </a:extLst>
          </p:cNvPr>
          <p:cNvPicPr>
            <a:picLocks noChangeAspect="1"/>
          </p:cNvPicPr>
          <p:nvPr/>
        </p:nvPicPr>
        <p:blipFill>
          <a:blip r:embed="rId3"/>
          <a:stretch>
            <a:fillRect/>
          </a:stretch>
        </p:blipFill>
        <p:spPr>
          <a:xfrm>
            <a:off x="8502140" y="3370387"/>
            <a:ext cx="2043737" cy="1774408"/>
          </a:xfrm>
          <a:prstGeom prst="rect">
            <a:avLst/>
          </a:prstGeom>
        </p:spPr>
      </p:pic>
    </p:spTree>
    <p:extLst>
      <p:ext uri="{BB962C8B-B14F-4D97-AF65-F5344CB8AC3E}">
        <p14:creationId xmlns:p14="http://schemas.microsoft.com/office/powerpoint/2010/main" val="24063229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F0EE209-C413-C82F-1D6E-D7B9B862613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F84D2A-17C5-CBD1-0460-0791A089B58A}"/>
              </a:ext>
            </a:extLst>
          </p:cNvPr>
          <p:cNvSpPr>
            <a:spLocks noGrp="1"/>
          </p:cNvSpPr>
          <p:nvPr>
            <p:ph type="title"/>
          </p:nvPr>
        </p:nvSpPr>
        <p:spPr>
          <a:xfrm>
            <a:off x="208464" y="1291149"/>
            <a:ext cx="6809289" cy="787314"/>
          </a:xfrm>
        </p:spPr>
        <p:txBody>
          <a:bodyPr>
            <a:normAutofit/>
          </a:bodyPr>
          <a:lstStyle/>
          <a:p>
            <a:r>
              <a:rPr lang="en-IE" sz="2000" dirty="0">
                <a:solidFill>
                  <a:schemeClr val="bg2">
                    <a:lumMod val="10000"/>
                  </a:schemeClr>
                </a:solidFill>
              </a:rPr>
              <a:t>Rigid arms can't stretch or coil around targets.</a:t>
            </a:r>
          </a:p>
        </p:txBody>
      </p:sp>
      <p:sp>
        <p:nvSpPr>
          <p:cNvPr id="4" name="Title 1">
            <a:extLst>
              <a:ext uri="{FF2B5EF4-FFF2-40B4-BE49-F238E27FC236}">
                <a16:creationId xmlns:a16="http://schemas.microsoft.com/office/drawing/2014/main" id="{29FEA53D-A461-335F-CE61-BDE23C1659AF}"/>
              </a:ext>
            </a:extLst>
          </p:cNvPr>
          <p:cNvSpPr txBox="1">
            <a:spLocks/>
          </p:cNvSpPr>
          <p:nvPr/>
        </p:nvSpPr>
        <p:spPr>
          <a:xfrm>
            <a:off x="145200" y="111354"/>
            <a:ext cx="9064390" cy="787314"/>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400" b="1" kern="1200">
                <a:solidFill>
                  <a:schemeClr val="bg1"/>
                </a:solidFill>
                <a:latin typeface="+mn-lt"/>
                <a:ea typeface="+mj-ea"/>
                <a:cs typeface="+mj-cs"/>
              </a:defRPr>
            </a:lvl1pPr>
          </a:lstStyle>
          <a:p>
            <a:r>
              <a:rPr lang="en-US" b="0" dirty="0">
                <a:solidFill>
                  <a:srgbClr val="002060"/>
                </a:solidFill>
              </a:rPr>
              <a:t>Literature : Gripper</a:t>
            </a:r>
          </a:p>
        </p:txBody>
      </p:sp>
      <p:sp>
        <p:nvSpPr>
          <p:cNvPr id="7" name="Title 1">
            <a:extLst>
              <a:ext uri="{FF2B5EF4-FFF2-40B4-BE49-F238E27FC236}">
                <a16:creationId xmlns:a16="http://schemas.microsoft.com/office/drawing/2014/main" id="{555BDE3F-DD85-EF7E-90AF-5526C9319A10}"/>
              </a:ext>
            </a:extLst>
          </p:cNvPr>
          <p:cNvSpPr txBox="1">
            <a:spLocks/>
          </p:cNvSpPr>
          <p:nvPr/>
        </p:nvSpPr>
        <p:spPr>
          <a:xfrm>
            <a:off x="199870" y="2551488"/>
            <a:ext cx="6100346" cy="787314"/>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3400" b="1" kern="1200">
                <a:solidFill>
                  <a:schemeClr val="bg1"/>
                </a:solidFill>
                <a:latin typeface="+mn-lt"/>
                <a:ea typeface="+mj-ea"/>
                <a:cs typeface="+mj-cs"/>
              </a:defRPr>
            </a:lvl1pPr>
          </a:lstStyle>
          <a:p>
            <a:r>
              <a:rPr lang="en-IE" sz="2000" dirty="0">
                <a:solidFill>
                  <a:schemeClr val="bg2">
                    <a:lumMod val="10000"/>
                  </a:schemeClr>
                </a:solidFill>
              </a:rPr>
              <a:t>Silicone arm + Shape Memory Alloy (SMA) cables acting as muscles.</a:t>
            </a:r>
            <a:endParaRPr lang="en-US" sz="2000" b="0" dirty="0">
              <a:solidFill>
                <a:schemeClr val="bg2">
                  <a:lumMod val="10000"/>
                </a:schemeClr>
              </a:solidFill>
            </a:endParaRPr>
          </a:p>
        </p:txBody>
      </p:sp>
      <p:sp>
        <p:nvSpPr>
          <p:cNvPr id="9" name="Title 1">
            <a:extLst>
              <a:ext uri="{FF2B5EF4-FFF2-40B4-BE49-F238E27FC236}">
                <a16:creationId xmlns:a16="http://schemas.microsoft.com/office/drawing/2014/main" id="{71B6076F-011E-0570-67CA-D51E92FE2A19}"/>
              </a:ext>
            </a:extLst>
          </p:cNvPr>
          <p:cNvSpPr txBox="1">
            <a:spLocks/>
          </p:cNvSpPr>
          <p:nvPr/>
        </p:nvSpPr>
        <p:spPr>
          <a:xfrm>
            <a:off x="166087" y="4330045"/>
            <a:ext cx="7051128" cy="787314"/>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400" b="1" kern="1200">
                <a:solidFill>
                  <a:schemeClr val="bg1"/>
                </a:solidFill>
                <a:latin typeface="+mn-lt"/>
                <a:ea typeface="+mj-ea"/>
                <a:cs typeface="+mj-cs"/>
              </a:defRPr>
            </a:lvl1pPr>
          </a:lstStyle>
          <a:p>
            <a:r>
              <a:rPr lang="en-IE" sz="2000" dirty="0">
                <a:solidFill>
                  <a:schemeClr val="bg2">
                    <a:lumMod val="10000"/>
                  </a:schemeClr>
                </a:solidFill>
              </a:rPr>
              <a:t>Bends, elongates, and squeezes exactly like a tentacle.</a:t>
            </a:r>
            <a:endParaRPr lang="en-US" sz="2000" b="0" dirty="0">
              <a:solidFill>
                <a:schemeClr val="bg2">
                  <a:lumMod val="10000"/>
                </a:schemeClr>
              </a:solidFill>
            </a:endParaRPr>
          </a:p>
        </p:txBody>
      </p:sp>
      <p:sp>
        <p:nvSpPr>
          <p:cNvPr id="10" name="Title 1">
            <a:extLst>
              <a:ext uri="{FF2B5EF4-FFF2-40B4-BE49-F238E27FC236}">
                <a16:creationId xmlns:a16="http://schemas.microsoft.com/office/drawing/2014/main" id="{4BC1DBD7-E12D-BB28-53C7-3821D316554D}"/>
              </a:ext>
            </a:extLst>
          </p:cNvPr>
          <p:cNvSpPr txBox="1">
            <a:spLocks/>
          </p:cNvSpPr>
          <p:nvPr/>
        </p:nvSpPr>
        <p:spPr>
          <a:xfrm>
            <a:off x="302903" y="5579650"/>
            <a:ext cx="6811129" cy="787314"/>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400" b="1" kern="1200">
                <a:solidFill>
                  <a:schemeClr val="bg1"/>
                </a:solidFill>
                <a:latin typeface="+mn-lt"/>
                <a:ea typeface="+mj-ea"/>
                <a:cs typeface="+mj-cs"/>
              </a:defRPr>
            </a:lvl1pPr>
          </a:lstStyle>
          <a:p>
            <a:r>
              <a:rPr lang="en-IE" sz="2000" dirty="0">
                <a:solidFill>
                  <a:schemeClr val="bg2">
                    <a:lumMod val="10000"/>
                  </a:schemeClr>
                </a:solidFill>
              </a:rPr>
              <a:t>SMA is slow (needs time to cool down), highly energy-inefficient, and lacks a textile skin.</a:t>
            </a:r>
            <a:endParaRPr lang="en-US" sz="2000" b="0" dirty="0">
              <a:solidFill>
                <a:schemeClr val="bg2">
                  <a:lumMod val="10000"/>
                </a:schemeClr>
              </a:solidFill>
            </a:endParaRPr>
          </a:p>
        </p:txBody>
      </p:sp>
      <p:sp>
        <p:nvSpPr>
          <p:cNvPr id="11" name="Title 1">
            <a:extLst>
              <a:ext uri="{FF2B5EF4-FFF2-40B4-BE49-F238E27FC236}">
                <a16:creationId xmlns:a16="http://schemas.microsoft.com/office/drawing/2014/main" id="{9449FE9A-74E0-CB6E-6196-61D7456DE0B7}"/>
              </a:ext>
            </a:extLst>
          </p:cNvPr>
          <p:cNvSpPr txBox="1">
            <a:spLocks/>
          </p:cNvSpPr>
          <p:nvPr/>
        </p:nvSpPr>
        <p:spPr>
          <a:xfrm>
            <a:off x="5043336" y="218044"/>
            <a:ext cx="6888136" cy="787314"/>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3400" b="1" kern="1200">
                <a:solidFill>
                  <a:schemeClr val="bg1"/>
                </a:solidFill>
                <a:latin typeface="+mn-lt"/>
                <a:ea typeface="+mj-ea"/>
                <a:cs typeface="+mj-cs"/>
              </a:defRPr>
            </a:lvl1pPr>
          </a:lstStyle>
          <a:p>
            <a:r>
              <a:rPr lang="en-GB" sz="1200" b="0" dirty="0">
                <a:solidFill>
                  <a:srgbClr val="002060"/>
                </a:solidFill>
              </a:rPr>
              <a:t>Design of a biomimetic robotic octopus arm</a:t>
            </a:r>
          </a:p>
          <a:p>
            <a:r>
              <a:rPr lang="en-GB" sz="1200" b="0" dirty="0">
                <a:solidFill>
                  <a:srgbClr val="002060"/>
                </a:solidFill>
              </a:rPr>
              <a:t>To cite this article: C </a:t>
            </a:r>
            <a:r>
              <a:rPr lang="en-GB" sz="1200" b="0" dirty="0" err="1">
                <a:solidFill>
                  <a:srgbClr val="002060"/>
                </a:solidFill>
              </a:rPr>
              <a:t>Laschi</a:t>
            </a:r>
            <a:r>
              <a:rPr lang="en-GB" sz="1200" b="0" dirty="0">
                <a:solidFill>
                  <a:srgbClr val="002060"/>
                </a:solidFill>
              </a:rPr>
              <a:t> et al 2009 </a:t>
            </a:r>
            <a:r>
              <a:rPr lang="en-GB" sz="1200" b="0" dirty="0" err="1">
                <a:solidFill>
                  <a:srgbClr val="002060"/>
                </a:solidFill>
              </a:rPr>
              <a:t>Bioinspir</a:t>
            </a:r>
            <a:r>
              <a:rPr lang="en-GB" sz="1200" b="0" dirty="0">
                <a:solidFill>
                  <a:srgbClr val="002060"/>
                </a:solidFill>
              </a:rPr>
              <a:t>. </a:t>
            </a:r>
            <a:r>
              <a:rPr lang="en-GB" sz="1200" b="0" dirty="0" err="1">
                <a:solidFill>
                  <a:srgbClr val="002060"/>
                </a:solidFill>
              </a:rPr>
              <a:t>Biomim</a:t>
            </a:r>
            <a:endParaRPr lang="en-GB" sz="1200" b="0" dirty="0">
              <a:solidFill>
                <a:srgbClr val="002060"/>
              </a:solidFill>
            </a:endParaRPr>
          </a:p>
        </p:txBody>
      </p:sp>
      <p:sp>
        <p:nvSpPr>
          <p:cNvPr id="18" name="TextBox 17">
            <a:extLst>
              <a:ext uri="{FF2B5EF4-FFF2-40B4-BE49-F238E27FC236}">
                <a16:creationId xmlns:a16="http://schemas.microsoft.com/office/drawing/2014/main" id="{F0559D75-FE8B-0329-4115-86DC652D537B}"/>
              </a:ext>
            </a:extLst>
          </p:cNvPr>
          <p:cNvSpPr txBox="1"/>
          <p:nvPr/>
        </p:nvSpPr>
        <p:spPr>
          <a:xfrm>
            <a:off x="260528" y="856624"/>
            <a:ext cx="7068312" cy="400110"/>
          </a:xfrm>
          <a:prstGeom prst="rect">
            <a:avLst/>
          </a:prstGeom>
          <a:noFill/>
        </p:spPr>
        <p:txBody>
          <a:bodyPr wrap="square">
            <a:spAutoFit/>
          </a:bodyPr>
          <a:lstStyle/>
          <a:p>
            <a:r>
              <a:rPr lang="en-US" sz="2000" b="1" dirty="0">
                <a:solidFill>
                  <a:schemeClr val="tx2"/>
                </a:solidFill>
              </a:rPr>
              <a:t>Question/Gap: </a:t>
            </a:r>
            <a:endParaRPr lang="en-IE" sz="2000" b="1" dirty="0">
              <a:solidFill>
                <a:schemeClr val="tx2"/>
              </a:solidFill>
            </a:endParaRPr>
          </a:p>
        </p:txBody>
      </p:sp>
      <p:sp>
        <p:nvSpPr>
          <p:cNvPr id="19" name="TextBox 18">
            <a:extLst>
              <a:ext uri="{FF2B5EF4-FFF2-40B4-BE49-F238E27FC236}">
                <a16:creationId xmlns:a16="http://schemas.microsoft.com/office/drawing/2014/main" id="{32E8DAE2-D5EE-890E-65A4-B6609231ED45}"/>
              </a:ext>
            </a:extLst>
          </p:cNvPr>
          <p:cNvSpPr txBox="1"/>
          <p:nvPr/>
        </p:nvSpPr>
        <p:spPr>
          <a:xfrm>
            <a:off x="208464" y="2123416"/>
            <a:ext cx="7068312" cy="400110"/>
          </a:xfrm>
          <a:prstGeom prst="rect">
            <a:avLst/>
          </a:prstGeom>
          <a:noFill/>
        </p:spPr>
        <p:txBody>
          <a:bodyPr wrap="square">
            <a:spAutoFit/>
          </a:bodyPr>
          <a:lstStyle/>
          <a:p>
            <a:r>
              <a:rPr lang="en-US" sz="2000" b="1" dirty="0">
                <a:solidFill>
                  <a:schemeClr val="tx2"/>
                </a:solidFill>
              </a:rPr>
              <a:t>Method: </a:t>
            </a:r>
            <a:endParaRPr lang="en-IE" sz="2000" b="1" dirty="0">
              <a:solidFill>
                <a:schemeClr val="tx2"/>
              </a:solidFill>
            </a:endParaRPr>
          </a:p>
        </p:txBody>
      </p:sp>
      <p:sp>
        <p:nvSpPr>
          <p:cNvPr id="20" name="TextBox 19">
            <a:extLst>
              <a:ext uri="{FF2B5EF4-FFF2-40B4-BE49-F238E27FC236}">
                <a16:creationId xmlns:a16="http://schemas.microsoft.com/office/drawing/2014/main" id="{5D0268FD-37C7-4F68-A99A-9C3F3D81511F}"/>
              </a:ext>
            </a:extLst>
          </p:cNvPr>
          <p:cNvSpPr txBox="1"/>
          <p:nvPr/>
        </p:nvSpPr>
        <p:spPr>
          <a:xfrm>
            <a:off x="166087" y="3857481"/>
            <a:ext cx="7068312" cy="400110"/>
          </a:xfrm>
          <a:prstGeom prst="rect">
            <a:avLst/>
          </a:prstGeom>
          <a:noFill/>
        </p:spPr>
        <p:txBody>
          <a:bodyPr wrap="square">
            <a:spAutoFit/>
          </a:bodyPr>
          <a:lstStyle/>
          <a:p>
            <a:r>
              <a:rPr lang="en-US" sz="2000" b="1" dirty="0">
                <a:solidFill>
                  <a:schemeClr val="tx2"/>
                </a:solidFill>
              </a:rPr>
              <a:t>Results: </a:t>
            </a:r>
            <a:endParaRPr lang="en-IE" sz="2000" b="1" dirty="0">
              <a:solidFill>
                <a:schemeClr val="tx2"/>
              </a:solidFill>
            </a:endParaRPr>
          </a:p>
        </p:txBody>
      </p:sp>
      <p:sp>
        <p:nvSpPr>
          <p:cNvPr id="21" name="TextBox 20">
            <a:extLst>
              <a:ext uri="{FF2B5EF4-FFF2-40B4-BE49-F238E27FC236}">
                <a16:creationId xmlns:a16="http://schemas.microsoft.com/office/drawing/2014/main" id="{E54996B7-C960-382D-3996-9BBCC1591FE3}"/>
              </a:ext>
            </a:extLst>
          </p:cNvPr>
          <p:cNvSpPr txBox="1"/>
          <p:nvPr/>
        </p:nvSpPr>
        <p:spPr>
          <a:xfrm>
            <a:off x="260528" y="5189814"/>
            <a:ext cx="7068312" cy="400110"/>
          </a:xfrm>
          <a:prstGeom prst="rect">
            <a:avLst/>
          </a:prstGeom>
          <a:noFill/>
        </p:spPr>
        <p:txBody>
          <a:bodyPr wrap="square">
            <a:spAutoFit/>
          </a:bodyPr>
          <a:lstStyle/>
          <a:p>
            <a:r>
              <a:rPr lang="en-US" sz="2000" b="1" dirty="0">
                <a:solidFill>
                  <a:schemeClr val="tx2"/>
                </a:solidFill>
              </a:rPr>
              <a:t>Limitations: </a:t>
            </a:r>
            <a:endParaRPr lang="en-IE" sz="2000" b="1" dirty="0">
              <a:solidFill>
                <a:schemeClr val="tx2"/>
              </a:solidFill>
            </a:endParaRPr>
          </a:p>
        </p:txBody>
      </p:sp>
      <p:pic>
        <p:nvPicPr>
          <p:cNvPr id="6" name="Picture 5">
            <a:extLst>
              <a:ext uri="{FF2B5EF4-FFF2-40B4-BE49-F238E27FC236}">
                <a16:creationId xmlns:a16="http://schemas.microsoft.com/office/drawing/2014/main" id="{234B43A2-75FB-E055-ABCE-50CDD46BF4B7}"/>
              </a:ext>
            </a:extLst>
          </p:cNvPr>
          <p:cNvPicPr>
            <a:picLocks noChangeAspect="1"/>
          </p:cNvPicPr>
          <p:nvPr/>
        </p:nvPicPr>
        <p:blipFill>
          <a:blip r:embed="rId2"/>
          <a:stretch>
            <a:fillRect/>
          </a:stretch>
        </p:blipFill>
        <p:spPr>
          <a:xfrm>
            <a:off x="6580415" y="1514141"/>
            <a:ext cx="5411715" cy="4029282"/>
          </a:xfrm>
          <a:prstGeom prst="rect">
            <a:avLst/>
          </a:prstGeom>
        </p:spPr>
      </p:pic>
    </p:spTree>
    <p:extLst>
      <p:ext uri="{BB962C8B-B14F-4D97-AF65-F5344CB8AC3E}">
        <p14:creationId xmlns:p14="http://schemas.microsoft.com/office/powerpoint/2010/main" val="20816166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A3AD096-9385-ACC4-118A-39D93957AF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A4B0CA-2816-D2A6-1B51-EF73D6D9D41B}"/>
              </a:ext>
            </a:extLst>
          </p:cNvPr>
          <p:cNvSpPr>
            <a:spLocks noGrp="1"/>
          </p:cNvSpPr>
          <p:nvPr>
            <p:ph type="title"/>
          </p:nvPr>
        </p:nvSpPr>
        <p:spPr>
          <a:xfrm>
            <a:off x="208464" y="1291149"/>
            <a:ext cx="6809289" cy="787314"/>
          </a:xfrm>
        </p:spPr>
        <p:txBody>
          <a:bodyPr>
            <a:normAutofit/>
          </a:bodyPr>
          <a:lstStyle/>
          <a:p>
            <a:r>
              <a:rPr lang="en-IE" sz="2000" dirty="0">
                <a:solidFill>
                  <a:schemeClr val="bg2">
                    <a:lumMod val="10000"/>
                  </a:schemeClr>
                </a:solidFill>
              </a:rPr>
              <a:t>Standard soft grippers lift very little weight.</a:t>
            </a:r>
          </a:p>
        </p:txBody>
      </p:sp>
      <p:sp>
        <p:nvSpPr>
          <p:cNvPr id="4" name="Title 1">
            <a:extLst>
              <a:ext uri="{FF2B5EF4-FFF2-40B4-BE49-F238E27FC236}">
                <a16:creationId xmlns:a16="http://schemas.microsoft.com/office/drawing/2014/main" id="{3C7791EE-81B3-B68D-7A01-C1ED4E45584B}"/>
              </a:ext>
            </a:extLst>
          </p:cNvPr>
          <p:cNvSpPr txBox="1">
            <a:spLocks/>
          </p:cNvSpPr>
          <p:nvPr/>
        </p:nvSpPr>
        <p:spPr>
          <a:xfrm>
            <a:off x="145200" y="111354"/>
            <a:ext cx="9064390" cy="787314"/>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400" b="1" kern="1200">
                <a:solidFill>
                  <a:schemeClr val="bg1"/>
                </a:solidFill>
                <a:latin typeface="+mn-lt"/>
                <a:ea typeface="+mj-ea"/>
                <a:cs typeface="+mj-cs"/>
              </a:defRPr>
            </a:lvl1pPr>
          </a:lstStyle>
          <a:p>
            <a:r>
              <a:rPr lang="en-US" b="0" dirty="0">
                <a:solidFill>
                  <a:srgbClr val="002060"/>
                </a:solidFill>
              </a:rPr>
              <a:t>Literature : Gripper</a:t>
            </a:r>
          </a:p>
        </p:txBody>
      </p:sp>
      <p:sp>
        <p:nvSpPr>
          <p:cNvPr id="7" name="Title 1">
            <a:extLst>
              <a:ext uri="{FF2B5EF4-FFF2-40B4-BE49-F238E27FC236}">
                <a16:creationId xmlns:a16="http://schemas.microsoft.com/office/drawing/2014/main" id="{30FC01AF-CD68-6680-1638-E7EC913EB677}"/>
              </a:ext>
            </a:extLst>
          </p:cNvPr>
          <p:cNvSpPr txBox="1">
            <a:spLocks/>
          </p:cNvSpPr>
          <p:nvPr/>
        </p:nvSpPr>
        <p:spPr>
          <a:xfrm>
            <a:off x="199870" y="2551488"/>
            <a:ext cx="7380700" cy="787314"/>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3400" b="1" kern="1200">
                <a:solidFill>
                  <a:schemeClr val="bg1"/>
                </a:solidFill>
                <a:latin typeface="+mn-lt"/>
                <a:ea typeface="+mj-ea"/>
                <a:cs typeface="+mj-cs"/>
              </a:defRPr>
            </a:lvl1pPr>
          </a:lstStyle>
          <a:p>
            <a:r>
              <a:rPr lang="en-IE" sz="2000" dirty="0">
                <a:solidFill>
                  <a:schemeClr val="bg2">
                    <a:lumMod val="10000"/>
                  </a:schemeClr>
                </a:solidFill>
              </a:rPr>
              <a:t>Pneumatic tube that coils around itself like a vine (winding).</a:t>
            </a:r>
            <a:endParaRPr lang="en-US" sz="2000" b="0" dirty="0">
              <a:solidFill>
                <a:schemeClr val="bg2">
                  <a:lumMod val="10000"/>
                </a:schemeClr>
              </a:solidFill>
            </a:endParaRPr>
          </a:p>
        </p:txBody>
      </p:sp>
      <p:sp>
        <p:nvSpPr>
          <p:cNvPr id="9" name="Title 1">
            <a:extLst>
              <a:ext uri="{FF2B5EF4-FFF2-40B4-BE49-F238E27FC236}">
                <a16:creationId xmlns:a16="http://schemas.microsoft.com/office/drawing/2014/main" id="{D3457228-F232-7926-5784-31379D76F2BE}"/>
              </a:ext>
            </a:extLst>
          </p:cNvPr>
          <p:cNvSpPr txBox="1">
            <a:spLocks/>
          </p:cNvSpPr>
          <p:nvPr/>
        </p:nvSpPr>
        <p:spPr>
          <a:xfrm>
            <a:off x="166087" y="4319311"/>
            <a:ext cx="6237312" cy="787314"/>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400" b="1" kern="1200">
                <a:solidFill>
                  <a:schemeClr val="bg1"/>
                </a:solidFill>
                <a:latin typeface="+mn-lt"/>
                <a:ea typeface="+mj-ea"/>
                <a:cs typeface="+mj-cs"/>
              </a:defRPr>
            </a:lvl1pPr>
          </a:lstStyle>
          <a:p>
            <a:r>
              <a:rPr lang="en-IE" sz="2000" dirty="0">
                <a:solidFill>
                  <a:schemeClr val="bg2">
                    <a:lumMod val="10000"/>
                  </a:schemeClr>
                </a:solidFill>
              </a:rPr>
              <a:t>Multiple loops massively increase the contact area and stability for heavy loads.</a:t>
            </a:r>
            <a:endParaRPr lang="en-US" sz="2000" b="0" dirty="0">
              <a:solidFill>
                <a:schemeClr val="bg2">
                  <a:lumMod val="10000"/>
                </a:schemeClr>
              </a:solidFill>
            </a:endParaRPr>
          </a:p>
        </p:txBody>
      </p:sp>
      <p:sp>
        <p:nvSpPr>
          <p:cNvPr id="10" name="Title 1">
            <a:extLst>
              <a:ext uri="{FF2B5EF4-FFF2-40B4-BE49-F238E27FC236}">
                <a16:creationId xmlns:a16="http://schemas.microsoft.com/office/drawing/2014/main" id="{DA7C7F68-5841-8750-6F14-053DCB654345}"/>
              </a:ext>
            </a:extLst>
          </p:cNvPr>
          <p:cNvSpPr txBox="1">
            <a:spLocks/>
          </p:cNvSpPr>
          <p:nvPr/>
        </p:nvSpPr>
        <p:spPr>
          <a:xfrm>
            <a:off x="145200" y="5579650"/>
            <a:ext cx="6776808" cy="787314"/>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400" b="1" kern="1200">
                <a:solidFill>
                  <a:schemeClr val="bg1"/>
                </a:solidFill>
                <a:latin typeface="+mn-lt"/>
                <a:ea typeface="+mj-ea"/>
                <a:cs typeface="+mj-cs"/>
              </a:defRPr>
            </a:lvl1pPr>
          </a:lstStyle>
          <a:p>
            <a:r>
              <a:rPr lang="en-IE" sz="2000" dirty="0">
                <a:solidFill>
                  <a:schemeClr val="bg2">
                    <a:lumMod val="10000"/>
                  </a:schemeClr>
                </a:solidFill>
              </a:rPr>
              <a:t>Needs continuous air supply to hold. No closed-loop control via sensors.</a:t>
            </a:r>
            <a:endParaRPr lang="en-US" sz="2000" b="0" dirty="0">
              <a:solidFill>
                <a:schemeClr val="bg2">
                  <a:lumMod val="10000"/>
                </a:schemeClr>
              </a:solidFill>
            </a:endParaRPr>
          </a:p>
        </p:txBody>
      </p:sp>
      <p:sp>
        <p:nvSpPr>
          <p:cNvPr id="11" name="Title 1">
            <a:extLst>
              <a:ext uri="{FF2B5EF4-FFF2-40B4-BE49-F238E27FC236}">
                <a16:creationId xmlns:a16="http://schemas.microsoft.com/office/drawing/2014/main" id="{857414FC-9718-C9FE-D517-2A33779FAA0B}"/>
              </a:ext>
            </a:extLst>
          </p:cNvPr>
          <p:cNvSpPr txBox="1">
            <a:spLocks/>
          </p:cNvSpPr>
          <p:nvPr/>
        </p:nvSpPr>
        <p:spPr>
          <a:xfrm>
            <a:off x="5043336" y="218044"/>
            <a:ext cx="6888136" cy="787314"/>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3400" b="1" kern="1200">
                <a:solidFill>
                  <a:schemeClr val="bg1"/>
                </a:solidFill>
                <a:latin typeface="+mn-lt"/>
                <a:ea typeface="+mj-ea"/>
                <a:cs typeface="+mj-cs"/>
              </a:defRPr>
            </a:lvl1pPr>
          </a:lstStyle>
          <a:p>
            <a:r>
              <a:rPr lang="en-GB" sz="1200" b="0" dirty="0">
                <a:solidFill>
                  <a:srgbClr val="002060"/>
                </a:solidFill>
              </a:rPr>
              <a:t>Design and </a:t>
            </a:r>
            <a:r>
              <a:rPr lang="en-GB" sz="1200" b="0" dirty="0" err="1">
                <a:solidFill>
                  <a:srgbClr val="002060"/>
                </a:solidFill>
              </a:rPr>
              <a:t>modeling</a:t>
            </a:r>
            <a:r>
              <a:rPr lang="en-GB" sz="1200" b="0" dirty="0">
                <a:solidFill>
                  <a:srgbClr val="002060"/>
                </a:solidFill>
              </a:rPr>
              <a:t> of a high-load soft robotic</a:t>
            </a:r>
          </a:p>
          <a:p>
            <a:r>
              <a:rPr lang="en-GB" sz="1200" b="0" dirty="0">
                <a:solidFill>
                  <a:srgbClr val="002060"/>
                </a:solidFill>
              </a:rPr>
              <a:t>gripper inspired by biological winding*</a:t>
            </a:r>
          </a:p>
          <a:p>
            <a:r>
              <a:rPr lang="en-GB" sz="1200" b="0" dirty="0">
                <a:solidFill>
                  <a:srgbClr val="002060"/>
                </a:solidFill>
              </a:rPr>
              <a:t>Haili Li et al 2020 </a:t>
            </a:r>
            <a:r>
              <a:rPr lang="en-GB" sz="1200" b="0" dirty="0" err="1">
                <a:solidFill>
                  <a:srgbClr val="002060"/>
                </a:solidFill>
              </a:rPr>
              <a:t>Bioinspir</a:t>
            </a:r>
            <a:r>
              <a:rPr lang="en-GB" sz="1200" b="0" dirty="0">
                <a:solidFill>
                  <a:srgbClr val="002060"/>
                </a:solidFill>
              </a:rPr>
              <a:t>. </a:t>
            </a:r>
            <a:r>
              <a:rPr lang="en-GB" sz="1200" b="0" dirty="0" err="1">
                <a:solidFill>
                  <a:srgbClr val="002060"/>
                </a:solidFill>
              </a:rPr>
              <a:t>Biomim</a:t>
            </a:r>
            <a:endParaRPr lang="en-GB" sz="1200" b="0" dirty="0">
              <a:solidFill>
                <a:srgbClr val="002060"/>
              </a:solidFill>
            </a:endParaRPr>
          </a:p>
        </p:txBody>
      </p:sp>
      <p:sp>
        <p:nvSpPr>
          <p:cNvPr id="18" name="TextBox 17">
            <a:extLst>
              <a:ext uri="{FF2B5EF4-FFF2-40B4-BE49-F238E27FC236}">
                <a16:creationId xmlns:a16="http://schemas.microsoft.com/office/drawing/2014/main" id="{9152C5CC-A5FF-4A5A-637D-6E66C76EE508}"/>
              </a:ext>
            </a:extLst>
          </p:cNvPr>
          <p:cNvSpPr txBox="1"/>
          <p:nvPr/>
        </p:nvSpPr>
        <p:spPr>
          <a:xfrm>
            <a:off x="260528" y="856624"/>
            <a:ext cx="7068312" cy="400110"/>
          </a:xfrm>
          <a:prstGeom prst="rect">
            <a:avLst/>
          </a:prstGeom>
          <a:noFill/>
        </p:spPr>
        <p:txBody>
          <a:bodyPr wrap="square">
            <a:spAutoFit/>
          </a:bodyPr>
          <a:lstStyle/>
          <a:p>
            <a:r>
              <a:rPr lang="en-US" sz="2000" b="1" dirty="0">
                <a:solidFill>
                  <a:schemeClr val="tx2"/>
                </a:solidFill>
              </a:rPr>
              <a:t>Question/Gap: </a:t>
            </a:r>
            <a:endParaRPr lang="en-IE" sz="2000" b="1" dirty="0">
              <a:solidFill>
                <a:schemeClr val="tx2"/>
              </a:solidFill>
            </a:endParaRPr>
          </a:p>
        </p:txBody>
      </p:sp>
      <p:sp>
        <p:nvSpPr>
          <p:cNvPr id="19" name="TextBox 18">
            <a:extLst>
              <a:ext uri="{FF2B5EF4-FFF2-40B4-BE49-F238E27FC236}">
                <a16:creationId xmlns:a16="http://schemas.microsoft.com/office/drawing/2014/main" id="{4529B313-6AB8-0D8B-77E3-7898A0A56747}"/>
              </a:ext>
            </a:extLst>
          </p:cNvPr>
          <p:cNvSpPr txBox="1"/>
          <p:nvPr/>
        </p:nvSpPr>
        <p:spPr>
          <a:xfrm>
            <a:off x="208464" y="2123416"/>
            <a:ext cx="7068312" cy="400110"/>
          </a:xfrm>
          <a:prstGeom prst="rect">
            <a:avLst/>
          </a:prstGeom>
          <a:noFill/>
        </p:spPr>
        <p:txBody>
          <a:bodyPr wrap="square">
            <a:spAutoFit/>
          </a:bodyPr>
          <a:lstStyle/>
          <a:p>
            <a:r>
              <a:rPr lang="en-US" sz="2000" b="1" dirty="0">
                <a:solidFill>
                  <a:schemeClr val="tx2"/>
                </a:solidFill>
              </a:rPr>
              <a:t>Method: </a:t>
            </a:r>
            <a:endParaRPr lang="en-IE" sz="2000" b="1" dirty="0">
              <a:solidFill>
                <a:schemeClr val="tx2"/>
              </a:solidFill>
            </a:endParaRPr>
          </a:p>
        </p:txBody>
      </p:sp>
      <p:sp>
        <p:nvSpPr>
          <p:cNvPr id="20" name="TextBox 19">
            <a:extLst>
              <a:ext uri="{FF2B5EF4-FFF2-40B4-BE49-F238E27FC236}">
                <a16:creationId xmlns:a16="http://schemas.microsoft.com/office/drawing/2014/main" id="{2B3CFDE6-A4E5-CF62-1B93-A4D95A29927D}"/>
              </a:ext>
            </a:extLst>
          </p:cNvPr>
          <p:cNvSpPr txBox="1"/>
          <p:nvPr/>
        </p:nvSpPr>
        <p:spPr>
          <a:xfrm>
            <a:off x="166087" y="3857481"/>
            <a:ext cx="7068312" cy="400110"/>
          </a:xfrm>
          <a:prstGeom prst="rect">
            <a:avLst/>
          </a:prstGeom>
          <a:noFill/>
        </p:spPr>
        <p:txBody>
          <a:bodyPr wrap="square">
            <a:spAutoFit/>
          </a:bodyPr>
          <a:lstStyle/>
          <a:p>
            <a:r>
              <a:rPr lang="en-US" sz="2000" b="1" dirty="0">
                <a:solidFill>
                  <a:schemeClr val="tx2"/>
                </a:solidFill>
              </a:rPr>
              <a:t>Results: </a:t>
            </a:r>
            <a:endParaRPr lang="en-IE" sz="2000" b="1" dirty="0">
              <a:solidFill>
                <a:schemeClr val="tx2"/>
              </a:solidFill>
            </a:endParaRPr>
          </a:p>
        </p:txBody>
      </p:sp>
      <p:sp>
        <p:nvSpPr>
          <p:cNvPr id="21" name="TextBox 20">
            <a:extLst>
              <a:ext uri="{FF2B5EF4-FFF2-40B4-BE49-F238E27FC236}">
                <a16:creationId xmlns:a16="http://schemas.microsoft.com/office/drawing/2014/main" id="{028F23B8-DBB3-EE83-B0EB-3C3AA48631ED}"/>
              </a:ext>
            </a:extLst>
          </p:cNvPr>
          <p:cNvSpPr txBox="1"/>
          <p:nvPr/>
        </p:nvSpPr>
        <p:spPr>
          <a:xfrm>
            <a:off x="145200" y="5189814"/>
            <a:ext cx="7068312" cy="400110"/>
          </a:xfrm>
          <a:prstGeom prst="rect">
            <a:avLst/>
          </a:prstGeom>
          <a:noFill/>
        </p:spPr>
        <p:txBody>
          <a:bodyPr wrap="square">
            <a:spAutoFit/>
          </a:bodyPr>
          <a:lstStyle/>
          <a:p>
            <a:r>
              <a:rPr lang="en-US" sz="2000" b="1" dirty="0">
                <a:solidFill>
                  <a:schemeClr val="tx2"/>
                </a:solidFill>
              </a:rPr>
              <a:t>Limitations: </a:t>
            </a:r>
            <a:endParaRPr lang="en-IE" sz="2000" b="1" dirty="0">
              <a:solidFill>
                <a:schemeClr val="tx2"/>
              </a:solidFill>
            </a:endParaRPr>
          </a:p>
        </p:txBody>
      </p:sp>
      <p:pic>
        <p:nvPicPr>
          <p:cNvPr id="5" name="Picture 4">
            <a:extLst>
              <a:ext uri="{FF2B5EF4-FFF2-40B4-BE49-F238E27FC236}">
                <a16:creationId xmlns:a16="http://schemas.microsoft.com/office/drawing/2014/main" id="{EC60DB4F-128E-D7E7-A49B-6016F8ADA394}"/>
              </a:ext>
            </a:extLst>
          </p:cNvPr>
          <p:cNvPicPr>
            <a:picLocks noChangeAspect="1"/>
          </p:cNvPicPr>
          <p:nvPr/>
        </p:nvPicPr>
        <p:blipFill>
          <a:blip r:embed="rId2"/>
          <a:stretch>
            <a:fillRect/>
          </a:stretch>
        </p:blipFill>
        <p:spPr>
          <a:xfrm>
            <a:off x="8638253" y="22579"/>
            <a:ext cx="3277635" cy="2376467"/>
          </a:xfrm>
          <a:prstGeom prst="rect">
            <a:avLst/>
          </a:prstGeom>
        </p:spPr>
      </p:pic>
      <p:pic>
        <p:nvPicPr>
          <p:cNvPr id="12" name="Picture 11">
            <a:extLst>
              <a:ext uri="{FF2B5EF4-FFF2-40B4-BE49-F238E27FC236}">
                <a16:creationId xmlns:a16="http://schemas.microsoft.com/office/drawing/2014/main" id="{5CEFE948-4141-DCD5-80F8-27D370CACF4B}"/>
              </a:ext>
            </a:extLst>
          </p:cNvPr>
          <p:cNvPicPr>
            <a:picLocks noChangeAspect="1"/>
          </p:cNvPicPr>
          <p:nvPr/>
        </p:nvPicPr>
        <p:blipFill>
          <a:blip r:embed="rId3"/>
          <a:stretch>
            <a:fillRect/>
          </a:stretch>
        </p:blipFill>
        <p:spPr>
          <a:xfrm>
            <a:off x="7305389" y="2399046"/>
            <a:ext cx="4114687" cy="1958479"/>
          </a:xfrm>
          <a:prstGeom prst="rect">
            <a:avLst/>
          </a:prstGeom>
        </p:spPr>
      </p:pic>
      <p:pic>
        <p:nvPicPr>
          <p:cNvPr id="14" name="Picture 13">
            <a:extLst>
              <a:ext uri="{FF2B5EF4-FFF2-40B4-BE49-F238E27FC236}">
                <a16:creationId xmlns:a16="http://schemas.microsoft.com/office/drawing/2014/main" id="{E22A7D8B-A6F7-FC15-F427-18C5DA42B68D}"/>
              </a:ext>
            </a:extLst>
          </p:cNvPr>
          <p:cNvPicPr>
            <a:picLocks noChangeAspect="1"/>
          </p:cNvPicPr>
          <p:nvPr/>
        </p:nvPicPr>
        <p:blipFill>
          <a:blip r:embed="rId4"/>
          <a:stretch>
            <a:fillRect/>
          </a:stretch>
        </p:blipFill>
        <p:spPr>
          <a:xfrm>
            <a:off x="7123177" y="4357525"/>
            <a:ext cx="4479112" cy="2435451"/>
          </a:xfrm>
          <a:prstGeom prst="rect">
            <a:avLst/>
          </a:prstGeom>
        </p:spPr>
      </p:pic>
    </p:spTree>
    <p:extLst>
      <p:ext uri="{BB962C8B-B14F-4D97-AF65-F5344CB8AC3E}">
        <p14:creationId xmlns:p14="http://schemas.microsoft.com/office/powerpoint/2010/main" val="26854937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0A295B4-452E-9BA1-C6D9-AC507ACD405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563CA2-56C2-7C07-D557-9A1D7B67BB1E}"/>
              </a:ext>
            </a:extLst>
          </p:cNvPr>
          <p:cNvSpPr>
            <a:spLocks noGrp="1"/>
          </p:cNvSpPr>
          <p:nvPr>
            <p:ph type="title"/>
          </p:nvPr>
        </p:nvSpPr>
        <p:spPr>
          <a:xfrm>
            <a:off x="208464" y="1291149"/>
            <a:ext cx="6809289" cy="787314"/>
          </a:xfrm>
        </p:spPr>
        <p:txBody>
          <a:bodyPr>
            <a:normAutofit/>
          </a:bodyPr>
          <a:lstStyle/>
          <a:p>
            <a:r>
              <a:rPr lang="en-IE" sz="2000" dirty="0">
                <a:solidFill>
                  <a:schemeClr val="bg2">
                    <a:lumMod val="10000"/>
                  </a:schemeClr>
                </a:solidFill>
              </a:rPr>
              <a:t>Changing the stiffness of a soft gripper usually requires heavy external power supplies.</a:t>
            </a:r>
          </a:p>
        </p:txBody>
      </p:sp>
      <p:sp>
        <p:nvSpPr>
          <p:cNvPr id="4" name="Title 1">
            <a:extLst>
              <a:ext uri="{FF2B5EF4-FFF2-40B4-BE49-F238E27FC236}">
                <a16:creationId xmlns:a16="http://schemas.microsoft.com/office/drawing/2014/main" id="{A10B89EC-785F-6F2D-8A8D-7A9AEE8E5DDD}"/>
              </a:ext>
            </a:extLst>
          </p:cNvPr>
          <p:cNvSpPr txBox="1">
            <a:spLocks/>
          </p:cNvSpPr>
          <p:nvPr/>
        </p:nvSpPr>
        <p:spPr>
          <a:xfrm>
            <a:off x="145200" y="111354"/>
            <a:ext cx="9064390" cy="787314"/>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400" b="1" kern="1200">
                <a:solidFill>
                  <a:schemeClr val="bg1"/>
                </a:solidFill>
                <a:latin typeface="+mn-lt"/>
                <a:ea typeface="+mj-ea"/>
                <a:cs typeface="+mj-cs"/>
              </a:defRPr>
            </a:lvl1pPr>
          </a:lstStyle>
          <a:p>
            <a:r>
              <a:rPr lang="en-US" b="0" dirty="0">
                <a:solidFill>
                  <a:srgbClr val="002060"/>
                </a:solidFill>
              </a:rPr>
              <a:t>Literature : Gripper</a:t>
            </a:r>
          </a:p>
        </p:txBody>
      </p:sp>
      <p:sp>
        <p:nvSpPr>
          <p:cNvPr id="7" name="Title 1">
            <a:extLst>
              <a:ext uri="{FF2B5EF4-FFF2-40B4-BE49-F238E27FC236}">
                <a16:creationId xmlns:a16="http://schemas.microsoft.com/office/drawing/2014/main" id="{0F93E876-A1F8-AD79-EFCE-26C34E995FE0}"/>
              </a:ext>
            </a:extLst>
          </p:cNvPr>
          <p:cNvSpPr txBox="1">
            <a:spLocks/>
          </p:cNvSpPr>
          <p:nvPr/>
        </p:nvSpPr>
        <p:spPr>
          <a:xfrm>
            <a:off x="199870" y="2551488"/>
            <a:ext cx="7380700" cy="787314"/>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3400" b="1" kern="1200">
                <a:solidFill>
                  <a:schemeClr val="bg1"/>
                </a:solidFill>
                <a:latin typeface="+mn-lt"/>
                <a:ea typeface="+mj-ea"/>
                <a:cs typeface="+mj-cs"/>
              </a:defRPr>
            </a:lvl1pPr>
          </a:lstStyle>
          <a:p>
            <a:r>
              <a:rPr lang="en-IE" sz="2000" dirty="0">
                <a:solidFill>
                  <a:schemeClr val="bg2">
                    <a:lumMod val="10000"/>
                  </a:schemeClr>
                </a:solidFill>
              </a:rPr>
              <a:t>Finger using reversible Layer Jamming, triggered purely by the physical impact against the object.</a:t>
            </a:r>
            <a:endParaRPr lang="en-US" sz="2000" b="0" dirty="0">
              <a:solidFill>
                <a:schemeClr val="bg2">
                  <a:lumMod val="10000"/>
                </a:schemeClr>
              </a:solidFill>
            </a:endParaRPr>
          </a:p>
        </p:txBody>
      </p:sp>
      <p:sp>
        <p:nvSpPr>
          <p:cNvPr id="9" name="Title 1">
            <a:extLst>
              <a:ext uri="{FF2B5EF4-FFF2-40B4-BE49-F238E27FC236}">
                <a16:creationId xmlns:a16="http://schemas.microsoft.com/office/drawing/2014/main" id="{F1DC6284-F181-33AC-C7AD-C9D7D8E04250}"/>
              </a:ext>
            </a:extLst>
          </p:cNvPr>
          <p:cNvSpPr txBox="1">
            <a:spLocks/>
          </p:cNvSpPr>
          <p:nvPr/>
        </p:nvSpPr>
        <p:spPr>
          <a:xfrm>
            <a:off x="145200" y="4319311"/>
            <a:ext cx="7051128" cy="787314"/>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400" b="1" kern="1200">
                <a:solidFill>
                  <a:schemeClr val="bg1"/>
                </a:solidFill>
                <a:latin typeface="+mn-lt"/>
                <a:ea typeface="+mj-ea"/>
                <a:cs typeface="+mj-cs"/>
              </a:defRPr>
            </a:lvl1pPr>
          </a:lstStyle>
          <a:p>
            <a:r>
              <a:rPr lang="en-IE" sz="2000" dirty="0">
                <a:solidFill>
                  <a:schemeClr val="bg2">
                    <a:lumMod val="10000"/>
                  </a:schemeClr>
                </a:solidFill>
              </a:rPr>
              <a:t>Becomes mechanically rigid upon impact, consuming 0 watts.</a:t>
            </a:r>
            <a:endParaRPr lang="en-US" sz="2000" b="0" dirty="0">
              <a:solidFill>
                <a:schemeClr val="bg2">
                  <a:lumMod val="10000"/>
                </a:schemeClr>
              </a:solidFill>
            </a:endParaRPr>
          </a:p>
        </p:txBody>
      </p:sp>
      <p:sp>
        <p:nvSpPr>
          <p:cNvPr id="10" name="Title 1">
            <a:extLst>
              <a:ext uri="{FF2B5EF4-FFF2-40B4-BE49-F238E27FC236}">
                <a16:creationId xmlns:a16="http://schemas.microsoft.com/office/drawing/2014/main" id="{9E5B48C9-7096-92F7-E6BC-05ABB3D3D015}"/>
              </a:ext>
            </a:extLst>
          </p:cNvPr>
          <p:cNvSpPr txBox="1">
            <a:spLocks/>
          </p:cNvSpPr>
          <p:nvPr/>
        </p:nvSpPr>
        <p:spPr>
          <a:xfrm>
            <a:off x="145200" y="5564302"/>
            <a:ext cx="7380700" cy="787314"/>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400" b="1" kern="1200">
                <a:solidFill>
                  <a:schemeClr val="bg1"/>
                </a:solidFill>
                <a:latin typeface="+mn-lt"/>
                <a:ea typeface="+mj-ea"/>
                <a:cs typeface="+mj-cs"/>
              </a:defRPr>
            </a:lvl1pPr>
          </a:lstStyle>
          <a:p>
            <a:r>
              <a:rPr lang="en-IE" sz="2000" dirty="0">
                <a:solidFill>
                  <a:schemeClr val="bg2">
                    <a:lumMod val="10000"/>
                  </a:schemeClr>
                </a:solidFill>
              </a:rPr>
              <a:t>Extremely hard to tune the exact stiffness level. Zero electronic force skin.</a:t>
            </a:r>
            <a:endParaRPr lang="en-US" sz="2000" b="0" dirty="0">
              <a:solidFill>
                <a:schemeClr val="bg2">
                  <a:lumMod val="10000"/>
                </a:schemeClr>
              </a:solidFill>
            </a:endParaRPr>
          </a:p>
        </p:txBody>
      </p:sp>
      <p:sp>
        <p:nvSpPr>
          <p:cNvPr id="11" name="Title 1">
            <a:extLst>
              <a:ext uri="{FF2B5EF4-FFF2-40B4-BE49-F238E27FC236}">
                <a16:creationId xmlns:a16="http://schemas.microsoft.com/office/drawing/2014/main" id="{AD5D2946-7C0C-82D1-D37E-CD2B2D139F40}"/>
              </a:ext>
            </a:extLst>
          </p:cNvPr>
          <p:cNvSpPr txBox="1">
            <a:spLocks/>
          </p:cNvSpPr>
          <p:nvPr/>
        </p:nvSpPr>
        <p:spPr>
          <a:xfrm>
            <a:off x="5043336" y="218044"/>
            <a:ext cx="6888136" cy="787314"/>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3400" b="1" kern="1200">
                <a:solidFill>
                  <a:schemeClr val="bg1"/>
                </a:solidFill>
                <a:latin typeface="+mn-lt"/>
                <a:ea typeface="+mj-ea"/>
                <a:cs typeface="+mj-cs"/>
              </a:defRPr>
            </a:lvl1pPr>
          </a:lstStyle>
          <a:p>
            <a:r>
              <a:rPr lang="en-GB" sz="1200" b="0" dirty="0">
                <a:solidFill>
                  <a:srgbClr val="002060"/>
                </a:solidFill>
                <a:highlight>
                  <a:srgbClr val="FFFF00"/>
                </a:highlight>
              </a:rPr>
              <a:t>A novel design of a passive variable stiffness soft</a:t>
            </a:r>
          </a:p>
          <a:p>
            <a:r>
              <a:rPr lang="en-GB" sz="1200" b="0" dirty="0">
                <a:solidFill>
                  <a:srgbClr val="002060"/>
                </a:solidFill>
                <a:highlight>
                  <a:srgbClr val="FFFF00"/>
                </a:highlight>
              </a:rPr>
              <a:t>robotic gripper </a:t>
            </a:r>
            <a:r>
              <a:rPr lang="en-GB" sz="1200" b="0" dirty="0">
                <a:solidFill>
                  <a:srgbClr val="002060"/>
                </a:solidFill>
              </a:rPr>
              <a:t>Yu Shan et al 2022 </a:t>
            </a:r>
            <a:r>
              <a:rPr lang="en-GB" sz="1200" b="0" dirty="0" err="1">
                <a:solidFill>
                  <a:srgbClr val="002060"/>
                </a:solidFill>
              </a:rPr>
              <a:t>Bioinspir</a:t>
            </a:r>
            <a:r>
              <a:rPr lang="en-GB" sz="1200" b="0" dirty="0">
                <a:solidFill>
                  <a:srgbClr val="002060"/>
                </a:solidFill>
              </a:rPr>
              <a:t>. </a:t>
            </a:r>
            <a:r>
              <a:rPr lang="en-GB" sz="1200" b="0" dirty="0" err="1">
                <a:solidFill>
                  <a:srgbClr val="002060"/>
                </a:solidFill>
              </a:rPr>
              <a:t>Biomim</a:t>
            </a:r>
            <a:endParaRPr lang="en-GB" sz="1200" b="0" dirty="0">
              <a:solidFill>
                <a:srgbClr val="002060"/>
              </a:solidFill>
            </a:endParaRPr>
          </a:p>
        </p:txBody>
      </p:sp>
      <p:sp>
        <p:nvSpPr>
          <p:cNvPr id="18" name="TextBox 17">
            <a:extLst>
              <a:ext uri="{FF2B5EF4-FFF2-40B4-BE49-F238E27FC236}">
                <a16:creationId xmlns:a16="http://schemas.microsoft.com/office/drawing/2014/main" id="{1028C3BB-4BC0-4A99-1C64-777B92E9F43E}"/>
              </a:ext>
            </a:extLst>
          </p:cNvPr>
          <p:cNvSpPr txBox="1"/>
          <p:nvPr/>
        </p:nvSpPr>
        <p:spPr>
          <a:xfrm>
            <a:off x="260528" y="856624"/>
            <a:ext cx="7068312" cy="400110"/>
          </a:xfrm>
          <a:prstGeom prst="rect">
            <a:avLst/>
          </a:prstGeom>
          <a:noFill/>
        </p:spPr>
        <p:txBody>
          <a:bodyPr wrap="square">
            <a:spAutoFit/>
          </a:bodyPr>
          <a:lstStyle/>
          <a:p>
            <a:r>
              <a:rPr lang="en-US" sz="2000" b="1" dirty="0">
                <a:solidFill>
                  <a:schemeClr val="tx2"/>
                </a:solidFill>
              </a:rPr>
              <a:t>Question/Gap: </a:t>
            </a:r>
            <a:endParaRPr lang="en-IE" sz="2000" b="1" dirty="0">
              <a:solidFill>
                <a:schemeClr val="tx2"/>
              </a:solidFill>
            </a:endParaRPr>
          </a:p>
        </p:txBody>
      </p:sp>
      <p:sp>
        <p:nvSpPr>
          <p:cNvPr id="19" name="TextBox 18">
            <a:extLst>
              <a:ext uri="{FF2B5EF4-FFF2-40B4-BE49-F238E27FC236}">
                <a16:creationId xmlns:a16="http://schemas.microsoft.com/office/drawing/2014/main" id="{898CFDE5-9E2F-35A3-9CC2-BA82E0D59D2E}"/>
              </a:ext>
            </a:extLst>
          </p:cNvPr>
          <p:cNvSpPr txBox="1"/>
          <p:nvPr/>
        </p:nvSpPr>
        <p:spPr>
          <a:xfrm>
            <a:off x="208464" y="2123416"/>
            <a:ext cx="7068312" cy="400110"/>
          </a:xfrm>
          <a:prstGeom prst="rect">
            <a:avLst/>
          </a:prstGeom>
          <a:noFill/>
        </p:spPr>
        <p:txBody>
          <a:bodyPr wrap="square">
            <a:spAutoFit/>
          </a:bodyPr>
          <a:lstStyle/>
          <a:p>
            <a:r>
              <a:rPr lang="en-US" sz="2000" b="1" dirty="0">
                <a:solidFill>
                  <a:schemeClr val="tx2"/>
                </a:solidFill>
              </a:rPr>
              <a:t>Method: </a:t>
            </a:r>
            <a:endParaRPr lang="en-IE" sz="2000" b="1" dirty="0">
              <a:solidFill>
                <a:schemeClr val="tx2"/>
              </a:solidFill>
            </a:endParaRPr>
          </a:p>
        </p:txBody>
      </p:sp>
      <p:sp>
        <p:nvSpPr>
          <p:cNvPr id="20" name="TextBox 19">
            <a:extLst>
              <a:ext uri="{FF2B5EF4-FFF2-40B4-BE49-F238E27FC236}">
                <a16:creationId xmlns:a16="http://schemas.microsoft.com/office/drawing/2014/main" id="{AE7B5714-B180-0C0D-6739-F573F4FB4B09}"/>
              </a:ext>
            </a:extLst>
          </p:cNvPr>
          <p:cNvSpPr txBox="1"/>
          <p:nvPr/>
        </p:nvSpPr>
        <p:spPr>
          <a:xfrm>
            <a:off x="166087" y="3857481"/>
            <a:ext cx="7068312" cy="400110"/>
          </a:xfrm>
          <a:prstGeom prst="rect">
            <a:avLst/>
          </a:prstGeom>
          <a:noFill/>
        </p:spPr>
        <p:txBody>
          <a:bodyPr wrap="square">
            <a:spAutoFit/>
          </a:bodyPr>
          <a:lstStyle/>
          <a:p>
            <a:r>
              <a:rPr lang="en-US" sz="2000" b="1" dirty="0">
                <a:solidFill>
                  <a:schemeClr val="tx2"/>
                </a:solidFill>
              </a:rPr>
              <a:t>Results: </a:t>
            </a:r>
            <a:endParaRPr lang="en-IE" sz="2000" b="1" dirty="0">
              <a:solidFill>
                <a:schemeClr val="tx2"/>
              </a:solidFill>
            </a:endParaRPr>
          </a:p>
        </p:txBody>
      </p:sp>
      <p:sp>
        <p:nvSpPr>
          <p:cNvPr id="21" name="TextBox 20">
            <a:extLst>
              <a:ext uri="{FF2B5EF4-FFF2-40B4-BE49-F238E27FC236}">
                <a16:creationId xmlns:a16="http://schemas.microsoft.com/office/drawing/2014/main" id="{7F109F01-BCB6-3F21-79DA-7DEFDE9F5A84}"/>
              </a:ext>
            </a:extLst>
          </p:cNvPr>
          <p:cNvSpPr txBox="1"/>
          <p:nvPr/>
        </p:nvSpPr>
        <p:spPr>
          <a:xfrm>
            <a:off x="145200" y="5189814"/>
            <a:ext cx="7068312" cy="400110"/>
          </a:xfrm>
          <a:prstGeom prst="rect">
            <a:avLst/>
          </a:prstGeom>
          <a:noFill/>
        </p:spPr>
        <p:txBody>
          <a:bodyPr wrap="square">
            <a:spAutoFit/>
          </a:bodyPr>
          <a:lstStyle/>
          <a:p>
            <a:r>
              <a:rPr lang="en-US" sz="2000" b="1" dirty="0">
                <a:solidFill>
                  <a:schemeClr val="tx2"/>
                </a:solidFill>
              </a:rPr>
              <a:t>Limitations: </a:t>
            </a:r>
            <a:endParaRPr lang="en-IE" sz="2000" b="1" dirty="0">
              <a:solidFill>
                <a:schemeClr val="tx2"/>
              </a:solidFill>
            </a:endParaRPr>
          </a:p>
        </p:txBody>
      </p:sp>
      <p:pic>
        <p:nvPicPr>
          <p:cNvPr id="6" name="Picture 5">
            <a:extLst>
              <a:ext uri="{FF2B5EF4-FFF2-40B4-BE49-F238E27FC236}">
                <a16:creationId xmlns:a16="http://schemas.microsoft.com/office/drawing/2014/main" id="{A93E993F-DB60-5215-6C24-35E43F6BB31C}"/>
              </a:ext>
            </a:extLst>
          </p:cNvPr>
          <p:cNvPicPr>
            <a:picLocks noChangeAspect="1"/>
          </p:cNvPicPr>
          <p:nvPr/>
        </p:nvPicPr>
        <p:blipFill>
          <a:blip r:embed="rId2"/>
          <a:stretch>
            <a:fillRect/>
          </a:stretch>
        </p:blipFill>
        <p:spPr>
          <a:xfrm>
            <a:off x="7037933" y="795472"/>
            <a:ext cx="4762628" cy="2300317"/>
          </a:xfrm>
          <a:prstGeom prst="rect">
            <a:avLst/>
          </a:prstGeom>
        </p:spPr>
      </p:pic>
      <p:pic>
        <p:nvPicPr>
          <p:cNvPr id="13" name="Picture 12">
            <a:extLst>
              <a:ext uri="{FF2B5EF4-FFF2-40B4-BE49-F238E27FC236}">
                <a16:creationId xmlns:a16="http://schemas.microsoft.com/office/drawing/2014/main" id="{8EF15D05-F1ED-6FD8-3DEC-BDBD28ED7FD1}"/>
              </a:ext>
            </a:extLst>
          </p:cNvPr>
          <p:cNvPicPr>
            <a:picLocks noChangeAspect="1"/>
          </p:cNvPicPr>
          <p:nvPr/>
        </p:nvPicPr>
        <p:blipFill>
          <a:blip r:embed="rId3"/>
          <a:stretch>
            <a:fillRect/>
          </a:stretch>
        </p:blipFill>
        <p:spPr>
          <a:xfrm>
            <a:off x="7909560" y="3015509"/>
            <a:ext cx="3163824" cy="2376383"/>
          </a:xfrm>
          <a:prstGeom prst="rect">
            <a:avLst/>
          </a:prstGeom>
        </p:spPr>
      </p:pic>
      <p:pic>
        <p:nvPicPr>
          <p:cNvPr id="16" name="Picture 15">
            <a:extLst>
              <a:ext uri="{FF2B5EF4-FFF2-40B4-BE49-F238E27FC236}">
                <a16:creationId xmlns:a16="http://schemas.microsoft.com/office/drawing/2014/main" id="{6FDFFA42-2DB9-F6CF-3C18-8AB255687D3A}"/>
              </a:ext>
            </a:extLst>
          </p:cNvPr>
          <p:cNvPicPr>
            <a:picLocks noChangeAspect="1"/>
          </p:cNvPicPr>
          <p:nvPr/>
        </p:nvPicPr>
        <p:blipFill>
          <a:blip r:embed="rId4"/>
          <a:stretch>
            <a:fillRect/>
          </a:stretch>
        </p:blipFill>
        <p:spPr>
          <a:xfrm>
            <a:off x="6971141" y="5508940"/>
            <a:ext cx="5168215" cy="1038363"/>
          </a:xfrm>
          <a:prstGeom prst="rect">
            <a:avLst/>
          </a:prstGeom>
        </p:spPr>
      </p:pic>
    </p:spTree>
    <p:extLst>
      <p:ext uri="{BB962C8B-B14F-4D97-AF65-F5344CB8AC3E}">
        <p14:creationId xmlns:p14="http://schemas.microsoft.com/office/powerpoint/2010/main" val="947897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D1862E4-C2E1-94B0-46C0-8A29A1A28DE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76DEBC-4F6C-BF8C-C1A3-2A8E86FCC3E0}"/>
              </a:ext>
            </a:extLst>
          </p:cNvPr>
          <p:cNvSpPr>
            <a:spLocks noGrp="1"/>
          </p:cNvSpPr>
          <p:nvPr>
            <p:ph type="title"/>
          </p:nvPr>
        </p:nvSpPr>
        <p:spPr>
          <a:xfrm>
            <a:off x="208464" y="1291149"/>
            <a:ext cx="6809289" cy="787314"/>
          </a:xfrm>
        </p:spPr>
        <p:txBody>
          <a:bodyPr>
            <a:normAutofit/>
          </a:bodyPr>
          <a:lstStyle/>
          <a:p>
            <a:r>
              <a:rPr lang="en-IE" sz="2000" dirty="0">
                <a:solidFill>
                  <a:schemeClr val="bg2">
                    <a:lumMod val="10000"/>
                  </a:schemeClr>
                </a:solidFill>
              </a:rPr>
              <a:t>Pneumatics require loud, heavy external compressors.</a:t>
            </a:r>
          </a:p>
        </p:txBody>
      </p:sp>
      <p:sp>
        <p:nvSpPr>
          <p:cNvPr id="4" name="Title 1">
            <a:extLst>
              <a:ext uri="{FF2B5EF4-FFF2-40B4-BE49-F238E27FC236}">
                <a16:creationId xmlns:a16="http://schemas.microsoft.com/office/drawing/2014/main" id="{6B1C1DA2-B29F-4DDB-93A8-91F15D14BDD6}"/>
              </a:ext>
            </a:extLst>
          </p:cNvPr>
          <p:cNvSpPr txBox="1">
            <a:spLocks/>
          </p:cNvSpPr>
          <p:nvPr/>
        </p:nvSpPr>
        <p:spPr>
          <a:xfrm>
            <a:off x="145200" y="111354"/>
            <a:ext cx="9064390" cy="787314"/>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400" b="1" kern="1200">
                <a:solidFill>
                  <a:schemeClr val="bg1"/>
                </a:solidFill>
                <a:latin typeface="+mn-lt"/>
                <a:ea typeface="+mj-ea"/>
                <a:cs typeface="+mj-cs"/>
              </a:defRPr>
            </a:lvl1pPr>
          </a:lstStyle>
          <a:p>
            <a:r>
              <a:rPr lang="en-US" b="0" dirty="0">
                <a:solidFill>
                  <a:srgbClr val="002060"/>
                </a:solidFill>
              </a:rPr>
              <a:t>Literature : Gripper</a:t>
            </a:r>
          </a:p>
        </p:txBody>
      </p:sp>
      <p:sp>
        <p:nvSpPr>
          <p:cNvPr id="7" name="Title 1">
            <a:extLst>
              <a:ext uri="{FF2B5EF4-FFF2-40B4-BE49-F238E27FC236}">
                <a16:creationId xmlns:a16="http://schemas.microsoft.com/office/drawing/2014/main" id="{6B36351E-EC0B-E246-0424-DE2496B622D9}"/>
              </a:ext>
            </a:extLst>
          </p:cNvPr>
          <p:cNvSpPr txBox="1">
            <a:spLocks/>
          </p:cNvSpPr>
          <p:nvPr/>
        </p:nvSpPr>
        <p:spPr>
          <a:xfrm>
            <a:off x="199870" y="2551488"/>
            <a:ext cx="5826026" cy="787314"/>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3400" b="1" kern="1200">
                <a:solidFill>
                  <a:schemeClr val="bg1"/>
                </a:solidFill>
                <a:latin typeface="+mn-lt"/>
                <a:ea typeface="+mj-ea"/>
                <a:cs typeface="+mj-cs"/>
              </a:defRPr>
            </a:lvl1pPr>
          </a:lstStyle>
          <a:p>
            <a:r>
              <a:rPr lang="en-IE" sz="2000" dirty="0">
                <a:solidFill>
                  <a:schemeClr val="bg2">
                    <a:lumMod val="10000"/>
                  </a:schemeClr>
                </a:solidFill>
              </a:rPr>
              <a:t>Pneumatic fingers directly attached to a tiny origami bellows pump pulled by a wire.</a:t>
            </a:r>
            <a:endParaRPr lang="en-US" sz="2000" b="0" dirty="0">
              <a:solidFill>
                <a:schemeClr val="bg2">
                  <a:lumMod val="10000"/>
                </a:schemeClr>
              </a:solidFill>
            </a:endParaRPr>
          </a:p>
        </p:txBody>
      </p:sp>
      <p:sp>
        <p:nvSpPr>
          <p:cNvPr id="9" name="Title 1">
            <a:extLst>
              <a:ext uri="{FF2B5EF4-FFF2-40B4-BE49-F238E27FC236}">
                <a16:creationId xmlns:a16="http://schemas.microsoft.com/office/drawing/2014/main" id="{C55EED39-8D33-47B8-A1BF-6FC87C7F737F}"/>
              </a:ext>
            </a:extLst>
          </p:cNvPr>
          <p:cNvSpPr txBox="1">
            <a:spLocks/>
          </p:cNvSpPr>
          <p:nvPr/>
        </p:nvSpPr>
        <p:spPr>
          <a:xfrm>
            <a:off x="166087" y="4330045"/>
            <a:ext cx="6100152" cy="787314"/>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400" b="1" kern="1200">
                <a:solidFill>
                  <a:schemeClr val="bg1"/>
                </a:solidFill>
                <a:latin typeface="+mn-lt"/>
                <a:ea typeface="+mj-ea"/>
                <a:cs typeface="+mj-cs"/>
              </a:defRPr>
            </a:lvl1pPr>
          </a:lstStyle>
          <a:p>
            <a:r>
              <a:rPr lang="en-IE" sz="2000" dirty="0">
                <a:solidFill>
                  <a:schemeClr val="bg2">
                    <a:lumMod val="10000"/>
                  </a:schemeClr>
                </a:solidFill>
              </a:rPr>
              <a:t>Highly portable system driven by 1 small electric motor.</a:t>
            </a:r>
            <a:endParaRPr lang="en-US" sz="2000" b="0" dirty="0">
              <a:solidFill>
                <a:schemeClr val="bg2">
                  <a:lumMod val="10000"/>
                </a:schemeClr>
              </a:solidFill>
            </a:endParaRPr>
          </a:p>
        </p:txBody>
      </p:sp>
      <p:sp>
        <p:nvSpPr>
          <p:cNvPr id="10" name="Title 1">
            <a:extLst>
              <a:ext uri="{FF2B5EF4-FFF2-40B4-BE49-F238E27FC236}">
                <a16:creationId xmlns:a16="http://schemas.microsoft.com/office/drawing/2014/main" id="{ADE2A533-8136-EF8D-6633-AB7FB97FDE8D}"/>
              </a:ext>
            </a:extLst>
          </p:cNvPr>
          <p:cNvSpPr txBox="1">
            <a:spLocks/>
          </p:cNvSpPr>
          <p:nvPr/>
        </p:nvSpPr>
        <p:spPr>
          <a:xfrm>
            <a:off x="199870" y="5579650"/>
            <a:ext cx="5963336" cy="787314"/>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400" b="1" kern="1200">
                <a:solidFill>
                  <a:schemeClr val="bg1"/>
                </a:solidFill>
                <a:latin typeface="+mn-lt"/>
                <a:ea typeface="+mj-ea"/>
                <a:cs typeface="+mj-cs"/>
              </a:defRPr>
            </a:lvl1pPr>
          </a:lstStyle>
          <a:p>
            <a:r>
              <a:rPr lang="en-IE" sz="2000" dirty="0">
                <a:solidFill>
                  <a:schemeClr val="bg2">
                    <a:lumMod val="10000"/>
                  </a:schemeClr>
                </a:solidFill>
              </a:rPr>
              <a:t>Low max pressure, the pulling wire fatigues and snaps over time, no textured sensors on fingertips.</a:t>
            </a:r>
            <a:endParaRPr lang="en-US" sz="2000" b="0" dirty="0">
              <a:solidFill>
                <a:schemeClr val="bg2">
                  <a:lumMod val="10000"/>
                </a:schemeClr>
              </a:solidFill>
            </a:endParaRPr>
          </a:p>
        </p:txBody>
      </p:sp>
      <p:sp>
        <p:nvSpPr>
          <p:cNvPr id="11" name="Title 1">
            <a:extLst>
              <a:ext uri="{FF2B5EF4-FFF2-40B4-BE49-F238E27FC236}">
                <a16:creationId xmlns:a16="http://schemas.microsoft.com/office/drawing/2014/main" id="{1FAFD14E-EEB6-EADC-4F34-6D0124EEBBF3}"/>
              </a:ext>
            </a:extLst>
          </p:cNvPr>
          <p:cNvSpPr txBox="1">
            <a:spLocks/>
          </p:cNvSpPr>
          <p:nvPr/>
        </p:nvSpPr>
        <p:spPr>
          <a:xfrm>
            <a:off x="5043336" y="218044"/>
            <a:ext cx="6888136" cy="787314"/>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3400" b="1" kern="1200">
                <a:solidFill>
                  <a:schemeClr val="bg1"/>
                </a:solidFill>
                <a:latin typeface="+mn-lt"/>
                <a:ea typeface="+mj-ea"/>
                <a:cs typeface="+mj-cs"/>
              </a:defRPr>
            </a:lvl1pPr>
          </a:lstStyle>
          <a:p>
            <a:r>
              <a:rPr lang="en-IE" sz="1600" dirty="0">
                <a:solidFill>
                  <a:schemeClr val="bg2">
                    <a:lumMod val="10000"/>
                  </a:schemeClr>
                </a:solidFill>
              </a:rPr>
              <a:t>Soft Pneumatic Gripper with Origami Pump (Kim &amp; Cha, 2020)</a:t>
            </a:r>
            <a:endParaRPr lang="en-IE" sz="1600" b="0" dirty="0">
              <a:solidFill>
                <a:schemeClr val="bg2">
                  <a:lumMod val="10000"/>
                </a:schemeClr>
              </a:solidFill>
              <a:hlinkClick r:id="rId2">
                <a:extLst>
                  <a:ext uri="{A12FA001-AC4F-418D-AE19-62706E023703}">
                    <ahyp:hlinkClr xmlns:ahyp="http://schemas.microsoft.com/office/drawing/2018/hyperlinkcolor" val="tx"/>
                  </a:ext>
                </a:extLst>
              </a:hlinkClick>
            </a:endParaRPr>
          </a:p>
        </p:txBody>
      </p:sp>
      <p:sp>
        <p:nvSpPr>
          <p:cNvPr id="18" name="TextBox 17">
            <a:extLst>
              <a:ext uri="{FF2B5EF4-FFF2-40B4-BE49-F238E27FC236}">
                <a16:creationId xmlns:a16="http://schemas.microsoft.com/office/drawing/2014/main" id="{46D6C13D-69ED-2F5F-0FAB-7C97538CB45D}"/>
              </a:ext>
            </a:extLst>
          </p:cNvPr>
          <p:cNvSpPr txBox="1"/>
          <p:nvPr/>
        </p:nvSpPr>
        <p:spPr>
          <a:xfrm>
            <a:off x="260528" y="856624"/>
            <a:ext cx="7068312" cy="400110"/>
          </a:xfrm>
          <a:prstGeom prst="rect">
            <a:avLst/>
          </a:prstGeom>
          <a:noFill/>
        </p:spPr>
        <p:txBody>
          <a:bodyPr wrap="square">
            <a:spAutoFit/>
          </a:bodyPr>
          <a:lstStyle/>
          <a:p>
            <a:r>
              <a:rPr lang="en-US" sz="2000" b="1" dirty="0">
                <a:solidFill>
                  <a:schemeClr val="tx2"/>
                </a:solidFill>
              </a:rPr>
              <a:t>Question/Gap: </a:t>
            </a:r>
            <a:endParaRPr lang="en-IE" sz="2000" b="1" dirty="0">
              <a:solidFill>
                <a:schemeClr val="tx2"/>
              </a:solidFill>
            </a:endParaRPr>
          </a:p>
        </p:txBody>
      </p:sp>
      <p:sp>
        <p:nvSpPr>
          <p:cNvPr id="19" name="TextBox 18">
            <a:extLst>
              <a:ext uri="{FF2B5EF4-FFF2-40B4-BE49-F238E27FC236}">
                <a16:creationId xmlns:a16="http://schemas.microsoft.com/office/drawing/2014/main" id="{B6F80E59-46AC-E78F-18B5-EF8817EB2BEA}"/>
              </a:ext>
            </a:extLst>
          </p:cNvPr>
          <p:cNvSpPr txBox="1"/>
          <p:nvPr/>
        </p:nvSpPr>
        <p:spPr>
          <a:xfrm>
            <a:off x="208464" y="2123416"/>
            <a:ext cx="7068312" cy="400110"/>
          </a:xfrm>
          <a:prstGeom prst="rect">
            <a:avLst/>
          </a:prstGeom>
          <a:noFill/>
        </p:spPr>
        <p:txBody>
          <a:bodyPr wrap="square">
            <a:spAutoFit/>
          </a:bodyPr>
          <a:lstStyle/>
          <a:p>
            <a:r>
              <a:rPr lang="en-US" sz="2000" b="1" dirty="0">
                <a:solidFill>
                  <a:schemeClr val="tx2"/>
                </a:solidFill>
              </a:rPr>
              <a:t>Method: </a:t>
            </a:r>
            <a:endParaRPr lang="en-IE" sz="2000" b="1" dirty="0">
              <a:solidFill>
                <a:schemeClr val="tx2"/>
              </a:solidFill>
            </a:endParaRPr>
          </a:p>
        </p:txBody>
      </p:sp>
      <p:sp>
        <p:nvSpPr>
          <p:cNvPr id="20" name="TextBox 19">
            <a:extLst>
              <a:ext uri="{FF2B5EF4-FFF2-40B4-BE49-F238E27FC236}">
                <a16:creationId xmlns:a16="http://schemas.microsoft.com/office/drawing/2014/main" id="{EE173AB2-7F17-A536-1D0F-4C5E60A8E77B}"/>
              </a:ext>
            </a:extLst>
          </p:cNvPr>
          <p:cNvSpPr txBox="1"/>
          <p:nvPr/>
        </p:nvSpPr>
        <p:spPr>
          <a:xfrm>
            <a:off x="166087" y="3857481"/>
            <a:ext cx="7068312" cy="400110"/>
          </a:xfrm>
          <a:prstGeom prst="rect">
            <a:avLst/>
          </a:prstGeom>
          <a:noFill/>
        </p:spPr>
        <p:txBody>
          <a:bodyPr wrap="square">
            <a:spAutoFit/>
          </a:bodyPr>
          <a:lstStyle/>
          <a:p>
            <a:r>
              <a:rPr lang="en-US" sz="2000" b="1" dirty="0">
                <a:solidFill>
                  <a:schemeClr val="tx2"/>
                </a:solidFill>
              </a:rPr>
              <a:t>Results: </a:t>
            </a:r>
            <a:endParaRPr lang="en-IE" sz="2000" b="1" dirty="0">
              <a:solidFill>
                <a:schemeClr val="tx2"/>
              </a:solidFill>
            </a:endParaRPr>
          </a:p>
        </p:txBody>
      </p:sp>
      <p:sp>
        <p:nvSpPr>
          <p:cNvPr id="21" name="TextBox 20">
            <a:extLst>
              <a:ext uri="{FF2B5EF4-FFF2-40B4-BE49-F238E27FC236}">
                <a16:creationId xmlns:a16="http://schemas.microsoft.com/office/drawing/2014/main" id="{43926704-E35D-C841-17DB-DCE917A6365F}"/>
              </a:ext>
            </a:extLst>
          </p:cNvPr>
          <p:cNvSpPr txBox="1"/>
          <p:nvPr/>
        </p:nvSpPr>
        <p:spPr>
          <a:xfrm>
            <a:off x="145200" y="5205746"/>
            <a:ext cx="7068312" cy="400110"/>
          </a:xfrm>
          <a:prstGeom prst="rect">
            <a:avLst/>
          </a:prstGeom>
          <a:noFill/>
        </p:spPr>
        <p:txBody>
          <a:bodyPr wrap="square">
            <a:spAutoFit/>
          </a:bodyPr>
          <a:lstStyle/>
          <a:p>
            <a:r>
              <a:rPr lang="en-US" sz="2000" b="1" dirty="0">
                <a:solidFill>
                  <a:schemeClr val="tx2"/>
                </a:solidFill>
              </a:rPr>
              <a:t>Limitations: </a:t>
            </a:r>
            <a:endParaRPr lang="en-IE" sz="2000" b="1" dirty="0">
              <a:solidFill>
                <a:schemeClr val="tx2"/>
              </a:solidFill>
            </a:endParaRPr>
          </a:p>
        </p:txBody>
      </p:sp>
      <p:pic>
        <p:nvPicPr>
          <p:cNvPr id="5" name="Picture 4">
            <a:extLst>
              <a:ext uri="{FF2B5EF4-FFF2-40B4-BE49-F238E27FC236}">
                <a16:creationId xmlns:a16="http://schemas.microsoft.com/office/drawing/2014/main" id="{56DFA2C4-672A-7B5F-407E-31CCAB13B9A6}"/>
              </a:ext>
            </a:extLst>
          </p:cNvPr>
          <p:cNvPicPr>
            <a:picLocks noChangeAspect="1"/>
          </p:cNvPicPr>
          <p:nvPr/>
        </p:nvPicPr>
        <p:blipFill>
          <a:blip r:embed="rId3"/>
          <a:stretch>
            <a:fillRect/>
          </a:stretch>
        </p:blipFill>
        <p:spPr>
          <a:xfrm>
            <a:off x="8252900" y="1087249"/>
            <a:ext cx="3959831" cy="2149227"/>
          </a:xfrm>
          <a:prstGeom prst="rect">
            <a:avLst/>
          </a:prstGeom>
        </p:spPr>
      </p:pic>
      <p:pic>
        <p:nvPicPr>
          <p:cNvPr id="12" name="Picture 11">
            <a:extLst>
              <a:ext uri="{FF2B5EF4-FFF2-40B4-BE49-F238E27FC236}">
                <a16:creationId xmlns:a16="http://schemas.microsoft.com/office/drawing/2014/main" id="{40125105-5D9D-AC09-3C01-4EB8AEF04629}"/>
              </a:ext>
            </a:extLst>
          </p:cNvPr>
          <p:cNvPicPr>
            <a:picLocks noChangeAspect="1"/>
          </p:cNvPicPr>
          <p:nvPr/>
        </p:nvPicPr>
        <p:blipFill>
          <a:blip r:embed="rId4"/>
          <a:stretch>
            <a:fillRect/>
          </a:stretch>
        </p:blipFill>
        <p:spPr>
          <a:xfrm>
            <a:off x="6019460" y="987055"/>
            <a:ext cx="2214106" cy="2414629"/>
          </a:xfrm>
          <a:prstGeom prst="rect">
            <a:avLst/>
          </a:prstGeom>
        </p:spPr>
      </p:pic>
      <p:pic>
        <p:nvPicPr>
          <p:cNvPr id="15" name="Picture 14">
            <a:extLst>
              <a:ext uri="{FF2B5EF4-FFF2-40B4-BE49-F238E27FC236}">
                <a16:creationId xmlns:a16="http://schemas.microsoft.com/office/drawing/2014/main" id="{5496EDC4-F1D3-8713-3F59-9146FABCDBEC}"/>
              </a:ext>
            </a:extLst>
          </p:cNvPr>
          <p:cNvPicPr>
            <a:picLocks noChangeAspect="1"/>
          </p:cNvPicPr>
          <p:nvPr/>
        </p:nvPicPr>
        <p:blipFill>
          <a:blip r:embed="rId5"/>
          <a:stretch>
            <a:fillRect/>
          </a:stretch>
        </p:blipFill>
        <p:spPr>
          <a:xfrm>
            <a:off x="6406943" y="3549319"/>
            <a:ext cx="5436729" cy="3136080"/>
          </a:xfrm>
          <a:prstGeom prst="rect">
            <a:avLst/>
          </a:prstGeom>
        </p:spPr>
      </p:pic>
    </p:spTree>
    <p:extLst>
      <p:ext uri="{BB962C8B-B14F-4D97-AF65-F5344CB8AC3E}">
        <p14:creationId xmlns:p14="http://schemas.microsoft.com/office/powerpoint/2010/main" val="26406397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9BD9113-5EFC-6EAA-8F3A-0EF2EF6FE9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80324A-9A34-A1B9-6822-9834E851ED3A}"/>
              </a:ext>
            </a:extLst>
          </p:cNvPr>
          <p:cNvSpPr>
            <a:spLocks noGrp="1"/>
          </p:cNvSpPr>
          <p:nvPr>
            <p:ph type="title"/>
          </p:nvPr>
        </p:nvSpPr>
        <p:spPr>
          <a:xfrm>
            <a:off x="208464" y="1291149"/>
            <a:ext cx="6809289" cy="787314"/>
          </a:xfrm>
        </p:spPr>
        <p:txBody>
          <a:bodyPr>
            <a:normAutofit/>
          </a:bodyPr>
          <a:lstStyle/>
          <a:p>
            <a:r>
              <a:rPr lang="en-IE" sz="2000" dirty="0">
                <a:solidFill>
                  <a:schemeClr val="bg2">
                    <a:lumMod val="10000"/>
                  </a:schemeClr>
                </a:solidFill>
              </a:rPr>
              <a:t>Plant-like morphing (tendrils) is expensive to manufacture.</a:t>
            </a:r>
          </a:p>
        </p:txBody>
      </p:sp>
      <p:sp>
        <p:nvSpPr>
          <p:cNvPr id="4" name="Title 1">
            <a:extLst>
              <a:ext uri="{FF2B5EF4-FFF2-40B4-BE49-F238E27FC236}">
                <a16:creationId xmlns:a16="http://schemas.microsoft.com/office/drawing/2014/main" id="{DE8C9203-0F59-FE7F-AB3A-C42FCC0900DB}"/>
              </a:ext>
            </a:extLst>
          </p:cNvPr>
          <p:cNvSpPr txBox="1">
            <a:spLocks/>
          </p:cNvSpPr>
          <p:nvPr/>
        </p:nvSpPr>
        <p:spPr>
          <a:xfrm>
            <a:off x="145200" y="111354"/>
            <a:ext cx="9064390" cy="787314"/>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400" b="1" kern="1200">
                <a:solidFill>
                  <a:schemeClr val="bg1"/>
                </a:solidFill>
                <a:latin typeface="+mn-lt"/>
                <a:ea typeface="+mj-ea"/>
                <a:cs typeface="+mj-cs"/>
              </a:defRPr>
            </a:lvl1pPr>
          </a:lstStyle>
          <a:p>
            <a:r>
              <a:rPr lang="en-US" b="0" dirty="0">
                <a:solidFill>
                  <a:srgbClr val="002060"/>
                </a:solidFill>
              </a:rPr>
              <a:t>Literature : Gripper</a:t>
            </a:r>
          </a:p>
        </p:txBody>
      </p:sp>
      <p:sp>
        <p:nvSpPr>
          <p:cNvPr id="7" name="Title 1">
            <a:extLst>
              <a:ext uri="{FF2B5EF4-FFF2-40B4-BE49-F238E27FC236}">
                <a16:creationId xmlns:a16="http://schemas.microsoft.com/office/drawing/2014/main" id="{9A030DD8-E1CD-0C83-38E1-284CD43C2578}"/>
              </a:ext>
            </a:extLst>
          </p:cNvPr>
          <p:cNvSpPr txBox="1">
            <a:spLocks/>
          </p:cNvSpPr>
          <p:nvPr/>
        </p:nvSpPr>
        <p:spPr>
          <a:xfrm>
            <a:off x="199870" y="2551488"/>
            <a:ext cx="6520970" cy="787314"/>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3400" b="1" kern="1200">
                <a:solidFill>
                  <a:schemeClr val="bg1"/>
                </a:solidFill>
                <a:latin typeface="+mn-lt"/>
                <a:ea typeface="+mj-ea"/>
                <a:cs typeface="+mj-cs"/>
              </a:defRPr>
            </a:lvl1pPr>
          </a:lstStyle>
          <a:p>
            <a:r>
              <a:rPr lang="en-IE" sz="2000" dirty="0">
                <a:solidFill>
                  <a:schemeClr val="bg2">
                    <a:lumMod val="10000"/>
                  </a:schemeClr>
                </a:solidFill>
              </a:rPr>
              <a:t>3D print PLA directly onto a flexible sheet of paper to create structural ribs.</a:t>
            </a:r>
            <a:endParaRPr lang="en-US" sz="2000" b="0" dirty="0">
              <a:solidFill>
                <a:schemeClr val="bg2">
                  <a:lumMod val="10000"/>
                </a:schemeClr>
              </a:solidFill>
            </a:endParaRPr>
          </a:p>
        </p:txBody>
      </p:sp>
      <p:sp>
        <p:nvSpPr>
          <p:cNvPr id="9" name="Title 1">
            <a:extLst>
              <a:ext uri="{FF2B5EF4-FFF2-40B4-BE49-F238E27FC236}">
                <a16:creationId xmlns:a16="http://schemas.microsoft.com/office/drawing/2014/main" id="{711370C5-35C3-65D2-72FF-2F1572F39F23}"/>
              </a:ext>
            </a:extLst>
          </p:cNvPr>
          <p:cNvSpPr txBox="1">
            <a:spLocks/>
          </p:cNvSpPr>
          <p:nvPr/>
        </p:nvSpPr>
        <p:spPr>
          <a:xfrm>
            <a:off x="166087" y="4286952"/>
            <a:ext cx="6465912" cy="787314"/>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400" b="1" kern="1200">
                <a:solidFill>
                  <a:schemeClr val="bg1"/>
                </a:solidFill>
                <a:latin typeface="+mn-lt"/>
                <a:ea typeface="+mj-ea"/>
                <a:cs typeface="+mj-cs"/>
              </a:defRPr>
            </a:lvl1pPr>
          </a:lstStyle>
          <a:p>
            <a:r>
              <a:rPr lang="en-IE" sz="2000" dirty="0">
                <a:solidFill>
                  <a:schemeClr val="bg2">
                    <a:lumMod val="10000"/>
                  </a:schemeClr>
                </a:solidFill>
              </a:rPr>
              <a:t>The plastic curls up on its own when heated. Ultra low-cost.</a:t>
            </a:r>
            <a:endParaRPr lang="en-US" sz="2000" b="0" dirty="0">
              <a:solidFill>
                <a:schemeClr val="bg2">
                  <a:lumMod val="10000"/>
                </a:schemeClr>
              </a:solidFill>
            </a:endParaRPr>
          </a:p>
        </p:txBody>
      </p:sp>
      <p:sp>
        <p:nvSpPr>
          <p:cNvPr id="10" name="Title 1">
            <a:extLst>
              <a:ext uri="{FF2B5EF4-FFF2-40B4-BE49-F238E27FC236}">
                <a16:creationId xmlns:a16="http://schemas.microsoft.com/office/drawing/2014/main" id="{6929B725-33A4-69E6-3636-00E84C267571}"/>
              </a:ext>
            </a:extLst>
          </p:cNvPr>
          <p:cNvSpPr txBox="1">
            <a:spLocks/>
          </p:cNvSpPr>
          <p:nvPr/>
        </p:nvSpPr>
        <p:spPr>
          <a:xfrm>
            <a:off x="133774" y="5550373"/>
            <a:ext cx="6061321" cy="787314"/>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400" b="1" kern="1200">
                <a:solidFill>
                  <a:schemeClr val="bg1"/>
                </a:solidFill>
                <a:latin typeface="+mn-lt"/>
                <a:ea typeface="+mj-ea"/>
                <a:cs typeface="+mj-cs"/>
              </a:defRPr>
            </a:lvl1pPr>
          </a:lstStyle>
          <a:p>
            <a:r>
              <a:rPr lang="en-IE" sz="2000" dirty="0">
                <a:solidFill>
                  <a:schemeClr val="bg2">
                    <a:lumMod val="10000"/>
                  </a:schemeClr>
                </a:solidFill>
              </a:rPr>
              <a:t>Thermal reaction is super slow. Cannot be controlled without changing the temperature of the entire room.</a:t>
            </a:r>
            <a:endParaRPr lang="en-US" sz="2000" b="0" dirty="0">
              <a:solidFill>
                <a:schemeClr val="bg2">
                  <a:lumMod val="10000"/>
                </a:schemeClr>
              </a:solidFill>
            </a:endParaRPr>
          </a:p>
        </p:txBody>
      </p:sp>
      <p:sp>
        <p:nvSpPr>
          <p:cNvPr id="11" name="Title 1">
            <a:extLst>
              <a:ext uri="{FF2B5EF4-FFF2-40B4-BE49-F238E27FC236}">
                <a16:creationId xmlns:a16="http://schemas.microsoft.com/office/drawing/2014/main" id="{B14B023A-39B6-3A86-F63A-08DD04844000}"/>
              </a:ext>
            </a:extLst>
          </p:cNvPr>
          <p:cNvSpPr txBox="1">
            <a:spLocks/>
          </p:cNvSpPr>
          <p:nvPr/>
        </p:nvSpPr>
        <p:spPr>
          <a:xfrm>
            <a:off x="5043336" y="218044"/>
            <a:ext cx="6888136" cy="787314"/>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3400" b="1" kern="1200">
                <a:solidFill>
                  <a:schemeClr val="bg1"/>
                </a:solidFill>
                <a:latin typeface="+mn-lt"/>
                <a:ea typeface="+mj-ea"/>
                <a:cs typeface="+mj-cs"/>
              </a:defRPr>
            </a:lvl1pPr>
          </a:lstStyle>
          <a:p>
            <a:r>
              <a:rPr lang="en-GB" sz="1600" dirty="0">
                <a:solidFill>
                  <a:schemeClr val="bg2">
                    <a:lumMod val="10000"/>
                  </a:schemeClr>
                </a:solidFill>
              </a:rPr>
              <a:t>A 3D Printed Paper‑Based Thermally Driven Soft Robotic Gripper </a:t>
            </a:r>
          </a:p>
          <a:p>
            <a:r>
              <a:rPr lang="en-GB" sz="1600" dirty="0">
                <a:solidFill>
                  <a:schemeClr val="bg2">
                    <a:lumMod val="10000"/>
                  </a:schemeClr>
                </a:solidFill>
              </a:rPr>
              <a:t>Inspired by </a:t>
            </a:r>
            <a:r>
              <a:rPr lang="en-GB" sz="1600" dirty="0" err="1">
                <a:solidFill>
                  <a:schemeClr val="bg2">
                    <a:lumMod val="10000"/>
                  </a:schemeClr>
                </a:solidFill>
              </a:rPr>
              <a:t>CabbageFuwen</a:t>
            </a:r>
            <a:r>
              <a:rPr lang="en-GB" sz="1600" dirty="0">
                <a:solidFill>
                  <a:schemeClr val="bg2">
                    <a:lumMod val="10000"/>
                  </a:schemeClr>
                </a:solidFill>
              </a:rPr>
              <a:t> Hu1 Limei Lyu1Yunhua He</a:t>
            </a:r>
            <a:endParaRPr lang="en-IE" sz="1600" b="0" dirty="0">
              <a:solidFill>
                <a:schemeClr val="bg2">
                  <a:lumMod val="10000"/>
                </a:schemeClr>
              </a:solidFill>
              <a:hlinkClick r:id="rId2">
                <a:extLst>
                  <a:ext uri="{A12FA001-AC4F-418D-AE19-62706E023703}">
                    <ahyp:hlinkClr xmlns:ahyp="http://schemas.microsoft.com/office/drawing/2018/hyperlinkcolor" val="tx"/>
                  </a:ext>
                </a:extLst>
              </a:hlinkClick>
            </a:endParaRPr>
          </a:p>
        </p:txBody>
      </p:sp>
      <p:sp>
        <p:nvSpPr>
          <p:cNvPr id="18" name="TextBox 17">
            <a:extLst>
              <a:ext uri="{FF2B5EF4-FFF2-40B4-BE49-F238E27FC236}">
                <a16:creationId xmlns:a16="http://schemas.microsoft.com/office/drawing/2014/main" id="{0CA02D8F-AE96-5382-30B6-2475236FB9E1}"/>
              </a:ext>
            </a:extLst>
          </p:cNvPr>
          <p:cNvSpPr txBox="1"/>
          <p:nvPr/>
        </p:nvSpPr>
        <p:spPr>
          <a:xfrm>
            <a:off x="260528" y="856624"/>
            <a:ext cx="7068312" cy="400110"/>
          </a:xfrm>
          <a:prstGeom prst="rect">
            <a:avLst/>
          </a:prstGeom>
          <a:noFill/>
        </p:spPr>
        <p:txBody>
          <a:bodyPr wrap="square">
            <a:spAutoFit/>
          </a:bodyPr>
          <a:lstStyle/>
          <a:p>
            <a:r>
              <a:rPr lang="en-US" sz="2000" b="1" dirty="0">
                <a:solidFill>
                  <a:schemeClr val="tx2"/>
                </a:solidFill>
              </a:rPr>
              <a:t>Question/Gap: </a:t>
            </a:r>
            <a:endParaRPr lang="en-IE" sz="2000" b="1" dirty="0">
              <a:solidFill>
                <a:schemeClr val="tx2"/>
              </a:solidFill>
            </a:endParaRPr>
          </a:p>
        </p:txBody>
      </p:sp>
      <p:sp>
        <p:nvSpPr>
          <p:cNvPr id="19" name="TextBox 18">
            <a:extLst>
              <a:ext uri="{FF2B5EF4-FFF2-40B4-BE49-F238E27FC236}">
                <a16:creationId xmlns:a16="http://schemas.microsoft.com/office/drawing/2014/main" id="{D4ED8996-F6EE-2559-AFC8-77D1B6EFAE10}"/>
              </a:ext>
            </a:extLst>
          </p:cNvPr>
          <p:cNvSpPr txBox="1"/>
          <p:nvPr/>
        </p:nvSpPr>
        <p:spPr>
          <a:xfrm>
            <a:off x="208464" y="2123416"/>
            <a:ext cx="7068312" cy="400110"/>
          </a:xfrm>
          <a:prstGeom prst="rect">
            <a:avLst/>
          </a:prstGeom>
          <a:noFill/>
        </p:spPr>
        <p:txBody>
          <a:bodyPr wrap="square">
            <a:spAutoFit/>
          </a:bodyPr>
          <a:lstStyle/>
          <a:p>
            <a:r>
              <a:rPr lang="en-US" sz="2000" b="1" dirty="0">
                <a:solidFill>
                  <a:schemeClr val="tx2"/>
                </a:solidFill>
              </a:rPr>
              <a:t>Method: </a:t>
            </a:r>
            <a:endParaRPr lang="en-IE" sz="2000" b="1" dirty="0">
              <a:solidFill>
                <a:schemeClr val="tx2"/>
              </a:solidFill>
            </a:endParaRPr>
          </a:p>
        </p:txBody>
      </p:sp>
      <p:sp>
        <p:nvSpPr>
          <p:cNvPr id="20" name="TextBox 19">
            <a:extLst>
              <a:ext uri="{FF2B5EF4-FFF2-40B4-BE49-F238E27FC236}">
                <a16:creationId xmlns:a16="http://schemas.microsoft.com/office/drawing/2014/main" id="{DE5A11B5-D904-EC47-7EAA-FA54D30F66F9}"/>
              </a:ext>
            </a:extLst>
          </p:cNvPr>
          <p:cNvSpPr txBox="1"/>
          <p:nvPr/>
        </p:nvSpPr>
        <p:spPr>
          <a:xfrm>
            <a:off x="166087" y="3857481"/>
            <a:ext cx="7068312" cy="400110"/>
          </a:xfrm>
          <a:prstGeom prst="rect">
            <a:avLst/>
          </a:prstGeom>
          <a:noFill/>
        </p:spPr>
        <p:txBody>
          <a:bodyPr wrap="square">
            <a:spAutoFit/>
          </a:bodyPr>
          <a:lstStyle/>
          <a:p>
            <a:r>
              <a:rPr lang="en-US" sz="2000" b="1" dirty="0">
                <a:solidFill>
                  <a:schemeClr val="tx2"/>
                </a:solidFill>
              </a:rPr>
              <a:t>Results: </a:t>
            </a:r>
            <a:endParaRPr lang="en-IE" sz="2000" b="1" dirty="0">
              <a:solidFill>
                <a:schemeClr val="tx2"/>
              </a:solidFill>
            </a:endParaRPr>
          </a:p>
        </p:txBody>
      </p:sp>
      <p:sp>
        <p:nvSpPr>
          <p:cNvPr id="21" name="TextBox 20">
            <a:extLst>
              <a:ext uri="{FF2B5EF4-FFF2-40B4-BE49-F238E27FC236}">
                <a16:creationId xmlns:a16="http://schemas.microsoft.com/office/drawing/2014/main" id="{A7695436-65BD-F65E-2EAC-744205F346C3}"/>
              </a:ext>
            </a:extLst>
          </p:cNvPr>
          <p:cNvSpPr txBox="1"/>
          <p:nvPr/>
        </p:nvSpPr>
        <p:spPr>
          <a:xfrm>
            <a:off x="133774" y="5134587"/>
            <a:ext cx="7068312" cy="400110"/>
          </a:xfrm>
          <a:prstGeom prst="rect">
            <a:avLst/>
          </a:prstGeom>
          <a:noFill/>
        </p:spPr>
        <p:txBody>
          <a:bodyPr wrap="square">
            <a:spAutoFit/>
          </a:bodyPr>
          <a:lstStyle/>
          <a:p>
            <a:r>
              <a:rPr lang="en-US" sz="2000" b="1" dirty="0">
                <a:solidFill>
                  <a:schemeClr val="tx2"/>
                </a:solidFill>
              </a:rPr>
              <a:t>Limitations: </a:t>
            </a:r>
            <a:endParaRPr lang="en-IE" sz="2000" b="1" dirty="0">
              <a:solidFill>
                <a:schemeClr val="tx2"/>
              </a:solidFill>
            </a:endParaRPr>
          </a:p>
        </p:txBody>
      </p:sp>
      <p:pic>
        <p:nvPicPr>
          <p:cNvPr id="6" name="Picture 5">
            <a:extLst>
              <a:ext uri="{FF2B5EF4-FFF2-40B4-BE49-F238E27FC236}">
                <a16:creationId xmlns:a16="http://schemas.microsoft.com/office/drawing/2014/main" id="{D0CEDE0C-D74A-C9BF-0E55-FACC7BA612D5}"/>
              </a:ext>
            </a:extLst>
          </p:cNvPr>
          <p:cNvPicPr>
            <a:picLocks noChangeAspect="1"/>
          </p:cNvPicPr>
          <p:nvPr/>
        </p:nvPicPr>
        <p:blipFill>
          <a:blip r:embed="rId3"/>
          <a:stretch>
            <a:fillRect/>
          </a:stretch>
        </p:blipFill>
        <p:spPr>
          <a:xfrm>
            <a:off x="6770231" y="1007994"/>
            <a:ext cx="5097676" cy="3257435"/>
          </a:xfrm>
          <a:prstGeom prst="rect">
            <a:avLst/>
          </a:prstGeom>
        </p:spPr>
      </p:pic>
      <p:pic>
        <p:nvPicPr>
          <p:cNvPr id="13" name="Picture 12">
            <a:extLst>
              <a:ext uri="{FF2B5EF4-FFF2-40B4-BE49-F238E27FC236}">
                <a16:creationId xmlns:a16="http://schemas.microsoft.com/office/drawing/2014/main" id="{05DABA2C-108C-5433-DACB-AE7D90809322}"/>
              </a:ext>
            </a:extLst>
          </p:cNvPr>
          <p:cNvPicPr>
            <a:picLocks noChangeAspect="1"/>
          </p:cNvPicPr>
          <p:nvPr/>
        </p:nvPicPr>
        <p:blipFill>
          <a:blip r:embed="rId4"/>
          <a:stretch>
            <a:fillRect/>
          </a:stretch>
        </p:blipFill>
        <p:spPr>
          <a:xfrm>
            <a:off x="6909799" y="4415863"/>
            <a:ext cx="5021674" cy="2132952"/>
          </a:xfrm>
          <a:prstGeom prst="rect">
            <a:avLst/>
          </a:prstGeom>
        </p:spPr>
      </p:pic>
    </p:spTree>
    <p:extLst>
      <p:ext uri="{BB962C8B-B14F-4D97-AF65-F5344CB8AC3E}">
        <p14:creationId xmlns:p14="http://schemas.microsoft.com/office/powerpoint/2010/main" val="37978659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1206D6E-3C52-3DB7-7B00-C3A7C956F4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77CE999-FBFD-AD58-617A-599B323CD98C}"/>
              </a:ext>
            </a:extLst>
          </p:cNvPr>
          <p:cNvSpPr>
            <a:spLocks noGrp="1"/>
          </p:cNvSpPr>
          <p:nvPr>
            <p:ph type="title"/>
          </p:nvPr>
        </p:nvSpPr>
        <p:spPr>
          <a:xfrm>
            <a:off x="208464" y="1291149"/>
            <a:ext cx="6809289" cy="787314"/>
          </a:xfrm>
        </p:spPr>
        <p:txBody>
          <a:bodyPr>
            <a:normAutofit/>
          </a:bodyPr>
          <a:lstStyle/>
          <a:p>
            <a:r>
              <a:rPr lang="en-IE" sz="2000" dirty="0">
                <a:solidFill>
                  <a:schemeClr val="bg2">
                    <a:lumMod val="10000"/>
                  </a:schemeClr>
                </a:solidFill>
              </a:rPr>
              <a:t>Rigid-arm mathematics completely fail on soft bodies.</a:t>
            </a:r>
          </a:p>
        </p:txBody>
      </p:sp>
      <p:sp>
        <p:nvSpPr>
          <p:cNvPr id="4" name="Title 1">
            <a:extLst>
              <a:ext uri="{FF2B5EF4-FFF2-40B4-BE49-F238E27FC236}">
                <a16:creationId xmlns:a16="http://schemas.microsoft.com/office/drawing/2014/main" id="{682A30F7-2078-F0DD-89F1-868CE98C9E4E}"/>
              </a:ext>
            </a:extLst>
          </p:cNvPr>
          <p:cNvSpPr txBox="1">
            <a:spLocks/>
          </p:cNvSpPr>
          <p:nvPr/>
        </p:nvSpPr>
        <p:spPr>
          <a:xfrm>
            <a:off x="145200" y="111354"/>
            <a:ext cx="9064390" cy="787314"/>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400" b="1" kern="1200">
                <a:solidFill>
                  <a:schemeClr val="bg1"/>
                </a:solidFill>
                <a:latin typeface="+mn-lt"/>
                <a:ea typeface="+mj-ea"/>
                <a:cs typeface="+mj-cs"/>
              </a:defRPr>
            </a:lvl1pPr>
          </a:lstStyle>
          <a:p>
            <a:r>
              <a:rPr lang="en-US" b="0" dirty="0">
                <a:solidFill>
                  <a:srgbClr val="002060"/>
                </a:solidFill>
              </a:rPr>
              <a:t>Literature : Gripper</a:t>
            </a:r>
          </a:p>
        </p:txBody>
      </p:sp>
      <p:sp>
        <p:nvSpPr>
          <p:cNvPr id="7" name="Title 1">
            <a:extLst>
              <a:ext uri="{FF2B5EF4-FFF2-40B4-BE49-F238E27FC236}">
                <a16:creationId xmlns:a16="http://schemas.microsoft.com/office/drawing/2014/main" id="{FD2BD9EB-1FEE-6AAD-74BA-52E7ED2DBBA0}"/>
              </a:ext>
            </a:extLst>
          </p:cNvPr>
          <p:cNvSpPr txBox="1">
            <a:spLocks/>
          </p:cNvSpPr>
          <p:nvPr/>
        </p:nvSpPr>
        <p:spPr>
          <a:xfrm>
            <a:off x="199870" y="2551488"/>
            <a:ext cx="6008906" cy="787314"/>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3400" b="1" kern="1200">
                <a:solidFill>
                  <a:schemeClr val="bg1"/>
                </a:solidFill>
                <a:latin typeface="+mn-lt"/>
                <a:ea typeface="+mj-ea"/>
                <a:cs typeface="+mj-cs"/>
              </a:defRPr>
            </a:lvl1pPr>
          </a:lstStyle>
          <a:p>
            <a:r>
              <a:rPr lang="en-IE" sz="2000" dirty="0">
                <a:solidFill>
                  <a:schemeClr val="bg2">
                    <a:lumMod val="10000"/>
                  </a:schemeClr>
                </a:solidFill>
              </a:rPr>
              <a:t>Focus on Morphological Computation (let the soft shape physically do the math by adapting).</a:t>
            </a:r>
            <a:endParaRPr lang="en-US" sz="2000" b="0" dirty="0">
              <a:solidFill>
                <a:schemeClr val="bg2">
                  <a:lumMod val="10000"/>
                </a:schemeClr>
              </a:solidFill>
            </a:endParaRPr>
          </a:p>
        </p:txBody>
      </p:sp>
      <p:sp>
        <p:nvSpPr>
          <p:cNvPr id="9" name="Title 1">
            <a:extLst>
              <a:ext uri="{FF2B5EF4-FFF2-40B4-BE49-F238E27FC236}">
                <a16:creationId xmlns:a16="http://schemas.microsoft.com/office/drawing/2014/main" id="{F7790912-B97F-C254-685F-17F0A79D0836}"/>
              </a:ext>
            </a:extLst>
          </p:cNvPr>
          <p:cNvSpPr txBox="1">
            <a:spLocks/>
          </p:cNvSpPr>
          <p:nvPr/>
        </p:nvSpPr>
        <p:spPr>
          <a:xfrm>
            <a:off x="161935" y="4327041"/>
            <a:ext cx="7051128" cy="787314"/>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400" b="1" kern="1200">
                <a:solidFill>
                  <a:schemeClr val="bg1"/>
                </a:solidFill>
                <a:latin typeface="+mn-lt"/>
                <a:ea typeface="+mj-ea"/>
                <a:cs typeface="+mj-cs"/>
              </a:defRPr>
            </a:lvl1pPr>
          </a:lstStyle>
          <a:p>
            <a:r>
              <a:rPr lang="en-IE" sz="2000" dirty="0">
                <a:solidFill>
                  <a:schemeClr val="bg2">
                    <a:lumMod val="10000"/>
                  </a:schemeClr>
                </a:solidFill>
              </a:rPr>
              <a:t>Great synthesis on soft material paradigms.</a:t>
            </a:r>
            <a:endParaRPr lang="en-US" sz="2000" b="0" dirty="0">
              <a:solidFill>
                <a:schemeClr val="bg2">
                  <a:lumMod val="10000"/>
                </a:schemeClr>
              </a:solidFill>
            </a:endParaRPr>
          </a:p>
        </p:txBody>
      </p:sp>
      <p:sp>
        <p:nvSpPr>
          <p:cNvPr id="10" name="Title 1">
            <a:extLst>
              <a:ext uri="{FF2B5EF4-FFF2-40B4-BE49-F238E27FC236}">
                <a16:creationId xmlns:a16="http://schemas.microsoft.com/office/drawing/2014/main" id="{961487F1-5958-26C3-A405-64268EC18A60}"/>
              </a:ext>
            </a:extLst>
          </p:cNvPr>
          <p:cNvSpPr txBox="1">
            <a:spLocks/>
          </p:cNvSpPr>
          <p:nvPr/>
        </p:nvSpPr>
        <p:spPr>
          <a:xfrm>
            <a:off x="166087" y="5589924"/>
            <a:ext cx="5064625" cy="787314"/>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400" b="1" kern="1200">
                <a:solidFill>
                  <a:schemeClr val="bg1"/>
                </a:solidFill>
                <a:latin typeface="+mn-lt"/>
                <a:ea typeface="+mj-ea"/>
                <a:cs typeface="+mj-cs"/>
              </a:defRPr>
            </a:lvl1pPr>
          </a:lstStyle>
          <a:p>
            <a:r>
              <a:rPr lang="en-IE" sz="2000" dirty="0">
                <a:solidFill>
                  <a:schemeClr val="bg2">
                    <a:lumMod val="10000"/>
                  </a:schemeClr>
                </a:solidFill>
              </a:rPr>
              <a:t>Desperate lack of 3D simulation tools for soft parts and true tactile skins.</a:t>
            </a:r>
            <a:endParaRPr lang="en-US" sz="2000" b="0" dirty="0">
              <a:solidFill>
                <a:schemeClr val="bg2">
                  <a:lumMod val="10000"/>
                </a:schemeClr>
              </a:solidFill>
            </a:endParaRPr>
          </a:p>
        </p:txBody>
      </p:sp>
      <p:sp>
        <p:nvSpPr>
          <p:cNvPr id="11" name="Title 1">
            <a:extLst>
              <a:ext uri="{FF2B5EF4-FFF2-40B4-BE49-F238E27FC236}">
                <a16:creationId xmlns:a16="http://schemas.microsoft.com/office/drawing/2014/main" id="{08C4B52E-C354-B6F0-967E-EF59BF6FBA7E}"/>
              </a:ext>
            </a:extLst>
          </p:cNvPr>
          <p:cNvSpPr txBox="1">
            <a:spLocks/>
          </p:cNvSpPr>
          <p:nvPr/>
        </p:nvSpPr>
        <p:spPr>
          <a:xfrm>
            <a:off x="5043336" y="218044"/>
            <a:ext cx="6888136" cy="787314"/>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3400" b="1" kern="1200">
                <a:solidFill>
                  <a:schemeClr val="bg1"/>
                </a:solidFill>
                <a:latin typeface="+mn-lt"/>
                <a:ea typeface="+mj-ea"/>
                <a:cs typeface="+mj-cs"/>
              </a:defRPr>
            </a:lvl1pPr>
          </a:lstStyle>
          <a:p>
            <a:r>
              <a:rPr lang="en-IE" sz="1600" dirty="0">
                <a:solidFill>
                  <a:schemeClr val="bg2">
                    <a:lumMod val="10000"/>
                  </a:schemeClr>
                </a:solidFill>
              </a:rPr>
              <a:t>Soft Robotics Perspectives Review (</a:t>
            </a:r>
            <a:r>
              <a:rPr lang="en-IE" sz="1600" dirty="0" err="1">
                <a:solidFill>
                  <a:schemeClr val="bg2">
                    <a:lumMod val="10000"/>
                  </a:schemeClr>
                </a:solidFill>
              </a:rPr>
              <a:t>Laschi</a:t>
            </a:r>
            <a:r>
              <a:rPr lang="en-IE" sz="1600" dirty="0">
                <a:solidFill>
                  <a:schemeClr val="bg2">
                    <a:lumMod val="10000"/>
                  </a:schemeClr>
                </a:solidFill>
              </a:rPr>
              <a:t> &amp; Cianchetti, 2014)</a:t>
            </a:r>
            <a:endParaRPr lang="en-IE" sz="1600" b="0" dirty="0">
              <a:solidFill>
                <a:schemeClr val="bg2">
                  <a:lumMod val="10000"/>
                </a:schemeClr>
              </a:solidFill>
              <a:hlinkClick r:id="rId2">
                <a:extLst>
                  <a:ext uri="{A12FA001-AC4F-418D-AE19-62706E023703}">
                    <ahyp:hlinkClr xmlns:ahyp="http://schemas.microsoft.com/office/drawing/2018/hyperlinkcolor" val="tx"/>
                  </a:ext>
                </a:extLst>
              </a:hlinkClick>
            </a:endParaRPr>
          </a:p>
        </p:txBody>
      </p:sp>
      <p:sp>
        <p:nvSpPr>
          <p:cNvPr id="18" name="TextBox 17">
            <a:extLst>
              <a:ext uri="{FF2B5EF4-FFF2-40B4-BE49-F238E27FC236}">
                <a16:creationId xmlns:a16="http://schemas.microsoft.com/office/drawing/2014/main" id="{F7B809D1-81BD-9194-9FBA-6F6B6322E004}"/>
              </a:ext>
            </a:extLst>
          </p:cNvPr>
          <p:cNvSpPr txBox="1"/>
          <p:nvPr/>
        </p:nvSpPr>
        <p:spPr>
          <a:xfrm>
            <a:off x="260528" y="856624"/>
            <a:ext cx="7068312" cy="400110"/>
          </a:xfrm>
          <a:prstGeom prst="rect">
            <a:avLst/>
          </a:prstGeom>
          <a:noFill/>
        </p:spPr>
        <p:txBody>
          <a:bodyPr wrap="square">
            <a:spAutoFit/>
          </a:bodyPr>
          <a:lstStyle/>
          <a:p>
            <a:r>
              <a:rPr lang="en-US" sz="2000" b="1" dirty="0">
                <a:solidFill>
                  <a:schemeClr val="tx2"/>
                </a:solidFill>
              </a:rPr>
              <a:t>Question/Gap: </a:t>
            </a:r>
            <a:endParaRPr lang="en-IE" sz="2000" b="1" dirty="0">
              <a:solidFill>
                <a:schemeClr val="tx2"/>
              </a:solidFill>
            </a:endParaRPr>
          </a:p>
        </p:txBody>
      </p:sp>
      <p:sp>
        <p:nvSpPr>
          <p:cNvPr id="19" name="TextBox 18">
            <a:extLst>
              <a:ext uri="{FF2B5EF4-FFF2-40B4-BE49-F238E27FC236}">
                <a16:creationId xmlns:a16="http://schemas.microsoft.com/office/drawing/2014/main" id="{E1BF6DBA-6A16-5893-F55C-B90BA62C1277}"/>
              </a:ext>
            </a:extLst>
          </p:cNvPr>
          <p:cNvSpPr txBox="1"/>
          <p:nvPr/>
        </p:nvSpPr>
        <p:spPr>
          <a:xfrm>
            <a:off x="208464" y="2123416"/>
            <a:ext cx="7068312" cy="400110"/>
          </a:xfrm>
          <a:prstGeom prst="rect">
            <a:avLst/>
          </a:prstGeom>
          <a:noFill/>
        </p:spPr>
        <p:txBody>
          <a:bodyPr wrap="square">
            <a:spAutoFit/>
          </a:bodyPr>
          <a:lstStyle/>
          <a:p>
            <a:r>
              <a:rPr lang="en-US" sz="2000" b="1" dirty="0">
                <a:solidFill>
                  <a:schemeClr val="tx2"/>
                </a:solidFill>
              </a:rPr>
              <a:t>Method: </a:t>
            </a:r>
            <a:endParaRPr lang="en-IE" sz="2000" b="1" dirty="0">
              <a:solidFill>
                <a:schemeClr val="tx2"/>
              </a:solidFill>
            </a:endParaRPr>
          </a:p>
        </p:txBody>
      </p:sp>
      <p:sp>
        <p:nvSpPr>
          <p:cNvPr id="20" name="TextBox 19">
            <a:extLst>
              <a:ext uri="{FF2B5EF4-FFF2-40B4-BE49-F238E27FC236}">
                <a16:creationId xmlns:a16="http://schemas.microsoft.com/office/drawing/2014/main" id="{1D512B45-550E-01D1-D94B-467587C241E0}"/>
              </a:ext>
            </a:extLst>
          </p:cNvPr>
          <p:cNvSpPr txBox="1"/>
          <p:nvPr/>
        </p:nvSpPr>
        <p:spPr>
          <a:xfrm>
            <a:off x="166087" y="3857481"/>
            <a:ext cx="7068312" cy="400110"/>
          </a:xfrm>
          <a:prstGeom prst="rect">
            <a:avLst/>
          </a:prstGeom>
          <a:noFill/>
        </p:spPr>
        <p:txBody>
          <a:bodyPr wrap="square">
            <a:spAutoFit/>
          </a:bodyPr>
          <a:lstStyle/>
          <a:p>
            <a:r>
              <a:rPr lang="en-US" sz="2000" b="1" dirty="0">
                <a:solidFill>
                  <a:schemeClr val="tx2"/>
                </a:solidFill>
              </a:rPr>
              <a:t>Results: </a:t>
            </a:r>
            <a:endParaRPr lang="en-IE" sz="2000" b="1" dirty="0">
              <a:solidFill>
                <a:schemeClr val="tx2"/>
              </a:solidFill>
            </a:endParaRPr>
          </a:p>
        </p:txBody>
      </p:sp>
      <p:sp>
        <p:nvSpPr>
          <p:cNvPr id="21" name="TextBox 20">
            <a:extLst>
              <a:ext uri="{FF2B5EF4-FFF2-40B4-BE49-F238E27FC236}">
                <a16:creationId xmlns:a16="http://schemas.microsoft.com/office/drawing/2014/main" id="{7BA088B1-5EB0-ED78-3D45-0CF9B93FD372}"/>
              </a:ext>
            </a:extLst>
          </p:cNvPr>
          <p:cNvSpPr txBox="1"/>
          <p:nvPr/>
        </p:nvSpPr>
        <p:spPr>
          <a:xfrm>
            <a:off x="144751" y="5179827"/>
            <a:ext cx="7068312" cy="400110"/>
          </a:xfrm>
          <a:prstGeom prst="rect">
            <a:avLst/>
          </a:prstGeom>
          <a:noFill/>
        </p:spPr>
        <p:txBody>
          <a:bodyPr wrap="square">
            <a:spAutoFit/>
          </a:bodyPr>
          <a:lstStyle/>
          <a:p>
            <a:r>
              <a:rPr lang="en-US" sz="2000" b="1" dirty="0">
                <a:solidFill>
                  <a:schemeClr val="tx2"/>
                </a:solidFill>
              </a:rPr>
              <a:t>Limitations: </a:t>
            </a:r>
            <a:endParaRPr lang="en-IE" sz="2000" b="1" dirty="0">
              <a:solidFill>
                <a:schemeClr val="tx2"/>
              </a:solidFill>
            </a:endParaRPr>
          </a:p>
        </p:txBody>
      </p:sp>
      <p:pic>
        <p:nvPicPr>
          <p:cNvPr id="5" name="Picture 4">
            <a:extLst>
              <a:ext uri="{FF2B5EF4-FFF2-40B4-BE49-F238E27FC236}">
                <a16:creationId xmlns:a16="http://schemas.microsoft.com/office/drawing/2014/main" id="{61D6A158-53E3-E2FC-81BC-3D962A36E892}"/>
              </a:ext>
            </a:extLst>
          </p:cNvPr>
          <p:cNvPicPr>
            <a:picLocks noChangeAspect="1"/>
          </p:cNvPicPr>
          <p:nvPr/>
        </p:nvPicPr>
        <p:blipFill>
          <a:blip r:embed="rId3"/>
          <a:stretch>
            <a:fillRect/>
          </a:stretch>
        </p:blipFill>
        <p:spPr>
          <a:xfrm>
            <a:off x="8801537" y="1422438"/>
            <a:ext cx="3129935" cy="4870086"/>
          </a:xfrm>
          <a:prstGeom prst="rect">
            <a:avLst/>
          </a:prstGeom>
        </p:spPr>
      </p:pic>
      <p:pic>
        <p:nvPicPr>
          <p:cNvPr id="12" name="Picture 11">
            <a:extLst>
              <a:ext uri="{FF2B5EF4-FFF2-40B4-BE49-F238E27FC236}">
                <a16:creationId xmlns:a16="http://schemas.microsoft.com/office/drawing/2014/main" id="{F9BB1056-46C7-DA2E-82F1-AEF33A367137}"/>
              </a:ext>
            </a:extLst>
          </p:cNvPr>
          <p:cNvPicPr>
            <a:picLocks noChangeAspect="1"/>
          </p:cNvPicPr>
          <p:nvPr/>
        </p:nvPicPr>
        <p:blipFill>
          <a:blip r:embed="rId4"/>
          <a:stretch>
            <a:fillRect/>
          </a:stretch>
        </p:blipFill>
        <p:spPr>
          <a:xfrm>
            <a:off x="5836890" y="1895314"/>
            <a:ext cx="2795018" cy="3966169"/>
          </a:xfrm>
          <a:prstGeom prst="rect">
            <a:avLst/>
          </a:prstGeom>
        </p:spPr>
      </p:pic>
    </p:spTree>
    <p:extLst>
      <p:ext uri="{BB962C8B-B14F-4D97-AF65-F5344CB8AC3E}">
        <p14:creationId xmlns:p14="http://schemas.microsoft.com/office/powerpoint/2010/main" val="6771048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61C9D0E-E0F7-1517-BE47-B4619325F313}"/>
            </a:ext>
          </a:extLst>
        </p:cNvPr>
        <p:cNvGrpSpPr/>
        <p:nvPr/>
      </p:nvGrpSpPr>
      <p:grpSpPr>
        <a:xfrm>
          <a:off x="0" y="0"/>
          <a:ext cx="0" cy="0"/>
          <a:chOff x="0" y="0"/>
          <a:chExt cx="0" cy="0"/>
        </a:xfrm>
      </p:grpSpPr>
      <p:pic>
        <p:nvPicPr>
          <p:cNvPr id="15" name="Picture 14">
            <a:extLst>
              <a:ext uri="{FF2B5EF4-FFF2-40B4-BE49-F238E27FC236}">
                <a16:creationId xmlns:a16="http://schemas.microsoft.com/office/drawing/2014/main" id="{8E209F3A-0920-E3E3-6B7F-225CB9744095}"/>
              </a:ext>
            </a:extLst>
          </p:cNvPr>
          <p:cNvPicPr>
            <a:picLocks noChangeAspect="1"/>
          </p:cNvPicPr>
          <p:nvPr/>
        </p:nvPicPr>
        <p:blipFill>
          <a:blip r:embed="rId2"/>
          <a:stretch>
            <a:fillRect/>
          </a:stretch>
        </p:blipFill>
        <p:spPr>
          <a:xfrm>
            <a:off x="6135658" y="1112048"/>
            <a:ext cx="3304117" cy="5244825"/>
          </a:xfrm>
          <a:prstGeom prst="rect">
            <a:avLst/>
          </a:prstGeom>
        </p:spPr>
      </p:pic>
      <p:sp>
        <p:nvSpPr>
          <p:cNvPr id="2" name="Title 1">
            <a:extLst>
              <a:ext uri="{FF2B5EF4-FFF2-40B4-BE49-F238E27FC236}">
                <a16:creationId xmlns:a16="http://schemas.microsoft.com/office/drawing/2014/main" id="{6ED58FE2-7B3B-A59C-85A2-AA45F44E067E}"/>
              </a:ext>
            </a:extLst>
          </p:cNvPr>
          <p:cNvSpPr>
            <a:spLocks noGrp="1"/>
          </p:cNvSpPr>
          <p:nvPr>
            <p:ph type="title"/>
          </p:nvPr>
        </p:nvSpPr>
        <p:spPr>
          <a:xfrm>
            <a:off x="208465" y="1291149"/>
            <a:ext cx="5277936" cy="787314"/>
          </a:xfrm>
        </p:spPr>
        <p:txBody>
          <a:bodyPr>
            <a:normAutofit/>
          </a:bodyPr>
          <a:lstStyle/>
          <a:p>
            <a:r>
              <a:rPr lang="en-IE" sz="2000" dirty="0">
                <a:solidFill>
                  <a:schemeClr val="bg2">
                    <a:lumMod val="10000"/>
                  </a:schemeClr>
                </a:solidFill>
              </a:rPr>
              <a:t>Gecko grippers require highly complex motions (stick flat, then peel away).</a:t>
            </a:r>
          </a:p>
        </p:txBody>
      </p:sp>
      <p:sp>
        <p:nvSpPr>
          <p:cNvPr id="4" name="Title 1">
            <a:extLst>
              <a:ext uri="{FF2B5EF4-FFF2-40B4-BE49-F238E27FC236}">
                <a16:creationId xmlns:a16="http://schemas.microsoft.com/office/drawing/2014/main" id="{A59CE2AA-F952-E550-C329-E56B87F3C468}"/>
              </a:ext>
            </a:extLst>
          </p:cNvPr>
          <p:cNvSpPr txBox="1">
            <a:spLocks/>
          </p:cNvSpPr>
          <p:nvPr/>
        </p:nvSpPr>
        <p:spPr>
          <a:xfrm>
            <a:off x="145200" y="111354"/>
            <a:ext cx="9064390" cy="787314"/>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400" b="1" kern="1200">
                <a:solidFill>
                  <a:schemeClr val="bg1"/>
                </a:solidFill>
                <a:latin typeface="+mn-lt"/>
                <a:ea typeface="+mj-ea"/>
                <a:cs typeface="+mj-cs"/>
              </a:defRPr>
            </a:lvl1pPr>
          </a:lstStyle>
          <a:p>
            <a:r>
              <a:rPr lang="en-US" b="0" dirty="0">
                <a:solidFill>
                  <a:srgbClr val="002060"/>
                </a:solidFill>
              </a:rPr>
              <a:t>Literature : Gripper</a:t>
            </a:r>
          </a:p>
        </p:txBody>
      </p:sp>
      <p:sp>
        <p:nvSpPr>
          <p:cNvPr id="7" name="Title 1">
            <a:extLst>
              <a:ext uri="{FF2B5EF4-FFF2-40B4-BE49-F238E27FC236}">
                <a16:creationId xmlns:a16="http://schemas.microsoft.com/office/drawing/2014/main" id="{C5AF96AA-9F29-2887-8EB8-A679BD4167DD}"/>
              </a:ext>
            </a:extLst>
          </p:cNvPr>
          <p:cNvSpPr txBox="1">
            <a:spLocks/>
          </p:cNvSpPr>
          <p:nvPr/>
        </p:nvSpPr>
        <p:spPr>
          <a:xfrm>
            <a:off x="199870" y="2551488"/>
            <a:ext cx="5896130" cy="787314"/>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3400" b="1" kern="1200">
                <a:solidFill>
                  <a:schemeClr val="bg1"/>
                </a:solidFill>
                <a:latin typeface="+mn-lt"/>
                <a:ea typeface="+mj-ea"/>
                <a:cs typeface="+mj-cs"/>
              </a:defRPr>
            </a:lvl1pPr>
          </a:lstStyle>
          <a:p>
            <a:r>
              <a:rPr lang="en-IE" sz="2000" dirty="0">
                <a:solidFill>
                  <a:schemeClr val="bg2">
                    <a:lumMod val="10000"/>
                  </a:schemeClr>
                </a:solidFill>
              </a:rPr>
              <a:t>1 motor + tendons. Wraps and engages the directional glue in one single motion.</a:t>
            </a:r>
            <a:endParaRPr lang="en-US" sz="2000" b="0" dirty="0">
              <a:solidFill>
                <a:schemeClr val="bg2">
                  <a:lumMod val="10000"/>
                </a:schemeClr>
              </a:solidFill>
            </a:endParaRPr>
          </a:p>
        </p:txBody>
      </p:sp>
      <p:sp>
        <p:nvSpPr>
          <p:cNvPr id="9" name="Title 1">
            <a:extLst>
              <a:ext uri="{FF2B5EF4-FFF2-40B4-BE49-F238E27FC236}">
                <a16:creationId xmlns:a16="http://schemas.microsoft.com/office/drawing/2014/main" id="{5A51434D-E410-69C8-6A32-FDC5A61C7CD0}"/>
              </a:ext>
            </a:extLst>
          </p:cNvPr>
          <p:cNvSpPr txBox="1">
            <a:spLocks/>
          </p:cNvSpPr>
          <p:nvPr/>
        </p:nvSpPr>
        <p:spPr>
          <a:xfrm>
            <a:off x="166087" y="4327041"/>
            <a:ext cx="7051128" cy="787314"/>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400" b="1" kern="1200">
                <a:solidFill>
                  <a:schemeClr val="bg1"/>
                </a:solidFill>
                <a:latin typeface="+mn-lt"/>
                <a:ea typeface="+mj-ea"/>
                <a:cs typeface="+mj-cs"/>
              </a:defRPr>
            </a:lvl1pPr>
          </a:lstStyle>
          <a:p>
            <a:r>
              <a:rPr lang="en-IE" sz="2000" dirty="0">
                <a:solidFill>
                  <a:schemeClr val="bg2">
                    <a:lumMod val="10000"/>
                  </a:schemeClr>
                </a:solidFill>
              </a:rPr>
              <a:t>Perfect holding at 0W via Van der Waals forces.</a:t>
            </a:r>
            <a:endParaRPr lang="en-US" sz="2000" b="0" dirty="0">
              <a:solidFill>
                <a:schemeClr val="bg2">
                  <a:lumMod val="10000"/>
                </a:schemeClr>
              </a:solidFill>
            </a:endParaRPr>
          </a:p>
        </p:txBody>
      </p:sp>
      <p:sp>
        <p:nvSpPr>
          <p:cNvPr id="10" name="Title 1">
            <a:extLst>
              <a:ext uri="{FF2B5EF4-FFF2-40B4-BE49-F238E27FC236}">
                <a16:creationId xmlns:a16="http://schemas.microsoft.com/office/drawing/2014/main" id="{38CD5931-54F6-AAB1-CB2B-AF951BE92281}"/>
              </a:ext>
            </a:extLst>
          </p:cNvPr>
          <p:cNvSpPr txBox="1">
            <a:spLocks/>
          </p:cNvSpPr>
          <p:nvPr/>
        </p:nvSpPr>
        <p:spPr>
          <a:xfrm>
            <a:off x="166087" y="5546395"/>
            <a:ext cx="5476105" cy="787314"/>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400" b="1" kern="1200">
                <a:solidFill>
                  <a:schemeClr val="bg1"/>
                </a:solidFill>
                <a:latin typeface="+mn-lt"/>
                <a:ea typeface="+mj-ea"/>
                <a:cs typeface="+mj-cs"/>
              </a:defRPr>
            </a:lvl1pPr>
          </a:lstStyle>
          <a:p>
            <a:r>
              <a:rPr lang="en-IE" sz="2000" dirty="0">
                <a:solidFill>
                  <a:schemeClr val="bg2">
                    <a:lumMod val="10000"/>
                  </a:schemeClr>
                </a:solidFill>
              </a:rPr>
              <a:t>Slips entirely on dusty or rough objects. No touch sensors.</a:t>
            </a:r>
            <a:endParaRPr lang="en-US" sz="2000" b="0" dirty="0">
              <a:solidFill>
                <a:schemeClr val="bg2">
                  <a:lumMod val="10000"/>
                </a:schemeClr>
              </a:solidFill>
            </a:endParaRPr>
          </a:p>
        </p:txBody>
      </p:sp>
      <p:sp>
        <p:nvSpPr>
          <p:cNvPr id="11" name="Title 1">
            <a:extLst>
              <a:ext uri="{FF2B5EF4-FFF2-40B4-BE49-F238E27FC236}">
                <a16:creationId xmlns:a16="http://schemas.microsoft.com/office/drawing/2014/main" id="{D80A94EE-C11A-90B4-1898-4239ECBCEE81}"/>
              </a:ext>
            </a:extLst>
          </p:cNvPr>
          <p:cNvSpPr txBox="1">
            <a:spLocks/>
          </p:cNvSpPr>
          <p:nvPr/>
        </p:nvSpPr>
        <p:spPr>
          <a:xfrm>
            <a:off x="5043336" y="218044"/>
            <a:ext cx="6888136" cy="787314"/>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3400" b="1" kern="1200">
                <a:solidFill>
                  <a:schemeClr val="bg1"/>
                </a:solidFill>
                <a:latin typeface="+mn-lt"/>
                <a:ea typeface="+mj-ea"/>
                <a:cs typeface="+mj-cs"/>
              </a:defRPr>
            </a:lvl1pPr>
          </a:lstStyle>
          <a:p>
            <a:r>
              <a:rPr lang="en-IE" sz="1600" dirty="0">
                <a:solidFill>
                  <a:schemeClr val="bg2">
                    <a:lumMod val="10000"/>
                  </a:schemeClr>
                </a:solidFill>
              </a:rPr>
              <a:t>Underactuated Gecko Adhesive Gripper (Hirano et al., 2020)</a:t>
            </a:r>
            <a:endParaRPr lang="en-IE" sz="1600" b="0" dirty="0">
              <a:solidFill>
                <a:schemeClr val="bg2">
                  <a:lumMod val="10000"/>
                </a:schemeClr>
              </a:solidFill>
              <a:hlinkClick r:id="rId3">
                <a:extLst>
                  <a:ext uri="{A12FA001-AC4F-418D-AE19-62706E023703}">
                    <ahyp:hlinkClr xmlns:ahyp="http://schemas.microsoft.com/office/drawing/2018/hyperlinkcolor" val="tx"/>
                  </a:ext>
                </a:extLst>
              </a:hlinkClick>
            </a:endParaRPr>
          </a:p>
        </p:txBody>
      </p:sp>
      <p:sp>
        <p:nvSpPr>
          <p:cNvPr id="18" name="TextBox 17">
            <a:extLst>
              <a:ext uri="{FF2B5EF4-FFF2-40B4-BE49-F238E27FC236}">
                <a16:creationId xmlns:a16="http://schemas.microsoft.com/office/drawing/2014/main" id="{55667242-7AE8-256B-7920-793FF8E0DFA4}"/>
              </a:ext>
            </a:extLst>
          </p:cNvPr>
          <p:cNvSpPr txBox="1"/>
          <p:nvPr/>
        </p:nvSpPr>
        <p:spPr>
          <a:xfrm>
            <a:off x="260528" y="856624"/>
            <a:ext cx="7068312" cy="400110"/>
          </a:xfrm>
          <a:prstGeom prst="rect">
            <a:avLst/>
          </a:prstGeom>
          <a:noFill/>
        </p:spPr>
        <p:txBody>
          <a:bodyPr wrap="square">
            <a:spAutoFit/>
          </a:bodyPr>
          <a:lstStyle/>
          <a:p>
            <a:r>
              <a:rPr lang="en-US" sz="2000" b="1" dirty="0">
                <a:solidFill>
                  <a:schemeClr val="tx2"/>
                </a:solidFill>
              </a:rPr>
              <a:t>Question/Gap: </a:t>
            </a:r>
            <a:endParaRPr lang="en-IE" sz="2000" b="1" dirty="0">
              <a:solidFill>
                <a:schemeClr val="tx2"/>
              </a:solidFill>
            </a:endParaRPr>
          </a:p>
        </p:txBody>
      </p:sp>
      <p:sp>
        <p:nvSpPr>
          <p:cNvPr id="19" name="TextBox 18">
            <a:extLst>
              <a:ext uri="{FF2B5EF4-FFF2-40B4-BE49-F238E27FC236}">
                <a16:creationId xmlns:a16="http://schemas.microsoft.com/office/drawing/2014/main" id="{A8F4748A-62CC-5A89-DC7E-427ECE76106C}"/>
              </a:ext>
            </a:extLst>
          </p:cNvPr>
          <p:cNvSpPr txBox="1"/>
          <p:nvPr/>
        </p:nvSpPr>
        <p:spPr>
          <a:xfrm>
            <a:off x="208464" y="2123416"/>
            <a:ext cx="7068312" cy="400110"/>
          </a:xfrm>
          <a:prstGeom prst="rect">
            <a:avLst/>
          </a:prstGeom>
          <a:noFill/>
        </p:spPr>
        <p:txBody>
          <a:bodyPr wrap="square">
            <a:spAutoFit/>
          </a:bodyPr>
          <a:lstStyle/>
          <a:p>
            <a:r>
              <a:rPr lang="en-US" sz="2000" b="1" dirty="0">
                <a:solidFill>
                  <a:schemeClr val="tx2"/>
                </a:solidFill>
              </a:rPr>
              <a:t>Method: </a:t>
            </a:r>
            <a:endParaRPr lang="en-IE" sz="2000" b="1" dirty="0">
              <a:solidFill>
                <a:schemeClr val="tx2"/>
              </a:solidFill>
            </a:endParaRPr>
          </a:p>
        </p:txBody>
      </p:sp>
      <p:sp>
        <p:nvSpPr>
          <p:cNvPr id="20" name="TextBox 19">
            <a:extLst>
              <a:ext uri="{FF2B5EF4-FFF2-40B4-BE49-F238E27FC236}">
                <a16:creationId xmlns:a16="http://schemas.microsoft.com/office/drawing/2014/main" id="{3F4982C9-0571-D84E-B94C-8633A66662F4}"/>
              </a:ext>
            </a:extLst>
          </p:cNvPr>
          <p:cNvSpPr txBox="1"/>
          <p:nvPr/>
        </p:nvSpPr>
        <p:spPr>
          <a:xfrm>
            <a:off x="166087" y="3857481"/>
            <a:ext cx="7068312" cy="400110"/>
          </a:xfrm>
          <a:prstGeom prst="rect">
            <a:avLst/>
          </a:prstGeom>
          <a:noFill/>
        </p:spPr>
        <p:txBody>
          <a:bodyPr wrap="square">
            <a:spAutoFit/>
          </a:bodyPr>
          <a:lstStyle/>
          <a:p>
            <a:r>
              <a:rPr lang="en-US" sz="2000" b="1" dirty="0">
                <a:solidFill>
                  <a:schemeClr val="tx2"/>
                </a:solidFill>
              </a:rPr>
              <a:t>Results: </a:t>
            </a:r>
            <a:endParaRPr lang="en-IE" sz="2000" b="1" dirty="0">
              <a:solidFill>
                <a:schemeClr val="tx2"/>
              </a:solidFill>
            </a:endParaRPr>
          </a:p>
        </p:txBody>
      </p:sp>
      <p:sp>
        <p:nvSpPr>
          <p:cNvPr id="21" name="TextBox 20">
            <a:extLst>
              <a:ext uri="{FF2B5EF4-FFF2-40B4-BE49-F238E27FC236}">
                <a16:creationId xmlns:a16="http://schemas.microsoft.com/office/drawing/2014/main" id="{333C5ED2-5FCA-BD8E-6B35-2310102B66C1}"/>
              </a:ext>
            </a:extLst>
          </p:cNvPr>
          <p:cNvSpPr txBox="1"/>
          <p:nvPr/>
        </p:nvSpPr>
        <p:spPr>
          <a:xfrm>
            <a:off x="145200" y="5107899"/>
            <a:ext cx="7068312" cy="400110"/>
          </a:xfrm>
          <a:prstGeom prst="rect">
            <a:avLst/>
          </a:prstGeom>
          <a:noFill/>
        </p:spPr>
        <p:txBody>
          <a:bodyPr wrap="square">
            <a:spAutoFit/>
          </a:bodyPr>
          <a:lstStyle/>
          <a:p>
            <a:r>
              <a:rPr lang="en-US" sz="2000" b="1" dirty="0">
                <a:solidFill>
                  <a:schemeClr val="tx2"/>
                </a:solidFill>
              </a:rPr>
              <a:t>Limitations: </a:t>
            </a:r>
            <a:endParaRPr lang="en-IE" sz="2000" b="1" dirty="0">
              <a:solidFill>
                <a:schemeClr val="tx2"/>
              </a:solidFill>
            </a:endParaRPr>
          </a:p>
        </p:txBody>
      </p:sp>
      <p:pic>
        <p:nvPicPr>
          <p:cNvPr id="6" name="Picture 5">
            <a:extLst>
              <a:ext uri="{FF2B5EF4-FFF2-40B4-BE49-F238E27FC236}">
                <a16:creationId xmlns:a16="http://schemas.microsoft.com/office/drawing/2014/main" id="{18C1A54E-9A86-AFB7-99A0-A00F6BAFE744}"/>
              </a:ext>
            </a:extLst>
          </p:cNvPr>
          <p:cNvPicPr>
            <a:picLocks noChangeAspect="1"/>
          </p:cNvPicPr>
          <p:nvPr/>
        </p:nvPicPr>
        <p:blipFill>
          <a:blip r:embed="rId4"/>
          <a:stretch>
            <a:fillRect/>
          </a:stretch>
        </p:blipFill>
        <p:spPr>
          <a:xfrm>
            <a:off x="9220882" y="3338802"/>
            <a:ext cx="2865576" cy="1799314"/>
          </a:xfrm>
          <a:prstGeom prst="rect">
            <a:avLst/>
          </a:prstGeom>
        </p:spPr>
      </p:pic>
      <p:pic>
        <p:nvPicPr>
          <p:cNvPr id="13" name="Picture 12">
            <a:extLst>
              <a:ext uri="{FF2B5EF4-FFF2-40B4-BE49-F238E27FC236}">
                <a16:creationId xmlns:a16="http://schemas.microsoft.com/office/drawing/2014/main" id="{B9C734A7-1FAA-98EF-550F-BA3AB0D17BA9}"/>
              </a:ext>
            </a:extLst>
          </p:cNvPr>
          <p:cNvPicPr>
            <a:picLocks noChangeAspect="1"/>
          </p:cNvPicPr>
          <p:nvPr/>
        </p:nvPicPr>
        <p:blipFill>
          <a:blip r:embed="rId5"/>
          <a:stretch>
            <a:fillRect/>
          </a:stretch>
        </p:blipFill>
        <p:spPr>
          <a:xfrm>
            <a:off x="8903250" y="851248"/>
            <a:ext cx="3271662" cy="1800512"/>
          </a:xfrm>
          <a:prstGeom prst="rect">
            <a:avLst/>
          </a:prstGeom>
        </p:spPr>
      </p:pic>
    </p:spTree>
    <p:extLst>
      <p:ext uri="{BB962C8B-B14F-4D97-AF65-F5344CB8AC3E}">
        <p14:creationId xmlns:p14="http://schemas.microsoft.com/office/powerpoint/2010/main" val="22475911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F38C5C0-C456-71BE-6817-E0B162D5855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4E5757D-EEBD-BF42-E934-BAEF5EAEE562}"/>
              </a:ext>
            </a:extLst>
          </p:cNvPr>
          <p:cNvSpPr>
            <a:spLocks noGrp="1"/>
          </p:cNvSpPr>
          <p:nvPr>
            <p:ph type="title"/>
          </p:nvPr>
        </p:nvSpPr>
        <p:spPr>
          <a:xfrm>
            <a:off x="208465" y="1291149"/>
            <a:ext cx="5159064" cy="787314"/>
          </a:xfrm>
        </p:spPr>
        <p:txBody>
          <a:bodyPr>
            <a:normAutofit/>
          </a:bodyPr>
          <a:lstStyle/>
          <a:p>
            <a:r>
              <a:rPr lang="en-IE" sz="2000" dirty="0" err="1">
                <a:solidFill>
                  <a:schemeClr val="bg2">
                    <a:lumMod val="10000"/>
                  </a:schemeClr>
                </a:solidFill>
              </a:rPr>
              <a:t>Underactuation</a:t>
            </a:r>
            <a:r>
              <a:rPr lang="en-IE" sz="2000" dirty="0">
                <a:solidFill>
                  <a:schemeClr val="bg2">
                    <a:lumMod val="10000"/>
                  </a:schemeClr>
                </a:solidFill>
              </a:rPr>
              <a:t> </a:t>
            </a:r>
            <a:r>
              <a:rPr lang="en-IE" sz="2000" dirty="0" err="1">
                <a:solidFill>
                  <a:schemeClr val="bg2">
                    <a:lumMod val="10000"/>
                  </a:schemeClr>
                </a:solidFill>
              </a:rPr>
              <a:t>molds</a:t>
            </a:r>
            <a:r>
              <a:rPr lang="en-IE" sz="2000" dirty="0">
                <a:solidFill>
                  <a:schemeClr val="bg2">
                    <a:lumMod val="10000"/>
                  </a:schemeClr>
                </a:solidFill>
              </a:rPr>
              <a:t> to the object but can't pull it into the palm.</a:t>
            </a:r>
          </a:p>
        </p:txBody>
      </p:sp>
      <p:sp>
        <p:nvSpPr>
          <p:cNvPr id="4" name="Title 1">
            <a:extLst>
              <a:ext uri="{FF2B5EF4-FFF2-40B4-BE49-F238E27FC236}">
                <a16:creationId xmlns:a16="http://schemas.microsoft.com/office/drawing/2014/main" id="{1CAF6EF7-004C-3810-F2B9-E7B20A9493A8}"/>
              </a:ext>
            </a:extLst>
          </p:cNvPr>
          <p:cNvSpPr txBox="1">
            <a:spLocks/>
          </p:cNvSpPr>
          <p:nvPr/>
        </p:nvSpPr>
        <p:spPr>
          <a:xfrm>
            <a:off x="145200" y="111354"/>
            <a:ext cx="9064390" cy="787314"/>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400" b="1" kern="1200">
                <a:solidFill>
                  <a:schemeClr val="bg1"/>
                </a:solidFill>
                <a:latin typeface="+mn-lt"/>
                <a:ea typeface="+mj-ea"/>
                <a:cs typeface="+mj-cs"/>
              </a:defRPr>
            </a:lvl1pPr>
          </a:lstStyle>
          <a:p>
            <a:r>
              <a:rPr lang="en-US" b="0" dirty="0">
                <a:solidFill>
                  <a:srgbClr val="002060"/>
                </a:solidFill>
              </a:rPr>
              <a:t>Literature : Gripper</a:t>
            </a:r>
          </a:p>
        </p:txBody>
      </p:sp>
      <p:sp>
        <p:nvSpPr>
          <p:cNvPr id="7" name="Title 1">
            <a:extLst>
              <a:ext uri="{FF2B5EF4-FFF2-40B4-BE49-F238E27FC236}">
                <a16:creationId xmlns:a16="http://schemas.microsoft.com/office/drawing/2014/main" id="{23F74281-9272-1DCC-E921-88E896092BE7}"/>
              </a:ext>
            </a:extLst>
          </p:cNvPr>
          <p:cNvSpPr txBox="1">
            <a:spLocks/>
          </p:cNvSpPr>
          <p:nvPr/>
        </p:nvSpPr>
        <p:spPr>
          <a:xfrm>
            <a:off x="199870" y="2551488"/>
            <a:ext cx="5159064" cy="787314"/>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3400" b="1" kern="1200">
                <a:solidFill>
                  <a:schemeClr val="bg1"/>
                </a:solidFill>
                <a:latin typeface="+mn-lt"/>
                <a:ea typeface="+mj-ea"/>
                <a:cs typeface="+mj-cs"/>
              </a:defRPr>
            </a:lvl1pPr>
          </a:lstStyle>
          <a:p>
            <a:r>
              <a:rPr lang="en-IE" sz="2000" dirty="0">
                <a:solidFill>
                  <a:schemeClr val="bg2">
                    <a:lumMod val="10000"/>
                  </a:schemeClr>
                </a:solidFill>
              </a:rPr>
              <a:t>A differential gear links the finger closing to an internal roller rotating.</a:t>
            </a:r>
            <a:endParaRPr lang="en-US" sz="2000" b="0" dirty="0">
              <a:solidFill>
                <a:schemeClr val="bg2">
                  <a:lumMod val="10000"/>
                </a:schemeClr>
              </a:solidFill>
            </a:endParaRPr>
          </a:p>
        </p:txBody>
      </p:sp>
      <p:sp>
        <p:nvSpPr>
          <p:cNvPr id="9" name="Title 1">
            <a:extLst>
              <a:ext uri="{FF2B5EF4-FFF2-40B4-BE49-F238E27FC236}">
                <a16:creationId xmlns:a16="http://schemas.microsoft.com/office/drawing/2014/main" id="{796D9B73-D755-9C89-F287-312503B87016}"/>
              </a:ext>
            </a:extLst>
          </p:cNvPr>
          <p:cNvSpPr txBox="1">
            <a:spLocks/>
          </p:cNvSpPr>
          <p:nvPr/>
        </p:nvSpPr>
        <p:spPr>
          <a:xfrm>
            <a:off x="166087" y="4253770"/>
            <a:ext cx="5731344" cy="787314"/>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400" b="1" kern="1200">
                <a:solidFill>
                  <a:schemeClr val="bg1"/>
                </a:solidFill>
                <a:latin typeface="+mn-lt"/>
                <a:ea typeface="+mj-ea"/>
                <a:cs typeface="+mj-cs"/>
              </a:defRPr>
            </a:lvl1pPr>
          </a:lstStyle>
          <a:p>
            <a:r>
              <a:rPr lang="en-IE" sz="2000" dirty="0">
                <a:solidFill>
                  <a:schemeClr val="bg2">
                    <a:lumMod val="10000"/>
                  </a:schemeClr>
                </a:solidFill>
              </a:rPr>
              <a:t>1 motor closes the hand AND rolls flat objects inward simultaneously.</a:t>
            </a:r>
            <a:endParaRPr lang="en-US" sz="2000" b="0" dirty="0">
              <a:solidFill>
                <a:schemeClr val="bg2">
                  <a:lumMod val="10000"/>
                </a:schemeClr>
              </a:solidFill>
            </a:endParaRPr>
          </a:p>
        </p:txBody>
      </p:sp>
      <p:sp>
        <p:nvSpPr>
          <p:cNvPr id="10" name="Title 1">
            <a:extLst>
              <a:ext uri="{FF2B5EF4-FFF2-40B4-BE49-F238E27FC236}">
                <a16:creationId xmlns:a16="http://schemas.microsoft.com/office/drawing/2014/main" id="{1E2CB162-1CCE-A63B-92CF-84FD209A116B}"/>
              </a:ext>
            </a:extLst>
          </p:cNvPr>
          <p:cNvSpPr txBox="1">
            <a:spLocks/>
          </p:cNvSpPr>
          <p:nvPr/>
        </p:nvSpPr>
        <p:spPr>
          <a:xfrm>
            <a:off x="166087" y="5544884"/>
            <a:ext cx="5283737" cy="787314"/>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400" b="1" kern="1200">
                <a:solidFill>
                  <a:schemeClr val="bg1"/>
                </a:solidFill>
                <a:latin typeface="+mn-lt"/>
                <a:ea typeface="+mj-ea"/>
                <a:cs typeface="+mj-cs"/>
              </a:defRPr>
            </a:lvl1pPr>
          </a:lstStyle>
          <a:p>
            <a:r>
              <a:rPr lang="en-IE" sz="2000" dirty="0">
                <a:solidFill>
                  <a:schemeClr val="bg2">
                    <a:lumMod val="10000"/>
                  </a:schemeClr>
                </a:solidFill>
              </a:rPr>
              <a:t>The gear train is a mechanical nightmare. Huge friction, impossible to attach e-textiles.</a:t>
            </a:r>
            <a:endParaRPr lang="en-US" sz="2000" b="0" dirty="0">
              <a:solidFill>
                <a:schemeClr val="bg2">
                  <a:lumMod val="10000"/>
                </a:schemeClr>
              </a:solidFill>
            </a:endParaRPr>
          </a:p>
        </p:txBody>
      </p:sp>
      <p:sp>
        <p:nvSpPr>
          <p:cNvPr id="11" name="Title 1">
            <a:extLst>
              <a:ext uri="{FF2B5EF4-FFF2-40B4-BE49-F238E27FC236}">
                <a16:creationId xmlns:a16="http://schemas.microsoft.com/office/drawing/2014/main" id="{E06CF9C5-8F67-DD5F-BF92-B552D358C51D}"/>
              </a:ext>
            </a:extLst>
          </p:cNvPr>
          <p:cNvSpPr txBox="1">
            <a:spLocks/>
          </p:cNvSpPr>
          <p:nvPr/>
        </p:nvSpPr>
        <p:spPr>
          <a:xfrm>
            <a:off x="5043336" y="218044"/>
            <a:ext cx="6888136" cy="787314"/>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3400" b="1" kern="1200">
                <a:solidFill>
                  <a:schemeClr val="bg1"/>
                </a:solidFill>
                <a:latin typeface="+mn-lt"/>
                <a:ea typeface="+mj-ea"/>
                <a:cs typeface="+mj-cs"/>
              </a:defRPr>
            </a:lvl1pPr>
          </a:lstStyle>
          <a:p>
            <a:r>
              <a:rPr lang="en-IE" sz="1600" dirty="0">
                <a:solidFill>
                  <a:schemeClr val="bg2">
                    <a:lumMod val="10000"/>
                  </a:schemeClr>
                </a:solidFill>
              </a:rPr>
              <a:t>Underactuated Modular Finger with Pull-in Mechanism for a Robotic</a:t>
            </a:r>
          </a:p>
          <a:p>
            <a:r>
              <a:rPr lang="en-IE" sz="1600" dirty="0">
                <a:solidFill>
                  <a:schemeClr val="bg2">
                    <a:lumMod val="10000"/>
                  </a:schemeClr>
                </a:solidFill>
              </a:rPr>
              <a:t>Gripper Atsushi Kakogawa1, Hiroyuki Nishimura2, and </a:t>
            </a:r>
            <a:r>
              <a:rPr lang="en-IE" sz="1600" dirty="0" err="1">
                <a:solidFill>
                  <a:schemeClr val="bg2">
                    <a:lumMod val="10000"/>
                  </a:schemeClr>
                </a:solidFill>
              </a:rPr>
              <a:t>Shugen</a:t>
            </a:r>
            <a:r>
              <a:rPr lang="en-IE" sz="1600" dirty="0">
                <a:solidFill>
                  <a:schemeClr val="bg2">
                    <a:lumMod val="10000"/>
                  </a:schemeClr>
                </a:solidFill>
              </a:rPr>
              <a:t> Ma1</a:t>
            </a:r>
            <a:endParaRPr lang="en-IE" sz="1600" b="0" dirty="0">
              <a:solidFill>
                <a:schemeClr val="bg2">
                  <a:lumMod val="10000"/>
                </a:schemeClr>
              </a:solidFill>
              <a:hlinkClick r:id="rId2">
                <a:extLst>
                  <a:ext uri="{A12FA001-AC4F-418D-AE19-62706E023703}">
                    <ahyp:hlinkClr xmlns:ahyp="http://schemas.microsoft.com/office/drawing/2018/hyperlinkcolor" val="tx"/>
                  </a:ext>
                </a:extLst>
              </a:hlinkClick>
            </a:endParaRPr>
          </a:p>
        </p:txBody>
      </p:sp>
      <p:sp>
        <p:nvSpPr>
          <p:cNvPr id="18" name="TextBox 17">
            <a:extLst>
              <a:ext uri="{FF2B5EF4-FFF2-40B4-BE49-F238E27FC236}">
                <a16:creationId xmlns:a16="http://schemas.microsoft.com/office/drawing/2014/main" id="{3560987F-E5D4-9C5F-A3D7-9F84C7D0F35B}"/>
              </a:ext>
            </a:extLst>
          </p:cNvPr>
          <p:cNvSpPr txBox="1"/>
          <p:nvPr/>
        </p:nvSpPr>
        <p:spPr>
          <a:xfrm>
            <a:off x="260528" y="856624"/>
            <a:ext cx="7068312" cy="400110"/>
          </a:xfrm>
          <a:prstGeom prst="rect">
            <a:avLst/>
          </a:prstGeom>
          <a:noFill/>
        </p:spPr>
        <p:txBody>
          <a:bodyPr wrap="square">
            <a:spAutoFit/>
          </a:bodyPr>
          <a:lstStyle/>
          <a:p>
            <a:r>
              <a:rPr lang="en-US" sz="2000" b="1" dirty="0">
                <a:solidFill>
                  <a:schemeClr val="tx2"/>
                </a:solidFill>
              </a:rPr>
              <a:t>Question/Gap: </a:t>
            </a:r>
            <a:endParaRPr lang="en-IE" sz="2000" b="1" dirty="0">
              <a:solidFill>
                <a:schemeClr val="tx2"/>
              </a:solidFill>
            </a:endParaRPr>
          </a:p>
        </p:txBody>
      </p:sp>
      <p:sp>
        <p:nvSpPr>
          <p:cNvPr id="19" name="TextBox 18">
            <a:extLst>
              <a:ext uri="{FF2B5EF4-FFF2-40B4-BE49-F238E27FC236}">
                <a16:creationId xmlns:a16="http://schemas.microsoft.com/office/drawing/2014/main" id="{78373852-2AFA-A81E-DCC3-F9C8A41FC2EB}"/>
              </a:ext>
            </a:extLst>
          </p:cNvPr>
          <p:cNvSpPr txBox="1"/>
          <p:nvPr/>
        </p:nvSpPr>
        <p:spPr>
          <a:xfrm>
            <a:off x="208464" y="2123416"/>
            <a:ext cx="7068312" cy="400110"/>
          </a:xfrm>
          <a:prstGeom prst="rect">
            <a:avLst/>
          </a:prstGeom>
          <a:noFill/>
        </p:spPr>
        <p:txBody>
          <a:bodyPr wrap="square">
            <a:spAutoFit/>
          </a:bodyPr>
          <a:lstStyle/>
          <a:p>
            <a:r>
              <a:rPr lang="en-US" sz="2000" b="1" dirty="0">
                <a:solidFill>
                  <a:schemeClr val="tx2"/>
                </a:solidFill>
              </a:rPr>
              <a:t>Method: </a:t>
            </a:r>
            <a:endParaRPr lang="en-IE" sz="2000" b="1" dirty="0">
              <a:solidFill>
                <a:schemeClr val="tx2"/>
              </a:solidFill>
            </a:endParaRPr>
          </a:p>
        </p:txBody>
      </p:sp>
      <p:sp>
        <p:nvSpPr>
          <p:cNvPr id="20" name="TextBox 19">
            <a:extLst>
              <a:ext uri="{FF2B5EF4-FFF2-40B4-BE49-F238E27FC236}">
                <a16:creationId xmlns:a16="http://schemas.microsoft.com/office/drawing/2014/main" id="{0B220098-2BCE-3403-7D88-64C29B94802E}"/>
              </a:ext>
            </a:extLst>
          </p:cNvPr>
          <p:cNvSpPr txBox="1"/>
          <p:nvPr/>
        </p:nvSpPr>
        <p:spPr>
          <a:xfrm>
            <a:off x="166087" y="3857481"/>
            <a:ext cx="7068312" cy="400110"/>
          </a:xfrm>
          <a:prstGeom prst="rect">
            <a:avLst/>
          </a:prstGeom>
          <a:noFill/>
        </p:spPr>
        <p:txBody>
          <a:bodyPr wrap="square">
            <a:spAutoFit/>
          </a:bodyPr>
          <a:lstStyle/>
          <a:p>
            <a:r>
              <a:rPr lang="en-US" sz="2000" b="1" dirty="0">
                <a:solidFill>
                  <a:schemeClr val="tx2"/>
                </a:solidFill>
              </a:rPr>
              <a:t>Results: </a:t>
            </a:r>
            <a:endParaRPr lang="en-IE" sz="2000" b="1" dirty="0">
              <a:solidFill>
                <a:schemeClr val="tx2"/>
              </a:solidFill>
            </a:endParaRPr>
          </a:p>
        </p:txBody>
      </p:sp>
      <p:sp>
        <p:nvSpPr>
          <p:cNvPr id="21" name="TextBox 20">
            <a:extLst>
              <a:ext uri="{FF2B5EF4-FFF2-40B4-BE49-F238E27FC236}">
                <a16:creationId xmlns:a16="http://schemas.microsoft.com/office/drawing/2014/main" id="{CD4C81C9-0A03-0E06-D001-BACC8D7C4649}"/>
              </a:ext>
            </a:extLst>
          </p:cNvPr>
          <p:cNvSpPr txBox="1"/>
          <p:nvPr/>
        </p:nvSpPr>
        <p:spPr>
          <a:xfrm>
            <a:off x="166087" y="5120698"/>
            <a:ext cx="7068312" cy="400110"/>
          </a:xfrm>
          <a:prstGeom prst="rect">
            <a:avLst/>
          </a:prstGeom>
          <a:noFill/>
        </p:spPr>
        <p:txBody>
          <a:bodyPr wrap="square">
            <a:spAutoFit/>
          </a:bodyPr>
          <a:lstStyle/>
          <a:p>
            <a:r>
              <a:rPr lang="en-US" sz="2000" b="1" dirty="0">
                <a:solidFill>
                  <a:schemeClr val="tx2"/>
                </a:solidFill>
              </a:rPr>
              <a:t>Limitations: </a:t>
            </a:r>
            <a:endParaRPr lang="en-IE" sz="2000" b="1" dirty="0">
              <a:solidFill>
                <a:schemeClr val="tx2"/>
              </a:solidFill>
            </a:endParaRPr>
          </a:p>
        </p:txBody>
      </p:sp>
      <p:pic>
        <p:nvPicPr>
          <p:cNvPr id="12" name="Picture 11">
            <a:extLst>
              <a:ext uri="{FF2B5EF4-FFF2-40B4-BE49-F238E27FC236}">
                <a16:creationId xmlns:a16="http://schemas.microsoft.com/office/drawing/2014/main" id="{C98F4468-D6DE-089F-B340-A0B422B5D8A0}"/>
              </a:ext>
            </a:extLst>
          </p:cNvPr>
          <p:cNvPicPr>
            <a:picLocks noChangeAspect="1"/>
          </p:cNvPicPr>
          <p:nvPr/>
        </p:nvPicPr>
        <p:blipFill>
          <a:blip r:embed="rId3"/>
          <a:stretch>
            <a:fillRect/>
          </a:stretch>
        </p:blipFill>
        <p:spPr>
          <a:xfrm>
            <a:off x="8340263" y="1112048"/>
            <a:ext cx="3591209" cy="2606522"/>
          </a:xfrm>
          <a:prstGeom prst="rect">
            <a:avLst/>
          </a:prstGeom>
        </p:spPr>
      </p:pic>
      <p:pic>
        <p:nvPicPr>
          <p:cNvPr id="16" name="Picture 15">
            <a:extLst>
              <a:ext uri="{FF2B5EF4-FFF2-40B4-BE49-F238E27FC236}">
                <a16:creationId xmlns:a16="http://schemas.microsoft.com/office/drawing/2014/main" id="{423079E5-C163-30FC-EDA4-F6F843559FF3}"/>
              </a:ext>
            </a:extLst>
          </p:cNvPr>
          <p:cNvPicPr>
            <a:picLocks noChangeAspect="1"/>
          </p:cNvPicPr>
          <p:nvPr/>
        </p:nvPicPr>
        <p:blipFill>
          <a:blip r:embed="rId4"/>
          <a:stretch>
            <a:fillRect/>
          </a:stretch>
        </p:blipFill>
        <p:spPr>
          <a:xfrm>
            <a:off x="5618381" y="717638"/>
            <a:ext cx="2304603" cy="3539953"/>
          </a:xfrm>
          <a:prstGeom prst="rect">
            <a:avLst/>
          </a:prstGeom>
        </p:spPr>
      </p:pic>
      <p:pic>
        <p:nvPicPr>
          <p:cNvPr id="22" name="Picture 21">
            <a:extLst>
              <a:ext uri="{FF2B5EF4-FFF2-40B4-BE49-F238E27FC236}">
                <a16:creationId xmlns:a16="http://schemas.microsoft.com/office/drawing/2014/main" id="{E3B7AF0A-4DE4-D436-2C6A-A0F9580B3666}"/>
              </a:ext>
            </a:extLst>
          </p:cNvPr>
          <p:cNvPicPr>
            <a:picLocks noChangeAspect="1"/>
          </p:cNvPicPr>
          <p:nvPr/>
        </p:nvPicPr>
        <p:blipFill>
          <a:blip r:embed="rId5"/>
          <a:stretch>
            <a:fillRect/>
          </a:stretch>
        </p:blipFill>
        <p:spPr>
          <a:xfrm>
            <a:off x="6096000" y="4349724"/>
            <a:ext cx="5302337" cy="2390320"/>
          </a:xfrm>
          <a:prstGeom prst="rect">
            <a:avLst/>
          </a:prstGeom>
        </p:spPr>
      </p:pic>
    </p:spTree>
    <p:extLst>
      <p:ext uri="{BB962C8B-B14F-4D97-AF65-F5344CB8AC3E}">
        <p14:creationId xmlns:p14="http://schemas.microsoft.com/office/powerpoint/2010/main" val="383421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7F93C76-38E4-1DF3-A473-CA0E49907E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2EB4EBF-D452-ADBD-796C-876EF227F630}"/>
              </a:ext>
            </a:extLst>
          </p:cNvPr>
          <p:cNvSpPr>
            <a:spLocks noGrp="1"/>
          </p:cNvSpPr>
          <p:nvPr>
            <p:ph type="title"/>
          </p:nvPr>
        </p:nvSpPr>
        <p:spPr>
          <a:xfrm>
            <a:off x="208465" y="1291149"/>
            <a:ext cx="5268792" cy="787314"/>
          </a:xfrm>
        </p:spPr>
        <p:txBody>
          <a:bodyPr>
            <a:normAutofit/>
          </a:bodyPr>
          <a:lstStyle/>
          <a:p>
            <a:r>
              <a:rPr lang="en-IE" sz="2000" dirty="0">
                <a:solidFill>
                  <a:schemeClr val="bg2">
                    <a:lumMod val="10000"/>
                  </a:schemeClr>
                </a:solidFill>
              </a:rPr>
              <a:t>Grabbing fabric usually requires energy-hungry suction cups.</a:t>
            </a:r>
          </a:p>
        </p:txBody>
      </p:sp>
      <p:sp>
        <p:nvSpPr>
          <p:cNvPr id="4" name="Title 1">
            <a:extLst>
              <a:ext uri="{FF2B5EF4-FFF2-40B4-BE49-F238E27FC236}">
                <a16:creationId xmlns:a16="http://schemas.microsoft.com/office/drawing/2014/main" id="{7B5EE2CE-B83F-4578-5616-C940B97DD194}"/>
              </a:ext>
            </a:extLst>
          </p:cNvPr>
          <p:cNvSpPr txBox="1">
            <a:spLocks/>
          </p:cNvSpPr>
          <p:nvPr/>
        </p:nvSpPr>
        <p:spPr>
          <a:xfrm>
            <a:off x="145200" y="111354"/>
            <a:ext cx="9064390" cy="787314"/>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400" b="1" kern="1200">
                <a:solidFill>
                  <a:schemeClr val="bg1"/>
                </a:solidFill>
                <a:latin typeface="+mn-lt"/>
                <a:ea typeface="+mj-ea"/>
                <a:cs typeface="+mj-cs"/>
              </a:defRPr>
            </a:lvl1pPr>
          </a:lstStyle>
          <a:p>
            <a:r>
              <a:rPr lang="en-US" b="0" dirty="0">
                <a:solidFill>
                  <a:srgbClr val="002060"/>
                </a:solidFill>
              </a:rPr>
              <a:t>Literature : Gripper</a:t>
            </a:r>
          </a:p>
        </p:txBody>
      </p:sp>
      <p:sp>
        <p:nvSpPr>
          <p:cNvPr id="7" name="Title 1">
            <a:extLst>
              <a:ext uri="{FF2B5EF4-FFF2-40B4-BE49-F238E27FC236}">
                <a16:creationId xmlns:a16="http://schemas.microsoft.com/office/drawing/2014/main" id="{D7FA2E69-5A06-2355-A29E-C3D06F46E8D4}"/>
              </a:ext>
            </a:extLst>
          </p:cNvPr>
          <p:cNvSpPr txBox="1">
            <a:spLocks/>
          </p:cNvSpPr>
          <p:nvPr/>
        </p:nvSpPr>
        <p:spPr>
          <a:xfrm>
            <a:off x="199870" y="2551488"/>
            <a:ext cx="5762018" cy="787314"/>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3400" b="1" kern="1200">
                <a:solidFill>
                  <a:schemeClr val="bg1"/>
                </a:solidFill>
                <a:latin typeface="+mn-lt"/>
                <a:ea typeface="+mj-ea"/>
                <a:cs typeface="+mj-cs"/>
              </a:defRPr>
            </a:lvl1pPr>
          </a:lstStyle>
          <a:p>
            <a:r>
              <a:rPr lang="en-IE" sz="2000" dirty="0">
                <a:solidFill>
                  <a:schemeClr val="bg2">
                    <a:lumMod val="10000"/>
                  </a:schemeClr>
                </a:solidFill>
              </a:rPr>
              <a:t>Motorless gripper. Pushing it against the table slides cams that pinch the fabric.</a:t>
            </a:r>
            <a:endParaRPr lang="en-US" sz="2000" b="0" dirty="0">
              <a:solidFill>
                <a:schemeClr val="bg2">
                  <a:lumMod val="10000"/>
                </a:schemeClr>
              </a:solidFill>
            </a:endParaRPr>
          </a:p>
        </p:txBody>
      </p:sp>
      <p:sp>
        <p:nvSpPr>
          <p:cNvPr id="9" name="Title 1">
            <a:extLst>
              <a:ext uri="{FF2B5EF4-FFF2-40B4-BE49-F238E27FC236}">
                <a16:creationId xmlns:a16="http://schemas.microsoft.com/office/drawing/2014/main" id="{82D0A5ED-4A90-2DDF-6ECB-D51D26181DFD}"/>
              </a:ext>
            </a:extLst>
          </p:cNvPr>
          <p:cNvSpPr txBox="1">
            <a:spLocks/>
          </p:cNvSpPr>
          <p:nvPr/>
        </p:nvSpPr>
        <p:spPr>
          <a:xfrm>
            <a:off x="145200" y="4291242"/>
            <a:ext cx="7051128" cy="787314"/>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400" b="1" kern="1200">
                <a:solidFill>
                  <a:schemeClr val="bg1"/>
                </a:solidFill>
                <a:latin typeface="+mn-lt"/>
                <a:ea typeface="+mj-ea"/>
                <a:cs typeface="+mj-cs"/>
              </a:defRPr>
            </a:lvl1pPr>
          </a:lstStyle>
          <a:p>
            <a:r>
              <a:rPr lang="en-IE" sz="2000" dirty="0">
                <a:solidFill>
                  <a:schemeClr val="bg2">
                    <a:lumMod val="10000"/>
                  </a:schemeClr>
                </a:solidFill>
              </a:rPr>
              <a:t>100% passive holding triggered simply by pressing down.</a:t>
            </a:r>
            <a:endParaRPr lang="en-US" sz="2000" b="0" dirty="0">
              <a:solidFill>
                <a:schemeClr val="bg2">
                  <a:lumMod val="10000"/>
                </a:schemeClr>
              </a:solidFill>
            </a:endParaRPr>
          </a:p>
        </p:txBody>
      </p:sp>
      <p:sp>
        <p:nvSpPr>
          <p:cNvPr id="10" name="Title 1">
            <a:extLst>
              <a:ext uri="{FF2B5EF4-FFF2-40B4-BE49-F238E27FC236}">
                <a16:creationId xmlns:a16="http://schemas.microsoft.com/office/drawing/2014/main" id="{E191C99B-531A-5717-1DD5-4CC5897A2053}"/>
              </a:ext>
            </a:extLst>
          </p:cNvPr>
          <p:cNvSpPr txBox="1">
            <a:spLocks/>
          </p:cNvSpPr>
          <p:nvPr/>
        </p:nvSpPr>
        <p:spPr>
          <a:xfrm>
            <a:off x="145200" y="5535203"/>
            <a:ext cx="5567545" cy="787314"/>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400" b="1" kern="1200">
                <a:solidFill>
                  <a:schemeClr val="bg1"/>
                </a:solidFill>
                <a:latin typeface="+mn-lt"/>
                <a:ea typeface="+mj-ea"/>
                <a:cs typeface="+mj-cs"/>
              </a:defRPr>
            </a:lvl1pPr>
          </a:lstStyle>
          <a:p>
            <a:r>
              <a:rPr lang="en-IE" sz="2000" dirty="0">
                <a:solidFill>
                  <a:schemeClr val="bg2">
                    <a:lumMod val="10000"/>
                  </a:schemeClr>
                </a:solidFill>
              </a:rPr>
              <a:t>High internal friction. Cannot grab thick denim without physically redesigning the jaw opening.</a:t>
            </a:r>
            <a:endParaRPr lang="en-US" sz="2000" b="0" dirty="0">
              <a:solidFill>
                <a:schemeClr val="bg2">
                  <a:lumMod val="10000"/>
                </a:schemeClr>
              </a:solidFill>
            </a:endParaRPr>
          </a:p>
        </p:txBody>
      </p:sp>
      <p:sp>
        <p:nvSpPr>
          <p:cNvPr id="11" name="Title 1">
            <a:extLst>
              <a:ext uri="{FF2B5EF4-FFF2-40B4-BE49-F238E27FC236}">
                <a16:creationId xmlns:a16="http://schemas.microsoft.com/office/drawing/2014/main" id="{A9F7EEA0-4C97-796A-5462-0B75C9DFBF81}"/>
              </a:ext>
            </a:extLst>
          </p:cNvPr>
          <p:cNvSpPr txBox="1">
            <a:spLocks/>
          </p:cNvSpPr>
          <p:nvPr/>
        </p:nvSpPr>
        <p:spPr>
          <a:xfrm>
            <a:off x="5043336" y="218044"/>
            <a:ext cx="6888136" cy="787314"/>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3400" b="1" kern="1200">
                <a:solidFill>
                  <a:schemeClr val="bg1"/>
                </a:solidFill>
                <a:latin typeface="+mn-lt"/>
                <a:ea typeface="+mj-ea"/>
                <a:cs typeface="+mj-cs"/>
              </a:defRPr>
            </a:lvl1pPr>
          </a:lstStyle>
          <a:p>
            <a:r>
              <a:rPr lang="en-IE" sz="1600" dirty="0">
                <a:solidFill>
                  <a:schemeClr val="bg2">
                    <a:lumMod val="10000"/>
                  </a:schemeClr>
                </a:solidFill>
              </a:rPr>
              <a:t>Passive Actuator-Less Gripper for Pick-and-Place of a Piece of Fabric Akira Seino , Member, IEEE, Fuyuki Tokuda</a:t>
            </a:r>
            <a:endParaRPr lang="en-IE" sz="1600" b="0" dirty="0">
              <a:solidFill>
                <a:schemeClr val="bg2">
                  <a:lumMod val="10000"/>
                </a:schemeClr>
              </a:solidFill>
              <a:hlinkClick r:id="rId2">
                <a:extLst>
                  <a:ext uri="{A12FA001-AC4F-418D-AE19-62706E023703}">
                    <ahyp:hlinkClr xmlns:ahyp="http://schemas.microsoft.com/office/drawing/2018/hyperlinkcolor" val="tx"/>
                  </a:ext>
                </a:extLst>
              </a:hlinkClick>
            </a:endParaRPr>
          </a:p>
        </p:txBody>
      </p:sp>
      <p:sp>
        <p:nvSpPr>
          <p:cNvPr id="18" name="TextBox 17">
            <a:extLst>
              <a:ext uri="{FF2B5EF4-FFF2-40B4-BE49-F238E27FC236}">
                <a16:creationId xmlns:a16="http://schemas.microsoft.com/office/drawing/2014/main" id="{8835B668-9562-F266-2E9A-9763587E3B11}"/>
              </a:ext>
            </a:extLst>
          </p:cNvPr>
          <p:cNvSpPr txBox="1"/>
          <p:nvPr/>
        </p:nvSpPr>
        <p:spPr>
          <a:xfrm>
            <a:off x="260528" y="856624"/>
            <a:ext cx="7068312" cy="400110"/>
          </a:xfrm>
          <a:prstGeom prst="rect">
            <a:avLst/>
          </a:prstGeom>
          <a:noFill/>
        </p:spPr>
        <p:txBody>
          <a:bodyPr wrap="square">
            <a:spAutoFit/>
          </a:bodyPr>
          <a:lstStyle/>
          <a:p>
            <a:r>
              <a:rPr lang="en-US" sz="2000" b="1" dirty="0">
                <a:solidFill>
                  <a:schemeClr val="tx2"/>
                </a:solidFill>
              </a:rPr>
              <a:t>Question/Gap: </a:t>
            </a:r>
            <a:endParaRPr lang="en-IE" sz="2000" b="1" dirty="0">
              <a:solidFill>
                <a:schemeClr val="tx2"/>
              </a:solidFill>
            </a:endParaRPr>
          </a:p>
        </p:txBody>
      </p:sp>
      <p:sp>
        <p:nvSpPr>
          <p:cNvPr id="19" name="TextBox 18">
            <a:extLst>
              <a:ext uri="{FF2B5EF4-FFF2-40B4-BE49-F238E27FC236}">
                <a16:creationId xmlns:a16="http://schemas.microsoft.com/office/drawing/2014/main" id="{A6C37296-A05B-D963-5A32-D6BA9282F19A}"/>
              </a:ext>
            </a:extLst>
          </p:cNvPr>
          <p:cNvSpPr txBox="1"/>
          <p:nvPr/>
        </p:nvSpPr>
        <p:spPr>
          <a:xfrm>
            <a:off x="208464" y="2123416"/>
            <a:ext cx="7068312" cy="400110"/>
          </a:xfrm>
          <a:prstGeom prst="rect">
            <a:avLst/>
          </a:prstGeom>
          <a:noFill/>
        </p:spPr>
        <p:txBody>
          <a:bodyPr wrap="square">
            <a:spAutoFit/>
          </a:bodyPr>
          <a:lstStyle/>
          <a:p>
            <a:r>
              <a:rPr lang="en-US" sz="2000" b="1" dirty="0">
                <a:solidFill>
                  <a:schemeClr val="tx2"/>
                </a:solidFill>
              </a:rPr>
              <a:t>Method: </a:t>
            </a:r>
            <a:endParaRPr lang="en-IE" sz="2000" b="1" dirty="0">
              <a:solidFill>
                <a:schemeClr val="tx2"/>
              </a:solidFill>
            </a:endParaRPr>
          </a:p>
        </p:txBody>
      </p:sp>
      <p:sp>
        <p:nvSpPr>
          <p:cNvPr id="20" name="TextBox 19">
            <a:extLst>
              <a:ext uri="{FF2B5EF4-FFF2-40B4-BE49-F238E27FC236}">
                <a16:creationId xmlns:a16="http://schemas.microsoft.com/office/drawing/2014/main" id="{49C1709D-80CC-0722-291E-77B268CC2A8E}"/>
              </a:ext>
            </a:extLst>
          </p:cNvPr>
          <p:cNvSpPr txBox="1"/>
          <p:nvPr/>
        </p:nvSpPr>
        <p:spPr>
          <a:xfrm>
            <a:off x="166087" y="3857481"/>
            <a:ext cx="7068312" cy="400110"/>
          </a:xfrm>
          <a:prstGeom prst="rect">
            <a:avLst/>
          </a:prstGeom>
          <a:noFill/>
        </p:spPr>
        <p:txBody>
          <a:bodyPr wrap="square">
            <a:spAutoFit/>
          </a:bodyPr>
          <a:lstStyle/>
          <a:p>
            <a:r>
              <a:rPr lang="en-US" sz="2000" b="1" dirty="0">
                <a:solidFill>
                  <a:schemeClr val="tx2"/>
                </a:solidFill>
              </a:rPr>
              <a:t>Results: </a:t>
            </a:r>
            <a:endParaRPr lang="en-IE" sz="2000" b="1" dirty="0">
              <a:solidFill>
                <a:schemeClr val="tx2"/>
              </a:solidFill>
            </a:endParaRPr>
          </a:p>
        </p:txBody>
      </p:sp>
      <p:sp>
        <p:nvSpPr>
          <p:cNvPr id="21" name="TextBox 20">
            <a:extLst>
              <a:ext uri="{FF2B5EF4-FFF2-40B4-BE49-F238E27FC236}">
                <a16:creationId xmlns:a16="http://schemas.microsoft.com/office/drawing/2014/main" id="{91E08642-760E-56A3-5C85-911C62B6C283}"/>
              </a:ext>
            </a:extLst>
          </p:cNvPr>
          <p:cNvSpPr txBox="1"/>
          <p:nvPr/>
        </p:nvSpPr>
        <p:spPr>
          <a:xfrm>
            <a:off x="166087" y="5169170"/>
            <a:ext cx="7068312" cy="400110"/>
          </a:xfrm>
          <a:prstGeom prst="rect">
            <a:avLst/>
          </a:prstGeom>
          <a:noFill/>
        </p:spPr>
        <p:txBody>
          <a:bodyPr wrap="square">
            <a:spAutoFit/>
          </a:bodyPr>
          <a:lstStyle/>
          <a:p>
            <a:r>
              <a:rPr lang="en-US" sz="2000" b="1" dirty="0">
                <a:solidFill>
                  <a:schemeClr val="tx2"/>
                </a:solidFill>
              </a:rPr>
              <a:t>Limitations: </a:t>
            </a:r>
            <a:endParaRPr lang="en-IE" sz="2000" b="1" dirty="0">
              <a:solidFill>
                <a:schemeClr val="tx2"/>
              </a:solidFill>
            </a:endParaRPr>
          </a:p>
        </p:txBody>
      </p:sp>
      <p:pic>
        <p:nvPicPr>
          <p:cNvPr id="5" name="Picture 4">
            <a:extLst>
              <a:ext uri="{FF2B5EF4-FFF2-40B4-BE49-F238E27FC236}">
                <a16:creationId xmlns:a16="http://schemas.microsoft.com/office/drawing/2014/main" id="{E0815D13-8290-2D0E-1A18-FBB8575F3FEA}"/>
              </a:ext>
            </a:extLst>
          </p:cNvPr>
          <p:cNvPicPr>
            <a:picLocks noChangeAspect="1"/>
          </p:cNvPicPr>
          <p:nvPr/>
        </p:nvPicPr>
        <p:blipFill>
          <a:blip r:embed="rId3"/>
          <a:stretch>
            <a:fillRect/>
          </a:stretch>
        </p:blipFill>
        <p:spPr>
          <a:xfrm>
            <a:off x="6972131" y="804760"/>
            <a:ext cx="5019999" cy="2274688"/>
          </a:xfrm>
          <a:prstGeom prst="rect">
            <a:avLst/>
          </a:prstGeom>
        </p:spPr>
      </p:pic>
      <p:pic>
        <p:nvPicPr>
          <p:cNvPr id="14" name="Picture 13">
            <a:extLst>
              <a:ext uri="{FF2B5EF4-FFF2-40B4-BE49-F238E27FC236}">
                <a16:creationId xmlns:a16="http://schemas.microsoft.com/office/drawing/2014/main" id="{10C5B6AC-D1FE-A0FA-BB09-57E6DF56E706}"/>
              </a:ext>
            </a:extLst>
          </p:cNvPr>
          <p:cNvPicPr>
            <a:picLocks noChangeAspect="1"/>
          </p:cNvPicPr>
          <p:nvPr/>
        </p:nvPicPr>
        <p:blipFill>
          <a:blip r:embed="rId4"/>
          <a:stretch>
            <a:fillRect/>
          </a:stretch>
        </p:blipFill>
        <p:spPr>
          <a:xfrm>
            <a:off x="6096000" y="2093630"/>
            <a:ext cx="2397930" cy="2197612"/>
          </a:xfrm>
          <a:prstGeom prst="rect">
            <a:avLst/>
          </a:prstGeom>
        </p:spPr>
      </p:pic>
      <p:pic>
        <p:nvPicPr>
          <p:cNvPr id="17" name="Picture 16">
            <a:extLst>
              <a:ext uri="{FF2B5EF4-FFF2-40B4-BE49-F238E27FC236}">
                <a16:creationId xmlns:a16="http://schemas.microsoft.com/office/drawing/2014/main" id="{9DDA542D-69C5-A5BE-C7A7-33BA54136E7C}"/>
              </a:ext>
            </a:extLst>
          </p:cNvPr>
          <p:cNvPicPr>
            <a:picLocks noChangeAspect="1"/>
          </p:cNvPicPr>
          <p:nvPr/>
        </p:nvPicPr>
        <p:blipFill>
          <a:blip r:embed="rId5"/>
          <a:stretch>
            <a:fillRect/>
          </a:stretch>
        </p:blipFill>
        <p:spPr>
          <a:xfrm>
            <a:off x="6272069" y="4215547"/>
            <a:ext cx="5919931" cy="2531099"/>
          </a:xfrm>
          <a:prstGeom prst="rect">
            <a:avLst/>
          </a:prstGeom>
        </p:spPr>
      </p:pic>
    </p:spTree>
    <p:extLst>
      <p:ext uri="{BB962C8B-B14F-4D97-AF65-F5344CB8AC3E}">
        <p14:creationId xmlns:p14="http://schemas.microsoft.com/office/powerpoint/2010/main" val="3076327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EF67547-3272-137F-4B86-16BBFDC9BC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248DA3B-05AF-08FE-F991-50C57BBF27E5}"/>
              </a:ext>
            </a:extLst>
          </p:cNvPr>
          <p:cNvSpPr>
            <a:spLocks noGrp="1"/>
          </p:cNvSpPr>
          <p:nvPr>
            <p:ph type="title"/>
          </p:nvPr>
        </p:nvSpPr>
        <p:spPr>
          <a:xfrm>
            <a:off x="208465" y="1291149"/>
            <a:ext cx="5424240" cy="787314"/>
          </a:xfrm>
        </p:spPr>
        <p:txBody>
          <a:bodyPr>
            <a:normAutofit/>
          </a:bodyPr>
          <a:lstStyle/>
          <a:p>
            <a:r>
              <a:rPr lang="en-IE" sz="2000" dirty="0">
                <a:solidFill>
                  <a:schemeClr val="bg2">
                    <a:lumMod val="10000"/>
                  </a:schemeClr>
                </a:solidFill>
              </a:rPr>
              <a:t>Underactuated grippers waste time resetting after hitting the table.</a:t>
            </a:r>
          </a:p>
        </p:txBody>
      </p:sp>
      <p:sp>
        <p:nvSpPr>
          <p:cNvPr id="4" name="Title 1">
            <a:extLst>
              <a:ext uri="{FF2B5EF4-FFF2-40B4-BE49-F238E27FC236}">
                <a16:creationId xmlns:a16="http://schemas.microsoft.com/office/drawing/2014/main" id="{AA25D4AA-F0B2-E294-37DA-FB7DEDC28033}"/>
              </a:ext>
            </a:extLst>
          </p:cNvPr>
          <p:cNvSpPr txBox="1">
            <a:spLocks/>
          </p:cNvSpPr>
          <p:nvPr/>
        </p:nvSpPr>
        <p:spPr>
          <a:xfrm>
            <a:off x="145200" y="111354"/>
            <a:ext cx="9064390" cy="787314"/>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400" b="1" kern="1200">
                <a:solidFill>
                  <a:schemeClr val="bg1"/>
                </a:solidFill>
                <a:latin typeface="+mn-lt"/>
                <a:ea typeface="+mj-ea"/>
                <a:cs typeface="+mj-cs"/>
              </a:defRPr>
            </a:lvl1pPr>
          </a:lstStyle>
          <a:p>
            <a:r>
              <a:rPr lang="en-US" b="0" dirty="0">
                <a:solidFill>
                  <a:srgbClr val="002060"/>
                </a:solidFill>
              </a:rPr>
              <a:t>Literature : Gripper</a:t>
            </a:r>
          </a:p>
        </p:txBody>
      </p:sp>
      <p:sp>
        <p:nvSpPr>
          <p:cNvPr id="7" name="Title 1">
            <a:extLst>
              <a:ext uri="{FF2B5EF4-FFF2-40B4-BE49-F238E27FC236}">
                <a16:creationId xmlns:a16="http://schemas.microsoft.com/office/drawing/2014/main" id="{ABC220B5-DACB-B0A7-FAEC-202FA720DF31}"/>
              </a:ext>
            </a:extLst>
          </p:cNvPr>
          <p:cNvSpPr txBox="1">
            <a:spLocks/>
          </p:cNvSpPr>
          <p:nvPr/>
        </p:nvSpPr>
        <p:spPr>
          <a:xfrm>
            <a:off x="199870" y="2551488"/>
            <a:ext cx="5313962" cy="787314"/>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3400" b="1" kern="1200">
                <a:solidFill>
                  <a:schemeClr val="bg1"/>
                </a:solidFill>
                <a:latin typeface="+mn-lt"/>
                <a:ea typeface="+mj-ea"/>
                <a:cs typeface="+mj-cs"/>
              </a:defRPr>
            </a:lvl1pPr>
          </a:lstStyle>
          <a:p>
            <a:r>
              <a:rPr lang="en-IE" sz="2000" dirty="0">
                <a:solidFill>
                  <a:schemeClr val="bg2">
                    <a:lumMod val="10000"/>
                  </a:schemeClr>
                </a:solidFill>
              </a:rPr>
              <a:t>Chebyshev linkage closing triggered by contact + worm gear to lock it.</a:t>
            </a:r>
            <a:endParaRPr lang="en-US" sz="2000" b="0" dirty="0">
              <a:solidFill>
                <a:schemeClr val="bg2">
                  <a:lumMod val="10000"/>
                </a:schemeClr>
              </a:solidFill>
            </a:endParaRPr>
          </a:p>
        </p:txBody>
      </p:sp>
      <p:sp>
        <p:nvSpPr>
          <p:cNvPr id="9" name="Title 1">
            <a:extLst>
              <a:ext uri="{FF2B5EF4-FFF2-40B4-BE49-F238E27FC236}">
                <a16:creationId xmlns:a16="http://schemas.microsoft.com/office/drawing/2014/main" id="{3E72D75A-FCCD-2F8A-9113-AE492688861B}"/>
              </a:ext>
            </a:extLst>
          </p:cNvPr>
          <p:cNvSpPr txBox="1">
            <a:spLocks/>
          </p:cNvSpPr>
          <p:nvPr/>
        </p:nvSpPr>
        <p:spPr>
          <a:xfrm>
            <a:off x="166087" y="4249296"/>
            <a:ext cx="6109296" cy="787314"/>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400" b="1" kern="1200">
                <a:solidFill>
                  <a:schemeClr val="bg1"/>
                </a:solidFill>
                <a:latin typeface="+mn-lt"/>
                <a:ea typeface="+mj-ea"/>
                <a:cs typeface="+mj-cs"/>
              </a:defRPr>
            </a:lvl1pPr>
          </a:lstStyle>
          <a:p>
            <a:r>
              <a:rPr lang="en-IE" sz="2000" dirty="0">
                <a:solidFill>
                  <a:schemeClr val="bg2">
                    <a:lumMod val="10000"/>
                  </a:schemeClr>
                </a:solidFill>
              </a:rPr>
              <a:t>Lightning-fast grip and a rock-solid lock (no back-driving possible).</a:t>
            </a:r>
            <a:endParaRPr lang="en-US" sz="2000" b="0" dirty="0">
              <a:solidFill>
                <a:schemeClr val="bg2">
                  <a:lumMod val="10000"/>
                </a:schemeClr>
              </a:solidFill>
            </a:endParaRPr>
          </a:p>
        </p:txBody>
      </p:sp>
      <p:sp>
        <p:nvSpPr>
          <p:cNvPr id="10" name="Title 1">
            <a:extLst>
              <a:ext uri="{FF2B5EF4-FFF2-40B4-BE49-F238E27FC236}">
                <a16:creationId xmlns:a16="http://schemas.microsoft.com/office/drawing/2014/main" id="{61B31BFA-D771-82F8-00E9-BEF602E5A059}"/>
              </a:ext>
            </a:extLst>
          </p:cNvPr>
          <p:cNvSpPr txBox="1">
            <a:spLocks/>
          </p:cNvSpPr>
          <p:nvPr/>
        </p:nvSpPr>
        <p:spPr>
          <a:xfrm>
            <a:off x="145200" y="5552103"/>
            <a:ext cx="6063576" cy="787314"/>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400" b="1" kern="1200">
                <a:solidFill>
                  <a:schemeClr val="bg1"/>
                </a:solidFill>
                <a:latin typeface="+mn-lt"/>
                <a:ea typeface="+mj-ea"/>
                <a:cs typeface="+mj-cs"/>
              </a:defRPr>
            </a:lvl1pPr>
          </a:lstStyle>
          <a:p>
            <a:r>
              <a:rPr lang="en-IE" sz="2000" dirty="0">
                <a:solidFill>
                  <a:schemeClr val="bg2">
                    <a:lumMod val="10000"/>
                  </a:schemeClr>
                </a:solidFill>
              </a:rPr>
              <a:t>Forces you to actuate a motor just to spin the locking screw. No force sensors.</a:t>
            </a:r>
            <a:endParaRPr lang="en-US" sz="2000" b="0" dirty="0">
              <a:solidFill>
                <a:schemeClr val="bg2">
                  <a:lumMod val="10000"/>
                </a:schemeClr>
              </a:solidFill>
            </a:endParaRPr>
          </a:p>
        </p:txBody>
      </p:sp>
      <p:sp>
        <p:nvSpPr>
          <p:cNvPr id="11" name="Title 1">
            <a:extLst>
              <a:ext uri="{FF2B5EF4-FFF2-40B4-BE49-F238E27FC236}">
                <a16:creationId xmlns:a16="http://schemas.microsoft.com/office/drawing/2014/main" id="{79D7C908-3DB4-C4FE-2687-C6DBD79B7D92}"/>
              </a:ext>
            </a:extLst>
          </p:cNvPr>
          <p:cNvSpPr txBox="1">
            <a:spLocks/>
          </p:cNvSpPr>
          <p:nvPr/>
        </p:nvSpPr>
        <p:spPr>
          <a:xfrm>
            <a:off x="5043336" y="218044"/>
            <a:ext cx="6888136" cy="787314"/>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3400" b="1" kern="1200">
                <a:solidFill>
                  <a:schemeClr val="bg1"/>
                </a:solidFill>
                <a:latin typeface="+mn-lt"/>
                <a:ea typeface="+mj-ea"/>
                <a:cs typeface="+mj-cs"/>
              </a:defRPr>
            </a:lvl1pPr>
          </a:lstStyle>
          <a:p>
            <a:r>
              <a:rPr lang="en-IE" sz="1600" dirty="0">
                <a:solidFill>
                  <a:schemeClr val="bg2">
                    <a:lumMod val="10000"/>
                  </a:schemeClr>
                </a:solidFill>
              </a:rPr>
              <a:t>An Underactuated Robotic Gripper With Passive Inclined Motion and Active Locking for Efficient Grasping on Table Surface Yanlin Zhu1 and </a:t>
            </a:r>
            <a:r>
              <a:rPr lang="en-IE" sz="1600" dirty="0" err="1">
                <a:solidFill>
                  <a:schemeClr val="bg2">
                    <a:lumMod val="10000"/>
                  </a:schemeClr>
                </a:solidFill>
              </a:rPr>
              <a:t>Wenzeng</a:t>
            </a:r>
            <a:r>
              <a:rPr lang="en-IE" sz="1600" dirty="0">
                <a:solidFill>
                  <a:schemeClr val="bg2">
                    <a:lumMod val="10000"/>
                  </a:schemeClr>
                </a:solidFill>
              </a:rPr>
              <a:t> Zhang</a:t>
            </a:r>
            <a:endParaRPr lang="en-IE" sz="1600" b="0" dirty="0">
              <a:solidFill>
                <a:schemeClr val="bg2">
                  <a:lumMod val="10000"/>
                </a:schemeClr>
              </a:solidFill>
              <a:hlinkClick r:id="rId2">
                <a:extLst>
                  <a:ext uri="{A12FA001-AC4F-418D-AE19-62706E023703}">
                    <ahyp:hlinkClr xmlns:ahyp="http://schemas.microsoft.com/office/drawing/2018/hyperlinkcolor" val="tx"/>
                  </a:ext>
                </a:extLst>
              </a:hlinkClick>
            </a:endParaRPr>
          </a:p>
        </p:txBody>
      </p:sp>
      <p:sp>
        <p:nvSpPr>
          <p:cNvPr id="18" name="TextBox 17">
            <a:extLst>
              <a:ext uri="{FF2B5EF4-FFF2-40B4-BE49-F238E27FC236}">
                <a16:creationId xmlns:a16="http://schemas.microsoft.com/office/drawing/2014/main" id="{6B35AAA8-E941-67A6-BFDA-6C1EDC5F8429}"/>
              </a:ext>
            </a:extLst>
          </p:cNvPr>
          <p:cNvSpPr txBox="1"/>
          <p:nvPr/>
        </p:nvSpPr>
        <p:spPr>
          <a:xfrm>
            <a:off x="260528" y="856624"/>
            <a:ext cx="7068312" cy="400110"/>
          </a:xfrm>
          <a:prstGeom prst="rect">
            <a:avLst/>
          </a:prstGeom>
          <a:noFill/>
        </p:spPr>
        <p:txBody>
          <a:bodyPr wrap="square">
            <a:spAutoFit/>
          </a:bodyPr>
          <a:lstStyle/>
          <a:p>
            <a:r>
              <a:rPr lang="en-US" sz="2000" b="1" dirty="0">
                <a:solidFill>
                  <a:schemeClr val="tx2"/>
                </a:solidFill>
              </a:rPr>
              <a:t>Question/Gap: </a:t>
            </a:r>
            <a:endParaRPr lang="en-IE" sz="2000" b="1" dirty="0">
              <a:solidFill>
                <a:schemeClr val="tx2"/>
              </a:solidFill>
            </a:endParaRPr>
          </a:p>
        </p:txBody>
      </p:sp>
      <p:sp>
        <p:nvSpPr>
          <p:cNvPr id="19" name="TextBox 18">
            <a:extLst>
              <a:ext uri="{FF2B5EF4-FFF2-40B4-BE49-F238E27FC236}">
                <a16:creationId xmlns:a16="http://schemas.microsoft.com/office/drawing/2014/main" id="{5CF25DEB-6876-DB23-2593-ED772954AAAE}"/>
              </a:ext>
            </a:extLst>
          </p:cNvPr>
          <p:cNvSpPr txBox="1"/>
          <p:nvPr/>
        </p:nvSpPr>
        <p:spPr>
          <a:xfrm>
            <a:off x="208464" y="2123416"/>
            <a:ext cx="7068312" cy="400110"/>
          </a:xfrm>
          <a:prstGeom prst="rect">
            <a:avLst/>
          </a:prstGeom>
          <a:noFill/>
        </p:spPr>
        <p:txBody>
          <a:bodyPr wrap="square">
            <a:spAutoFit/>
          </a:bodyPr>
          <a:lstStyle/>
          <a:p>
            <a:r>
              <a:rPr lang="en-US" sz="2000" b="1" dirty="0">
                <a:solidFill>
                  <a:schemeClr val="tx2"/>
                </a:solidFill>
              </a:rPr>
              <a:t>Method: </a:t>
            </a:r>
            <a:endParaRPr lang="en-IE" sz="2000" b="1" dirty="0">
              <a:solidFill>
                <a:schemeClr val="tx2"/>
              </a:solidFill>
            </a:endParaRPr>
          </a:p>
        </p:txBody>
      </p:sp>
      <p:sp>
        <p:nvSpPr>
          <p:cNvPr id="20" name="TextBox 19">
            <a:extLst>
              <a:ext uri="{FF2B5EF4-FFF2-40B4-BE49-F238E27FC236}">
                <a16:creationId xmlns:a16="http://schemas.microsoft.com/office/drawing/2014/main" id="{9EEB8643-F545-01E3-9B7A-36071699E89A}"/>
              </a:ext>
            </a:extLst>
          </p:cNvPr>
          <p:cNvSpPr txBox="1"/>
          <p:nvPr/>
        </p:nvSpPr>
        <p:spPr>
          <a:xfrm>
            <a:off x="166087" y="3857481"/>
            <a:ext cx="7068312" cy="400110"/>
          </a:xfrm>
          <a:prstGeom prst="rect">
            <a:avLst/>
          </a:prstGeom>
          <a:noFill/>
        </p:spPr>
        <p:txBody>
          <a:bodyPr wrap="square">
            <a:spAutoFit/>
          </a:bodyPr>
          <a:lstStyle/>
          <a:p>
            <a:r>
              <a:rPr lang="en-US" sz="2000" b="1" dirty="0">
                <a:solidFill>
                  <a:schemeClr val="tx2"/>
                </a:solidFill>
              </a:rPr>
              <a:t>Results: </a:t>
            </a:r>
            <a:endParaRPr lang="en-IE" sz="2000" b="1" dirty="0">
              <a:solidFill>
                <a:schemeClr val="tx2"/>
              </a:solidFill>
            </a:endParaRPr>
          </a:p>
        </p:txBody>
      </p:sp>
      <p:sp>
        <p:nvSpPr>
          <p:cNvPr id="21" name="TextBox 20">
            <a:extLst>
              <a:ext uri="{FF2B5EF4-FFF2-40B4-BE49-F238E27FC236}">
                <a16:creationId xmlns:a16="http://schemas.microsoft.com/office/drawing/2014/main" id="{57E83F0D-851C-B279-EC92-DFFAE88EB3F6}"/>
              </a:ext>
            </a:extLst>
          </p:cNvPr>
          <p:cNvSpPr txBox="1"/>
          <p:nvPr/>
        </p:nvSpPr>
        <p:spPr>
          <a:xfrm>
            <a:off x="145200" y="5166741"/>
            <a:ext cx="7068312" cy="400110"/>
          </a:xfrm>
          <a:prstGeom prst="rect">
            <a:avLst/>
          </a:prstGeom>
          <a:noFill/>
        </p:spPr>
        <p:txBody>
          <a:bodyPr wrap="square">
            <a:spAutoFit/>
          </a:bodyPr>
          <a:lstStyle/>
          <a:p>
            <a:r>
              <a:rPr lang="en-US" sz="2000" b="1" dirty="0">
                <a:solidFill>
                  <a:schemeClr val="tx2"/>
                </a:solidFill>
              </a:rPr>
              <a:t>Limitations: </a:t>
            </a:r>
            <a:endParaRPr lang="en-IE" sz="2000" b="1" dirty="0">
              <a:solidFill>
                <a:schemeClr val="tx2"/>
              </a:solidFill>
            </a:endParaRPr>
          </a:p>
        </p:txBody>
      </p:sp>
      <p:pic>
        <p:nvPicPr>
          <p:cNvPr id="5" name="Picture 4">
            <a:extLst>
              <a:ext uri="{FF2B5EF4-FFF2-40B4-BE49-F238E27FC236}">
                <a16:creationId xmlns:a16="http://schemas.microsoft.com/office/drawing/2014/main" id="{181FEC47-10B8-75C7-1B25-041F138C6211}"/>
              </a:ext>
            </a:extLst>
          </p:cNvPr>
          <p:cNvPicPr>
            <a:picLocks noChangeAspect="1"/>
          </p:cNvPicPr>
          <p:nvPr/>
        </p:nvPicPr>
        <p:blipFill>
          <a:blip r:embed="rId3"/>
          <a:stretch>
            <a:fillRect/>
          </a:stretch>
        </p:blipFill>
        <p:spPr>
          <a:xfrm>
            <a:off x="5748033" y="1066909"/>
            <a:ext cx="3098480" cy="2715004"/>
          </a:xfrm>
          <a:prstGeom prst="rect">
            <a:avLst/>
          </a:prstGeom>
        </p:spPr>
      </p:pic>
      <p:pic>
        <p:nvPicPr>
          <p:cNvPr id="8" name="Picture 7">
            <a:extLst>
              <a:ext uri="{FF2B5EF4-FFF2-40B4-BE49-F238E27FC236}">
                <a16:creationId xmlns:a16="http://schemas.microsoft.com/office/drawing/2014/main" id="{A46CF674-35A5-2C88-DA01-E27EA32820AB}"/>
              </a:ext>
            </a:extLst>
          </p:cNvPr>
          <p:cNvPicPr>
            <a:picLocks noChangeAspect="1"/>
          </p:cNvPicPr>
          <p:nvPr/>
        </p:nvPicPr>
        <p:blipFill>
          <a:blip r:embed="rId4"/>
          <a:stretch>
            <a:fillRect/>
          </a:stretch>
        </p:blipFill>
        <p:spPr>
          <a:xfrm>
            <a:off x="6994226" y="3825919"/>
            <a:ext cx="3340608" cy="3032081"/>
          </a:xfrm>
          <a:prstGeom prst="rect">
            <a:avLst/>
          </a:prstGeom>
        </p:spPr>
      </p:pic>
      <p:pic>
        <p:nvPicPr>
          <p:cNvPr id="13" name="Picture 12">
            <a:extLst>
              <a:ext uri="{FF2B5EF4-FFF2-40B4-BE49-F238E27FC236}">
                <a16:creationId xmlns:a16="http://schemas.microsoft.com/office/drawing/2014/main" id="{FF1E8F98-B30A-6FA4-A72C-0EBAB58953A6}"/>
              </a:ext>
            </a:extLst>
          </p:cNvPr>
          <p:cNvPicPr>
            <a:picLocks noChangeAspect="1"/>
          </p:cNvPicPr>
          <p:nvPr/>
        </p:nvPicPr>
        <p:blipFill>
          <a:blip r:embed="rId5"/>
          <a:stretch>
            <a:fillRect/>
          </a:stretch>
        </p:blipFill>
        <p:spPr>
          <a:xfrm>
            <a:off x="8851393" y="954827"/>
            <a:ext cx="3340608" cy="2737287"/>
          </a:xfrm>
          <a:prstGeom prst="rect">
            <a:avLst/>
          </a:prstGeom>
        </p:spPr>
      </p:pic>
    </p:spTree>
    <p:extLst>
      <p:ext uri="{BB962C8B-B14F-4D97-AF65-F5344CB8AC3E}">
        <p14:creationId xmlns:p14="http://schemas.microsoft.com/office/powerpoint/2010/main" val="35264215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13B129A-2C68-FB04-9486-FC2F64B362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B64B17-D420-D2EF-2204-C6E52B1B536F}"/>
              </a:ext>
            </a:extLst>
          </p:cNvPr>
          <p:cNvSpPr>
            <a:spLocks noGrp="1"/>
          </p:cNvSpPr>
          <p:nvPr>
            <p:ph type="title"/>
          </p:nvPr>
        </p:nvSpPr>
        <p:spPr>
          <a:xfrm>
            <a:off x="208465" y="1291149"/>
            <a:ext cx="5497392" cy="787314"/>
          </a:xfrm>
        </p:spPr>
        <p:txBody>
          <a:bodyPr>
            <a:normAutofit/>
          </a:bodyPr>
          <a:lstStyle/>
          <a:p>
            <a:r>
              <a:rPr lang="en-IE" sz="2000" dirty="0">
                <a:solidFill>
                  <a:schemeClr val="bg2">
                    <a:lumMod val="10000"/>
                  </a:schemeClr>
                </a:solidFill>
              </a:rPr>
              <a:t>Adding dexterity means adding tons of motors, weight, and cost.</a:t>
            </a:r>
          </a:p>
        </p:txBody>
      </p:sp>
      <p:sp>
        <p:nvSpPr>
          <p:cNvPr id="4" name="Title 1">
            <a:extLst>
              <a:ext uri="{FF2B5EF4-FFF2-40B4-BE49-F238E27FC236}">
                <a16:creationId xmlns:a16="http://schemas.microsoft.com/office/drawing/2014/main" id="{4836ED97-BAFB-6C14-3BAA-80AF720ABF71}"/>
              </a:ext>
            </a:extLst>
          </p:cNvPr>
          <p:cNvSpPr txBox="1">
            <a:spLocks/>
          </p:cNvSpPr>
          <p:nvPr/>
        </p:nvSpPr>
        <p:spPr>
          <a:xfrm>
            <a:off x="145200" y="111354"/>
            <a:ext cx="9064390" cy="787314"/>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400" b="1" kern="1200">
                <a:solidFill>
                  <a:schemeClr val="bg1"/>
                </a:solidFill>
                <a:latin typeface="+mn-lt"/>
                <a:ea typeface="+mj-ea"/>
                <a:cs typeface="+mj-cs"/>
              </a:defRPr>
            </a:lvl1pPr>
          </a:lstStyle>
          <a:p>
            <a:r>
              <a:rPr lang="en-US" b="0" dirty="0">
                <a:solidFill>
                  <a:srgbClr val="002060"/>
                </a:solidFill>
              </a:rPr>
              <a:t>Literature : Gripper</a:t>
            </a:r>
          </a:p>
        </p:txBody>
      </p:sp>
      <p:sp>
        <p:nvSpPr>
          <p:cNvPr id="7" name="Title 1">
            <a:extLst>
              <a:ext uri="{FF2B5EF4-FFF2-40B4-BE49-F238E27FC236}">
                <a16:creationId xmlns:a16="http://schemas.microsoft.com/office/drawing/2014/main" id="{9D62BBC9-5F82-A5D2-FFBE-E33D15DEF022}"/>
              </a:ext>
            </a:extLst>
          </p:cNvPr>
          <p:cNvSpPr txBox="1">
            <a:spLocks/>
          </p:cNvSpPr>
          <p:nvPr/>
        </p:nvSpPr>
        <p:spPr>
          <a:xfrm>
            <a:off x="199870" y="2551488"/>
            <a:ext cx="5497392" cy="787314"/>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3400" b="1" kern="1200">
                <a:solidFill>
                  <a:schemeClr val="bg1"/>
                </a:solidFill>
                <a:latin typeface="+mn-lt"/>
                <a:ea typeface="+mj-ea"/>
                <a:cs typeface="+mj-cs"/>
              </a:defRPr>
            </a:lvl1pPr>
          </a:lstStyle>
          <a:p>
            <a:r>
              <a:rPr lang="en-IE" sz="2000" dirty="0">
                <a:solidFill>
                  <a:schemeClr val="bg2">
                    <a:lumMod val="10000"/>
                  </a:schemeClr>
                </a:solidFill>
              </a:rPr>
              <a:t>Finger bases rotate freely, and a toothed ratchet locks them when the tendon is pulled.</a:t>
            </a:r>
            <a:endParaRPr lang="en-US" sz="2000" b="0" dirty="0">
              <a:solidFill>
                <a:schemeClr val="bg2">
                  <a:lumMod val="10000"/>
                </a:schemeClr>
              </a:solidFill>
            </a:endParaRPr>
          </a:p>
        </p:txBody>
      </p:sp>
      <p:sp>
        <p:nvSpPr>
          <p:cNvPr id="9" name="Title 1">
            <a:extLst>
              <a:ext uri="{FF2B5EF4-FFF2-40B4-BE49-F238E27FC236}">
                <a16:creationId xmlns:a16="http://schemas.microsoft.com/office/drawing/2014/main" id="{228A2767-6208-A295-2871-091E25427E91}"/>
              </a:ext>
            </a:extLst>
          </p:cNvPr>
          <p:cNvSpPr txBox="1">
            <a:spLocks/>
          </p:cNvSpPr>
          <p:nvPr/>
        </p:nvSpPr>
        <p:spPr>
          <a:xfrm>
            <a:off x="145200" y="4320339"/>
            <a:ext cx="5432640" cy="787314"/>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400" b="1" kern="1200">
                <a:solidFill>
                  <a:schemeClr val="bg1"/>
                </a:solidFill>
                <a:latin typeface="+mn-lt"/>
                <a:ea typeface="+mj-ea"/>
                <a:cs typeface="+mj-cs"/>
              </a:defRPr>
            </a:lvl1pPr>
          </a:lstStyle>
          <a:p>
            <a:r>
              <a:rPr lang="en-IE" sz="2000" dirty="0">
                <a:solidFill>
                  <a:schemeClr val="bg2">
                    <a:lumMod val="10000"/>
                  </a:schemeClr>
                </a:solidFill>
              </a:rPr>
              <a:t>Switches from a pinch grasp to a wrap grasp without extra motors.</a:t>
            </a:r>
            <a:endParaRPr lang="en-US" sz="2000" b="0" dirty="0">
              <a:solidFill>
                <a:schemeClr val="bg2">
                  <a:lumMod val="10000"/>
                </a:schemeClr>
              </a:solidFill>
            </a:endParaRPr>
          </a:p>
        </p:txBody>
      </p:sp>
      <p:sp>
        <p:nvSpPr>
          <p:cNvPr id="10" name="Title 1">
            <a:extLst>
              <a:ext uri="{FF2B5EF4-FFF2-40B4-BE49-F238E27FC236}">
                <a16:creationId xmlns:a16="http://schemas.microsoft.com/office/drawing/2014/main" id="{5A4E1510-3D05-4466-C8C6-064D88D8448B}"/>
              </a:ext>
            </a:extLst>
          </p:cNvPr>
          <p:cNvSpPr txBox="1">
            <a:spLocks/>
          </p:cNvSpPr>
          <p:nvPr/>
        </p:nvSpPr>
        <p:spPr>
          <a:xfrm>
            <a:off x="166087" y="5544889"/>
            <a:ext cx="6427081" cy="787314"/>
          </a:xfrm>
          <a:prstGeom prst="rect">
            <a:avLst/>
          </a:prstGeom>
        </p:spPr>
        <p:txBody>
          <a:bodyPr vert="horz" lIns="91440" tIns="45720" rIns="91440" bIns="45720" rtlCol="0" anchor="t">
            <a:normAutofit fontScale="92500"/>
          </a:bodyPr>
          <a:lstStyle>
            <a:lvl1pPr algn="l" defTabSz="914400" rtl="0" eaLnBrk="1" latinLnBrk="0" hangingPunct="1">
              <a:lnSpc>
                <a:spcPct val="90000"/>
              </a:lnSpc>
              <a:spcBef>
                <a:spcPct val="0"/>
              </a:spcBef>
              <a:buNone/>
              <a:defRPr sz="3400" b="1" kern="1200">
                <a:solidFill>
                  <a:schemeClr val="bg1"/>
                </a:solidFill>
                <a:latin typeface="+mn-lt"/>
                <a:ea typeface="+mj-ea"/>
                <a:cs typeface="+mj-cs"/>
              </a:defRPr>
            </a:lvl1pPr>
          </a:lstStyle>
          <a:p>
            <a:r>
              <a:rPr lang="en-IE" sz="2000" dirty="0">
                <a:solidFill>
                  <a:schemeClr val="bg2">
                    <a:lumMod val="10000"/>
                  </a:schemeClr>
                </a:solidFill>
              </a:rPr>
              <a:t>To change the base angle, the robot arm has to intentionally bump the gripper against the environment. No real sensors.</a:t>
            </a:r>
            <a:endParaRPr lang="en-US" sz="2000" b="0" dirty="0">
              <a:solidFill>
                <a:schemeClr val="bg2">
                  <a:lumMod val="10000"/>
                </a:schemeClr>
              </a:solidFill>
            </a:endParaRPr>
          </a:p>
        </p:txBody>
      </p:sp>
      <p:sp>
        <p:nvSpPr>
          <p:cNvPr id="11" name="Title 1">
            <a:extLst>
              <a:ext uri="{FF2B5EF4-FFF2-40B4-BE49-F238E27FC236}">
                <a16:creationId xmlns:a16="http://schemas.microsoft.com/office/drawing/2014/main" id="{A71F6FB6-A623-3ED1-CA25-3771B7467115}"/>
              </a:ext>
            </a:extLst>
          </p:cNvPr>
          <p:cNvSpPr txBox="1">
            <a:spLocks/>
          </p:cNvSpPr>
          <p:nvPr/>
        </p:nvSpPr>
        <p:spPr>
          <a:xfrm>
            <a:off x="5043336" y="218044"/>
            <a:ext cx="6888136" cy="787314"/>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3400" b="1" kern="1200">
                <a:solidFill>
                  <a:schemeClr val="bg1"/>
                </a:solidFill>
                <a:latin typeface="+mn-lt"/>
                <a:ea typeface="+mj-ea"/>
                <a:cs typeface="+mj-cs"/>
              </a:defRPr>
            </a:lvl1pPr>
          </a:lstStyle>
          <a:p>
            <a:r>
              <a:rPr lang="en-IE" sz="1600" dirty="0">
                <a:solidFill>
                  <a:schemeClr val="bg2">
                    <a:lumMod val="10000"/>
                  </a:schemeClr>
                </a:solidFill>
              </a:rPr>
              <a:t>Underactuated Dexterous Robotic Grasping With Reconfigurable Passive Joints Marek Kopicki , </a:t>
            </a:r>
            <a:r>
              <a:rPr lang="en-IE" sz="1600" dirty="0" err="1">
                <a:solidFill>
                  <a:schemeClr val="bg2">
                    <a:lumMod val="10000"/>
                  </a:schemeClr>
                </a:solidFill>
              </a:rPr>
              <a:t>Sainul</a:t>
            </a:r>
            <a:r>
              <a:rPr lang="en-IE" sz="1600" dirty="0">
                <a:solidFill>
                  <a:schemeClr val="bg2">
                    <a:lumMod val="10000"/>
                  </a:schemeClr>
                </a:solidFill>
              </a:rPr>
              <a:t> Islam Ansary , Simone Tolomei , Franco Angelini and Piotr </a:t>
            </a:r>
            <a:r>
              <a:rPr lang="en-IE" sz="1600" dirty="0" err="1">
                <a:solidFill>
                  <a:schemeClr val="bg2">
                    <a:lumMod val="10000"/>
                  </a:schemeClr>
                </a:solidFill>
              </a:rPr>
              <a:t>Skrzypczy´nski</a:t>
            </a:r>
            <a:endParaRPr lang="en-IE" sz="1600" b="0" dirty="0">
              <a:solidFill>
                <a:schemeClr val="bg2">
                  <a:lumMod val="10000"/>
                </a:schemeClr>
              </a:solidFill>
              <a:hlinkClick r:id="rId2">
                <a:extLst>
                  <a:ext uri="{A12FA001-AC4F-418D-AE19-62706E023703}">
                    <ahyp:hlinkClr xmlns:ahyp="http://schemas.microsoft.com/office/drawing/2018/hyperlinkcolor" val="tx"/>
                  </a:ext>
                </a:extLst>
              </a:hlinkClick>
            </a:endParaRPr>
          </a:p>
        </p:txBody>
      </p:sp>
      <p:sp>
        <p:nvSpPr>
          <p:cNvPr id="18" name="TextBox 17">
            <a:extLst>
              <a:ext uri="{FF2B5EF4-FFF2-40B4-BE49-F238E27FC236}">
                <a16:creationId xmlns:a16="http://schemas.microsoft.com/office/drawing/2014/main" id="{0FCF7715-A8D0-907C-450B-13F65AFC3495}"/>
              </a:ext>
            </a:extLst>
          </p:cNvPr>
          <p:cNvSpPr txBox="1"/>
          <p:nvPr/>
        </p:nvSpPr>
        <p:spPr>
          <a:xfrm>
            <a:off x="260528" y="856624"/>
            <a:ext cx="7068312" cy="400110"/>
          </a:xfrm>
          <a:prstGeom prst="rect">
            <a:avLst/>
          </a:prstGeom>
          <a:noFill/>
        </p:spPr>
        <p:txBody>
          <a:bodyPr wrap="square">
            <a:spAutoFit/>
          </a:bodyPr>
          <a:lstStyle/>
          <a:p>
            <a:r>
              <a:rPr lang="en-US" sz="2000" b="1" dirty="0">
                <a:solidFill>
                  <a:schemeClr val="tx2"/>
                </a:solidFill>
              </a:rPr>
              <a:t>Question/Gap: </a:t>
            </a:r>
            <a:endParaRPr lang="en-IE" sz="2000" b="1" dirty="0">
              <a:solidFill>
                <a:schemeClr val="tx2"/>
              </a:solidFill>
            </a:endParaRPr>
          </a:p>
        </p:txBody>
      </p:sp>
      <p:sp>
        <p:nvSpPr>
          <p:cNvPr id="19" name="TextBox 18">
            <a:extLst>
              <a:ext uri="{FF2B5EF4-FFF2-40B4-BE49-F238E27FC236}">
                <a16:creationId xmlns:a16="http://schemas.microsoft.com/office/drawing/2014/main" id="{08F14892-BCD3-5F5A-C3E9-069B31E44536}"/>
              </a:ext>
            </a:extLst>
          </p:cNvPr>
          <p:cNvSpPr txBox="1"/>
          <p:nvPr/>
        </p:nvSpPr>
        <p:spPr>
          <a:xfrm>
            <a:off x="208464" y="2123416"/>
            <a:ext cx="7068312" cy="400110"/>
          </a:xfrm>
          <a:prstGeom prst="rect">
            <a:avLst/>
          </a:prstGeom>
          <a:noFill/>
        </p:spPr>
        <p:txBody>
          <a:bodyPr wrap="square">
            <a:spAutoFit/>
          </a:bodyPr>
          <a:lstStyle/>
          <a:p>
            <a:r>
              <a:rPr lang="en-US" sz="2000" b="1" dirty="0">
                <a:solidFill>
                  <a:schemeClr val="tx2"/>
                </a:solidFill>
              </a:rPr>
              <a:t>Method: </a:t>
            </a:r>
            <a:endParaRPr lang="en-IE" sz="2000" b="1" dirty="0">
              <a:solidFill>
                <a:schemeClr val="tx2"/>
              </a:solidFill>
            </a:endParaRPr>
          </a:p>
        </p:txBody>
      </p:sp>
      <p:sp>
        <p:nvSpPr>
          <p:cNvPr id="20" name="TextBox 19">
            <a:extLst>
              <a:ext uri="{FF2B5EF4-FFF2-40B4-BE49-F238E27FC236}">
                <a16:creationId xmlns:a16="http://schemas.microsoft.com/office/drawing/2014/main" id="{D3EC3792-690F-477E-04DA-CF437BC84716}"/>
              </a:ext>
            </a:extLst>
          </p:cNvPr>
          <p:cNvSpPr txBox="1"/>
          <p:nvPr/>
        </p:nvSpPr>
        <p:spPr>
          <a:xfrm>
            <a:off x="166087" y="3857481"/>
            <a:ext cx="7068312" cy="400110"/>
          </a:xfrm>
          <a:prstGeom prst="rect">
            <a:avLst/>
          </a:prstGeom>
          <a:noFill/>
        </p:spPr>
        <p:txBody>
          <a:bodyPr wrap="square">
            <a:spAutoFit/>
          </a:bodyPr>
          <a:lstStyle/>
          <a:p>
            <a:r>
              <a:rPr lang="en-US" sz="2000" b="1" dirty="0">
                <a:solidFill>
                  <a:schemeClr val="tx2"/>
                </a:solidFill>
              </a:rPr>
              <a:t>Results: </a:t>
            </a:r>
            <a:endParaRPr lang="en-IE" sz="2000" b="1" dirty="0">
              <a:solidFill>
                <a:schemeClr val="tx2"/>
              </a:solidFill>
            </a:endParaRPr>
          </a:p>
        </p:txBody>
      </p:sp>
      <p:sp>
        <p:nvSpPr>
          <p:cNvPr id="21" name="TextBox 20">
            <a:extLst>
              <a:ext uri="{FF2B5EF4-FFF2-40B4-BE49-F238E27FC236}">
                <a16:creationId xmlns:a16="http://schemas.microsoft.com/office/drawing/2014/main" id="{4408012F-9A44-896D-DFA0-26E08CECD044}"/>
              </a:ext>
            </a:extLst>
          </p:cNvPr>
          <p:cNvSpPr txBox="1"/>
          <p:nvPr/>
        </p:nvSpPr>
        <p:spPr>
          <a:xfrm>
            <a:off x="166087" y="5170401"/>
            <a:ext cx="7068312" cy="400110"/>
          </a:xfrm>
          <a:prstGeom prst="rect">
            <a:avLst/>
          </a:prstGeom>
          <a:noFill/>
        </p:spPr>
        <p:txBody>
          <a:bodyPr wrap="square">
            <a:spAutoFit/>
          </a:bodyPr>
          <a:lstStyle/>
          <a:p>
            <a:r>
              <a:rPr lang="en-US" sz="2000" b="1" dirty="0">
                <a:solidFill>
                  <a:schemeClr val="tx2"/>
                </a:solidFill>
              </a:rPr>
              <a:t>Limitations: </a:t>
            </a:r>
            <a:endParaRPr lang="en-IE" sz="2000" b="1" dirty="0">
              <a:solidFill>
                <a:schemeClr val="tx2"/>
              </a:solidFill>
            </a:endParaRPr>
          </a:p>
        </p:txBody>
      </p:sp>
      <p:pic>
        <p:nvPicPr>
          <p:cNvPr id="5" name="Picture 4">
            <a:extLst>
              <a:ext uri="{FF2B5EF4-FFF2-40B4-BE49-F238E27FC236}">
                <a16:creationId xmlns:a16="http://schemas.microsoft.com/office/drawing/2014/main" id="{E2FE687C-BE77-9A4F-552C-729C74EA5119}"/>
              </a:ext>
            </a:extLst>
          </p:cNvPr>
          <p:cNvPicPr>
            <a:picLocks noChangeAspect="1"/>
          </p:cNvPicPr>
          <p:nvPr/>
        </p:nvPicPr>
        <p:blipFill>
          <a:blip r:embed="rId3"/>
          <a:stretch>
            <a:fillRect/>
          </a:stretch>
        </p:blipFill>
        <p:spPr>
          <a:xfrm>
            <a:off x="8758318" y="2050585"/>
            <a:ext cx="3416594" cy="2006951"/>
          </a:xfrm>
          <a:prstGeom prst="rect">
            <a:avLst/>
          </a:prstGeom>
        </p:spPr>
      </p:pic>
      <p:pic>
        <p:nvPicPr>
          <p:cNvPr id="8" name="Picture 7">
            <a:extLst>
              <a:ext uri="{FF2B5EF4-FFF2-40B4-BE49-F238E27FC236}">
                <a16:creationId xmlns:a16="http://schemas.microsoft.com/office/drawing/2014/main" id="{EFD869FD-DEF3-E42C-37D9-CC5A0AE8DB55}"/>
              </a:ext>
            </a:extLst>
          </p:cNvPr>
          <p:cNvPicPr>
            <a:picLocks noChangeAspect="1"/>
          </p:cNvPicPr>
          <p:nvPr/>
        </p:nvPicPr>
        <p:blipFill>
          <a:blip r:embed="rId4"/>
          <a:stretch>
            <a:fillRect/>
          </a:stretch>
        </p:blipFill>
        <p:spPr>
          <a:xfrm>
            <a:off x="5495544" y="908367"/>
            <a:ext cx="3145590" cy="2373433"/>
          </a:xfrm>
          <a:prstGeom prst="rect">
            <a:avLst/>
          </a:prstGeom>
        </p:spPr>
      </p:pic>
      <p:pic>
        <p:nvPicPr>
          <p:cNvPr id="13" name="Picture 12">
            <a:extLst>
              <a:ext uri="{FF2B5EF4-FFF2-40B4-BE49-F238E27FC236}">
                <a16:creationId xmlns:a16="http://schemas.microsoft.com/office/drawing/2014/main" id="{9C14761A-B7AC-1A23-9A73-9C4501245FE3}"/>
              </a:ext>
            </a:extLst>
          </p:cNvPr>
          <p:cNvPicPr>
            <a:picLocks noChangeAspect="1"/>
          </p:cNvPicPr>
          <p:nvPr/>
        </p:nvPicPr>
        <p:blipFill>
          <a:blip r:embed="rId5"/>
          <a:stretch>
            <a:fillRect/>
          </a:stretch>
        </p:blipFill>
        <p:spPr>
          <a:xfrm>
            <a:off x="8650376" y="4518943"/>
            <a:ext cx="3461272" cy="2051892"/>
          </a:xfrm>
          <a:prstGeom prst="rect">
            <a:avLst/>
          </a:prstGeom>
        </p:spPr>
      </p:pic>
      <p:pic>
        <p:nvPicPr>
          <p:cNvPr id="15" name="Picture 14">
            <a:extLst>
              <a:ext uri="{FF2B5EF4-FFF2-40B4-BE49-F238E27FC236}">
                <a16:creationId xmlns:a16="http://schemas.microsoft.com/office/drawing/2014/main" id="{476E7FA6-7227-9042-B044-FF4B9696EC86}"/>
              </a:ext>
            </a:extLst>
          </p:cNvPr>
          <p:cNvPicPr>
            <a:picLocks noChangeAspect="1"/>
          </p:cNvPicPr>
          <p:nvPr/>
        </p:nvPicPr>
        <p:blipFill>
          <a:blip r:embed="rId6"/>
          <a:stretch>
            <a:fillRect/>
          </a:stretch>
        </p:blipFill>
        <p:spPr>
          <a:xfrm>
            <a:off x="5043336" y="3617456"/>
            <a:ext cx="3805676" cy="1735923"/>
          </a:xfrm>
          <a:prstGeom prst="rect">
            <a:avLst/>
          </a:prstGeom>
        </p:spPr>
      </p:pic>
    </p:spTree>
    <p:extLst>
      <p:ext uri="{BB962C8B-B14F-4D97-AF65-F5344CB8AC3E}">
        <p14:creationId xmlns:p14="http://schemas.microsoft.com/office/powerpoint/2010/main" val="12391965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552D3DA-E9D8-0933-A7DD-D1034877A42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E2DDA40-B3BE-19B1-061D-FF7BAB151892}"/>
              </a:ext>
            </a:extLst>
          </p:cNvPr>
          <p:cNvSpPr>
            <a:spLocks noGrp="1"/>
          </p:cNvSpPr>
          <p:nvPr>
            <p:ph type="title"/>
          </p:nvPr>
        </p:nvSpPr>
        <p:spPr>
          <a:xfrm>
            <a:off x="1563805" y="3035343"/>
            <a:ext cx="9064390" cy="787314"/>
          </a:xfrm>
        </p:spPr>
        <p:txBody>
          <a:bodyPr>
            <a:normAutofit/>
          </a:bodyPr>
          <a:lstStyle/>
          <a:p>
            <a:pPr algn="ctr"/>
            <a:r>
              <a:rPr lang="en-US" sz="4800" dirty="0"/>
              <a:t>Literature E-Textiles</a:t>
            </a:r>
          </a:p>
        </p:txBody>
      </p:sp>
    </p:spTree>
    <p:extLst>
      <p:ext uri="{BB962C8B-B14F-4D97-AF65-F5344CB8AC3E}">
        <p14:creationId xmlns:p14="http://schemas.microsoft.com/office/powerpoint/2010/main" val="5891872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631A658-86C0-BA69-806D-0A6044B29F5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0E7540-1A7C-5429-22FE-248B6CFFE0B3}"/>
              </a:ext>
            </a:extLst>
          </p:cNvPr>
          <p:cNvSpPr>
            <a:spLocks noGrp="1"/>
          </p:cNvSpPr>
          <p:nvPr>
            <p:ph type="title"/>
          </p:nvPr>
        </p:nvSpPr>
        <p:spPr>
          <a:xfrm>
            <a:off x="277788" y="1254066"/>
            <a:ext cx="4897716" cy="787314"/>
          </a:xfrm>
        </p:spPr>
        <p:txBody>
          <a:bodyPr>
            <a:normAutofit/>
          </a:bodyPr>
          <a:lstStyle/>
          <a:p>
            <a:r>
              <a:rPr lang="en-IE" sz="2000" dirty="0">
                <a:solidFill>
                  <a:schemeClr val="bg2">
                    <a:lumMod val="10000"/>
                  </a:schemeClr>
                </a:solidFill>
              </a:rPr>
              <a:t>Soft robots bend unpredictably, making it hard to track their 3D shape or grip force.</a:t>
            </a:r>
            <a:endParaRPr lang="en-US" sz="2000" dirty="0">
              <a:solidFill>
                <a:schemeClr val="bg2">
                  <a:lumMod val="10000"/>
                </a:schemeClr>
              </a:solidFill>
            </a:endParaRPr>
          </a:p>
        </p:txBody>
      </p:sp>
      <p:sp>
        <p:nvSpPr>
          <p:cNvPr id="4" name="Title 1">
            <a:extLst>
              <a:ext uri="{FF2B5EF4-FFF2-40B4-BE49-F238E27FC236}">
                <a16:creationId xmlns:a16="http://schemas.microsoft.com/office/drawing/2014/main" id="{AA285333-C539-D9D7-A833-0FEF82D2DC3A}"/>
              </a:ext>
            </a:extLst>
          </p:cNvPr>
          <p:cNvSpPr txBox="1">
            <a:spLocks/>
          </p:cNvSpPr>
          <p:nvPr/>
        </p:nvSpPr>
        <p:spPr>
          <a:xfrm>
            <a:off x="145200" y="111354"/>
            <a:ext cx="9064390" cy="787314"/>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400" b="1" kern="1200">
                <a:solidFill>
                  <a:schemeClr val="bg1"/>
                </a:solidFill>
                <a:latin typeface="+mn-lt"/>
                <a:ea typeface="+mj-ea"/>
                <a:cs typeface="+mj-cs"/>
              </a:defRPr>
            </a:lvl1pPr>
          </a:lstStyle>
          <a:p>
            <a:r>
              <a:rPr lang="en-US" b="0" dirty="0">
                <a:solidFill>
                  <a:srgbClr val="002060"/>
                </a:solidFill>
              </a:rPr>
              <a:t>Literature : E-textiles</a:t>
            </a:r>
          </a:p>
        </p:txBody>
      </p:sp>
      <p:sp>
        <p:nvSpPr>
          <p:cNvPr id="7" name="Title 1">
            <a:extLst>
              <a:ext uri="{FF2B5EF4-FFF2-40B4-BE49-F238E27FC236}">
                <a16:creationId xmlns:a16="http://schemas.microsoft.com/office/drawing/2014/main" id="{AD9E3ACE-9964-0FD3-19FD-A928D84F5B56}"/>
              </a:ext>
            </a:extLst>
          </p:cNvPr>
          <p:cNvSpPr txBox="1">
            <a:spLocks/>
          </p:cNvSpPr>
          <p:nvPr/>
        </p:nvSpPr>
        <p:spPr>
          <a:xfrm>
            <a:off x="208464" y="2543697"/>
            <a:ext cx="5202936" cy="787314"/>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3400" b="1" kern="1200">
                <a:solidFill>
                  <a:schemeClr val="bg1"/>
                </a:solidFill>
                <a:latin typeface="+mn-lt"/>
                <a:ea typeface="+mj-ea"/>
                <a:cs typeface="+mj-cs"/>
              </a:defRPr>
            </a:lvl1pPr>
          </a:lstStyle>
          <a:p>
            <a:r>
              <a:rPr lang="en-IE" sz="2000" dirty="0">
                <a:solidFill>
                  <a:schemeClr val="bg2">
                    <a:lumMod val="10000"/>
                  </a:schemeClr>
                </a:solidFill>
              </a:rPr>
              <a:t>Embed multimodal sensors (touch, force, temperature) directly into the soft skin.</a:t>
            </a:r>
            <a:endParaRPr lang="en-US" sz="2000" dirty="0">
              <a:solidFill>
                <a:schemeClr val="bg2">
                  <a:lumMod val="10000"/>
                </a:schemeClr>
              </a:solidFill>
            </a:endParaRPr>
          </a:p>
        </p:txBody>
      </p:sp>
      <p:sp>
        <p:nvSpPr>
          <p:cNvPr id="9" name="Title 1">
            <a:extLst>
              <a:ext uri="{FF2B5EF4-FFF2-40B4-BE49-F238E27FC236}">
                <a16:creationId xmlns:a16="http://schemas.microsoft.com/office/drawing/2014/main" id="{8F7DAA1B-544D-68A7-3FE7-C8BD21DA2D93}"/>
              </a:ext>
            </a:extLst>
          </p:cNvPr>
          <p:cNvSpPr txBox="1">
            <a:spLocks/>
          </p:cNvSpPr>
          <p:nvPr/>
        </p:nvSpPr>
        <p:spPr>
          <a:xfrm>
            <a:off x="166086" y="3840132"/>
            <a:ext cx="5420897" cy="787314"/>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3400" b="1" kern="1200">
                <a:solidFill>
                  <a:schemeClr val="bg1"/>
                </a:solidFill>
                <a:latin typeface="+mn-lt"/>
                <a:ea typeface="+mj-ea"/>
                <a:cs typeface="+mj-cs"/>
              </a:defRPr>
            </a:lvl1pPr>
          </a:lstStyle>
          <a:p>
            <a:r>
              <a:rPr lang="en-IE" sz="2000" dirty="0">
                <a:solidFill>
                  <a:schemeClr val="bg2">
                    <a:lumMod val="10000"/>
                  </a:schemeClr>
                </a:solidFill>
              </a:rPr>
              <a:t>Gives the robot the situational awareness needed to handle fragile items and work safely near humans.</a:t>
            </a:r>
            <a:endParaRPr lang="en-US" sz="2000" dirty="0">
              <a:solidFill>
                <a:schemeClr val="bg2">
                  <a:lumMod val="10000"/>
                </a:schemeClr>
              </a:solidFill>
            </a:endParaRPr>
          </a:p>
        </p:txBody>
      </p:sp>
      <p:sp>
        <p:nvSpPr>
          <p:cNvPr id="10" name="Title 1">
            <a:extLst>
              <a:ext uri="{FF2B5EF4-FFF2-40B4-BE49-F238E27FC236}">
                <a16:creationId xmlns:a16="http://schemas.microsoft.com/office/drawing/2014/main" id="{0A33C20D-0F27-27F6-3AFB-A39153F82669}"/>
              </a:ext>
            </a:extLst>
          </p:cNvPr>
          <p:cNvSpPr txBox="1">
            <a:spLocks/>
          </p:cNvSpPr>
          <p:nvPr/>
        </p:nvSpPr>
        <p:spPr>
          <a:xfrm>
            <a:off x="166086" y="5189814"/>
            <a:ext cx="5558057" cy="787314"/>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3400" b="1" kern="1200">
                <a:solidFill>
                  <a:schemeClr val="bg1"/>
                </a:solidFill>
                <a:latin typeface="+mn-lt"/>
                <a:ea typeface="+mj-ea"/>
                <a:cs typeface="+mj-cs"/>
              </a:defRPr>
            </a:lvl1pPr>
          </a:lstStyle>
          <a:p>
            <a:r>
              <a:rPr lang="en-IE" sz="2000" dirty="0">
                <a:solidFill>
                  <a:schemeClr val="bg2">
                    <a:lumMod val="10000"/>
                  </a:schemeClr>
                </a:solidFill>
              </a:rPr>
              <a:t>Too many sensors create a massive data bottleneck that overloads the microcontroller.</a:t>
            </a:r>
            <a:endParaRPr lang="en-US" sz="2000" dirty="0">
              <a:solidFill>
                <a:schemeClr val="bg2">
                  <a:lumMod val="10000"/>
                </a:schemeClr>
              </a:solidFill>
            </a:endParaRPr>
          </a:p>
        </p:txBody>
      </p:sp>
      <p:sp>
        <p:nvSpPr>
          <p:cNvPr id="11" name="Title 1">
            <a:extLst>
              <a:ext uri="{FF2B5EF4-FFF2-40B4-BE49-F238E27FC236}">
                <a16:creationId xmlns:a16="http://schemas.microsoft.com/office/drawing/2014/main" id="{A45C027F-0307-3AD8-B44D-FC6E2C3B363B}"/>
              </a:ext>
            </a:extLst>
          </p:cNvPr>
          <p:cNvSpPr txBox="1">
            <a:spLocks/>
          </p:cNvSpPr>
          <p:nvPr/>
        </p:nvSpPr>
        <p:spPr>
          <a:xfrm>
            <a:off x="4580563" y="218044"/>
            <a:ext cx="5307672" cy="787314"/>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400" b="1" kern="1200">
                <a:solidFill>
                  <a:schemeClr val="bg1"/>
                </a:solidFill>
                <a:latin typeface="+mn-lt"/>
                <a:ea typeface="+mj-ea"/>
                <a:cs typeface="+mj-cs"/>
              </a:defRPr>
            </a:lvl1pPr>
          </a:lstStyle>
          <a:p>
            <a:r>
              <a:rPr lang="en-IE" sz="1600" dirty="0">
                <a:solidFill>
                  <a:schemeClr val="bg2">
                    <a:lumMod val="10000"/>
                  </a:schemeClr>
                </a:solidFill>
              </a:rPr>
              <a:t>Human-</a:t>
            </a:r>
            <a:r>
              <a:rPr lang="en-IE" sz="1600" dirty="0" err="1">
                <a:solidFill>
                  <a:schemeClr val="bg2">
                    <a:lumMod val="10000"/>
                  </a:schemeClr>
                </a:solidFill>
              </a:rPr>
              <a:t>Centered</a:t>
            </a:r>
            <a:r>
              <a:rPr lang="en-IE" sz="1600" dirty="0">
                <a:solidFill>
                  <a:schemeClr val="bg2">
                    <a:lumMod val="10000"/>
                  </a:schemeClr>
                </a:solidFill>
              </a:rPr>
              <a:t> Sensor Technologies for Soft Robotic Grippers: A Comprehensive Review Md. Tasnim Rana 1,* , Md. </a:t>
            </a:r>
            <a:r>
              <a:rPr lang="en-IE" sz="1600" dirty="0" err="1">
                <a:solidFill>
                  <a:schemeClr val="bg2">
                    <a:lumMod val="10000"/>
                  </a:schemeClr>
                </a:solidFill>
              </a:rPr>
              <a:t>Shariful</a:t>
            </a:r>
            <a:r>
              <a:rPr lang="en-IE" sz="1600" dirty="0">
                <a:solidFill>
                  <a:schemeClr val="bg2">
                    <a:lumMod val="10000"/>
                  </a:schemeClr>
                </a:solidFill>
              </a:rPr>
              <a:t> Islam 2 1 </a:t>
            </a:r>
            <a:r>
              <a:rPr lang="en-IE" sz="1600" dirty="0" err="1">
                <a:solidFill>
                  <a:schemeClr val="bg2">
                    <a:lumMod val="10000"/>
                  </a:schemeClr>
                </a:solidFill>
              </a:rPr>
              <a:t>andAzizurRahman</a:t>
            </a:r>
            <a:endParaRPr lang="en-US" sz="1600" b="0" dirty="0">
              <a:solidFill>
                <a:schemeClr val="bg2">
                  <a:lumMod val="10000"/>
                </a:schemeClr>
              </a:solidFill>
            </a:endParaRPr>
          </a:p>
        </p:txBody>
      </p:sp>
      <p:sp>
        <p:nvSpPr>
          <p:cNvPr id="17" name="TextBox 16">
            <a:extLst>
              <a:ext uri="{FF2B5EF4-FFF2-40B4-BE49-F238E27FC236}">
                <a16:creationId xmlns:a16="http://schemas.microsoft.com/office/drawing/2014/main" id="{3EF9005E-0139-0B6C-280C-13AFB52B5DD0}"/>
              </a:ext>
            </a:extLst>
          </p:cNvPr>
          <p:cNvSpPr txBox="1"/>
          <p:nvPr/>
        </p:nvSpPr>
        <p:spPr>
          <a:xfrm>
            <a:off x="208464" y="880872"/>
            <a:ext cx="7068312" cy="400110"/>
          </a:xfrm>
          <a:prstGeom prst="rect">
            <a:avLst/>
          </a:prstGeom>
          <a:noFill/>
        </p:spPr>
        <p:txBody>
          <a:bodyPr wrap="square">
            <a:spAutoFit/>
          </a:bodyPr>
          <a:lstStyle/>
          <a:p>
            <a:r>
              <a:rPr lang="en-US" sz="2000" b="1" dirty="0">
                <a:solidFill>
                  <a:schemeClr val="tx2"/>
                </a:solidFill>
              </a:rPr>
              <a:t>Question/Gap: </a:t>
            </a:r>
            <a:endParaRPr lang="en-IE" sz="2000" b="1" dirty="0">
              <a:solidFill>
                <a:schemeClr val="tx2"/>
              </a:solidFill>
            </a:endParaRPr>
          </a:p>
        </p:txBody>
      </p:sp>
      <p:sp>
        <p:nvSpPr>
          <p:cNvPr id="18" name="TextBox 17">
            <a:extLst>
              <a:ext uri="{FF2B5EF4-FFF2-40B4-BE49-F238E27FC236}">
                <a16:creationId xmlns:a16="http://schemas.microsoft.com/office/drawing/2014/main" id="{761F3F9B-5376-F7DC-55A5-E23358FB6FBA}"/>
              </a:ext>
            </a:extLst>
          </p:cNvPr>
          <p:cNvSpPr txBox="1"/>
          <p:nvPr/>
        </p:nvSpPr>
        <p:spPr>
          <a:xfrm>
            <a:off x="208464" y="2123416"/>
            <a:ext cx="7068312" cy="400110"/>
          </a:xfrm>
          <a:prstGeom prst="rect">
            <a:avLst/>
          </a:prstGeom>
          <a:noFill/>
        </p:spPr>
        <p:txBody>
          <a:bodyPr wrap="square">
            <a:spAutoFit/>
          </a:bodyPr>
          <a:lstStyle/>
          <a:p>
            <a:r>
              <a:rPr lang="en-US" sz="2000" b="1" dirty="0">
                <a:solidFill>
                  <a:schemeClr val="tx2"/>
                </a:solidFill>
              </a:rPr>
              <a:t>Method: </a:t>
            </a:r>
            <a:endParaRPr lang="en-IE" sz="2000" b="1" dirty="0">
              <a:solidFill>
                <a:schemeClr val="tx2"/>
              </a:solidFill>
            </a:endParaRPr>
          </a:p>
        </p:txBody>
      </p:sp>
      <p:sp>
        <p:nvSpPr>
          <p:cNvPr id="19" name="TextBox 18">
            <a:extLst>
              <a:ext uri="{FF2B5EF4-FFF2-40B4-BE49-F238E27FC236}">
                <a16:creationId xmlns:a16="http://schemas.microsoft.com/office/drawing/2014/main" id="{33D09A16-FFF0-F387-09B1-7AEA635E6418}"/>
              </a:ext>
            </a:extLst>
          </p:cNvPr>
          <p:cNvSpPr txBox="1"/>
          <p:nvPr/>
        </p:nvSpPr>
        <p:spPr>
          <a:xfrm>
            <a:off x="166087" y="3426304"/>
            <a:ext cx="7068312" cy="400110"/>
          </a:xfrm>
          <a:prstGeom prst="rect">
            <a:avLst/>
          </a:prstGeom>
          <a:noFill/>
        </p:spPr>
        <p:txBody>
          <a:bodyPr wrap="square">
            <a:spAutoFit/>
          </a:bodyPr>
          <a:lstStyle/>
          <a:p>
            <a:r>
              <a:rPr lang="en-US" sz="2000" b="1" dirty="0">
                <a:solidFill>
                  <a:schemeClr val="tx2"/>
                </a:solidFill>
              </a:rPr>
              <a:t>Results: </a:t>
            </a:r>
            <a:endParaRPr lang="en-IE" sz="2000" b="1" dirty="0">
              <a:solidFill>
                <a:schemeClr val="tx2"/>
              </a:solidFill>
            </a:endParaRPr>
          </a:p>
        </p:txBody>
      </p:sp>
      <p:sp>
        <p:nvSpPr>
          <p:cNvPr id="20" name="TextBox 19">
            <a:extLst>
              <a:ext uri="{FF2B5EF4-FFF2-40B4-BE49-F238E27FC236}">
                <a16:creationId xmlns:a16="http://schemas.microsoft.com/office/drawing/2014/main" id="{0C1D6A0C-D048-660A-F522-5F00995B5B16}"/>
              </a:ext>
            </a:extLst>
          </p:cNvPr>
          <p:cNvSpPr txBox="1"/>
          <p:nvPr/>
        </p:nvSpPr>
        <p:spPr>
          <a:xfrm>
            <a:off x="166087" y="4795041"/>
            <a:ext cx="7068312" cy="400110"/>
          </a:xfrm>
          <a:prstGeom prst="rect">
            <a:avLst/>
          </a:prstGeom>
          <a:noFill/>
        </p:spPr>
        <p:txBody>
          <a:bodyPr wrap="square">
            <a:spAutoFit/>
          </a:bodyPr>
          <a:lstStyle/>
          <a:p>
            <a:r>
              <a:rPr lang="en-US" sz="2000" b="1" dirty="0">
                <a:solidFill>
                  <a:schemeClr val="tx2"/>
                </a:solidFill>
              </a:rPr>
              <a:t>Limitations: </a:t>
            </a:r>
            <a:endParaRPr lang="en-IE" sz="2000" b="1" dirty="0">
              <a:solidFill>
                <a:schemeClr val="tx2"/>
              </a:solidFill>
            </a:endParaRPr>
          </a:p>
        </p:txBody>
      </p:sp>
      <p:pic>
        <p:nvPicPr>
          <p:cNvPr id="5" name="Picture 4">
            <a:extLst>
              <a:ext uri="{FF2B5EF4-FFF2-40B4-BE49-F238E27FC236}">
                <a16:creationId xmlns:a16="http://schemas.microsoft.com/office/drawing/2014/main" id="{9DDCB65C-4918-69A5-3A83-771BEBA3B3E1}"/>
              </a:ext>
            </a:extLst>
          </p:cNvPr>
          <p:cNvPicPr>
            <a:picLocks noChangeAspect="1"/>
          </p:cNvPicPr>
          <p:nvPr/>
        </p:nvPicPr>
        <p:blipFill>
          <a:blip r:embed="rId2"/>
          <a:stretch>
            <a:fillRect/>
          </a:stretch>
        </p:blipFill>
        <p:spPr>
          <a:xfrm>
            <a:off x="5740583" y="998344"/>
            <a:ext cx="6315956" cy="5420481"/>
          </a:xfrm>
          <a:prstGeom prst="rect">
            <a:avLst/>
          </a:prstGeom>
        </p:spPr>
      </p:pic>
    </p:spTree>
    <p:extLst>
      <p:ext uri="{BB962C8B-B14F-4D97-AF65-F5344CB8AC3E}">
        <p14:creationId xmlns:p14="http://schemas.microsoft.com/office/powerpoint/2010/main" val="13325181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D38974E-F5F0-8602-8933-0C337B3ACE7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8CAAB9-270F-BFEB-A495-28663E61E4EC}"/>
              </a:ext>
            </a:extLst>
          </p:cNvPr>
          <p:cNvSpPr>
            <a:spLocks noGrp="1"/>
          </p:cNvSpPr>
          <p:nvPr>
            <p:ph type="title"/>
          </p:nvPr>
        </p:nvSpPr>
        <p:spPr>
          <a:xfrm>
            <a:off x="208463" y="1131674"/>
            <a:ext cx="5515679" cy="787314"/>
          </a:xfrm>
        </p:spPr>
        <p:txBody>
          <a:bodyPr>
            <a:noAutofit/>
          </a:bodyPr>
          <a:lstStyle/>
          <a:p>
            <a:r>
              <a:rPr lang="en-IE" sz="2000" dirty="0">
                <a:solidFill>
                  <a:schemeClr val="bg2">
                    <a:lumMod val="10000"/>
                  </a:schemeClr>
                </a:solidFill>
              </a:rPr>
              <a:t>Standard elastomer conductive yarns have high friction, bad hysteresis, and poor sensitivity at low strains.</a:t>
            </a:r>
            <a:endParaRPr lang="en-US" sz="2000" dirty="0">
              <a:solidFill>
                <a:schemeClr val="bg2">
                  <a:lumMod val="10000"/>
                </a:schemeClr>
              </a:solidFill>
            </a:endParaRPr>
          </a:p>
        </p:txBody>
      </p:sp>
      <p:sp>
        <p:nvSpPr>
          <p:cNvPr id="4" name="Title 1">
            <a:extLst>
              <a:ext uri="{FF2B5EF4-FFF2-40B4-BE49-F238E27FC236}">
                <a16:creationId xmlns:a16="http://schemas.microsoft.com/office/drawing/2014/main" id="{A141A680-BBD8-822D-2306-A3208D1430F4}"/>
              </a:ext>
            </a:extLst>
          </p:cNvPr>
          <p:cNvSpPr txBox="1">
            <a:spLocks/>
          </p:cNvSpPr>
          <p:nvPr/>
        </p:nvSpPr>
        <p:spPr>
          <a:xfrm>
            <a:off x="145200" y="111354"/>
            <a:ext cx="9064390" cy="787314"/>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400" b="1" kern="1200">
                <a:solidFill>
                  <a:schemeClr val="bg1"/>
                </a:solidFill>
                <a:latin typeface="+mn-lt"/>
                <a:ea typeface="+mj-ea"/>
                <a:cs typeface="+mj-cs"/>
              </a:defRPr>
            </a:lvl1pPr>
          </a:lstStyle>
          <a:p>
            <a:r>
              <a:rPr lang="en-US" b="0" dirty="0">
                <a:solidFill>
                  <a:srgbClr val="002060"/>
                </a:solidFill>
              </a:rPr>
              <a:t>Literature : E-textiles</a:t>
            </a:r>
          </a:p>
        </p:txBody>
      </p:sp>
      <p:sp>
        <p:nvSpPr>
          <p:cNvPr id="7" name="Title 1">
            <a:extLst>
              <a:ext uri="{FF2B5EF4-FFF2-40B4-BE49-F238E27FC236}">
                <a16:creationId xmlns:a16="http://schemas.microsoft.com/office/drawing/2014/main" id="{6BDE76AA-2963-4885-151B-06E013004FFF}"/>
              </a:ext>
            </a:extLst>
          </p:cNvPr>
          <p:cNvSpPr txBox="1">
            <a:spLocks/>
          </p:cNvSpPr>
          <p:nvPr/>
        </p:nvSpPr>
        <p:spPr>
          <a:xfrm>
            <a:off x="208464" y="2543697"/>
            <a:ext cx="5680272" cy="787314"/>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3400" b="1" kern="1200">
                <a:solidFill>
                  <a:schemeClr val="bg1"/>
                </a:solidFill>
                <a:latin typeface="+mn-lt"/>
                <a:ea typeface="+mj-ea"/>
                <a:cs typeface="+mj-cs"/>
              </a:defRPr>
            </a:lvl1pPr>
          </a:lstStyle>
          <a:p>
            <a:r>
              <a:rPr lang="en-IE" sz="2000" dirty="0">
                <a:solidFill>
                  <a:schemeClr val="bg2">
                    <a:lumMod val="10000"/>
                  </a:schemeClr>
                </a:solidFill>
              </a:rPr>
              <a:t>Braid silver-plated threads together to make highly stretchable resistive and capacitive textile sensors.</a:t>
            </a:r>
            <a:endParaRPr lang="en-US" sz="2000" dirty="0">
              <a:solidFill>
                <a:schemeClr val="bg2">
                  <a:lumMod val="10000"/>
                </a:schemeClr>
              </a:solidFill>
            </a:endParaRPr>
          </a:p>
        </p:txBody>
      </p:sp>
      <p:sp>
        <p:nvSpPr>
          <p:cNvPr id="9" name="Title 1">
            <a:extLst>
              <a:ext uri="{FF2B5EF4-FFF2-40B4-BE49-F238E27FC236}">
                <a16:creationId xmlns:a16="http://schemas.microsoft.com/office/drawing/2014/main" id="{53EB0D21-8328-2948-8AD4-01ACC7B57405}"/>
              </a:ext>
            </a:extLst>
          </p:cNvPr>
          <p:cNvSpPr txBox="1">
            <a:spLocks/>
          </p:cNvSpPr>
          <p:nvPr/>
        </p:nvSpPr>
        <p:spPr>
          <a:xfrm>
            <a:off x="166086" y="3840132"/>
            <a:ext cx="5420897" cy="787314"/>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3400" b="1" kern="1200">
                <a:solidFill>
                  <a:schemeClr val="bg1"/>
                </a:solidFill>
                <a:latin typeface="+mn-lt"/>
                <a:ea typeface="+mj-ea"/>
                <a:cs typeface="+mj-cs"/>
              </a:defRPr>
            </a:lvl1pPr>
          </a:lstStyle>
          <a:p>
            <a:r>
              <a:rPr lang="en-IE" sz="2000" dirty="0">
                <a:solidFill>
                  <a:schemeClr val="bg2">
                    <a:lumMod val="10000"/>
                  </a:schemeClr>
                </a:solidFill>
              </a:rPr>
              <a:t>Braiding fixes the hysteresis and makes them super compliant, perfect for soft actuators.</a:t>
            </a:r>
            <a:endParaRPr lang="en-US" sz="2000" dirty="0">
              <a:solidFill>
                <a:schemeClr val="bg2">
                  <a:lumMod val="10000"/>
                </a:schemeClr>
              </a:solidFill>
            </a:endParaRPr>
          </a:p>
        </p:txBody>
      </p:sp>
      <p:sp>
        <p:nvSpPr>
          <p:cNvPr id="10" name="Title 1">
            <a:extLst>
              <a:ext uri="{FF2B5EF4-FFF2-40B4-BE49-F238E27FC236}">
                <a16:creationId xmlns:a16="http://schemas.microsoft.com/office/drawing/2014/main" id="{0B7CE60E-26BE-681E-1125-ACF355BE7446}"/>
              </a:ext>
            </a:extLst>
          </p:cNvPr>
          <p:cNvSpPr txBox="1">
            <a:spLocks/>
          </p:cNvSpPr>
          <p:nvPr/>
        </p:nvSpPr>
        <p:spPr>
          <a:xfrm>
            <a:off x="166086" y="5189814"/>
            <a:ext cx="5558057" cy="787314"/>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3400" b="1" kern="1200">
                <a:solidFill>
                  <a:schemeClr val="bg1"/>
                </a:solidFill>
                <a:latin typeface="+mn-lt"/>
                <a:ea typeface="+mj-ea"/>
                <a:cs typeface="+mj-cs"/>
              </a:defRPr>
            </a:lvl1pPr>
          </a:lstStyle>
          <a:p>
            <a:r>
              <a:rPr lang="en-IE" sz="2000" dirty="0">
                <a:solidFill>
                  <a:schemeClr val="bg2">
                    <a:lumMod val="10000"/>
                  </a:schemeClr>
                </a:solidFill>
              </a:rPr>
              <a:t>Trade-off: tighter braids improve linearity but kill the sensor's sensitivity (lower gauge factor).</a:t>
            </a:r>
            <a:endParaRPr lang="en-US" sz="2000" dirty="0">
              <a:solidFill>
                <a:schemeClr val="bg2">
                  <a:lumMod val="10000"/>
                </a:schemeClr>
              </a:solidFill>
            </a:endParaRPr>
          </a:p>
        </p:txBody>
      </p:sp>
      <p:sp>
        <p:nvSpPr>
          <p:cNvPr id="11" name="Title 1">
            <a:extLst>
              <a:ext uri="{FF2B5EF4-FFF2-40B4-BE49-F238E27FC236}">
                <a16:creationId xmlns:a16="http://schemas.microsoft.com/office/drawing/2014/main" id="{06A5CDD0-28AE-CE8B-0D0F-E0BF0CCDC37B}"/>
              </a:ext>
            </a:extLst>
          </p:cNvPr>
          <p:cNvSpPr txBox="1">
            <a:spLocks/>
          </p:cNvSpPr>
          <p:nvPr/>
        </p:nvSpPr>
        <p:spPr>
          <a:xfrm>
            <a:off x="4580562" y="218044"/>
            <a:ext cx="5614997" cy="787314"/>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400" b="1" kern="1200">
                <a:solidFill>
                  <a:schemeClr val="bg1"/>
                </a:solidFill>
                <a:latin typeface="+mn-lt"/>
                <a:ea typeface="+mj-ea"/>
                <a:cs typeface="+mj-cs"/>
              </a:defRPr>
            </a:lvl1pPr>
          </a:lstStyle>
          <a:p>
            <a:r>
              <a:rPr lang="en-IE" sz="1600" dirty="0">
                <a:solidFill>
                  <a:schemeClr val="bg2">
                    <a:lumMod val="10000"/>
                  </a:schemeClr>
                </a:solidFill>
              </a:rPr>
              <a:t>Stretchable and compliant textile strain sensors Johannes Mersch, Carlos A. Gomez Cuaran, Aleksandr Vasilev, Andreas </a:t>
            </a:r>
            <a:r>
              <a:rPr lang="en-IE" sz="1600" dirty="0" err="1">
                <a:solidFill>
                  <a:schemeClr val="bg2">
                    <a:lumMod val="10000"/>
                  </a:schemeClr>
                </a:solidFill>
              </a:rPr>
              <a:t>Nocke</a:t>
            </a:r>
            <a:r>
              <a:rPr lang="en-IE" sz="1600" dirty="0">
                <a:solidFill>
                  <a:schemeClr val="bg2">
                    <a:lumMod val="10000"/>
                  </a:schemeClr>
                </a:solidFill>
              </a:rPr>
              <a:t>, Chokri Cherif, and Gerald Gerlach</a:t>
            </a:r>
            <a:endParaRPr lang="en-US" sz="1600" b="0" dirty="0">
              <a:solidFill>
                <a:schemeClr val="bg2">
                  <a:lumMod val="10000"/>
                </a:schemeClr>
              </a:solidFill>
            </a:endParaRPr>
          </a:p>
        </p:txBody>
      </p:sp>
      <p:sp>
        <p:nvSpPr>
          <p:cNvPr id="17" name="TextBox 16">
            <a:extLst>
              <a:ext uri="{FF2B5EF4-FFF2-40B4-BE49-F238E27FC236}">
                <a16:creationId xmlns:a16="http://schemas.microsoft.com/office/drawing/2014/main" id="{010F5B83-929A-65DE-8EDF-504059CDD64F}"/>
              </a:ext>
            </a:extLst>
          </p:cNvPr>
          <p:cNvSpPr txBox="1"/>
          <p:nvPr/>
        </p:nvSpPr>
        <p:spPr>
          <a:xfrm>
            <a:off x="208464" y="793906"/>
            <a:ext cx="7068312" cy="400110"/>
          </a:xfrm>
          <a:prstGeom prst="rect">
            <a:avLst/>
          </a:prstGeom>
          <a:noFill/>
        </p:spPr>
        <p:txBody>
          <a:bodyPr wrap="square">
            <a:spAutoFit/>
          </a:bodyPr>
          <a:lstStyle/>
          <a:p>
            <a:r>
              <a:rPr lang="en-US" sz="2000" b="1" dirty="0">
                <a:solidFill>
                  <a:schemeClr val="tx2"/>
                </a:solidFill>
              </a:rPr>
              <a:t>Question/Gap: </a:t>
            </a:r>
            <a:endParaRPr lang="en-IE" sz="2000" b="1" dirty="0">
              <a:solidFill>
                <a:schemeClr val="tx2"/>
              </a:solidFill>
            </a:endParaRPr>
          </a:p>
        </p:txBody>
      </p:sp>
      <p:sp>
        <p:nvSpPr>
          <p:cNvPr id="18" name="TextBox 17">
            <a:extLst>
              <a:ext uri="{FF2B5EF4-FFF2-40B4-BE49-F238E27FC236}">
                <a16:creationId xmlns:a16="http://schemas.microsoft.com/office/drawing/2014/main" id="{124E0D95-3C74-E32B-EEF7-79ADA7A79C6B}"/>
              </a:ext>
            </a:extLst>
          </p:cNvPr>
          <p:cNvSpPr txBox="1"/>
          <p:nvPr/>
        </p:nvSpPr>
        <p:spPr>
          <a:xfrm>
            <a:off x="208464" y="2123416"/>
            <a:ext cx="7068312" cy="400110"/>
          </a:xfrm>
          <a:prstGeom prst="rect">
            <a:avLst/>
          </a:prstGeom>
          <a:noFill/>
        </p:spPr>
        <p:txBody>
          <a:bodyPr wrap="square">
            <a:spAutoFit/>
          </a:bodyPr>
          <a:lstStyle/>
          <a:p>
            <a:r>
              <a:rPr lang="en-US" sz="2000" b="1" dirty="0">
                <a:solidFill>
                  <a:schemeClr val="tx2"/>
                </a:solidFill>
              </a:rPr>
              <a:t>Method: </a:t>
            </a:r>
            <a:endParaRPr lang="en-IE" sz="2000" b="1" dirty="0">
              <a:solidFill>
                <a:schemeClr val="tx2"/>
              </a:solidFill>
            </a:endParaRPr>
          </a:p>
        </p:txBody>
      </p:sp>
      <p:sp>
        <p:nvSpPr>
          <p:cNvPr id="19" name="TextBox 18">
            <a:extLst>
              <a:ext uri="{FF2B5EF4-FFF2-40B4-BE49-F238E27FC236}">
                <a16:creationId xmlns:a16="http://schemas.microsoft.com/office/drawing/2014/main" id="{3F47A3FC-31BD-E698-9F84-C7A75F837038}"/>
              </a:ext>
            </a:extLst>
          </p:cNvPr>
          <p:cNvSpPr txBox="1"/>
          <p:nvPr/>
        </p:nvSpPr>
        <p:spPr>
          <a:xfrm>
            <a:off x="166087" y="3426304"/>
            <a:ext cx="7068312" cy="400110"/>
          </a:xfrm>
          <a:prstGeom prst="rect">
            <a:avLst/>
          </a:prstGeom>
          <a:noFill/>
        </p:spPr>
        <p:txBody>
          <a:bodyPr wrap="square">
            <a:spAutoFit/>
          </a:bodyPr>
          <a:lstStyle/>
          <a:p>
            <a:r>
              <a:rPr lang="en-US" sz="2000" b="1" dirty="0">
                <a:solidFill>
                  <a:schemeClr val="tx2"/>
                </a:solidFill>
              </a:rPr>
              <a:t>Results: </a:t>
            </a:r>
            <a:endParaRPr lang="en-IE" sz="2000" b="1" dirty="0">
              <a:solidFill>
                <a:schemeClr val="tx2"/>
              </a:solidFill>
            </a:endParaRPr>
          </a:p>
        </p:txBody>
      </p:sp>
      <p:sp>
        <p:nvSpPr>
          <p:cNvPr id="20" name="TextBox 19">
            <a:extLst>
              <a:ext uri="{FF2B5EF4-FFF2-40B4-BE49-F238E27FC236}">
                <a16:creationId xmlns:a16="http://schemas.microsoft.com/office/drawing/2014/main" id="{A30C9765-7592-A852-3A5C-745885F2F606}"/>
              </a:ext>
            </a:extLst>
          </p:cNvPr>
          <p:cNvSpPr txBox="1"/>
          <p:nvPr/>
        </p:nvSpPr>
        <p:spPr>
          <a:xfrm>
            <a:off x="166087" y="4795041"/>
            <a:ext cx="7068312" cy="400110"/>
          </a:xfrm>
          <a:prstGeom prst="rect">
            <a:avLst/>
          </a:prstGeom>
          <a:noFill/>
        </p:spPr>
        <p:txBody>
          <a:bodyPr wrap="square">
            <a:spAutoFit/>
          </a:bodyPr>
          <a:lstStyle/>
          <a:p>
            <a:r>
              <a:rPr lang="en-US" sz="2000" b="1" dirty="0">
                <a:solidFill>
                  <a:schemeClr val="tx2"/>
                </a:solidFill>
              </a:rPr>
              <a:t>Limitations: </a:t>
            </a:r>
            <a:endParaRPr lang="en-IE" sz="2000" b="1" dirty="0">
              <a:solidFill>
                <a:schemeClr val="tx2"/>
              </a:solidFill>
            </a:endParaRPr>
          </a:p>
        </p:txBody>
      </p:sp>
      <p:pic>
        <p:nvPicPr>
          <p:cNvPr id="6" name="Picture 5">
            <a:extLst>
              <a:ext uri="{FF2B5EF4-FFF2-40B4-BE49-F238E27FC236}">
                <a16:creationId xmlns:a16="http://schemas.microsoft.com/office/drawing/2014/main" id="{9FACEAC8-6269-C7D8-CE4D-9EE13CCCCB64}"/>
              </a:ext>
            </a:extLst>
          </p:cNvPr>
          <p:cNvPicPr>
            <a:picLocks noChangeAspect="1"/>
          </p:cNvPicPr>
          <p:nvPr/>
        </p:nvPicPr>
        <p:blipFill>
          <a:blip r:embed="rId2"/>
          <a:stretch>
            <a:fillRect/>
          </a:stretch>
        </p:blipFill>
        <p:spPr>
          <a:xfrm>
            <a:off x="6626809" y="1162222"/>
            <a:ext cx="4643496" cy="2389240"/>
          </a:xfrm>
          <a:prstGeom prst="rect">
            <a:avLst/>
          </a:prstGeom>
        </p:spPr>
      </p:pic>
      <p:pic>
        <p:nvPicPr>
          <p:cNvPr id="12" name="Picture 11">
            <a:extLst>
              <a:ext uri="{FF2B5EF4-FFF2-40B4-BE49-F238E27FC236}">
                <a16:creationId xmlns:a16="http://schemas.microsoft.com/office/drawing/2014/main" id="{668FA80D-0CF0-715E-13A6-10669D8EF0F1}"/>
              </a:ext>
            </a:extLst>
          </p:cNvPr>
          <p:cNvPicPr>
            <a:picLocks noChangeAspect="1"/>
          </p:cNvPicPr>
          <p:nvPr/>
        </p:nvPicPr>
        <p:blipFill>
          <a:blip r:embed="rId3"/>
          <a:stretch>
            <a:fillRect/>
          </a:stretch>
        </p:blipFill>
        <p:spPr>
          <a:xfrm>
            <a:off x="5724143" y="3921707"/>
            <a:ext cx="6150410" cy="2391825"/>
          </a:xfrm>
          <a:prstGeom prst="rect">
            <a:avLst/>
          </a:prstGeom>
        </p:spPr>
      </p:pic>
    </p:spTree>
    <p:extLst>
      <p:ext uri="{BB962C8B-B14F-4D97-AF65-F5344CB8AC3E}">
        <p14:creationId xmlns:p14="http://schemas.microsoft.com/office/powerpoint/2010/main" val="30988462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DAC4395-1F77-38F8-0EC0-62D28B3F6F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5B0A4E-8543-525A-9B27-C50D8C221D5E}"/>
              </a:ext>
            </a:extLst>
          </p:cNvPr>
          <p:cNvSpPr>
            <a:spLocks noGrp="1"/>
          </p:cNvSpPr>
          <p:nvPr>
            <p:ph type="title"/>
          </p:nvPr>
        </p:nvSpPr>
        <p:spPr>
          <a:xfrm>
            <a:off x="1563805" y="3035343"/>
            <a:ext cx="9064390" cy="787314"/>
          </a:xfrm>
        </p:spPr>
        <p:txBody>
          <a:bodyPr>
            <a:normAutofit/>
          </a:bodyPr>
          <a:lstStyle/>
          <a:p>
            <a:pPr algn="ctr"/>
            <a:r>
              <a:rPr lang="en-US" sz="4800" dirty="0"/>
              <a:t>Literature RATCHET</a:t>
            </a:r>
          </a:p>
        </p:txBody>
      </p:sp>
    </p:spTree>
    <p:extLst>
      <p:ext uri="{BB962C8B-B14F-4D97-AF65-F5344CB8AC3E}">
        <p14:creationId xmlns:p14="http://schemas.microsoft.com/office/powerpoint/2010/main" val="26135944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5DCB52B-5078-980F-1439-B1E29E6809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61D406C-D68D-B2E3-8C19-A3792B6FB320}"/>
              </a:ext>
            </a:extLst>
          </p:cNvPr>
          <p:cNvSpPr>
            <a:spLocks noGrp="1"/>
          </p:cNvSpPr>
          <p:nvPr>
            <p:ph type="title"/>
          </p:nvPr>
        </p:nvSpPr>
        <p:spPr>
          <a:xfrm>
            <a:off x="208464" y="1291149"/>
            <a:ext cx="5396808" cy="787314"/>
          </a:xfrm>
        </p:spPr>
        <p:txBody>
          <a:bodyPr>
            <a:normAutofit/>
          </a:bodyPr>
          <a:lstStyle/>
          <a:p>
            <a:r>
              <a:rPr lang="en-IE" sz="2000" dirty="0">
                <a:solidFill>
                  <a:schemeClr val="bg2">
                    <a:lumMod val="10000"/>
                  </a:schemeClr>
                </a:solidFill>
              </a:rPr>
              <a:t>Standard parallel grippers (open/close) can't screw a bolt.</a:t>
            </a:r>
          </a:p>
        </p:txBody>
      </p:sp>
      <p:sp>
        <p:nvSpPr>
          <p:cNvPr id="4" name="Title 1">
            <a:extLst>
              <a:ext uri="{FF2B5EF4-FFF2-40B4-BE49-F238E27FC236}">
                <a16:creationId xmlns:a16="http://schemas.microsoft.com/office/drawing/2014/main" id="{64528D2C-F7CF-81A6-F19C-3048E0AAE4A6}"/>
              </a:ext>
            </a:extLst>
          </p:cNvPr>
          <p:cNvSpPr txBox="1">
            <a:spLocks/>
          </p:cNvSpPr>
          <p:nvPr/>
        </p:nvSpPr>
        <p:spPr>
          <a:xfrm>
            <a:off x="145200" y="111354"/>
            <a:ext cx="9064390" cy="787314"/>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400" b="1" kern="1200">
                <a:solidFill>
                  <a:schemeClr val="bg1"/>
                </a:solidFill>
                <a:latin typeface="+mn-lt"/>
                <a:ea typeface="+mj-ea"/>
                <a:cs typeface="+mj-cs"/>
              </a:defRPr>
            </a:lvl1pPr>
          </a:lstStyle>
          <a:p>
            <a:r>
              <a:rPr lang="en-US" b="0" dirty="0">
                <a:solidFill>
                  <a:srgbClr val="002060"/>
                </a:solidFill>
              </a:rPr>
              <a:t>Literature : Ratchet</a:t>
            </a:r>
          </a:p>
        </p:txBody>
      </p:sp>
      <p:sp>
        <p:nvSpPr>
          <p:cNvPr id="7" name="Title 1">
            <a:extLst>
              <a:ext uri="{FF2B5EF4-FFF2-40B4-BE49-F238E27FC236}">
                <a16:creationId xmlns:a16="http://schemas.microsoft.com/office/drawing/2014/main" id="{8E3C780C-7294-8737-6E3C-3668AA25BF68}"/>
              </a:ext>
            </a:extLst>
          </p:cNvPr>
          <p:cNvSpPr txBox="1">
            <a:spLocks/>
          </p:cNvSpPr>
          <p:nvPr/>
        </p:nvSpPr>
        <p:spPr>
          <a:xfrm>
            <a:off x="199870" y="2551488"/>
            <a:ext cx="5505986" cy="787314"/>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3400" b="1" kern="1200">
                <a:solidFill>
                  <a:schemeClr val="bg1"/>
                </a:solidFill>
                <a:latin typeface="+mn-lt"/>
                <a:ea typeface="+mj-ea"/>
                <a:cs typeface="+mj-cs"/>
              </a:defRPr>
            </a:lvl1pPr>
          </a:lstStyle>
          <a:p>
            <a:r>
              <a:rPr lang="en-IE" sz="2000" dirty="0">
                <a:solidFill>
                  <a:schemeClr val="bg2">
                    <a:lumMod val="10000"/>
                  </a:schemeClr>
                </a:solidFill>
              </a:rPr>
              <a:t>Passive mechanical tool (Scissors + double ratchet) converts the gripper's back-and-forth into 1-way rotation.</a:t>
            </a:r>
            <a:endParaRPr lang="en-US" sz="2000" b="0" dirty="0">
              <a:solidFill>
                <a:schemeClr val="bg2">
                  <a:lumMod val="10000"/>
                </a:schemeClr>
              </a:solidFill>
            </a:endParaRPr>
          </a:p>
        </p:txBody>
      </p:sp>
      <p:sp>
        <p:nvSpPr>
          <p:cNvPr id="9" name="Title 1">
            <a:extLst>
              <a:ext uri="{FF2B5EF4-FFF2-40B4-BE49-F238E27FC236}">
                <a16:creationId xmlns:a16="http://schemas.microsoft.com/office/drawing/2014/main" id="{63A039F2-FDAE-0FB6-EC40-BD3D12BC30F6}"/>
              </a:ext>
            </a:extLst>
          </p:cNvPr>
          <p:cNvSpPr txBox="1">
            <a:spLocks/>
          </p:cNvSpPr>
          <p:nvPr/>
        </p:nvSpPr>
        <p:spPr>
          <a:xfrm>
            <a:off x="166764" y="4225898"/>
            <a:ext cx="5480208" cy="787314"/>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400" b="1" kern="1200">
                <a:solidFill>
                  <a:schemeClr val="bg1"/>
                </a:solidFill>
                <a:latin typeface="+mn-lt"/>
                <a:ea typeface="+mj-ea"/>
                <a:cs typeface="+mj-cs"/>
              </a:defRPr>
            </a:lvl1pPr>
          </a:lstStyle>
          <a:p>
            <a:r>
              <a:rPr lang="en-IE" sz="2000" dirty="0">
                <a:solidFill>
                  <a:schemeClr val="bg2">
                    <a:lumMod val="10000"/>
                  </a:schemeClr>
                </a:solidFill>
              </a:rPr>
              <a:t>Screws nuts at 20 Nm (via gearbox) with 100% zero electronics.</a:t>
            </a:r>
            <a:endParaRPr lang="en-US" sz="2000" b="0" dirty="0">
              <a:solidFill>
                <a:schemeClr val="bg2">
                  <a:lumMod val="10000"/>
                </a:schemeClr>
              </a:solidFill>
            </a:endParaRPr>
          </a:p>
        </p:txBody>
      </p:sp>
      <p:sp>
        <p:nvSpPr>
          <p:cNvPr id="10" name="Title 1">
            <a:extLst>
              <a:ext uri="{FF2B5EF4-FFF2-40B4-BE49-F238E27FC236}">
                <a16:creationId xmlns:a16="http://schemas.microsoft.com/office/drawing/2014/main" id="{6A8C11B5-6DF7-54F1-289E-8D85B1057CBF}"/>
              </a:ext>
            </a:extLst>
          </p:cNvPr>
          <p:cNvSpPr txBox="1">
            <a:spLocks/>
          </p:cNvSpPr>
          <p:nvPr/>
        </p:nvSpPr>
        <p:spPr>
          <a:xfrm>
            <a:off x="166087" y="5579650"/>
            <a:ext cx="5539769" cy="787314"/>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400" b="1" kern="1200">
                <a:solidFill>
                  <a:schemeClr val="bg1"/>
                </a:solidFill>
                <a:latin typeface="+mn-lt"/>
                <a:ea typeface="+mj-ea"/>
                <a:cs typeface="+mj-cs"/>
              </a:defRPr>
            </a:lvl1pPr>
          </a:lstStyle>
          <a:p>
            <a:r>
              <a:rPr lang="en-IE" sz="2000" dirty="0">
                <a:solidFill>
                  <a:schemeClr val="bg2">
                    <a:lumMod val="10000"/>
                  </a:schemeClr>
                </a:solidFill>
              </a:rPr>
              <a:t>Ratchet teeth create 5° of backlash (play/bounce). Springs are too weak.</a:t>
            </a:r>
            <a:endParaRPr lang="en-US" sz="2000" b="0" dirty="0">
              <a:solidFill>
                <a:schemeClr val="bg2">
                  <a:lumMod val="10000"/>
                </a:schemeClr>
              </a:solidFill>
            </a:endParaRPr>
          </a:p>
        </p:txBody>
      </p:sp>
      <p:sp>
        <p:nvSpPr>
          <p:cNvPr id="11" name="Title 1">
            <a:extLst>
              <a:ext uri="{FF2B5EF4-FFF2-40B4-BE49-F238E27FC236}">
                <a16:creationId xmlns:a16="http://schemas.microsoft.com/office/drawing/2014/main" id="{4515BAD1-CAD1-FB4E-B81D-12F4D712AD2E}"/>
              </a:ext>
            </a:extLst>
          </p:cNvPr>
          <p:cNvSpPr txBox="1">
            <a:spLocks/>
          </p:cNvSpPr>
          <p:nvPr/>
        </p:nvSpPr>
        <p:spPr>
          <a:xfrm>
            <a:off x="5043336" y="218044"/>
            <a:ext cx="6888136" cy="787314"/>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3400" b="1" kern="1200">
                <a:solidFill>
                  <a:schemeClr val="bg1"/>
                </a:solidFill>
                <a:latin typeface="+mn-lt"/>
                <a:ea typeface="+mj-ea"/>
                <a:cs typeface="+mj-cs"/>
              </a:defRPr>
            </a:lvl1pPr>
          </a:lstStyle>
          <a:p>
            <a:r>
              <a:rPr lang="en-IE" sz="1600" dirty="0">
                <a:solidFill>
                  <a:schemeClr val="bg2">
                    <a:lumMod val="10000"/>
                  </a:schemeClr>
                </a:solidFill>
              </a:rPr>
              <a:t>A Mechanical Screwing Tool for Parallel Grippers—Design, Optimization, and</a:t>
            </a:r>
          </a:p>
          <a:p>
            <a:r>
              <a:rPr lang="en-IE" sz="1600" dirty="0">
                <a:solidFill>
                  <a:schemeClr val="bg2">
                    <a:lumMod val="10000"/>
                  </a:schemeClr>
                </a:solidFill>
              </a:rPr>
              <a:t>Manipulation Policies</a:t>
            </a:r>
          </a:p>
          <a:p>
            <a:r>
              <a:rPr lang="en-IE" sz="1600" dirty="0" err="1">
                <a:solidFill>
                  <a:schemeClr val="bg2">
                    <a:lumMod val="10000"/>
                  </a:schemeClr>
                </a:solidFill>
              </a:rPr>
              <a:t>Zhengtao</a:t>
            </a:r>
            <a:r>
              <a:rPr lang="en-IE" sz="1600" dirty="0">
                <a:solidFill>
                  <a:schemeClr val="bg2">
                    <a:lumMod val="10000"/>
                  </a:schemeClr>
                </a:solidFill>
              </a:rPr>
              <a:t> Hu , Weiwei Wan , Keisuke Koyama , and Kensuke Harada</a:t>
            </a:r>
            <a:endParaRPr lang="en-IE" sz="1600" b="0" dirty="0">
              <a:solidFill>
                <a:schemeClr val="bg2">
                  <a:lumMod val="10000"/>
                </a:schemeClr>
              </a:solidFill>
              <a:hlinkClick r:id="rId2">
                <a:extLst>
                  <a:ext uri="{A12FA001-AC4F-418D-AE19-62706E023703}">
                    <ahyp:hlinkClr xmlns:ahyp="http://schemas.microsoft.com/office/drawing/2018/hyperlinkcolor" val="tx"/>
                  </a:ext>
                </a:extLst>
              </a:hlinkClick>
            </a:endParaRPr>
          </a:p>
        </p:txBody>
      </p:sp>
      <p:sp>
        <p:nvSpPr>
          <p:cNvPr id="18" name="TextBox 17">
            <a:extLst>
              <a:ext uri="{FF2B5EF4-FFF2-40B4-BE49-F238E27FC236}">
                <a16:creationId xmlns:a16="http://schemas.microsoft.com/office/drawing/2014/main" id="{5DCAD0C9-7A2A-BC5C-FEDE-E39DE45D3B3A}"/>
              </a:ext>
            </a:extLst>
          </p:cNvPr>
          <p:cNvSpPr txBox="1"/>
          <p:nvPr/>
        </p:nvSpPr>
        <p:spPr>
          <a:xfrm>
            <a:off x="260528" y="856624"/>
            <a:ext cx="7068312" cy="400110"/>
          </a:xfrm>
          <a:prstGeom prst="rect">
            <a:avLst/>
          </a:prstGeom>
          <a:noFill/>
        </p:spPr>
        <p:txBody>
          <a:bodyPr wrap="square">
            <a:spAutoFit/>
          </a:bodyPr>
          <a:lstStyle/>
          <a:p>
            <a:r>
              <a:rPr lang="en-US" sz="2000" b="1" dirty="0">
                <a:solidFill>
                  <a:schemeClr val="tx2"/>
                </a:solidFill>
              </a:rPr>
              <a:t>Question/Gap: </a:t>
            </a:r>
            <a:endParaRPr lang="en-IE" sz="2000" b="1" dirty="0">
              <a:solidFill>
                <a:schemeClr val="tx2"/>
              </a:solidFill>
            </a:endParaRPr>
          </a:p>
        </p:txBody>
      </p:sp>
      <p:sp>
        <p:nvSpPr>
          <p:cNvPr id="19" name="TextBox 18">
            <a:extLst>
              <a:ext uri="{FF2B5EF4-FFF2-40B4-BE49-F238E27FC236}">
                <a16:creationId xmlns:a16="http://schemas.microsoft.com/office/drawing/2014/main" id="{64C5E191-F4DA-CDC6-E9FA-8D5D207036DE}"/>
              </a:ext>
            </a:extLst>
          </p:cNvPr>
          <p:cNvSpPr txBox="1"/>
          <p:nvPr/>
        </p:nvSpPr>
        <p:spPr>
          <a:xfrm>
            <a:off x="208464" y="2123416"/>
            <a:ext cx="7068312" cy="400110"/>
          </a:xfrm>
          <a:prstGeom prst="rect">
            <a:avLst/>
          </a:prstGeom>
          <a:noFill/>
        </p:spPr>
        <p:txBody>
          <a:bodyPr wrap="square">
            <a:spAutoFit/>
          </a:bodyPr>
          <a:lstStyle/>
          <a:p>
            <a:r>
              <a:rPr lang="en-US" sz="2000" b="1" dirty="0">
                <a:solidFill>
                  <a:schemeClr val="tx2"/>
                </a:solidFill>
              </a:rPr>
              <a:t>Method: </a:t>
            </a:r>
            <a:endParaRPr lang="en-IE" sz="2000" b="1" dirty="0">
              <a:solidFill>
                <a:schemeClr val="tx2"/>
              </a:solidFill>
            </a:endParaRPr>
          </a:p>
        </p:txBody>
      </p:sp>
      <p:sp>
        <p:nvSpPr>
          <p:cNvPr id="20" name="TextBox 19">
            <a:extLst>
              <a:ext uri="{FF2B5EF4-FFF2-40B4-BE49-F238E27FC236}">
                <a16:creationId xmlns:a16="http://schemas.microsoft.com/office/drawing/2014/main" id="{CEC2C44C-6B50-57DC-1D96-49995D023CD7}"/>
              </a:ext>
            </a:extLst>
          </p:cNvPr>
          <p:cNvSpPr txBox="1"/>
          <p:nvPr/>
        </p:nvSpPr>
        <p:spPr>
          <a:xfrm>
            <a:off x="166087" y="3857481"/>
            <a:ext cx="7068312" cy="400110"/>
          </a:xfrm>
          <a:prstGeom prst="rect">
            <a:avLst/>
          </a:prstGeom>
          <a:noFill/>
        </p:spPr>
        <p:txBody>
          <a:bodyPr wrap="square">
            <a:spAutoFit/>
          </a:bodyPr>
          <a:lstStyle/>
          <a:p>
            <a:r>
              <a:rPr lang="en-US" sz="2000" b="1" dirty="0">
                <a:solidFill>
                  <a:schemeClr val="tx2"/>
                </a:solidFill>
              </a:rPr>
              <a:t>Results: </a:t>
            </a:r>
            <a:endParaRPr lang="en-IE" sz="2000" b="1" dirty="0">
              <a:solidFill>
                <a:schemeClr val="tx2"/>
              </a:solidFill>
            </a:endParaRPr>
          </a:p>
        </p:txBody>
      </p:sp>
      <p:sp>
        <p:nvSpPr>
          <p:cNvPr id="21" name="TextBox 20">
            <a:extLst>
              <a:ext uri="{FF2B5EF4-FFF2-40B4-BE49-F238E27FC236}">
                <a16:creationId xmlns:a16="http://schemas.microsoft.com/office/drawing/2014/main" id="{9D0FA30F-624D-4FF6-F96A-059D581E9072}"/>
              </a:ext>
            </a:extLst>
          </p:cNvPr>
          <p:cNvSpPr txBox="1"/>
          <p:nvPr/>
        </p:nvSpPr>
        <p:spPr>
          <a:xfrm>
            <a:off x="140352" y="5198489"/>
            <a:ext cx="7068312" cy="400110"/>
          </a:xfrm>
          <a:prstGeom prst="rect">
            <a:avLst/>
          </a:prstGeom>
          <a:noFill/>
        </p:spPr>
        <p:txBody>
          <a:bodyPr wrap="square">
            <a:spAutoFit/>
          </a:bodyPr>
          <a:lstStyle/>
          <a:p>
            <a:r>
              <a:rPr lang="en-US" sz="2000" b="1" dirty="0">
                <a:solidFill>
                  <a:schemeClr val="tx2"/>
                </a:solidFill>
              </a:rPr>
              <a:t>Limitations: </a:t>
            </a:r>
            <a:endParaRPr lang="en-IE" sz="2000" b="1" dirty="0">
              <a:solidFill>
                <a:schemeClr val="tx2"/>
              </a:solidFill>
            </a:endParaRPr>
          </a:p>
        </p:txBody>
      </p:sp>
      <p:pic>
        <p:nvPicPr>
          <p:cNvPr id="6" name="Picture 5">
            <a:extLst>
              <a:ext uri="{FF2B5EF4-FFF2-40B4-BE49-F238E27FC236}">
                <a16:creationId xmlns:a16="http://schemas.microsoft.com/office/drawing/2014/main" id="{D3585C69-1FB9-4165-C74D-C964BFF7DCBC}"/>
              </a:ext>
            </a:extLst>
          </p:cNvPr>
          <p:cNvPicPr>
            <a:picLocks noChangeAspect="1"/>
          </p:cNvPicPr>
          <p:nvPr/>
        </p:nvPicPr>
        <p:blipFill>
          <a:blip r:embed="rId3"/>
          <a:stretch>
            <a:fillRect/>
          </a:stretch>
        </p:blipFill>
        <p:spPr>
          <a:xfrm>
            <a:off x="7927628" y="982153"/>
            <a:ext cx="3988337" cy="3738545"/>
          </a:xfrm>
          <a:prstGeom prst="rect">
            <a:avLst/>
          </a:prstGeom>
        </p:spPr>
      </p:pic>
      <p:pic>
        <p:nvPicPr>
          <p:cNvPr id="14" name="Picture 13">
            <a:extLst>
              <a:ext uri="{FF2B5EF4-FFF2-40B4-BE49-F238E27FC236}">
                <a16:creationId xmlns:a16="http://schemas.microsoft.com/office/drawing/2014/main" id="{6529123F-618E-8EEB-1335-E2EE5ED75844}"/>
              </a:ext>
            </a:extLst>
          </p:cNvPr>
          <p:cNvPicPr>
            <a:picLocks noChangeAspect="1"/>
          </p:cNvPicPr>
          <p:nvPr/>
        </p:nvPicPr>
        <p:blipFill>
          <a:blip r:embed="rId4"/>
          <a:stretch>
            <a:fillRect/>
          </a:stretch>
        </p:blipFill>
        <p:spPr>
          <a:xfrm>
            <a:off x="5690082" y="1676194"/>
            <a:ext cx="2152735" cy="2485273"/>
          </a:xfrm>
          <a:prstGeom prst="rect">
            <a:avLst/>
          </a:prstGeom>
        </p:spPr>
      </p:pic>
      <p:pic>
        <p:nvPicPr>
          <p:cNvPr id="17" name="Picture 16">
            <a:extLst>
              <a:ext uri="{FF2B5EF4-FFF2-40B4-BE49-F238E27FC236}">
                <a16:creationId xmlns:a16="http://schemas.microsoft.com/office/drawing/2014/main" id="{9B48E86A-B29F-53EB-399F-F4E9C162B21B}"/>
              </a:ext>
            </a:extLst>
          </p:cNvPr>
          <p:cNvPicPr>
            <a:picLocks noChangeAspect="1"/>
          </p:cNvPicPr>
          <p:nvPr/>
        </p:nvPicPr>
        <p:blipFill>
          <a:blip r:embed="rId5"/>
          <a:stretch>
            <a:fillRect/>
          </a:stretch>
        </p:blipFill>
        <p:spPr>
          <a:xfrm>
            <a:off x="6870639" y="4720698"/>
            <a:ext cx="5246977" cy="2025948"/>
          </a:xfrm>
          <a:prstGeom prst="rect">
            <a:avLst/>
          </a:prstGeom>
        </p:spPr>
      </p:pic>
    </p:spTree>
    <p:extLst>
      <p:ext uri="{BB962C8B-B14F-4D97-AF65-F5344CB8AC3E}">
        <p14:creationId xmlns:p14="http://schemas.microsoft.com/office/powerpoint/2010/main" val="6513894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E4CE983-92B4-8FD8-AC1F-8BBD969585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256B0A7-D363-9761-A278-DF6CC92A24C0}"/>
              </a:ext>
            </a:extLst>
          </p:cNvPr>
          <p:cNvSpPr>
            <a:spLocks noGrp="1"/>
          </p:cNvSpPr>
          <p:nvPr>
            <p:ph type="title"/>
          </p:nvPr>
        </p:nvSpPr>
        <p:spPr>
          <a:xfrm>
            <a:off x="208464" y="1291149"/>
            <a:ext cx="5597976" cy="787314"/>
          </a:xfrm>
        </p:spPr>
        <p:txBody>
          <a:bodyPr>
            <a:normAutofit/>
          </a:bodyPr>
          <a:lstStyle/>
          <a:p>
            <a:r>
              <a:rPr lang="en-IE" sz="2000" dirty="0">
                <a:solidFill>
                  <a:schemeClr val="bg2">
                    <a:lumMod val="10000"/>
                  </a:schemeClr>
                </a:solidFill>
              </a:rPr>
              <a:t>Tendon-driven </a:t>
            </a:r>
            <a:r>
              <a:rPr lang="en-IE" sz="2000" dirty="0" err="1">
                <a:solidFill>
                  <a:schemeClr val="bg2">
                    <a:lumMod val="10000"/>
                  </a:schemeClr>
                </a:solidFill>
              </a:rPr>
              <a:t>underactuation</a:t>
            </a:r>
            <a:r>
              <a:rPr lang="en-IE" sz="2000" dirty="0">
                <a:solidFill>
                  <a:schemeClr val="bg2">
                    <a:lumMod val="10000"/>
                  </a:schemeClr>
                </a:solidFill>
              </a:rPr>
              <a:t> handles impacts poorly, and classic brakes kill flexibility.</a:t>
            </a:r>
          </a:p>
        </p:txBody>
      </p:sp>
      <p:sp>
        <p:nvSpPr>
          <p:cNvPr id="4" name="Title 1">
            <a:extLst>
              <a:ext uri="{FF2B5EF4-FFF2-40B4-BE49-F238E27FC236}">
                <a16:creationId xmlns:a16="http://schemas.microsoft.com/office/drawing/2014/main" id="{3B719D06-29FD-A458-3968-3D2082456FD9}"/>
              </a:ext>
            </a:extLst>
          </p:cNvPr>
          <p:cNvSpPr txBox="1">
            <a:spLocks/>
          </p:cNvSpPr>
          <p:nvPr/>
        </p:nvSpPr>
        <p:spPr>
          <a:xfrm>
            <a:off x="145200" y="111354"/>
            <a:ext cx="9064390" cy="787314"/>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400" b="1" kern="1200">
                <a:solidFill>
                  <a:schemeClr val="bg1"/>
                </a:solidFill>
                <a:latin typeface="+mn-lt"/>
                <a:ea typeface="+mj-ea"/>
                <a:cs typeface="+mj-cs"/>
              </a:defRPr>
            </a:lvl1pPr>
          </a:lstStyle>
          <a:p>
            <a:r>
              <a:rPr lang="en-US" b="0" dirty="0">
                <a:solidFill>
                  <a:srgbClr val="002060"/>
                </a:solidFill>
              </a:rPr>
              <a:t>Literature : Ratchet</a:t>
            </a:r>
          </a:p>
        </p:txBody>
      </p:sp>
      <p:sp>
        <p:nvSpPr>
          <p:cNvPr id="7" name="Title 1">
            <a:extLst>
              <a:ext uri="{FF2B5EF4-FFF2-40B4-BE49-F238E27FC236}">
                <a16:creationId xmlns:a16="http://schemas.microsoft.com/office/drawing/2014/main" id="{704DC178-ECA0-7470-A2BA-82EF9744C8D4}"/>
              </a:ext>
            </a:extLst>
          </p:cNvPr>
          <p:cNvSpPr txBox="1">
            <a:spLocks/>
          </p:cNvSpPr>
          <p:nvPr/>
        </p:nvSpPr>
        <p:spPr>
          <a:xfrm>
            <a:off x="199870" y="2551488"/>
            <a:ext cx="5896130" cy="787314"/>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3400" b="1" kern="1200">
                <a:solidFill>
                  <a:schemeClr val="bg1"/>
                </a:solidFill>
                <a:latin typeface="+mn-lt"/>
                <a:ea typeface="+mj-ea"/>
                <a:cs typeface="+mj-cs"/>
              </a:defRPr>
            </a:lvl1pPr>
          </a:lstStyle>
          <a:p>
            <a:r>
              <a:rPr lang="en-IE" sz="2000" dirty="0">
                <a:solidFill>
                  <a:schemeClr val="bg2">
                    <a:lumMod val="10000"/>
                  </a:schemeClr>
                </a:solidFill>
              </a:rPr>
              <a:t>Asymmetric pneumatic ratchet joint (HRJ) + Granular Jamming finger pads.</a:t>
            </a:r>
            <a:endParaRPr lang="en-US" sz="2000" b="0" dirty="0">
              <a:solidFill>
                <a:schemeClr val="bg2">
                  <a:lumMod val="10000"/>
                </a:schemeClr>
              </a:solidFill>
            </a:endParaRPr>
          </a:p>
        </p:txBody>
      </p:sp>
      <p:sp>
        <p:nvSpPr>
          <p:cNvPr id="9" name="Title 1">
            <a:extLst>
              <a:ext uri="{FF2B5EF4-FFF2-40B4-BE49-F238E27FC236}">
                <a16:creationId xmlns:a16="http://schemas.microsoft.com/office/drawing/2014/main" id="{FFF35A3B-A0EB-AE2D-CA5F-1FFBAF43D7A9}"/>
              </a:ext>
            </a:extLst>
          </p:cNvPr>
          <p:cNvSpPr txBox="1">
            <a:spLocks/>
          </p:cNvSpPr>
          <p:nvPr/>
        </p:nvSpPr>
        <p:spPr>
          <a:xfrm>
            <a:off x="166087" y="4279100"/>
            <a:ext cx="5361336" cy="787314"/>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400" b="1" kern="1200">
                <a:solidFill>
                  <a:schemeClr val="bg1"/>
                </a:solidFill>
                <a:latin typeface="+mn-lt"/>
                <a:ea typeface="+mj-ea"/>
                <a:cs typeface="+mj-cs"/>
              </a:defRPr>
            </a:lvl1pPr>
          </a:lstStyle>
          <a:p>
            <a:r>
              <a:rPr lang="en-IE" sz="2000" dirty="0">
                <a:solidFill>
                  <a:schemeClr val="bg2">
                    <a:lumMod val="10000"/>
                  </a:schemeClr>
                </a:solidFill>
              </a:rPr>
              <a:t>Vacuum stiffens the finger, boosting grip hold by 205% and stiffness by 97%.</a:t>
            </a:r>
            <a:endParaRPr lang="en-US" sz="2000" b="0" dirty="0">
              <a:solidFill>
                <a:schemeClr val="bg2">
                  <a:lumMod val="10000"/>
                </a:schemeClr>
              </a:solidFill>
            </a:endParaRPr>
          </a:p>
        </p:txBody>
      </p:sp>
      <p:sp>
        <p:nvSpPr>
          <p:cNvPr id="10" name="Title 1">
            <a:extLst>
              <a:ext uri="{FF2B5EF4-FFF2-40B4-BE49-F238E27FC236}">
                <a16:creationId xmlns:a16="http://schemas.microsoft.com/office/drawing/2014/main" id="{DCCEB9B0-54D5-CE51-2380-294BECC84931}"/>
              </a:ext>
            </a:extLst>
          </p:cNvPr>
          <p:cNvSpPr txBox="1">
            <a:spLocks/>
          </p:cNvSpPr>
          <p:nvPr/>
        </p:nvSpPr>
        <p:spPr>
          <a:xfrm>
            <a:off x="166087" y="5579650"/>
            <a:ext cx="5929913" cy="787314"/>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400" b="1" kern="1200">
                <a:solidFill>
                  <a:schemeClr val="bg1"/>
                </a:solidFill>
                <a:latin typeface="+mn-lt"/>
                <a:ea typeface="+mj-ea"/>
                <a:cs typeface="+mj-cs"/>
              </a:defRPr>
            </a:lvl1pPr>
          </a:lstStyle>
          <a:p>
            <a:r>
              <a:rPr lang="en-IE" sz="2000" dirty="0">
                <a:solidFill>
                  <a:schemeClr val="bg2">
                    <a:lumMod val="10000"/>
                  </a:schemeClr>
                </a:solidFill>
              </a:rPr>
              <a:t>The 3D-printed resin ratchet snaps instantly if pushed past 50 kPa. Teeth limit fine-tuning.</a:t>
            </a:r>
            <a:endParaRPr lang="en-US" sz="2000" b="0" dirty="0">
              <a:solidFill>
                <a:schemeClr val="bg2">
                  <a:lumMod val="10000"/>
                </a:schemeClr>
              </a:solidFill>
            </a:endParaRPr>
          </a:p>
        </p:txBody>
      </p:sp>
      <p:sp>
        <p:nvSpPr>
          <p:cNvPr id="11" name="Title 1">
            <a:extLst>
              <a:ext uri="{FF2B5EF4-FFF2-40B4-BE49-F238E27FC236}">
                <a16:creationId xmlns:a16="http://schemas.microsoft.com/office/drawing/2014/main" id="{F9B5EA93-E68B-9BC5-2D3D-7D3D42D0BBCE}"/>
              </a:ext>
            </a:extLst>
          </p:cNvPr>
          <p:cNvSpPr txBox="1">
            <a:spLocks/>
          </p:cNvSpPr>
          <p:nvPr/>
        </p:nvSpPr>
        <p:spPr>
          <a:xfrm>
            <a:off x="5043336" y="218044"/>
            <a:ext cx="6888136" cy="787314"/>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3400" b="1" kern="1200">
                <a:solidFill>
                  <a:schemeClr val="bg1"/>
                </a:solidFill>
                <a:latin typeface="+mn-lt"/>
                <a:ea typeface="+mj-ea"/>
                <a:cs typeface="+mj-cs"/>
              </a:defRPr>
            </a:lvl1pPr>
          </a:lstStyle>
          <a:p>
            <a:r>
              <a:rPr lang="en-IE" sz="1600" dirty="0">
                <a:solidFill>
                  <a:schemeClr val="bg2">
                    <a:lumMod val="10000"/>
                  </a:schemeClr>
                </a:solidFill>
              </a:rPr>
              <a:t>Design and Development of a New Bioinspired Hybrid Robotic Gripper for Multi-Mode Robust Grasping</a:t>
            </a:r>
          </a:p>
          <a:p>
            <a:r>
              <a:rPr lang="en-IE" sz="1600" dirty="0" err="1">
                <a:solidFill>
                  <a:schemeClr val="bg2">
                    <a:lumMod val="10000"/>
                  </a:schemeClr>
                </a:solidFill>
              </a:rPr>
              <a:t>Xianli</a:t>
            </a:r>
            <a:r>
              <a:rPr lang="en-IE" sz="1600" dirty="0">
                <a:solidFill>
                  <a:schemeClr val="bg2">
                    <a:lumMod val="10000"/>
                  </a:schemeClr>
                </a:solidFill>
              </a:rPr>
              <a:t> Wang and </a:t>
            </a:r>
            <a:r>
              <a:rPr lang="en-IE" sz="1600" dirty="0" err="1">
                <a:solidFill>
                  <a:schemeClr val="bg2">
                    <a:lumMod val="10000"/>
                  </a:schemeClr>
                </a:solidFill>
              </a:rPr>
              <a:t>Qingsong</a:t>
            </a:r>
            <a:r>
              <a:rPr lang="en-IE" sz="1600" dirty="0">
                <a:solidFill>
                  <a:schemeClr val="bg2">
                    <a:lumMod val="10000"/>
                  </a:schemeClr>
                </a:solidFill>
              </a:rPr>
              <a:t> Xu , Senior Member, IEEE</a:t>
            </a:r>
            <a:endParaRPr lang="en-IE" sz="1600" b="0" dirty="0">
              <a:solidFill>
                <a:schemeClr val="bg2">
                  <a:lumMod val="10000"/>
                </a:schemeClr>
              </a:solidFill>
              <a:hlinkClick r:id="rId2">
                <a:extLst>
                  <a:ext uri="{A12FA001-AC4F-418D-AE19-62706E023703}">
                    <ahyp:hlinkClr xmlns:ahyp="http://schemas.microsoft.com/office/drawing/2018/hyperlinkcolor" val="tx"/>
                  </a:ext>
                </a:extLst>
              </a:hlinkClick>
            </a:endParaRPr>
          </a:p>
        </p:txBody>
      </p:sp>
      <p:sp>
        <p:nvSpPr>
          <p:cNvPr id="18" name="TextBox 17">
            <a:extLst>
              <a:ext uri="{FF2B5EF4-FFF2-40B4-BE49-F238E27FC236}">
                <a16:creationId xmlns:a16="http://schemas.microsoft.com/office/drawing/2014/main" id="{B630A5B9-1784-A006-31D2-0D20C680F603}"/>
              </a:ext>
            </a:extLst>
          </p:cNvPr>
          <p:cNvSpPr txBox="1"/>
          <p:nvPr/>
        </p:nvSpPr>
        <p:spPr>
          <a:xfrm>
            <a:off x="260528" y="856624"/>
            <a:ext cx="7068312" cy="400110"/>
          </a:xfrm>
          <a:prstGeom prst="rect">
            <a:avLst/>
          </a:prstGeom>
          <a:noFill/>
        </p:spPr>
        <p:txBody>
          <a:bodyPr wrap="square">
            <a:spAutoFit/>
          </a:bodyPr>
          <a:lstStyle/>
          <a:p>
            <a:r>
              <a:rPr lang="en-US" sz="2000" b="1" dirty="0">
                <a:solidFill>
                  <a:schemeClr val="tx2"/>
                </a:solidFill>
              </a:rPr>
              <a:t>Question/Gap: </a:t>
            </a:r>
            <a:endParaRPr lang="en-IE" sz="2000" b="1" dirty="0">
              <a:solidFill>
                <a:schemeClr val="tx2"/>
              </a:solidFill>
            </a:endParaRPr>
          </a:p>
        </p:txBody>
      </p:sp>
      <p:sp>
        <p:nvSpPr>
          <p:cNvPr id="19" name="TextBox 18">
            <a:extLst>
              <a:ext uri="{FF2B5EF4-FFF2-40B4-BE49-F238E27FC236}">
                <a16:creationId xmlns:a16="http://schemas.microsoft.com/office/drawing/2014/main" id="{6334C582-DCB1-28C6-F823-DA68D6E839D7}"/>
              </a:ext>
            </a:extLst>
          </p:cNvPr>
          <p:cNvSpPr txBox="1"/>
          <p:nvPr/>
        </p:nvSpPr>
        <p:spPr>
          <a:xfrm>
            <a:off x="208464" y="2123416"/>
            <a:ext cx="7068312" cy="400110"/>
          </a:xfrm>
          <a:prstGeom prst="rect">
            <a:avLst/>
          </a:prstGeom>
          <a:noFill/>
        </p:spPr>
        <p:txBody>
          <a:bodyPr wrap="square">
            <a:spAutoFit/>
          </a:bodyPr>
          <a:lstStyle/>
          <a:p>
            <a:r>
              <a:rPr lang="en-US" sz="2000" b="1" dirty="0">
                <a:solidFill>
                  <a:schemeClr val="tx2"/>
                </a:solidFill>
              </a:rPr>
              <a:t>Method: </a:t>
            </a:r>
            <a:endParaRPr lang="en-IE" sz="2000" b="1" dirty="0">
              <a:solidFill>
                <a:schemeClr val="tx2"/>
              </a:solidFill>
            </a:endParaRPr>
          </a:p>
        </p:txBody>
      </p:sp>
      <p:sp>
        <p:nvSpPr>
          <p:cNvPr id="20" name="TextBox 19">
            <a:extLst>
              <a:ext uri="{FF2B5EF4-FFF2-40B4-BE49-F238E27FC236}">
                <a16:creationId xmlns:a16="http://schemas.microsoft.com/office/drawing/2014/main" id="{DFBF7DB0-32F6-DBFE-79AF-6E8A157CB585}"/>
              </a:ext>
            </a:extLst>
          </p:cNvPr>
          <p:cNvSpPr txBox="1"/>
          <p:nvPr/>
        </p:nvSpPr>
        <p:spPr>
          <a:xfrm>
            <a:off x="166087" y="3857481"/>
            <a:ext cx="7068312" cy="400110"/>
          </a:xfrm>
          <a:prstGeom prst="rect">
            <a:avLst/>
          </a:prstGeom>
          <a:noFill/>
        </p:spPr>
        <p:txBody>
          <a:bodyPr wrap="square">
            <a:spAutoFit/>
          </a:bodyPr>
          <a:lstStyle/>
          <a:p>
            <a:r>
              <a:rPr lang="en-US" sz="2000" b="1" dirty="0">
                <a:solidFill>
                  <a:schemeClr val="tx2"/>
                </a:solidFill>
              </a:rPr>
              <a:t>Results: </a:t>
            </a:r>
            <a:endParaRPr lang="en-IE" sz="2000" b="1" dirty="0">
              <a:solidFill>
                <a:schemeClr val="tx2"/>
              </a:solidFill>
            </a:endParaRPr>
          </a:p>
        </p:txBody>
      </p:sp>
      <p:sp>
        <p:nvSpPr>
          <p:cNvPr id="21" name="TextBox 20">
            <a:extLst>
              <a:ext uri="{FF2B5EF4-FFF2-40B4-BE49-F238E27FC236}">
                <a16:creationId xmlns:a16="http://schemas.microsoft.com/office/drawing/2014/main" id="{C554C6C5-8286-735B-210F-0DAF4F3081B6}"/>
              </a:ext>
            </a:extLst>
          </p:cNvPr>
          <p:cNvSpPr txBox="1"/>
          <p:nvPr/>
        </p:nvSpPr>
        <p:spPr>
          <a:xfrm>
            <a:off x="145200" y="5189814"/>
            <a:ext cx="7068312" cy="400110"/>
          </a:xfrm>
          <a:prstGeom prst="rect">
            <a:avLst/>
          </a:prstGeom>
          <a:noFill/>
        </p:spPr>
        <p:txBody>
          <a:bodyPr wrap="square">
            <a:spAutoFit/>
          </a:bodyPr>
          <a:lstStyle/>
          <a:p>
            <a:r>
              <a:rPr lang="en-US" sz="2000" b="1" dirty="0">
                <a:solidFill>
                  <a:schemeClr val="tx2"/>
                </a:solidFill>
              </a:rPr>
              <a:t>Limitations: </a:t>
            </a:r>
            <a:endParaRPr lang="en-IE" sz="2000" b="1" dirty="0">
              <a:solidFill>
                <a:schemeClr val="tx2"/>
              </a:solidFill>
            </a:endParaRPr>
          </a:p>
        </p:txBody>
      </p:sp>
      <p:pic>
        <p:nvPicPr>
          <p:cNvPr id="5" name="Picture 4">
            <a:extLst>
              <a:ext uri="{FF2B5EF4-FFF2-40B4-BE49-F238E27FC236}">
                <a16:creationId xmlns:a16="http://schemas.microsoft.com/office/drawing/2014/main" id="{F8F00AAB-4F94-5F9A-0E72-AD84F8623B6C}"/>
              </a:ext>
            </a:extLst>
          </p:cNvPr>
          <p:cNvPicPr>
            <a:picLocks noChangeAspect="1"/>
          </p:cNvPicPr>
          <p:nvPr/>
        </p:nvPicPr>
        <p:blipFill>
          <a:blip r:embed="rId3"/>
          <a:stretch>
            <a:fillRect/>
          </a:stretch>
        </p:blipFill>
        <p:spPr>
          <a:xfrm>
            <a:off x="5806440" y="2896067"/>
            <a:ext cx="3605699" cy="1885825"/>
          </a:xfrm>
          <a:prstGeom prst="rect">
            <a:avLst/>
          </a:prstGeom>
        </p:spPr>
      </p:pic>
      <p:pic>
        <p:nvPicPr>
          <p:cNvPr id="12" name="Picture 11">
            <a:extLst>
              <a:ext uri="{FF2B5EF4-FFF2-40B4-BE49-F238E27FC236}">
                <a16:creationId xmlns:a16="http://schemas.microsoft.com/office/drawing/2014/main" id="{B3F56B88-B6E8-E2E5-2417-35320C8B186C}"/>
              </a:ext>
            </a:extLst>
          </p:cNvPr>
          <p:cNvPicPr>
            <a:picLocks noChangeAspect="1"/>
          </p:cNvPicPr>
          <p:nvPr/>
        </p:nvPicPr>
        <p:blipFill>
          <a:blip r:embed="rId4"/>
          <a:stretch>
            <a:fillRect/>
          </a:stretch>
        </p:blipFill>
        <p:spPr>
          <a:xfrm>
            <a:off x="9570794" y="1352070"/>
            <a:ext cx="2004997" cy="2398836"/>
          </a:xfrm>
          <a:prstGeom prst="rect">
            <a:avLst/>
          </a:prstGeom>
        </p:spPr>
      </p:pic>
      <p:pic>
        <p:nvPicPr>
          <p:cNvPr id="15" name="Picture 14">
            <a:extLst>
              <a:ext uri="{FF2B5EF4-FFF2-40B4-BE49-F238E27FC236}">
                <a16:creationId xmlns:a16="http://schemas.microsoft.com/office/drawing/2014/main" id="{FC7D1CBA-702B-08A0-3994-CEBB3E47FD59}"/>
              </a:ext>
            </a:extLst>
          </p:cNvPr>
          <p:cNvPicPr>
            <a:picLocks noChangeAspect="1"/>
          </p:cNvPicPr>
          <p:nvPr/>
        </p:nvPicPr>
        <p:blipFill>
          <a:blip r:embed="rId5"/>
          <a:stretch>
            <a:fillRect/>
          </a:stretch>
        </p:blipFill>
        <p:spPr>
          <a:xfrm>
            <a:off x="7213512" y="4888582"/>
            <a:ext cx="4714564" cy="1885825"/>
          </a:xfrm>
          <a:prstGeom prst="rect">
            <a:avLst/>
          </a:prstGeom>
        </p:spPr>
      </p:pic>
    </p:spTree>
    <p:extLst>
      <p:ext uri="{BB962C8B-B14F-4D97-AF65-F5344CB8AC3E}">
        <p14:creationId xmlns:p14="http://schemas.microsoft.com/office/powerpoint/2010/main" val="12504017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EA0279B-84F9-FF2D-2B9A-F9D5A278BD8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833BF9-3D7A-890A-9193-EC94CFBBBA61}"/>
              </a:ext>
            </a:extLst>
          </p:cNvPr>
          <p:cNvSpPr>
            <a:spLocks noGrp="1"/>
          </p:cNvSpPr>
          <p:nvPr>
            <p:ph type="title"/>
          </p:nvPr>
        </p:nvSpPr>
        <p:spPr>
          <a:xfrm>
            <a:off x="208464" y="1291149"/>
            <a:ext cx="8094288" cy="787314"/>
          </a:xfrm>
        </p:spPr>
        <p:txBody>
          <a:bodyPr>
            <a:normAutofit/>
          </a:bodyPr>
          <a:lstStyle/>
          <a:p>
            <a:r>
              <a:rPr lang="en-IE" sz="2000" dirty="0">
                <a:solidFill>
                  <a:schemeClr val="bg2">
                    <a:lumMod val="10000"/>
                  </a:schemeClr>
                </a:solidFill>
              </a:rPr>
              <a:t>Inflated silicone lifts very little weight and wastes air.</a:t>
            </a:r>
          </a:p>
        </p:txBody>
      </p:sp>
      <p:sp>
        <p:nvSpPr>
          <p:cNvPr id="4" name="Title 1">
            <a:extLst>
              <a:ext uri="{FF2B5EF4-FFF2-40B4-BE49-F238E27FC236}">
                <a16:creationId xmlns:a16="http://schemas.microsoft.com/office/drawing/2014/main" id="{EEA6BB22-F82D-3885-1716-1E054A73D84A}"/>
              </a:ext>
            </a:extLst>
          </p:cNvPr>
          <p:cNvSpPr txBox="1">
            <a:spLocks/>
          </p:cNvSpPr>
          <p:nvPr/>
        </p:nvSpPr>
        <p:spPr>
          <a:xfrm>
            <a:off x="145200" y="111354"/>
            <a:ext cx="9064390" cy="787314"/>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400" b="1" kern="1200">
                <a:solidFill>
                  <a:schemeClr val="bg1"/>
                </a:solidFill>
                <a:latin typeface="+mn-lt"/>
                <a:ea typeface="+mj-ea"/>
                <a:cs typeface="+mj-cs"/>
              </a:defRPr>
            </a:lvl1pPr>
          </a:lstStyle>
          <a:p>
            <a:r>
              <a:rPr lang="en-US" b="0" dirty="0">
                <a:solidFill>
                  <a:srgbClr val="002060"/>
                </a:solidFill>
              </a:rPr>
              <a:t>Literature : Ratchet</a:t>
            </a:r>
          </a:p>
        </p:txBody>
      </p:sp>
      <p:sp>
        <p:nvSpPr>
          <p:cNvPr id="7" name="Title 1">
            <a:extLst>
              <a:ext uri="{FF2B5EF4-FFF2-40B4-BE49-F238E27FC236}">
                <a16:creationId xmlns:a16="http://schemas.microsoft.com/office/drawing/2014/main" id="{3714649C-8B27-58E1-E0C3-FD410833EC99}"/>
              </a:ext>
            </a:extLst>
          </p:cNvPr>
          <p:cNvSpPr txBox="1">
            <a:spLocks/>
          </p:cNvSpPr>
          <p:nvPr/>
        </p:nvSpPr>
        <p:spPr>
          <a:xfrm>
            <a:off x="199870" y="2551488"/>
            <a:ext cx="5896130" cy="787314"/>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3400" b="1" kern="1200">
                <a:solidFill>
                  <a:schemeClr val="bg1"/>
                </a:solidFill>
                <a:latin typeface="+mn-lt"/>
                <a:ea typeface="+mj-ea"/>
                <a:cs typeface="+mj-cs"/>
              </a:defRPr>
            </a:lvl1pPr>
          </a:lstStyle>
          <a:p>
            <a:r>
              <a:rPr lang="en-IE" sz="2000" dirty="0">
                <a:solidFill>
                  <a:schemeClr val="bg2">
                    <a:lumMod val="10000"/>
                  </a:schemeClr>
                </a:solidFill>
              </a:rPr>
              <a:t>Rigid exoskeleton clipped onto a silicone finger, locked by a mechanical ratchet.</a:t>
            </a:r>
            <a:endParaRPr lang="en-US" sz="2000" b="0" dirty="0">
              <a:solidFill>
                <a:schemeClr val="bg2">
                  <a:lumMod val="10000"/>
                </a:schemeClr>
              </a:solidFill>
            </a:endParaRPr>
          </a:p>
        </p:txBody>
      </p:sp>
      <p:sp>
        <p:nvSpPr>
          <p:cNvPr id="9" name="Title 1">
            <a:extLst>
              <a:ext uri="{FF2B5EF4-FFF2-40B4-BE49-F238E27FC236}">
                <a16:creationId xmlns:a16="http://schemas.microsoft.com/office/drawing/2014/main" id="{1444EA49-F84C-6449-A877-6BFF12406847}"/>
              </a:ext>
            </a:extLst>
          </p:cNvPr>
          <p:cNvSpPr txBox="1">
            <a:spLocks/>
          </p:cNvSpPr>
          <p:nvPr/>
        </p:nvSpPr>
        <p:spPr>
          <a:xfrm>
            <a:off x="178346" y="4298887"/>
            <a:ext cx="5870352" cy="787314"/>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400" b="1" kern="1200">
                <a:solidFill>
                  <a:schemeClr val="bg1"/>
                </a:solidFill>
                <a:latin typeface="+mn-lt"/>
                <a:ea typeface="+mj-ea"/>
                <a:cs typeface="+mj-cs"/>
              </a:defRPr>
            </a:lvl1pPr>
          </a:lstStyle>
          <a:p>
            <a:r>
              <a:rPr lang="en-IE" sz="2000" dirty="0">
                <a:solidFill>
                  <a:schemeClr val="bg2">
                    <a:lumMod val="10000"/>
                  </a:schemeClr>
                </a:solidFill>
              </a:rPr>
              <a:t>When the finger inflates, the ratchet locks. Boosts payload to 9 kg with 0 holding energy.</a:t>
            </a:r>
            <a:endParaRPr lang="en-US" sz="2000" b="0" dirty="0">
              <a:solidFill>
                <a:schemeClr val="bg2">
                  <a:lumMod val="10000"/>
                </a:schemeClr>
              </a:solidFill>
            </a:endParaRPr>
          </a:p>
        </p:txBody>
      </p:sp>
      <p:sp>
        <p:nvSpPr>
          <p:cNvPr id="10" name="Title 1">
            <a:extLst>
              <a:ext uri="{FF2B5EF4-FFF2-40B4-BE49-F238E27FC236}">
                <a16:creationId xmlns:a16="http://schemas.microsoft.com/office/drawing/2014/main" id="{B99A350E-544B-6CFD-EFFB-E8AC52C82632}"/>
              </a:ext>
            </a:extLst>
          </p:cNvPr>
          <p:cNvSpPr txBox="1">
            <a:spLocks/>
          </p:cNvSpPr>
          <p:nvPr/>
        </p:nvSpPr>
        <p:spPr>
          <a:xfrm>
            <a:off x="166087" y="5579650"/>
            <a:ext cx="5929913" cy="787314"/>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400" b="1" kern="1200">
                <a:solidFill>
                  <a:schemeClr val="bg1"/>
                </a:solidFill>
                <a:latin typeface="+mn-lt"/>
                <a:ea typeface="+mj-ea"/>
                <a:cs typeface="+mj-cs"/>
              </a:defRPr>
            </a:lvl1pPr>
          </a:lstStyle>
          <a:p>
            <a:r>
              <a:rPr lang="en-IE" sz="2000" dirty="0">
                <a:solidFill>
                  <a:schemeClr val="bg2">
                    <a:lumMod val="10000"/>
                  </a:schemeClr>
                </a:solidFill>
              </a:rPr>
              <a:t>Requires pumping air just to physically push the ratchet away during opening (not 100% passive).</a:t>
            </a:r>
            <a:endParaRPr lang="en-US" sz="2000" b="0" dirty="0">
              <a:solidFill>
                <a:schemeClr val="bg2">
                  <a:lumMod val="10000"/>
                </a:schemeClr>
              </a:solidFill>
            </a:endParaRPr>
          </a:p>
        </p:txBody>
      </p:sp>
      <p:sp>
        <p:nvSpPr>
          <p:cNvPr id="11" name="Title 1">
            <a:extLst>
              <a:ext uri="{FF2B5EF4-FFF2-40B4-BE49-F238E27FC236}">
                <a16:creationId xmlns:a16="http://schemas.microsoft.com/office/drawing/2014/main" id="{85D08052-F56F-D315-FBD6-F2577CF2A969}"/>
              </a:ext>
            </a:extLst>
          </p:cNvPr>
          <p:cNvSpPr txBox="1">
            <a:spLocks/>
          </p:cNvSpPr>
          <p:nvPr/>
        </p:nvSpPr>
        <p:spPr>
          <a:xfrm>
            <a:off x="5043336" y="218044"/>
            <a:ext cx="6888136" cy="787314"/>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3400" b="1" kern="1200">
                <a:solidFill>
                  <a:schemeClr val="bg1"/>
                </a:solidFill>
                <a:latin typeface="+mn-lt"/>
                <a:ea typeface="+mj-ea"/>
                <a:cs typeface="+mj-cs"/>
              </a:defRPr>
            </a:lvl1pPr>
          </a:lstStyle>
          <a:p>
            <a:r>
              <a:rPr lang="en-IE" sz="1600" dirty="0">
                <a:solidFill>
                  <a:schemeClr val="bg2">
                    <a:lumMod val="10000"/>
                  </a:schemeClr>
                </a:solidFill>
              </a:rPr>
              <a:t>Self-locking mechanism for variable stiffness rigid–soft gripper</a:t>
            </a:r>
          </a:p>
          <a:p>
            <a:r>
              <a:rPr lang="en-IE" sz="1600" dirty="0">
                <a:solidFill>
                  <a:schemeClr val="bg2">
                    <a:lumMod val="10000"/>
                  </a:schemeClr>
                </a:solidFill>
              </a:rPr>
              <a:t>Xin-Yu Guo et al 2020 Smart Mat</a:t>
            </a:r>
            <a:endParaRPr lang="en-IE" sz="1600" b="0" dirty="0">
              <a:solidFill>
                <a:schemeClr val="bg2">
                  <a:lumMod val="10000"/>
                </a:schemeClr>
              </a:solidFill>
              <a:hlinkClick r:id="rId2">
                <a:extLst>
                  <a:ext uri="{A12FA001-AC4F-418D-AE19-62706E023703}">
                    <ahyp:hlinkClr xmlns:ahyp="http://schemas.microsoft.com/office/drawing/2018/hyperlinkcolor" val="tx"/>
                  </a:ext>
                </a:extLst>
              </a:hlinkClick>
            </a:endParaRPr>
          </a:p>
        </p:txBody>
      </p:sp>
      <p:sp>
        <p:nvSpPr>
          <p:cNvPr id="18" name="TextBox 17">
            <a:extLst>
              <a:ext uri="{FF2B5EF4-FFF2-40B4-BE49-F238E27FC236}">
                <a16:creationId xmlns:a16="http://schemas.microsoft.com/office/drawing/2014/main" id="{FA3B24EE-1F62-8822-7B5D-B2C90CA58507}"/>
              </a:ext>
            </a:extLst>
          </p:cNvPr>
          <p:cNvSpPr txBox="1"/>
          <p:nvPr/>
        </p:nvSpPr>
        <p:spPr>
          <a:xfrm>
            <a:off x="260528" y="856624"/>
            <a:ext cx="7068312" cy="400110"/>
          </a:xfrm>
          <a:prstGeom prst="rect">
            <a:avLst/>
          </a:prstGeom>
          <a:noFill/>
        </p:spPr>
        <p:txBody>
          <a:bodyPr wrap="square">
            <a:spAutoFit/>
          </a:bodyPr>
          <a:lstStyle/>
          <a:p>
            <a:r>
              <a:rPr lang="en-US" sz="2000" b="1" dirty="0">
                <a:solidFill>
                  <a:schemeClr val="tx2"/>
                </a:solidFill>
              </a:rPr>
              <a:t>Question/Gap: </a:t>
            </a:r>
            <a:endParaRPr lang="en-IE" sz="2000" b="1" dirty="0">
              <a:solidFill>
                <a:schemeClr val="tx2"/>
              </a:solidFill>
            </a:endParaRPr>
          </a:p>
        </p:txBody>
      </p:sp>
      <p:sp>
        <p:nvSpPr>
          <p:cNvPr id="19" name="TextBox 18">
            <a:extLst>
              <a:ext uri="{FF2B5EF4-FFF2-40B4-BE49-F238E27FC236}">
                <a16:creationId xmlns:a16="http://schemas.microsoft.com/office/drawing/2014/main" id="{BF57E99B-405D-A334-0CF1-57851A631C94}"/>
              </a:ext>
            </a:extLst>
          </p:cNvPr>
          <p:cNvSpPr txBox="1"/>
          <p:nvPr/>
        </p:nvSpPr>
        <p:spPr>
          <a:xfrm>
            <a:off x="208464" y="2123416"/>
            <a:ext cx="7068312" cy="400110"/>
          </a:xfrm>
          <a:prstGeom prst="rect">
            <a:avLst/>
          </a:prstGeom>
          <a:noFill/>
        </p:spPr>
        <p:txBody>
          <a:bodyPr wrap="square">
            <a:spAutoFit/>
          </a:bodyPr>
          <a:lstStyle/>
          <a:p>
            <a:r>
              <a:rPr lang="en-US" sz="2000" b="1" dirty="0">
                <a:solidFill>
                  <a:schemeClr val="tx2"/>
                </a:solidFill>
              </a:rPr>
              <a:t>Method: </a:t>
            </a:r>
            <a:endParaRPr lang="en-IE" sz="2000" b="1" dirty="0">
              <a:solidFill>
                <a:schemeClr val="tx2"/>
              </a:solidFill>
            </a:endParaRPr>
          </a:p>
        </p:txBody>
      </p:sp>
      <p:sp>
        <p:nvSpPr>
          <p:cNvPr id="20" name="TextBox 19">
            <a:extLst>
              <a:ext uri="{FF2B5EF4-FFF2-40B4-BE49-F238E27FC236}">
                <a16:creationId xmlns:a16="http://schemas.microsoft.com/office/drawing/2014/main" id="{B761A43E-F153-7548-A0D8-DFFD82597EC4}"/>
              </a:ext>
            </a:extLst>
          </p:cNvPr>
          <p:cNvSpPr txBox="1"/>
          <p:nvPr/>
        </p:nvSpPr>
        <p:spPr>
          <a:xfrm>
            <a:off x="166087" y="3857481"/>
            <a:ext cx="7068312" cy="400110"/>
          </a:xfrm>
          <a:prstGeom prst="rect">
            <a:avLst/>
          </a:prstGeom>
          <a:noFill/>
        </p:spPr>
        <p:txBody>
          <a:bodyPr wrap="square">
            <a:spAutoFit/>
          </a:bodyPr>
          <a:lstStyle/>
          <a:p>
            <a:r>
              <a:rPr lang="en-US" sz="2000" b="1" dirty="0">
                <a:solidFill>
                  <a:schemeClr val="tx2"/>
                </a:solidFill>
              </a:rPr>
              <a:t>Results: </a:t>
            </a:r>
            <a:endParaRPr lang="en-IE" sz="2000" b="1" dirty="0">
              <a:solidFill>
                <a:schemeClr val="tx2"/>
              </a:solidFill>
            </a:endParaRPr>
          </a:p>
        </p:txBody>
      </p:sp>
      <p:sp>
        <p:nvSpPr>
          <p:cNvPr id="21" name="TextBox 20">
            <a:extLst>
              <a:ext uri="{FF2B5EF4-FFF2-40B4-BE49-F238E27FC236}">
                <a16:creationId xmlns:a16="http://schemas.microsoft.com/office/drawing/2014/main" id="{84D101D7-AAB6-0585-4D30-C66523C8F0CA}"/>
              </a:ext>
            </a:extLst>
          </p:cNvPr>
          <p:cNvSpPr txBox="1"/>
          <p:nvPr/>
        </p:nvSpPr>
        <p:spPr>
          <a:xfrm>
            <a:off x="166087" y="5189814"/>
            <a:ext cx="7068312" cy="400110"/>
          </a:xfrm>
          <a:prstGeom prst="rect">
            <a:avLst/>
          </a:prstGeom>
          <a:noFill/>
        </p:spPr>
        <p:txBody>
          <a:bodyPr wrap="square">
            <a:spAutoFit/>
          </a:bodyPr>
          <a:lstStyle/>
          <a:p>
            <a:r>
              <a:rPr lang="en-US" sz="2000" b="1" dirty="0">
                <a:solidFill>
                  <a:schemeClr val="tx2"/>
                </a:solidFill>
              </a:rPr>
              <a:t>Limitations: </a:t>
            </a:r>
            <a:endParaRPr lang="en-IE" sz="2000" b="1" dirty="0">
              <a:solidFill>
                <a:schemeClr val="tx2"/>
              </a:solidFill>
            </a:endParaRPr>
          </a:p>
        </p:txBody>
      </p:sp>
      <p:pic>
        <p:nvPicPr>
          <p:cNvPr id="5" name="Picture 4">
            <a:extLst>
              <a:ext uri="{FF2B5EF4-FFF2-40B4-BE49-F238E27FC236}">
                <a16:creationId xmlns:a16="http://schemas.microsoft.com/office/drawing/2014/main" id="{C94FC3D1-87F2-FF30-3C89-F961C56B263B}"/>
              </a:ext>
            </a:extLst>
          </p:cNvPr>
          <p:cNvPicPr>
            <a:picLocks noChangeAspect="1"/>
          </p:cNvPicPr>
          <p:nvPr/>
        </p:nvPicPr>
        <p:blipFill>
          <a:blip r:embed="rId3"/>
          <a:stretch>
            <a:fillRect/>
          </a:stretch>
        </p:blipFill>
        <p:spPr>
          <a:xfrm>
            <a:off x="8302752" y="898668"/>
            <a:ext cx="3581887" cy="2187695"/>
          </a:xfrm>
          <a:prstGeom prst="rect">
            <a:avLst/>
          </a:prstGeom>
        </p:spPr>
      </p:pic>
      <p:pic>
        <p:nvPicPr>
          <p:cNvPr id="12" name="Picture 11">
            <a:extLst>
              <a:ext uri="{FF2B5EF4-FFF2-40B4-BE49-F238E27FC236}">
                <a16:creationId xmlns:a16="http://schemas.microsoft.com/office/drawing/2014/main" id="{8D01C999-57C0-3CB5-24FB-BF69F51DE216}"/>
              </a:ext>
            </a:extLst>
          </p:cNvPr>
          <p:cNvPicPr>
            <a:picLocks noChangeAspect="1"/>
          </p:cNvPicPr>
          <p:nvPr/>
        </p:nvPicPr>
        <p:blipFill>
          <a:blip r:embed="rId4"/>
          <a:stretch>
            <a:fillRect/>
          </a:stretch>
        </p:blipFill>
        <p:spPr>
          <a:xfrm>
            <a:off x="7890241" y="3188255"/>
            <a:ext cx="3795791" cy="1591283"/>
          </a:xfrm>
          <a:prstGeom prst="rect">
            <a:avLst/>
          </a:prstGeom>
        </p:spPr>
      </p:pic>
      <p:pic>
        <p:nvPicPr>
          <p:cNvPr id="15" name="Picture 14">
            <a:extLst>
              <a:ext uri="{FF2B5EF4-FFF2-40B4-BE49-F238E27FC236}">
                <a16:creationId xmlns:a16="http://schemas.microsoft.com/office/drawing/2014/main" id="{B1AE2CC8-58B6-E677-A42E-B36CD009A178}"/>
              </a:ext>
            </a:extLst>
          </p:cNvPr>
          <p:cNvPicPr>
            <a:picLocks noChangeAspect="1"/>
          </p:cNvPicPr>
          <p:nvPr/>
        </p:nvPicPr>
        <p:blipFill>
          <a:blip r:embed="rId5"/>
          <a:stretch>
            <a:fillRect/>
          </a:stretch>
        </p:blipFill>
        <p:spPr>
          <a:xfrm>
            <a:off x="7730043" y="5015141"/>
            <a:ext cx="4283611" cy="1576166"/>
          </a:xfrm>
          <a:prstGeom prst="rect">
            <a:avLst/>
          </a:prstGeom>
        </p:spPr>
      </p:pic>
    </p:spTree>
    <p:extLst>
      <p:ext uri="{BB962C8B-B14F-4D97-AF65-F5344CB8AC3E}">
        <p14:creationId xmlns:p14="http://schemas.microsoft.com/office/powerpoint/2010/main" val="35620253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4C0BD30-5AB1-6E93-BA09-355235BE2D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D43AE12-8246-7525-ABF8-665C3CA1F37A}"/>
              </a:ext>
            </a:extLst>
          </p:cNvPr>
          <p:cNvSpPr>
            <a:spLocks noGrp="1"/>
          </p:cNvSpPr>
          <p:nvPr>
            <p:ph type="title"/>
          </p:nvPr>
        </p:nvSpPr>
        <p:spPr>
          <a:xfrm>
            <a:off x="208464" y="1291149"/>
            <a:ext cx="6100896" cy="787314"/>
          </a:xfrm>
        </p:spPr>
        <p:txBody>
          <a:bodyPr>
            <a:normAutofit/>
          </a:bodyPr>
          <a:lstStyle/>
          <a:p>
            <a:r>
              <a:rPr lang="en-IE" sz="2000" dirty="0">
                <a:solidFill>
                  <a:schemeClr val="bg2">
                    <a:lumMod val="10000"/>
                  </a:schemeClr>
                </a:solidFill>
              </a:rPr>
              <a:t>Fluid fingertips </a:t>
            </a:r>
            <a:r>
              <a:rPr lang="en-IE" sz="2000" dirty="0" err="1">
                <a:solidFill>
                  <a:schemeClr val="bg2">
                    <a:lumMod val="10000"/>
                  </a:schemeClr>
                </a:solidFill>
              </a:rPr>
              <a:t>mold</a:t>
            </a:r>
            <a:r>
              <a:rPr lang="en-IE" sz="2000" dirty="0">
                <a:solidFill>
                  <a:schemeClr val="bg2">
                    <a:lumMod val="10000"/>
                  </a:schemeClr>
                </a:solidFill>
              </a:rPr>
              <a:t> well but fail at pinching flat paper.</a:t>
            </a:r>
          </a:p>
        </p:txBody>
      </p:sp>
      <p:sp>
        <p:nvSpPr>
          <p:cNvPr id="4" name="Title 1">
            <a:extLst>
              <a:ext uri="{FF2B5EF4-FFF2-40B4-BE49-F238E27FC236}">
                <a16:creationId xmlns:a16="http://schemas.microsoft.com/office/drawing/2014/main" id="{FFB9F52D-B5EA-46E5-9F0D-458A78CBC6FA}"/>
              </a:ext>
            </a:extLst>
          </p:cNvPr>
          <p:cNvSpPr txBox="1">
            <a:spLocks/>
          </p:cNvSpPr>
          <p:nvPr/>
        </p:nvSpPr>
        <p:spPr>
          <a:xfrm>
            <a:off x="145200" y="111354"/>
            <a:ext cx="9064390" cy="787314"/>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400" b="1" kern="1200">
                <a:solidFill>
                  <a:schemeClr val="bg1"/>
                </a:solidFill>
                <a:latin typeface="+mn-lt"/>
                <a:ea typeface="+mj-ea"/>
                <a:cs typeface="+mj-cs"/>
              </a:defRPr>
            </a:lvl1pPr>
          </a:lstStyle>
          <a:p>
            <a:r>
              <a:rPr lang="en-US" b="0" dirty="0">
                <a:solidFill>
                  <a:srgbClr val="002060"/>
                </a:solidFill>
              </a:rPr>
              <a:t>Literature : Ratchet</a:t>
            </a:r>
          </a:p>
        </p:txBody>
      </p:sp>
      <p:sp>
        <p:nvSpPr>
          <p:cNvPr id="7" name="Title 1">
            <a:extLst>
              <a:ext uri="{FF2B5EF4-FFF2-40B4-BE49-F238E27FC236}">
                <a16:creationId xmlns:a16="http://schemas.microsoft.com/office/drawing/2014/main" id="{0AD4C94E-97A3-C669-19AB-87623EAC184A}"/>
              </a:ext>
            </a:extLst>
          </p:cNvPr>
          <p:cNvSpPr txBox="1">
            <a:spLocks/>
          </p:cNvSpPr>
          <p:nvPr/>
        </p:nvSpPr>
        <p:spPr>
          <a:xfrm>
            <a:off x="199870" y="2489532"/>
            <a:ext cx="5896130" cy="787314"/>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3400" b="1" kern="1200">
                <a:solidFill>
                  <a:schemeClr val="bg1"/>
                </a:solidFill>
                <a:latin typeface="+mn-lt"/>
                <a:ea typeface="+mj-ea"/>
                <a:cs typeface="+mj-cs"/>
              </a:defRPr>
            </a:lvl1pPr>
          </a:lstStyle>
          <a:p>
            <a:r>
              <a:rPr lang="en-IE" sz="2000" dirty="0">
                <a:solidFill>
                  <a:schemeClr val="bg2">
                    <a:lumMod val="10000"/>
                  </a:schemeClr>
                </a:solidFill>
              </a:rPr>
              <a:t>Pincers with nails + soft cushions. Pressing against the table triggers a small ratchet that switches the grip mode (pinch vs wrap).</a:t>
            </a:r>
            <a:endParaRPr lang="en-US" sz="2000" b="0" dirty="0">
              <a:solidFill>
                <a:schemeClr val="bg2">
                  <a:lumMod val="10000"/>
                </a:schemeClr>
              </a:solidFill>
            </a:endParaRPr>
          </a:p>
        </p:txBody>
      </p:sp>
      <p:sp>
        <p:nvSpPr>
          <p:cNvPr id="9" name="Title 1">
            <a:extLst>
              <a:ext uri="{FF2B5EF4-FFF2-40B4-BE49-F238E27FC236}">
                <a16:creationId xmlns:a16="http://schemas.microsoft.com/office/drawing/2014/main" id="{4285AB6D-591A-F68E-5CC7-C906FB45C478}"/>
              </a:ext>
            </a:extLst>
          </p:cNvPr>
          <p:cNvSpPr txBox="1">
            <a:spLocks/>
          </p:cNvSpPr>
          <p:nvPr/>
        </p:nvSpPr>
        <p:spPr>
          <a:xfrm>
            <a:off x="145200" y="4290950"/>
            <a:ext cx="5937408" cy="787314"/>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400" b="1" kern="1200">
                <a:solidFill>
                  <a:schemeClr val="bg1"/>
                </a:solidFill>
                <a:latin typeface="+mn-lt"/>
                <a:ea typeface="+mj-ea"/>
                <a:cs typeface="+mj-cs"/>
              </a:defRPr>
            </a:lvl1pPr>
          </a:lstStyle>
          <a:p>
            <a:r>
              <a:rPr lang="en-IE" sz="2000" dirty="0">
                <a:solidFill>
                  <a:schemeClr val="bg2">
                    <a:lumMod val="10000"/>
                  </a:schemeClr>
                </a:solidFill>
              </a:rPr>
              <a:t>1 motor can grab soft tofu, 3 kg of steel, or a 0.5 mm sheet of paper.</a:t>
            </a:r>
            <a:endParaRPr lang="en-US" sz="2000" b="0" dirty="0">
              <a:solidFill>
                <a:schemeClr val="bg2">
                  <a:lumMod val="10000"/>
                </a:schemeClr>
              </a:solidFill>
            </a:endParaRPr>
          </a:p>
        </p:txBody>
      </p:sp>
      <p:sp>
        <p:nvSpPr>
          <p:cNvPr id="10" name="Title 1">
            <a:extLst>
              <a:ext uri="{FF2B5EF4-FFF2-40B4-BE49-F238E27FC236}">
                <a16:creationId xmlns:a16="http://schemas.microsoft.com/office/drawing/2014/main" id="{7BF95C96-9868-C6D7-F19D-D4FF0D969928}"/>
              </a:ext>
            </a:extLst>
          </p:cNvPr>
          <p:cNvSpPr txBox="1">
            <a:spLocks/>
          </p:cNvSpPr>
          <p:nvPr/>
        </p:nvSpPr>
        <p:spPr>
          <a:xfrm>
            <a:off x="166087" y="5579650"/>
            <a:ext cx="5929913" cy="787314"/>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3400" b="1" kern="1200">
                <a:solidFill>
                  <a:schemeClr val="bg1"/>
                </a:solidFill>
                <a:latin typeface="+mn-lt"/>
                <a:ea typeface="+mj-ea"/>
                <a:cs typeface="+mj-cs"/>
              </a:defRPr>
            </a:lvl1pPr>
          </a:lstStyle>
          <a:p>
            <a:r>
              <a:rPr lang="en-IE" sz="2000" dirty="0">
                <a:solidFill>
                  <a:schemeClr val="bg2">
                    <a:lumMod val="10000"/>
                  </a:schemeClr>
                </a:solidFill>
              </a:rPr>
              <a:t>The 3-tooth ratchet has too much bounce. Leaving the table slightly opens the gripper, requiring heavy software fixes to avoid dropping items.</a:t>
            </a:r>
            <a:endParaRPr lang="en-US" sz="2000" b="0" dirty="0">
              <a:solidFill>
                <a:schemeClr val="bg2">
                  <a:lumMod val="10000"/>
                </a:schemeClr>
              </a:solidFill>
            </a:endParaRPr>
          </a:p>
        </p:txBody>
      </p:sp>
      <p:sp>
        <p:nvSpPr>
          <p:cNvPr id="11" name="Title 1">
            <a:extLst>
              <a:ext uri="{FF2B5EF4-FFF2-40B4-BE49-F238E27FC236}">
                <a16:creationId xmlns:a16="http://schemas.microsoft.com/office/drawing/2014/main" id="{1A2CF8BA-0C8C-2FF0-A1A6-0B1B78E897E2}"/>
              </a:ext>
            </a:extLst>
          </p:cNvPr>
          <p:cNvSpPr txBox="1">
            <a:spLocks/>
          </p:cNvSpPr>
          <p:nvPr/>
        </p:nvSpPr>
        <p:spPr>
          <a:xfrm>
            <a:off x="5043336" y="218044"/>
            <a:ext cx="6888136" cy="787314"/>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3400" b="1" kern="1200">
                <a:solidFill>
                  <a:schemeClr val="bg1"/>
                </a:solidFill>
                <a:latin typeface="+mn-lt"/>
                <a:ea typeface="+mj-ea"/>
                <a:cs typeface="+mj-cs"/>
              </a:defRPr>
            </a:lvl1pPr>
          </a:lstStyle>
          <a:p>
            <a:r>
              <a:rPr lang="en-IE" sz="1600" dirty="0">
                <a:solidFill>
                  <a:schemeClr val="bg2">
                    <a:lumMod val="10000"/>
                  </a:schemeClr>
                </a:solidFill>
              </a:rPr>
              <a:t>Variable-Grasping-Mode Underactuated Soft Gripper With Environmental Contact-Based Operation</a:t>
            </a:r>
          </a:p>
          <a:p>
            <a:r>
              <a:rPr lang="en-IE" sz="1600" dirty="0">
                <a:solidFill>
                  <a:schemeClr val="bg2">
                    <a:lumMod val="10000"/>
                  </a:schemeClr>
                </a:solidFill>
              </a:rPr>
              <a:t>Toshihiro Nishimura Kaori Mizushima, Yosuke Suzuki, Tokuo Tsuji</a:t>
            </a:r>
            <a:endParaRPr lang="en-IE" sz="1600" b="0" dirty="0">
              <a:solidFill>
                <a:schemeClr val="bg2">
                  <a:lumMod val="10000"/>
                </a:schemeClr>
              </a:solidFill>
              <a:hlinkClick r:id="rId2">
                <a:extLst>
                  <a:ext uri="{A12FA001-AC4F-418D-AE19-62706E023703}">
                    <ahyp:hlinkClr xmlns:ahyp="http://schemas.microsoft.com/office/drawing/2018/hyperlinkcolor" val="tx"/>
                  </a:ext>
                </a:extLst>
              </a:hlinkClick>
            </a:endParaRPr>
          </a:p>
        </p:txBody>
      </p:sp>
      <p:sp>
        <p:nvSpPr>
          <p:cNvPr id="18" name="TextBox 17">
            <a:extLst>
              <a:ext uri="{FF2B5EF4-FFF2-40B4-BE49-F238E27FC236}">
                <a16:creationId xmlns:a16="http://schemas.microsoft.com/office/drawing/2014/main" id="{883ECE20-2C58-BF3F-7708-ACB8FEA642D9}"/>
              </a:ext>
            </a:extLst>
          </p:cNvPr>
          <p:cNvSpPr txBox="1"/>
          <p:nvPr/>
        </p:nvSpPr>
        <p:spPr>
          <a:xfrm>
            <a:off x="260528" y="856624"/>
            <a:ext cx="7068312" cy="400110"/>
          </a:xfrm>
          <a:prstGeom prst="rect">
            <a:avLst/>
          </a:prstGeom>
          <a:noFill/>
        </p:spPr>
        <p:txBody>
          <a:bodyPr wrap="square">
            <a:spAutoFit/>
          </a:bodyPr>
          <a:lstStyle/>
          <a:p>
            <a:r>
              <a:rPr lang="en-US" sz="2000" b="1" dirty="0">
                <a:solidFill>
                  <a:schemeClr val="tx2"/>
                </a:solidFill>
              </a:rPr>
              <a:t>Question/Gap: </a:t>
            </a:r>
            <a:endParaRPr lang="en-IE" sz="2000" b="1" dirty="0">
              <a:solidFill>
                <a:schemeClr val="tx2"/>
              </a:solidFill>
            </a:endParaRPr>
          </a:p>
        </p:txBody>
      </p:sp>
      <p:sp>
        <p:nvSpPr>
          <p:cNvPr id="19" name="TextBox 18">
            <a:extLst>
              <a:ext uri="{FF2B5EF4-FFF2-40B4-BE49-F238E27FC236}">
                <a16:creationId xmlns:a16="http://schemas.microsoft.com/office/drawing/2014/main" id="{1CF424FA-C4AB-3030-6542-B00BCD8BE8D8}"/>
              </a:ext>
            </a:extLst>
          </p:cNvPr>
          <p:cNvSpPr txBox="1"/>
          <p:nvPr/>
        </p:nvSpPr>
        <p:spPr>
          <a:xfrm>
            <a:off x="208464" y="2123416"/>
            <a:ext cx="7068312" cy="400110"/>
          </a:xfrm>
          <a:prstGeom prst="rect">
            <a:avLst/>
          </a:prstGeom>
          <a:noFill/>
        </p:spPr>
        <p:txBody>
          <a:bodyPr wrap="square">
            <a:spAutoFit/>
          </a:bodyPr>
          <a:lstStyle/>
          <a:p>
            <a:r>
              <a:rPr lang="en-US" sz="2000" b="1" dirty="0">
                <a:solidFill>
                  <a:schemeClr val="tx2"/>
                </a:solidFill>
              </a:rPr>
              <a:t>Method: </a:t>
            </a:r>
            <a:endParaRPr lang="en-IE" sz="2000" b="1" dirty="0">
              <a:solidFill>
                <a:schemeClr val="tx2"/>
              </a:solidFill>
            </a:endParaRPr>
          </a:p>
        </p:txBody>
      </p:sp>
      <p:sp>
        <p:nvSpPr>
          <p:cNvPr id="20" name="TextBox 19">
            <a:extLst>
              <a:ext uri="{FF2B5EF4-FFF2-40B4-BE49-F238E27FC236}">
                <a16:creationId xmlns:a16="http://schemas.microsoft.com/office/drawing/2014/main" id="{C39F88B3-0480-3DC6-A6AF-AF0397CDF857}"/>
              </a:ext>
            </a:extLst>
          </p:cNvPr>
          <p:cNvSpPr txBox="1"/>
          <p:nvPr/>
        </p:nvSpPr>
        <p:spPr>
          <a:xfrm>
            <a:off x="166087" y="3857481"/>
            <a:ext cx="7068312" cy="400110"/>
          </a:xfrm>
          <a:prstGeom prst="rect">
            <a:avLst/>
          </a:prstGeom>
          <a:noFill/>
        </p:spPr>
        <p:txBody>
          <a:bodyPr wrap="square">
            <a:spAutoFit/>
          </a:bodyPr>
          <a:lstStyle/>
          <a:p>
            <a:r>
              <a:rPr lang="en-US" sz="2000" b="1" dirty="0">
                <a:solidFill>
                  <a:schemeClr val="tx2"/>
                </a:solidFill>
              </a:rPr>
              <a:t>Results: </a:t>
            </a:r>
            <a:endParaRPr lang="en-IE" sz="2000" b="1" dirty="0">
              <a:solidFill>
                <a:schemeClr val="tx2"/>
              </a:solidFill>
            </a:endParaRPr>
          </a:p>
        </p:txBody>
      </p:sp>
      <p:sp>
        <p:nvSpPr>
          <p:cNvPr id="21" name="TextBox 20">
            <a:extLst>
              <a:ext uri="{FF2B5EF4-FFF2-40B4-BE49-F238E27FC236}">
                <a16:creationId xmlns:a16="http://schemas.microsoft.com/office/drawing/2014/main" id="{B3C261E1-B576-4D00-BB85-DD9BDB79DAD4}"/>
              </a:ext>
            </a:extLst>
          </p:cNvPr>
          <p:cNvSpPr txBox="1"/>
          <p:nvPr/>
        </p:nvSpPr>
        <p:spPr>
          <a:xfrm>
            <a:off x="145200" y="5135331"/>
            <a:ext cx="7068312" cy="400110"/>
          </a:xfrm>
          <a:prstGeom prst="rect">
            <a:avLst/>
          </a:prstGeom>
          <a:noFill/>
        </p:spPr>
        <p:txBody>
          <a:bodyPr wrap="square">
            <a:spAutoFit/>
          </a:bodyPr>
          <a:lstStyle/>
          <a:p>
            <a:r>
              <a:rPr lang="en-US" sz="2000" b="1" dirty="0">
                <a:solidFill>
                  <a:schemeClr val="tx2"/>
                </a:solidFill>
              </a:rPr>
              <a:t>Limitations: </a:t>
            </a:r>
            <a:endParaRPr lang="en-IE" sz="2000" b="1" dirty="0">
              <a:solidFill>
                <a:schemeClr val="tx2"/>
              </a:solidFill>
            </a:endParaRPr>
          </a:p>
        </p:txBody>
      </p:sp>
      <p:pic>
        <p:nvPicPr>
          <p:cNvPr id="5" name="Picture 4">
            <a:extLst>
              <a:ext uri="{FF2B5EF4-FFF2-40B4-BE49-F238E27FC236}">
                <a16:creationId xmlns:a16="http://schemas.microsoft.com/office/drawing/2014/main" id="{F53C6F95-6823-C289-A8CD-0D10ECC8D079}"/>
              </a:ext>
            </a:extLst>
          </p:cNvPr>
          <p:cNvPicPr>
            <a:picLocks noChangeAspect="1"/>
          </p:cNvPicPr>
          <p:nvPr/>
        </p:nvPicPr>
        <p:blipFill>
          <a:blip r:embed="rId3"/>
          <a:stretch>
            <a:fillRect/>
          </a:stretch>
        </p:blipFill>
        <p:spPr>
          <a:xfrm>
            <a:off x="6104594" y="1083438"/>
            <a:ext cx="3194161" cy="1683230"/>
          </a:xfrm>
          <a:prstGeom prst="rect">
            <a:avLst/>
          </a:prstGeom>
        </p:spPr>
      </p:pic>
      <p:pic>
        <p:nvPicPr>
          <p:cNvPr id="8" name="Picture 7">
            <a:extLst>
              <a:ext uri="{FF2B5EF4-FFF2-40B4-BE49-F238E27FC236}">
                <a16:creationId xmlns:a16="http://schemas.microsoft.com/office/drawing/2014/main" id="{6A0530E9-6AAA-09EA-3F58-3450D48F7510}"/>
              </a:ext>
            </a:extLst>
          </p:cNvPr>
          <p:cNvPicPr>
            <a:picLocks noChangeAspect="1"/>
          </p:cNvPicPr>
          <p:nvPr/>
        </p:nvPicPr>
        <p:blipFill>
          <a:blip r:embed="rId4"/>
          <a:srcRect l="11265" r="5668"/>
          <a:stretch>
            <a:fillRect/>
          </a:stretch>
        </p:blipFill>
        <p:spPr>
          <a:xfrm>
            <a:off x="7043069" y="2653729"/>
            <a:ext cx="3996557" cy="2277681"/>
          </a:xfrm>
          <a:prstGeom prst="rect">
            <a:avLst/>
          </a:prstGeom>
        </p:spPr>
      </p:pic>
      <p:pic>
        <p:nvPicPr>
          <p:cNvPr id="13" name="Picture 12">
            <a:extLst>
              <a:ext uri="{FF2B5EF4-FFF2-40B4-BE49-F238E27FC236}">
                <a16:creationId xmlns:a16="http://schemas.microsoft.com/office/drawing/2014/main" id="{16C2B18E-D947-FA54-5AB9-4DF17A9D53C9}"/>
              </a:ext>
            </a:extLst>
          </p:cNvPr>
          <p:cNvPicPr>
            <a:picLocks noChangeAspect="1"/>
          </p:cNvPicPr>
          <p:nvPr/>
        </p:nvPicPr>
        <p:blipFill>
          <a:blip r:embed="rId5"/>
          <a:stretch>
            <a:fillRect/>
          </a:stretch>
        </p:blipFill>
        <p:spPr>
          <a:xfrm>
            <a:off x="6901594" y="4835355"/>
            <a:ext cx="4444120" cy="2022645"/>
          </a:xfrm>
          <a:prstGeom prst="rect">
            <a:avLst/>
          </a:prstGeom>
        </p:spPr>
      </p:pic>
      <p:pic>
        <p:nvPicPr>
          <p:cNvPr id="15" name="Picture 14">
            <a:extLst>
              <a:ext uri="{FF2B5EF4-FFF2-40B4-BE49-F238E27FC236}">
                <a16:creationId xmlns:a16="http://schemas.microsoft.com/office/drawing/2014/main" id="{A595FB72-77AE-9764-3C6E-3114BCB83114}"/>
              </a:ext>
            </a:extLst>
          </p:cNvPr>
          <p:cNvPicPr>
            <a:picLocks noChangeAspect="1"/>
          </p:cNvPicPr>
          <p:nvPr/>
        </p:nvPicPr>
        <p:blipFill>
          <a:blip r:embed="rId6"/>
          <a:srcRect l="20737" r="20565" b="29656"/>
          <a:stretch>
            <a:fillRect/>
          </a:stretch>
        </p:blipFill>
        <p:spPr>
          <a:xfrm>
            <a:off x="9274633" y="1400993"/>
            <a:ext cx="2917367" cy="1215584"/>
          </a:xfrm>
          <a:prstGeom prst="rect">
            <a:avLst/>
          </a:prstGeom>
        </p:spPr>
      </p:pic>
    </p:spTree>
    <p:extLst>
      <p:ext uri="{BB962C8B-B14F-4D97-AF65-F5344CB8AC3E}">
        <p14:creationId xmlns:p14="http://schemas.microsoft.com/office/powerpoint/2010/main" val="32026745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6A18131-93B6-D336-23CA-017C88A5A3F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76ABEC2-6B54-0848-293A-7BABD3551D8A}"/>
              </a:ext>
            </a:extLst>
          </p:cNvPr>
          <p:cNvSpPr>
            <a:spLocks noGrp="1"/>
          </p:cNvSpPr>
          <p:nvPr>
            <p:ph type="title"/>
          </p:nvPr>
        </p:nvSpPr>
        <p:spPr>
          <a:xfrm>
            <a:off x="1563805" y="3035343"/>
            <a:ext cx="9064390" cy="787314"/>
          </a:xfrm>
        </p:spPr>
        <p:txBody>
          <a:bodyPr>
            <a:normAutofit/>
          </a:bodyPr>
          <a:lstStyle/>
          <a:p>
            <a:pPr algn="ctr"/>
            <a:r>
              <a:rPr lang="en-US" sz="4800" dirty="0"/>
              <a:t>Literature Review</a:t>
            </a:r>
          </a:p>
        </p:txBody>
      </p:sp>
    </p:spTree>
    <p:extLst>
      <p:ext uri="{BB962C8B-B14F-4D97-AF65-F5344CB8AC3E}">
        <p14:creationId xmlns:p14="http://schemas.microsoft.com/office/powerpoint/2010/main" val="20830338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14802F3-CAA6-9F19-42F0-A94F52F5D3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1816686-36B0-24CB-99FA-336DD6F3F066}"/>
              </a:ext>
            </a:extLst>
          </p:cNvPr>
          <p:cNvSpPr>
            <a:spLocks noGrp="1"/>
          </p:cNvSpPr>
          <p:nvPr>
            <p:ph type="title"/>
          </p:nvPr>
        </p:nvSpPr>
        <p:spPr>
          <a:xfrm>
            <a:off x="208464" y="1291149"/>
            <a:ext cx="5241360" cy="787314"/>
          </a:xfrm>
        </p:spPr>
        <p:txBody>
          <a:bodyPr>
            <a:normAutofit/>
          </a:bodyPr>
          <a:lstStyle/>
          <a:p>
            <a:r>
              <a:rPr lang="en-IE" sz="2000" dirty="0">
                <a:solidFill>
                  <a:schemeClr val="bg2">
                    <a:lumMod val="10000"/>
                  </a:schemeClr>
                </a:solidFill>
              </a:rPr>
              <a:t>Rigid grippers fail at handling unknown shapes without heavy computing.</a:t>
            </a:r>
          </a:p>
        </p:txBody>
      </p:sp>
      <p:sp>
        <p:nvSpPr>
          <p:cNvPr id="4" name="Title 1">
            <a:extLst>
              <a:ext uri="{FF2B5EF4-FFF2-40B4-BE49-F238E27FC236}">
                <a16:creationId xmlns:a16="http://schemas.microsoft.com/office/drawing/2014/main" id="{3E022610-15A7-2CF6-1C97-59032F98B81A}"/>
              </a:ext>
            </a:extLst>
          </p:cNvPr>
          <p:cNvSpPr txBox="1">
            <a:spLocks/>
          </p:cNvSpPr>
          <p:nvPr/>
        </p:nvSpPr>
        <p:spPr>
          <a:xfrm>
            <a:off x="145200" y="111354"/>
            <a:ext cx="9064390" cy="787314"/>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400" b="1" kern="1200">
                <a:solidFill>
                  <a:schemeClr val="bg1"/>
                </a:solidFill>
                <a:latin typeface="+mn-lt"/>
                <a:ea typeface="+mj-ea"/>
                <a:cs typeface="+mj-cs"/>
              </a:defRPr>
            </a:lvl1pPr>
          </a:lstStyle>
          <a:p>
            <a:r>
              <a:rPr lang="en-US" b="0" dirty="0">
                <a:solidFill>
                  <a:srgbClr val="002060"/>
                </a:solidFill>
              </a:rPr>
              <a:t>Literature : Review</a:t>
            </a:r>
          </a:p>
        </p:txBody>
      </p:sp>
      <p:sp>
        <p:nvSpPr>
          <p:cNvPr id="7" name="Title 1">
            <a:extLst>
              <a:ext uri="{FF2B5EF4-FFF2-40B4-BE49-F238E27FC236}">
                <a16:creationId xmlns:a16="http://schemas.microsoft.com/office/drawing/2014/main" id="{1DB29AAD-702E-77D5-DC10-35725C197C64}"/>
              </a:ext>
            </a:extLst>
          </p:cNvPr>
          <p:cNvSpPr txBox="1">
            <a:spLocks/>
          </p:cNvSpPr>
          <p:nvPr/>
        </p:nvSpPr>
        <p:spPr>
          <a:xfrm>
            <a:off x="199870" y="2489532"/>
            <a:ext cx="5423690" cy="787314"/>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3400" b="1" kern="1200">
                <a:solidFill>
                  <a:schemeClr val="bg1"/>
                </a:solidFill>
                <a:latin typeface="+mn-lt"/>
                <a:ea typeface="+mj-ea"/>
                <a:cs typeface="+mj-cs"/>
              </a:defRPr>
            </a:lvl1pPr>
          </a:lstStyle>
          <a:p>
            <a:r>
              <a:rPr lang="en-IE" sz="2000" dirty="0">
                <a:solidFill>
                  <a:schemeClr val="bg2">
                    <a:lumMod val="10000"/>
                  </a:schemeClr>
                </a:solidFill>
              </a:rPr>
              <a:t>Global review classifying actuation, variable stiffness, and adhesion.</a:t>
            </a:r>
            <a:endParaRPr lang="en-US" sz="2000" b="0" dirty="0">
              <a:solidFill>
                <a:schemeClr val="bg2">
                  <a:lumMod val="10000"/>
                </a:schemeClr>
              </a:solidFill>
            </a:endParaRPr>
          </a:p>
        </p:txBody>
      </p:sp>
      <p:sp>
        <p:nvSpPr>
          <p:cNvPr id="9" name="Title 1">
            <a:extLst>
              <a:ext uri="{FF2B5EF4-FFF2-40B4-BE49-F238E27FC236}">
                <a16:creationId xmlns:a16="http://schemas.microsoft.com/office/drawing/2014/main" id="{99010864-054A-784D-3EAC-6EF68E4793F1}"/>
              </a:ext>
            </a:extLst>
          </p:cNvPr>
          <p:cNvSpPr txBox="1">
            <a:spLocks/>
          </p:cNvSpPr>
          <p:nvPr/>
        </p:nvSpPr>
        <p:spPr>
          <a:xfrm>
            <a:off x="225648" y="4298887"/>
            <a:ext cx="5141880" cy="787314"/>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400" b="1" kern="1200">
                <a:solidFill>
                  <a:schemeClr val="bg1"/>
                </a:solidFill>
                <a:latin typeface="+mn-lt"/>
                <a:ea typeface="+mj-ea"/>
                <a:cs typeface="+mj-cs"/>
              </a:defRPr>
            </a:lvl1pPr>
          </a:lstStyle>
          <a:p>
            <a:r>
              <a:rPr lang="en-IE" sz="2000" dirty="0">
                <a:solidFill>
                  <a:schemeClr val="bg2">
                    <a:lumMod val="10000"/>
                  </a:schemeClr>
                </a:solidFill>
              </a:rPr>
              <a:t>Proves that integrating stretchable sensors is the future of the field.</a:t>
            </a:r>
            <a:endParaRPr lang="en-US" sz="2000" b="0" dirty="0">
              <a:solidFill>
                <a:schemeClr val="bg2">
                  <a:lumMod val="10000"/>
                </a:schemeClr>
              </a:solidFill>
            </a:endParaRPr>
          </a:p>
        </p:txBody>
      </p:sp>
      <p:sp>
        <p:nvSpPr>
          <p:cNvPr id="10" name="Title 1">
            <a:extLst>
              <a:ext uri="{FF2B5EF4-FFF2-40B4-BE49-F238E27FC236}">
                <a16:creationId xmlns:a16="http://schemas.microsoft.com/office/drawing/2014/main" id="{DEB7094A-6C41-020F-E9CB-5A8FF84CE30A}"/>
              </a:ext>
            </a:extLst>
          </p:cNvPr>
          <p:cNvSpPr txBox="1">
            <a:spLocks/>
          </p:cNvSpPr>
          <p:nvPr/>
        </p:nvSpPr>
        <p:spPr>
          <a:xfrm>
            <a:off x="166087" y="5579650"/>
            <a:ext cx="5695217" cy="787314"/>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400" b="1" kern="1200">
                <a:solidFill>
                  <a:schemeClr val="bg1"/>
                </a:solidFill>
                <a:latin typeface="+mn-lt"/>
                <a:ea typeface="+mj-ea"/>
                <a:cs typeface="+mj-cs"/>
              </a:defRPr>
            </a:lvl1pPr>
          </a:lstStyle>
          <a:p>
            <a:r>
              <a:rPr lang="en-IE" sz="2000" dirty="0">
                <a:solidFill>
                  <a:schemeClr val="bg2">
                    <a:lumMod val="10000"/>
                  </a:schemeClr>
                </a:solidFill>
              </a:rPr>
              <a:t>Huge challenges remain in attaching these sensors robustly and improving actuation speed.</a:t>
            </a:r>
            <a:endParaRPr lang="en-US" sz="2000" b="0" dirty="0">
              <a:solidFill>
                <a:schemeClr val="bg2">
                  <a:lumMod val="10000"/>
                </a:schemeClr>
              </a:solidFill>
            </a:endParaRPr>
          </a:p>
        </p:txBody>
      </p:sp>
      <p:sp>
        <p:nvSpPr>
          <p:cNvPr id="11" name="Title 1">
            <a:extLst>
              <a:ext uri="{FF2B5EF4-FFF2-40B4-BE49-F238E27FC236}">
                <a16:creationId xmlns:a16="http://schemas.microsoft.com/office/drawing/2014/main" id="{A69CA056-CFF5-E175-FDF4-D5BD711EE776}"/>
              </a:ext>
            </a:extLst>
          </p:cNvPr>
          <p:cNvSpPr txBox="1">
            <a:spLocks/>
          </p:cNvSpPr>
          <p:nvPr/>
        </p:nvSpPr>
        <p:spPr>
          <a:xfrm>
            <a:off x="5043336" y="218044"/>
            <a:ext cx="6888136" cy="787314"/>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3400" b="1" kern="1200">
                <a:solidFill>
                  <a:schemeClr val="bg1"/>
                </a:solidFill>
                <a:latin typeface="+mn-lt"/>
                <a:ea typeface="+mj-ea"/>
                <a:cs typeface="+mj-cs"/>
              </a:defRPr>
            </a:lvl1pPr>
          </a:lstStyle>
          <a:p>
            <a:r>
              <a:rPr lang="en-IE" sz="1600" dirty="0">
                <a:solidFill>
                  <a:schemeClr val="bg2">
                    <a:lumMod val="10000"/>
                  </a:schemeClr>
                </a:solidFill>
              </a:rPr>
              <a:t>Soft Robotic Grippers</a:t>
            </a:r>
          </a:p>
          <a:p>
            <a:r>
              <a:rPr lang="en-IE" sz="1600" dirty="0">
                <a:solidFill>
                  <a:schemeClr val="bg2">
                    <a:lumMod val="10000"/>
                  </a:schemeClr>
                </a:solidFill>
              </a:rPr>
              <a:t>Jun </a:t>
            </a:r>
            <a:r>
              <a:rPr lang="en-IE" sz="1600" dirty="0" err="1">
                <a:solidFill>
                  <a:schemeClr val="bg2">
                    <a:lumMod val="10000"/>
                  </a:schemeClr>
                </a:solidFill>
              </a:rPr>
              <a:t>Shintake</a:t>
            </a:r>
            <a:r>
              <a:rPr lang="en-IE" sz="1600" dirty="0">
                <a:solidFill>
                  <a:schemeClr val="bg2">
                    <a:lumMod val="10000"/>
                  </a:schemeClr>
                </a:solidFill>
              </a:rPr>
              <a:t>, Vito </a:t>
            </a:r>
            <a:r>
              <a:rPr lang="en-IE" sz="1600" dirty="0" err="1">
                <a:solidFill>
                  <a:schemeClr val="bg2">
                    <a:lumMod val="10000"/>
                  </a:schemeClr>
                </a:solidFill>
              </a:rPr>
              <a:t>Cacucciolo</a:t>
            </a:r>
            <a:r>
              <a:rPr lang="en-IE" sz="1600" dirty="0">
                <a:solidFill>
                  <a:schemeClr val="bg2">
                    <a:lumMod val="10000"/>
                  </a:schemeClr>
                </a:solidFill>
              </a:rPr>
              <a:t>, Dario Floreano, and Herbert Shea</a:t>
            </a:r>
            <a:endParaRPr lang="en-IE" sz="1600" b="0" dirty="0">
              <a:solidFill>
                <a:schemeClr val="bg2">
                  <a:lumMod val="10000"/>
                </a:schemeClr>
              </a:solidFill>
              <a:hlinkClick r:id="rId2">
                <a:extLst>
                  <a:ext uri="{A12FA001-AC4F-418D-AE19-62706E023703}">
                    <ahyp:hlinkClr xmlns:ahyp="http://schemas.microsoft.com/office/drawing/2018/hyperlinkcolor" val="tx"/>
                  </a:ext>
                </a:extLst>
              </a:hlinkClick>
            </a:endParaRPr>
          </a:p>
        </p:txBody>
      </p:sp>
      <p:sp>
        <p:nvSpPr>
          <p:cNvPr id="18" name="TextBox 17">
            <a:extLst>
              <a:ext uri="{FF2B5EF4-FFF2-40B4-BE49-F238E27FC236}">
                <a16:creationId xmlns:a16="http://schemas.microsoft.com/office/drawing/2014/main" id="{635F8CD8-485C-9429-91C2-67F39BA93601}"/>
              </a:ext>
            </a:extLst>
          </p:cNvPr>
          <p:cNvSpPr txBox="1"/>
          <p:nvPr/>
        </p:nvSpPr>
        <p:spPr>
          <a:xfrm>
            <a:off x="260528" y="856624"/>
            <a:ext cx="7068312" cy="400110"/>
          </a:xfrm>
          <a:prstGeom prst="rect">
            <a:avLst/>
          </a:prstGeom>
          <a:noFill/>
        </p:spPr>
        <p:txBody>
          <a:bodyPr wrap="square">
            <a:spAutoFit/>
          </a:bodyPr>
          <a:lstStyle/>
          <a:p>
            <a:r>
              <a:rPr lang="en-US" sz="2000" b="1" dirty="0">
                <a:solidFill>
                  <a:schemeClr val="tx2"/>
                </a:solidFill>
              </a:rPr>
              <a:t>Question/Gap: </a:t>
            </a:r>
            <a:endParaRPr lang="en-IE" sz="2000" b="1" dirty="0">
              <a:solidFill>
                <a:schemeClr val="tx2"/>
              </a:solidFill>
            </a:endParaRPr>
          </a:p>
        </p:txBody>
      </p:sp>
      <p:sp>
        <p:nvSpPr>
          <p:cNvPr id="19" name="TextBox 18">
            <a:extLst>
              <a:ext uri="{FF2B5EF4-FFF2-40B4-BE49-F238E27FC236}">
                <a16:creationId xmlns:a16="http://schemas.microsoft.com/office/drawing/2014/main" id="{85DD0A16-65F2-4A07-5D0A-A2D553D02BD1}"/>
              </a:ext>
            </a:extLst>
          </p:cNvPr>
          <p:cNvSpPr txBox="1"/>
          <p:nvPr/>
        </p:nvSpPr>
        <p:spPr>
          <a:xfrm>
            <a:off x="208464" y="2123416"/>
            <a:ext cx="7068312" cy="400110"/>
          </a:xfrm>
          <a:prstGeom prst="rect">
            <a:avLst/>
          </a:prstGeom>
          <a:noFill/>
        </p:spPr>
        <p:txBody>
          <a:bodyPr wrap="square">
            <a:spAutoFit/>
          </a:bodyPr>
          <a:lstStyle/>
          <a:p>
            <a:r>
              <a:rPr lang="en-US" sz="2000" b="1" dirty="0">
                <a:solidFill>
                  <a:schemeClr val="tx2"/>
                </a:solidFill>
              </a:rPr>
              <a:t>Method: </a:t>
            </a:r>
            <a:endParaRPr lang="en-IE" sz="2000" b="1" dirty="0">
              <a:solidFill>
                <a:schemeClr val="tx2"/>
              </a:solidFill>
            </a:endParaRPr>
          </a:p>
        </p:txBody>
      </p:sp>
      <p:sp>
        <p:nvSpPr>
          <p:cNvPr id="20" name="TextBox 19">
            <a:extLst>
              <a:ext uri="{FF2B5EF4-FFF2-40B4-BE49-F238E27FC236}">
                <a16:creationId xmlns:a16="http://schemas.microsoft.com/office/drawing/2014/main" id="{1813593D-F3EC-E6BD-9684-DB53C35F2031}"/>
              </a:ext>
            </a:extLst>
          </p:cNvPr>
          <p:cNvSpPr txBox="1"/>
          <p:nvPr/>
        </p:nvSpPr>
        <p:spPr>
          <a:xfrm>
            <a:off x="166087" y="3857481"/>
            <a:ext cx="7068312" cy="400110"/>
          </a:xfrm>
          <a:prstGeom prst="rect">
            <a:avLst/>
          </a:prstGeom>
          <a:noFill/>
        </p:spPr>
        <p:txBody>
          <a:bodyPr wrap="square">
            <a:spAutoFit/>
          </a:bodyPr>
          <a:lstStyle/>
          <a:p>
            <a:r>
              <a:rPr lang="en-US" sz="2000" b="1" dirty="0">
                <a:solidFill>
                  <a:schemeClr val="tx2"/>
                </a:solidFill>
              </a:rPr>
              <a:t>Results: </a:t>
            </a:r>
            <a:endParaRPr lang="en-IE" sz="2000" b="1" dirty="0">
              <a:solidFill>
                <a:schemeClr val="tx2"/>
              </a:solidFill>
            </a:endParaRPr>
          </a:p>
        </p:txBody>
      </p:sp>
      <p:sp>
        <p:nvSpPr>
          <p:cNvPr id="21" name="TextBox 20">
            <a:extLst>
              <a:ext uri="{FF2B5EF4-FFF2-40B4-BE49-F238E27FC236}">
                <a16:creationId xmlns:a16="http://schemas.microsoft.com/office/drawing/2014/main" id="{22396CA1-AE0A-1EF2-85C6-6161F55A7256}"/>
              </a:ext>
            </a:extLst>
          </p:cNvPr>
          <p:cNvSpPr txBox="1"/>
          <p:nvPr/>
        </p:nvSpPr>
        <p:spPr>
          <a:xfrm>
            <a:off x="145200" y="5179540"/>
            <a:ext cx="7068312" cy="400110"/>
          </a:xfrm>
          <a:prstGeom prst="rect">
            <a:avLst/>
          </a:prstGeom>
          <a:noFill/>
        </p:spPr>
        <p:txBody>
          <a:bodyPr wrap="square">
            <a:spAutoFit/>
          </a:bodyPr>
          <a:lstStyle/>
          <a:p>
            <a:r>
              <a:rPr lang="en-US" sz="2000" b="1" dirty="0">
                <a:solidFill>
                  <a:schemeClr val="tx2"/>
                </a:solidFill>
              </a:rPr>
              <a:t>Limitations: </a:t>
            </a:r>
            <a:endParaRPr lang="en-IE" sz="2000" b="1" dirty="0">
              <a:solidFill>
                <a:schemeClr val="tx2"/>
              </a:solidFill>
            </a:endParaRPr>
          </a:p>
        </p:txBody>
      </p:sp>
      <p:pic>
        <p:nvPicPr>
          <p:cNvPr id="6" name="Picture 5">
            <a:extLst>
              <a:ext uri="{FF2B5EF4-FFF2-40B4-BE49-F238E27FC236}">
                <a16:creationId xmlns:a16="http://schemas.microsoft.com/office/drawing/2014/main" id="{26E32084-0EBC-F455-D5B9-D94480046021}"/>
              </a:ext>
            </a:extLst>
          </p:cNvPr>
          <p:cNvPicPr>
            <a:picLocks noChangeAspect="1"/>
          </p:cNvPicPr>
          <p:nvPr/>
        </p:nvPicPr>
        <p:blipFill>
          <a:blip r:embed="rId3"/>
          <a:stretch>
            <a:fillRect/>
          </a:stretch>
        </p:blipFill>
        <p:spPr>
          <a:xfrm>
            <a:off x="7964273" y="793151"/>
            <a:ext cx="2606258" cy="2985101"/>
          </a:xfrm>
          <a:prstGeom prst="rect">
            <a:avLst/>
          </a:prstGeom>
        </p:spPr>
      </p:pic>
      <p:pic>
        <p:nvPicPr>
          <p:cNvPr id="14" name="Picture 13">
            <a:extLst>
              <a:ext uri="{FF2B5EF4-FFF2-40B4-BE49-F238E27FC236}">
                <a16:creationId xmlns:a16="http://schemas.microsoft.com/office/drawing/2014/main" id="{64B0CA7F-3D22-901A-2C42-37634D2810D6}"/>
              </a:ext>
            </a:extLst>
          </p:cNvPr>
          <p:cNvPicPr>
            <a:picLocks noChangeAspect="1"/>
          </p:cNvPicPr>
          <p:nvPr/>
        </p:nvPicPr>
        <p:blipFill>
          <a:blip r:embed="rId4"/>
          <a:stretch>
            <a:fillRect/>
          </a:stretch>
        </p:blipFill>
        <p:spPr>
          <a:xfrm>
            <a:off x="6330696" y="3620106"/>
            <a:ext cx="5201439" cy="3076407"/>
          </a:xfrm>
          <a:prstGeom prst="rect">
            <a:avLst/>
          </a:prstGeom>
        </p:spPr>
      </p:pic>
    </p:spTree>
    <p:extLst>
      <p:ext uri="{BB962C8B-B14F-4D97-AF65-F5344CB8AC3E}">
        <p14:creationId xmlns:p14="http://schemas.microsoft.com/office/powerpoint/2010/main" val="19429203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AF4C3F2-513D-2AB3-BF46-C372049419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0F0634A-04E4-0D5B-9F56-A77CCAFD1F57}"/>
              </a:ext>
            </a:extLst>
          </p:cNvPr>
          <p:cNvSpPr>
            <a:spLocks noGrp="1"/>
          </p:cNvSpPr>
          <p:nvPr>
            <p:ph type="title"/>
          </p:nvPr>
        </p:nvSpPr>
        <p:spPr>
          <a:xfrm>
            <a:off x="208464" y="1291149"/>
            <a:ext cx="4994472" cy="787314"/>
          </a:xfrm>
        </p:spPr>
        <p:txBody>
          <a:bodyPr>
            <a:normAutofit/>
          </a:bodyPr>
          <a:lstStyle/>
          <a:p>
            <a:r>
              <a:rPr lang="en-IE" sz="2000" dirty="0">
                <a:solidFill>
                  <a:schemeClr val="bg2">
                    <a:lumMod val="10000"/>
                  </a:schemeClr>
                </a:solidFill>
              </a:rPr>
              <a:t>A strictly inflatable finger will never work on all real-world textures.</a:t>
            </a:r>
          </a:p>
        </p:txBody>
      </p:sp>
      <p:sp>
        <p:nvSpPr>
          <p:cNvPr id="4" name="Title 1">
            <a:extLst>
              <a:ext uri="{FF2B5EF4-FFF2-40B4-BE49-F238E27FC236}">
                <a16:creationId xmlns:a16="http://schemas.microsoft.com/office/drawing/2014/main" id="{834A8371-1939-850A-B15B-B2292B0480FC}"/>
              </a:ext>
            </a:extLst>
          </p:cNvPr>
          <p:cNvSpPr txBox="1">
            <a:spLocks/>
          </p:cNvSpPr>
          <p:nvPr/>
        </p:nvSpPr>
        <p:spPr>
          <a:xfrm>
            <a:off x="145200" y="111354"/>
            <a:ext cx="9064390" cy="787314"/>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400" b="1" kern="1200">
                <a:solidFill>
                  <a:schemeClr val="bg1"/>
                </a:solidFill>
                <a:latin typeface="+mn-lt"/>
                <a:ea typeface="+mj-ea"/>
                <a:cs typeface="+mj-cs"/>
              </a:defRPr>
            </a:lvl1pPr>
          </a:lstStyle>
          <a:p>
            <a:r>
              <a:rPr lang="en-US" b="0" dirty="0">
                <a:solidFill>
                  <a:srgbClr val="002060"/>
                </a:solidFill>
              </a:rPr>
              <a:t>Literature : Review</a:t>
            </a:r>
          </a:p>
        </p:txBody>
      </p:sp>
      <p:sp>
        <p:nvSpPr>
          <p:cNvPr id="7" name="Title 1">
            <a:extLst>
              <a:ext uri="{FF2B5EF4-FFF2-40B4-BE49-F238E27FC236}">
                <a16:creationId xmlns:a16="http://schemas.microsoft.com/office/drawing/2014/main" id="{87D9F3DA-E07E-79C5-11FC-31CA87A1756A}"/>
              </a:ext>
            </a:extLst>
          </p:cNvPr>
          <p:cNvSpPr txBox="1">
            <a:spLocks/>
          </p:cNvSpPr>
          <p:nvPr/>
        </p:nvSpPr>
        <p:spPr>
          <a:xfrm>
            <a:off x="199870" y="2489532"/>
            <a:ext cx="5094506" cy="787314"/>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3400" b="1" kern="1200">
                <a:solidFill>
                  <a:schemeClr val="bg1"/>
                </a:solidFill>
                <a:latin typeface="+mn-lt"/>
                <a:ea typeface="+mj-ea"/>
                <a:cs typeface="+mj-cs"/>
              </a:defRPr>
            </a:lvl1pPr>
          </a:lstStyle>
          <a:p>
            <a:r>
              <a:rPr lang="en-IE" sz="2000" dirty="0">
                <a:solidFill>
                  <a:schemeClr val="bg2">
                    <a:lumMod val="10000"/>
                  </a:schemeClr>
                </a:solidFill>
              </a:rPr>
              <a:t>Review of systems mixing fluid, gecko, suction, etc. (Multimodal).</a:t>
            </a:r>
            <a:endParaRPr lang="en-US" sz="2000" b="0" dirty="0">
              <a:solidFill>
                <a:schemeClr val="bg2">
                  <a:lumMod val="10000"/>
                </a:schemeClr>
              </a:solidFill>
            </a:endParaRPr>
          </a:p>
        </p:txBody>
      </p:sp>
      <p:sp>
        <p:nvSpPr>
          <p:cNvPr id="9" name="Title 1">
            <a:extLst>
              <a:ext uri="{FF2B5EF4-FFF2-40B4-BE49-F238E27FC236}">
                <a16:creationId xmlns:a16="http://schemas.microsoft.com/office/drawing/2014/main" id="{BC4C9724-2848-96E6-73E7-96121A444A47}"/>
              </a:ext>
            </a:extLst>
          </p:cNvPr>
          <p:cNvSpPr txBox="1">
            <a:spLocks/>
          </p:cNvSpPr>
          <p:nvPr/>
        </p:nvSpPr>
        <p:spPr>
          <a:xfrm>
            <a:off x="145200" y="4257591"/>
            <a:ext cx="5279040" cy="787314"/>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400" b="1" kern="1200">
                <a:solidFill>
                  <a:schemeClr val="bg1"/>
                </a:solidFill>
                <a:latin typeface="+mn-lt"/>
                <a:ea typeface="+mj-ea"/>
                <a:cs typeface="+mj-cs"/>
              </a:defRPr>
            </a:lvl1pPr>
          </a:lstStyle>
          <a:p>
            <a:r>
              <a:rPr lang="en-IE" sz="2000" dirty="0">
                <a:solidFill>
                  <a:schemeClr val="bg2">
                    <a:lumMod val="10000"/>
                  </a:schemeClr>
                </a:solidFill>
              </a:rPr>
              <a:t>Identified as the only way to build a truly universal hand.</a:t>
            </a:r>
            <a:endParaRPr lang="en-US" sz="2000" b="0" dirty="0">
              <a:solidFill>
                <a:schemeClr val="bg2">
                  <a:lumMod val="10000"/>
                </a:schemeClr>
              </a:solidFill>
            </a:endParaRPr>
          </a:p>
        </p:txBody>
      </p:sp>
      <p:sp>
        <p:nvSpPr>
          <p:cNvPr id="10" name="Title 1">
            <a:extLst>
              <a:ext uri="{FF2B5EF4-FFF2-40B4-BE49-F238E27FC236}">
                <a16:creationId xmlns:a16="http://schemas.microsoft.com/office/drawing/2014/main" id="{26592AA6-7EC0-B888-CA92-6BE01A753A03}"/>
              </a:ext>
            </a:extLst>
          </p:cNvPr>
          <p:cNvSpPr txBox="1">
            <a:spLocks/>
          </p:cNvSpPr>
          <p:nvPr/>
        </p:nvSpPr>
        <p:spPr>
          <a:xfrm>
            <a:off x="145200" y="5496253"/>
            <a:ext cx="5770968" cy="787314"/>
          </a:xfrm>
          <a:prstGeom prst="rect">
            <a:avLst/>
          </a:prstGeom>
        </p:spPr>
        <p:txBody>
          <a:bodyPr vert="horz" lIns="91440" tIns="45720" rIns="91440" bIns="45720" rtlCol="0" anchor="t">
            <a:normAutofit fontScale="92500" lnSpcReduction="20000"/>
          </a:bodyPr>
          <a:lstStyle>
            <a:lvl1pPr algn="l" defTabSz="914400" rtl="0" eaLnBrk="1" latinLnBrk="0" hangingPunct="1">
              <a:lnSpc>
                <a:spcPct val="90000"/>
              </a:lnSpc>
              <a:spcBef>
                <a:spcPct val="0"/>
              </a:spcBef>
              <a:buNone/>
              <a:defRPr sz="3400" b="1" kern="1200">
                <a:solidFill>
                  <a:schemeClr val="bg1"/>
                </a:solidFill>
                <a:latin typeface="+mn-lt"/>
                <a:ea typeface="+mj-ea"/>
                <a:cs typeface="+mj-cs"/>
              </a:defRPr>
            </a:lvl1pPr>
          </a:lstStyle>
          <a:p>
            <a:r>
              <a:rPr lang="en-IE" sz="2000" dirty="0">
                <a:solidFill>
                  <a:schemeClr val="bg2">
                    <a:lumMod val="10000"/>
                  </a:schemeClr>
                </a:solidFill>
              </a:rPr>
              <a:t>Makes robots massive and heavy. Creates an urgent need for e-textiles to properly control this hardware mix.</a:t>
            </a:r>
            <a:endParaRPr lang="en-US" sz="2000" b="0" dirty="0">
              <a:solidFill>
                <a:schemeClr val="bg2">
                  <a:lumMod val="10000"/>
                </a:schemeClr>
              </a:solidFill>
            </a:endParaRPr>
          </a:p>
        </p:txBody>
      </p:sp>
      <p:sp>
        <p:nvSpPr>
          <p:cNvPr id="11" name="Title 1">
            <a:extLst>
              <a:ext uri="{FF2B5EF4-FFF2-40B4-BE49-F238E27FC236}">
                <a16:creationId xmlns:a16="http://schemas.microsoft.com/office/drawing/2014/main" id="{BA5CEE62-70ED-CBA0-6519-69B2332828B9}"/>
              </a:ext>
            </a:extLst>
          </p:cNvPr>
          <p:cNvSpPr txBox="1">
            <a:spLocks/>
          </p:cNvSpPr>
          <p:nvPr/>
        </p:nvSpPr>
        <p:spPr>
          <a:xfrm>
            <a:off x="5043336" y="218044"/>
            <a:ext cx="6888136" cy="787314"/>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3400" b="1" kern="1200">
                <a:solidFill>
                  <a:schemeClr val="bg1"/>
                </a:solidFill>
                <a:latin typeface="+mn-lt"/>
                <a:ea typeface="+mj-ea"/>
                <a:cs typeface="+mj-cs"/>
              </a:defRPr>
            </a:lvl1pPr>
          </a:lstStyle>
          <a:p>
            <a:r>
              <a:rPr lang="en-IE" sz="1600" dirty="0">
                <a:solidFill>
                  <a:schemeClr val="bg2">
                    <a:lumMod val="10000"/>
                  </a:schemeClr>
                </a:solidFill>
              </a:rPr>
              <a:t>Bio-inspired multimodal soft grippers: a review </a:t>
            </a:r>
            <a:r>
              <a:rPr lang="en-IE" sz="1600" dirty="0" err="1">
                <a:solidFill>
                  <a:schemeClr val="bg2">
                    <a:lumMod val="10000"/>
                  </a:schemeClr>
                </a:solidFill>
              </a:rPr>
              <a:t>Minshi</a:t>
            </a:r>
            <a:r>
              <a:rPr lang="en-IE" sz="1600" dirty="0">
                <a:solidFill>
                  <a:schemeClr val="bg2">
                    <a:lumMod val="10000"/>
                  </a:schemeClr>
                </a:solidFill>
              </a:rPr>
              <a:t> Liang1,3, Jiaqi Zhu1,3, Xingxing Ke2, </a:t>
            </a:r>
            <a:r>
              <a:rPr lang="en-IE" sz="1600" dirty="0" err="1">
                <a:solidFill>
                  <a:schemeClr val="bg2">
                    <a:lumMod val="10000"/>
                  </a:schemeClr>
                </a:solidFill>
              </a:rPr>
              <a:t>Zhiping</a:t>
            </a:r>
            <a:r>
              <a:rPr lang="en-IE" sz="1600" dirty="0">
                <a:solidFill>
                  <a:schemeClr val="bg2">
                    <a:lumMod val="10000"/>
                  </a:schemeClr>
                </a:solidFill>
              </a:rPr>
              <a:t> Chai1, Han Ding1 and Zhigang Wu</a:t>
            </a:r>
            <a:endParaRPr lang="en-IE" sz="1600" b="0" dirty="0">
              <a:solidFill>
                <a:schemeClr val="bg2">
                  <a:lumMod val="10000"/>
                </a:schemeClr>
              </a:solidFill>
              <a:hlinkClick r:id="rId2">
                <a:extLst>
                  <a:ext uri="{A12FA001-AC4F-418D-AE19-62706E023703}">
                    <ahyp:hlinkClr xmlns:ahyp="http://schemas.microsoft.com/office/drawing/2018/hyperlinkcolor" val="tx"/>
                  </a:ext>
                </a:extLst>
              </a:hlinkClick>
            </a:endParaRPr>
          </a:p>
        </p:txBody>
      </p:sp>
      <p:sp>
        <p:nvSpPr>
          <p:cNvPr id="18" name="TextBox 17">
            <a:extLst>
              <a:ext uri="{FF2B5EF4-FFF2-40B4-BE49-F238E27FC236}">
                <a16:creationId xmlns:a16="http://schemas.microsoft.com/office/drawing/2014/main" id="{C2956DCD-3AD6-88B8-25E3-264AF0638D15}"/>
              </a:ext>
            </a:extLst>
          </p:cNvPr>
          <p:cNvSpPr txBox="1"/>
          <p:nvPr/>
        </p:nvSpPr>
        <p:spPr>
          <a:xfrm>
            <a:off x="260528" y="856624"/>
            <a:ext cx="7068312" cy="400110"/>
          </a:xfrm>
          <a:prstGeom prst="rect">
            <a:avLst/>
          </a:prstGeom>
          <a:noFill/>
        </p:spPr>
        <p:txBody>
          <a:bodyPr wrap="square">
            <a:spAutoFit/>
          </a:bodyPr>
          <a:lstStyle/>
          <a:p>
            <a:r>
              <a:rPr lang="en-US" sz="2000" b="1" dirty="0">
                <a:solidFill>
                  <a:schemeClr val="tx2"/>
                </a:solidFill>
              </a:rPr>
              <a:t>Question/Gap: </a:t>
            </a:r>
            <a:endParaRPr lang="en-IE" sz="2000" b="1" dirty="0">
              <a:solidFill>
                <a:schemeClr val="tx2"/>
              </a:solidFill>
            </a:endParaRPr>
          </a:p>
        </p:txBody>
      </p:sp>
      <p:sp>
        <p:nvSpPr>
          <p:cNvPr id="19" name="TextBox 18">
            <a:extLst>
              <a:ext uri="{FF2B5EF4-FFF2-40B4-BE49-F238E27FC236}">
                <a16:creationId xmlns:a16="http://schemas.microsoft.com/office/drawing/2014/main" id="{0CE5E06C-99BB-7766-7643-8E57D3DE4A9D}"/>
              </a:ext>
            </a:extLst>
          </p:cNvPr>
          <p:cNvSpPr txBox="1"/>
          <p:nvPr/>
        </p:nvSpPr>
        <p:spPr>
          <a:xfrm>
            <a:off x="208464" y="2123416"/>
            <a:ext cx="7068312" cy="400110"/>
          </a:xfrm>
          <a:prstGeom prst="rect">
            <a:avLst/>
          </a:prstGeom>
          <a:noFill/>
        </p:spPr>
        <p:txBody>
          <a:bodyPr wrap="square">
            <a:spAutoFit/>
          </a:bodyPr>
          <a:lstStyle/>
          <a:p>
            <a:r>
              <a:rPr lang="en-US" sz="2000" b="1" dirty="0">
                <a:solidFill>
                  <a:schemeClr val="tx2"/>
                </a:solidFill>
              </a:rPr>
              <a:t>Method: </a:t>
            </a:r>
            <a:endParaRPr lang="en-IE" sz="2000" b="1" dirty="0">
              <a:solidFill>
                <a:schemeClr val="tx2"/>
              </a:solidFill>
            </a:endParaRPr>
          </a:p>
        </p:txBody>
      </p:sp>
      <p:sp>
        <p:nvSpPr>
          <p:cNvPr id="20" name="TextBox 19">
            <a:extLst>
              <a:ext uri="{FF2B5EF4-FFF2-40B4-BE49-F238E27FC236}">
                <a16:creationId xmlns:a16="http://schemas.microsoft.com/office/drawing/2014/main" id="{2312EF1D-A966-BF09-C21B-3E494271076B}"/>
              </a:ext>
            </a:extLst>
          </p:cNvPr>
          <p:cNvSpPr txBox="1"/>
          <p:nvPr/>
        </p:nvSpPr>
        <p:spPr>
          <a:xfrm>
            <a:off x="166087" y="3857481"/>
            <a:ext cx="7068312" cy="400110"/>
          </a:xfrm>
          <a:prstGeom prst="rect">
            <a:avLst/>
          </a:prstGeom>
          <a:noFill/>
        </p:spPr>
        <p:txBody>
          <a:bodyPr wrap="square">
            <a:spAutoFit/>
          </a:bodyPr>
          <a:lstStyle/>
          <a:p>
            <a:r>
              <a:rPr lang="en-US" sz="2000" b="1" dirty="0">
                <a:solidFill>
                  <a:schemeClr val="tx2"/>
                </a:solidFill>
              </a:rPr>
              <a:t>Results: </a:t>
            </a:r>
            <a:endParaRPr lang="en-IE" sz="2000" b="1" dirty="0">
              <a:solidFill>
                <a:schemeClr val="tx2"/>
              </a:solidFill>
            </a:endParaRPr>
          </a:p>
        </p:txBody>
      </p:sp>
      <p:sp>
        <p:nvSpPr>
          <p:cNvPr id="21" name="TextBox 20">
            <a:extLst>
              <a:ext uri="{FF2B5EF4-FFF2-40B4-BE49-F238E27FC236}">
                <a16:creationId xmlns:a16="http://schemas.microsoft.com/office/drawing/2014/main" id="{1764A573-BF6A-06BB-4035-A507CB1FC371}"/>
              </a:ext>
            </a:extLst>
          </p:cNvPr>
          <p:cNvSpPr txBox="1"/>
          <p:nvPr/>
        </p:nvSpPr>
        <p:spPr>
          <a:xfrm>
            <a:off x="145200" y="5096143"/>
            <a:ext cx="7068312" cy="400110"/>
          </a:xfrm>
          <a:prstGeom prst="rect">
            <a:avLst/>
          </a:prstGeom>
          <a:noFill/>
        </p:spPr>
        <p:txBody>
          <a:bodyPr wrap="square">
            <a:spAutoFit/>
          </a:bodyPr>
          <a:lstStyle/>
          <a:p>
            <a:r>
              <a:rPr lang="en-US" sz="2000" b="1" dirty="0">
                <a:solidFill>
                  <a:schemeClr val="tx2"/>
                </a:solidFill>
              </a:rPr>
              <a:t>Limitations: </a:t>
            </a:r>
            <a:endParaRPr lang="en-IE" sz="2000" b="1" dirty="0">
              <a:solidFill>
                <a:schemeClr val="tx2"/>
              </a:solidFill>
            </a:endParaRPr>
          </a:p>
        </p:txBody>
      </p:sp>
      <p:pic>
        <p:nvPicPr>
          <p:cNvPr id="5" name="Picture 4">
            <a:extLst>
              <a:ext uri="{FF2B5EF4-FFF2-40B4-BE49-F238E27FC236}">
                <a16:creationId xmlns:a16="http://schemas.microsoft.com/office/drawing/2014/main" id="{AAEBD2F9-E089-9A15-7367-83B038D341DA}"/>
              </a:ext>
            </a:extLst>
          </p:cNvPr>
          <p:cNvPicPr>
            <a:picLocks noChangeAspect="1"/>
          </p:cNvPicPr>
          <p:nvPr/>
        </p:nvPicPr>
        <p:blipFill>
          <a:blip r:embed="rId3"/>
          <a:stretch>
            <a:fillRect/>
          </a:stretch>
        </p:blipFill>
        <p:spPr>
          <a:xfrm>
            <a:off x="5587737" y="3786104"/>
            <a:ext cx="3086424" cy="2960542"/>
          </a:xfrm>
          <a:prstGeom prst="rect">
            <a:avLst/>
          </a:prstGeom>
        </p:spPr>
      </p:pic>
      <p:pic>
        <p:nvPicPr>
          <p:cNvPr id="12" name="Picture 11">
            <a:extLst>
              <a:ext uri="{FF2B5EF4-FFF2-40B4-BE49-F238E27FC236}">
                <a16:creationId xmlns:a16="http://schemas.microsoft.com/office/drawing/2014/main" id="{8D74D8EE-1916-2733-7D08-242B455BBF3D}"/>
              </a:ext>
            </a:extLst>
          </p:cNvPr>
          <p:cNvPicPr>
            <a:picLocks noChangeAspect="1"/>
          </p:cNvPicPr>
          <p:nvPr/>
        </p:nvPicPr>
        <p:blipFill>
          <a:blip r:embed="rId4"/>
          <a:stretch>
            <a:fillRect/>
          </a:stretch>
        </p:blipFill>
        <p:spPr>
          <a:xfrm>
            <a:off x="5751234" y="746822"/>
            <a:ext cx="2984660" cy="3042228"/>
          </a:xfrm>
          <a:prstGeom prst="rect">
            <a:avLst/>
          </a:prstGeom>
        </p:spPr>
      </p:pic>
      <p:pic>
        <p:nvPicPr>
          <p:cNvPr id="15" name="Picture 14">
            <a:extLst>
              <a:ext uri="{FF2B5EF4-FFF2-40B4-BE49-F238E27FC236}">
                <a16:creationId xmlns:a16="http://schemas.microsoft.com/office/drawing/2014/main" id="{CEDFF992-920E-8E30-7775-115366E7B4CA}"/>
              </a:ext>
            </a:extLst>
          </p:cNvPr>
          <p:cNvPicPr>
            <a:picLocks noChangeAspect="1"/>
          </p:cNvPicPr>
          <p:nvPr/>
        </p:nvPicPr>
        <p:blipFill>
          <a:blip r:embed="rId5"/>
          <a:stretch>
            <a:fillRect/>
          </a:stretch>
        </p:blipFill>
        <p:spPr>
          <a:xfrm>
            <a:off x="8727586" y="1355234"/>
            <a:ext cx="3354342" cy="4452714"/>
          </a:xfrm>
          <a:prstGeom prst="rect">
            <a:avLst/>
          </a:prstGeom>
        </p:spPr>
      </p:pic>
    </p:spTree>
    <p:extLst>
      <p:ext uri="{BB962C8B-B14F-4D97-AF65-F5344CB8AC3E}">
        <p14:creationId xmlns:p14="http://schemas.microsoft.com/office/powerpoint/2010/main" val="33130782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62F75F3-A9D8-C35F-30F1-A94B7B5DC2B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38FA33-E367-6F1D-9D70-7841A1838112}"/>
              </a:ext>
            </a:extLst>
          </p:cNvPr>
          <p:cNvSpPr>
            <a:spLocks noGrp="1"/>
          </p:cNvSpPr>
          <p:nvPr>
            <p:ph type="title"/>
          </p:nvPr>
        </p:nvSpPr>
        <p:spPr>
          <a:xfrm>
            <a:off x="1563805" y="3035343"/>
            <a:ext cx="9064390" cy="787314"/>
          </a:xfrm>
        </p:spPr>
        <p:txBody>
          <a:bodyPr>
            <a:normAutofit/>
          </a:bodyPr>
          <a:lstStyle/>
          <a:p>
            <a:pPr algn="ctr"/>
            <a:r>
              <a:rPr lang="en-US" sz="4800" dirty="0"/>
              <a:t>Literature Assessment</a:t>
            </a:r>
          </a:p>
        </p:txBody>
      </p:sp>
    </p:spTree>
    <p:extLst>
      <p:ext uri="{BB962C8B-B14F-4D97-AF65-F5344CB8AC3E}">
        <p14:creationId xmlns:p14="http://schemas.microsoft.com/office/powerpoint/2010/main" val="24331184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64F1516-2828-2BCD-4E83-9360868019A4}"/>
            </a:ext>
          </a:extLst>
        </p:cNvPr>
        <p:cNvGrpSpPr/>
        <p:nvPr/>
      </p:nvGrpSpPr>
      <p:grpSpPr>
        <a:xfrm>
          <a:off x="0" y="0"/>
          <a:ext cx="0" cy="0"/>
          <a:chOff x="0" y="0"/>
          <a:chExt cx="0" cy="0"/>
        </a:xfrm>
      </p:grpSpPr>
      <p:pic>
        <p:nvPicPr>
          <p:cNvPr id="15" name="Picture 14">
            <a:extLst>
              <a:ext uri="{FF2B5EF4-FFF2-40B4-BE49-F238E27FC236}">
                <a16:creationId xmlns:a16="http://schemas.microsoft.com/office/drawing/2014/main" id="{4F1D07C2-354C-3299-8E18-A5DBE6FED937}"/>
              </a:ext>
            </a:extLst>
          </p:cNvPr>
          <p:cNvPicPr>
            <a:picLocks noChangeAspect="1"/>
          </p:cNvPicPr>
          <p:nvPr/>
        </p:nvPicPr>
        <p:blipFill>
          <a:blip r:embed="rId2"/>
          <a:stretch>
            <a:fillRect/>
          </a:stretch>
        </p:blipFill>
        <p:spPr>
          <a:xfrm>
            <a:off x="8724559" y="1033940"/>
            <a:ext cx="3467441" cy="1955992"/>
          </a:xfrm>
          <a:prstGeom prst="rect">
            <a:avLst/>
          </a:prstGeom>
        </p:spPr>
      </p:pic>
      <p:sp>
        <p:nvSpPr>
          <p:cNvPr id="2" name="Title 1">
            <a:extLst>
              <a:ext uri="{FF2B5EF4-FFF2-40B4-BE49-F238E27FC236}">
                <a16:creationId xmlns:a16="http://schemas.microsoft.com/office/drawing/2014/main" id="{FCCDDB35-B019-107B-FBFA-73300F61E13E}"/>
              </a:ext>
            </a:extLst>
          </p:cNvPr>
          <p:cNvSpPr>
            <a:spLocks noGrp="1"/>
          </p:cNvSpPr>
          <p:nvPr>
            <p:ph type="title"/>
          </p:nvPr>
        </p:nvSpPr>
        <p:spPr>
          <a:xfrm>
            <a:off x="208464" y="1291149"/>
            <a:ext cx="4957896" cy="787314"/>
          </a:xfrm>
        </p:spPr>
        <p:txBody>
          <a:bodyPr>
            <a:normAutofit/>
          </a:bodyPr>
          <a:lstStyle/>
          <a:p>
            <a:r>
              <a:rPr lang="en-IE" sz="2000" dirty="0">
                <a:solidFill>
                  <a:schemeClr val="bg2">
                    <a:lumMod val="10000"/>
                  </a:schemeClr>
                </a:solidFill>
              </a:rPr>
              <a:t>Too many robotic gripper designs are just guessed by engineers.</a:t>
            </a:r>
          </a:p>
        </p:txBody>
      </p:sp>
      <p:sp>
        <p:nvSpPr>
          <p:cNvPr id="4" name="Title 1">
            <a:extLst>
              <a:ext uri="{FF2B5EF4-FFF2-40B4-BE49-F238E27FC236}">
                <a16:creationId xmlns:a16="http://schemas.microsoft.com/office/drawing/2014/main" id="{B461BD2B-A086-ED89-B03A-981D2AA521EA}"/>
              </a:ext>
            </a:extLst>
          </p:cNvPr>
          <p:cNvSpPr txBox="1">
            <a:spLocks/>
          </p:cNvSpPr>
          <p:nvPr/>
        </p:nvSpPr>
        <p:spPr>
          <a:xfrm>
            <a:off x="145200" y="111354"/>
            <a:ext cx="9064390" cy="787314"/>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400" b="1" kern="1200">
                <a:solidFill>
                  <a:schemeClr val="bg1"/>
                </a:solidFill>
                <a:latin typeface="+mn-lt"/>
                <a:ea typeface="+mj-ea"/>
                <a:cs typeface="+mj-cs"/>
              </a:defRPr>
            </a:lvl1pPr>
          </a:lstStyle>
          <a:p>
            <a:r>
              <a:rPr lang="en-US" b="0" dirty="0">
                <a:solidFill>
                  <a:srgbClr val="002060"/>
                </a:solidFill>
              </a:rPr>
              <a:t>Literature : Assessment</a:t>
            </a:r>
          </a:p>
        </p:txBody>
      </p:sp>
      <p:sp>
        <p:nvSpPr>
          <p:cNvPr id="7" name="Title 1">
            <a:extLst>
              <a:ext uri="{FF2B5EF4-FFF2-40B4-BE49-F238E27FC236}">
                <a16:creationId xmlns:a16="http://schemas.microsoft.com/office/drawing/2014/main" id="{058DE357-8163-1623-995B-15BFC18E4E2A}"/>
              </a:ext>
            </a:extLst>
          </p:cNvPr>
          <p:cNvSpPr txBox="1">
            <a:spLocks/>
          </p:cNvSpPr>
          <p:nvPr/>
        </p:nvSpPr>
        <p:spPr>
          <a:xfrm>
            <a:off x="199871" y="2489532"/>
            <a:ext cx="5085362" cy="787314"/>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3400" b="1" kern="1200">
                <a:solidFill>
                  <a:schemeClr val="bg1"/>
                </a:solidFill>
                <a:latin typeface="+mn-lt"/>
                <a:ea typeface="+mj-ea"/>
                <a:cs typeface="+mj-cs"/>
              </a:defRPr>
            </a:lvl1pPr>
          </a:lstStyle>
          <a:p>
            <a:r>
              <a:rPr lang="en-IE" sz="2000" dirty="0">
                <a:solidFill>
                  <a:schemeClr val="bg2">
                    <a:lumMod val="10000"/>
                  </a:schemeClr>
                </a:solidFill>
              </a:rPr>
              <a:t>Topology optimization math software used to 3D print the perfect functional shape.</a:t>
            </a:r>
            <a:endParaRPr lang="en-US" sz="2000" b="0" dirty="0">
              <a:solidFill>
                <a:schemeClr val="bg2">
                  <a:lumMod val="10000"/>
                </a:schemeClr>
              </a:solidFill>
            </a:endParaRPr>
          </a:p>
        </p:txBody>
      </p:sp>
      <p:sp>
        <p:nvSpPr>
          <p:cNvPr id="9" name="Title 1">
            <a:extLst>
              <a:ext uri="{FF2B5EF4-FFF2-40B4-BE49-F238E27FC236}">
                <a16:creationId xmlns:a16="http://schemas.microsoft.com/office/drawing/2014/main" id="{36BA962A-6960-AA04-14F1-0798C306D33E}"/>
              </a:ext>
            </a:extLst>
          </p:cNvPr>
          <p:cNvSpPr txBox="1">
            <a:spLocks/>
          </p:cNvSpPr>
          <p:nvPr/>
        </p:nvSpPr>
        <p:spPr>
          <a:xfrm>
            <a:off x="166087" y="4277086"/>
            <a:ext cx="4940712" cy="787314"/>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400" b="1" kern="1200">
                <a:solidFill>
                  <a:schemeClr val="bg1"/>
                </a:solidFill>
                <a:latin typeface="+mn-lt"/>
                <a:ea typeface="+mj-ea"/>
                <a:cs typeface="+mj-cs"/>
              </a:defRPr>
            </a:lvl1pPr>
          </a:lstStyle>
          <a:p>
            <a:r>
              <a:rPr lang="en-IE" sz="2000" dirty="0">
                <a:solidFill>
                  <a:schemeClr val="bg2">
                    <a:lumMod val="10000"/>
                  </a:schemeClr>
                </a:solidFill>
              </a:rPr>
              <a:t>The TPE finger curls perfectly around objects, holding 1 kg via 3 tendon cables.</a:t>
            </a:r>
            <a:endParaRPr lang="en-US" sz="2000" b="0" dirty="0">
              <a:solidFill>
                <a:schemeClr val="bg2">
                  <a:lumMod val="10000"/>
                </a:schemeClr>
              </a:solidFill>
            </a:endParaRPr>
          </a:p>
        </p:txBody>
      </p:sp>
      <p:sp>
        <p:nvSpPr>
          <p:cNvPr id="10" name="Title 1">
            <a:extLst>
              <a:ext uri="{FF2B5EF4-FFF2-40B4-BE49-F238E27FC236}">
                <a16:creationId xmlns:a16="http://schemas.microsoft.com/office/drawing/2014/main" id="{94FCC387-0802-F544-4040-F19BDEEE3884}"/>
              </a:ext>
            </a:extLst>
          </p:cNvPr>
          <p:cNvSpPr txBox="1">
            <a:spLocks/>
          </p:cNvSpPr>
          <p:nvPr/>
        </p:nvSpPr>
        <p:spPr>
          <a:xfrm>
            <a:off x="145200" y="5458383"/>
            <a:ext cx="5950800" cy="787314"/>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400" b="1" kern="1200">
                <a:solidFill>
                  <a:schemeClr val="bg1"/>
                </a:solidFill>
                <a:latin typeface="+mn-lt"/>
                <a:ea typeface="+mj-ea"/>
                <a:cs typeface="+mj-cs"/>
              </a:defRPr>
            </a:lvl1pPr>
          </a:lstStyle>
          <a:p>
            <a:r>
              <a:rPr lang="en-IE" sz="2000" dirty="0">
                <a:solidFill>
                  <a:schemeClr val="bg2">
                    <a:lumMod val="10000"/>
                  </a:schemeClr>
                </a:solidFill>
              </a:rPr>
              <a:t>The math algorithm ignores many physical constraints. Lack of tactile skin prevents fine control.</a:t>
            </a:r>
            <a:endParaRPr lang="en-US" sz="2000" b="0" dirty="0">
              <a:solidFill>
                <a:schemeClr val="bg2">
                  <a:lumMod val="10000"/>
                </a:schemeClr>
              </a:solidFill>
            </a:endParaRPr>
          </a:p>
        </p:txBody>
      </p:sp>
      <p:sp>
        <p:nvSpPr>
          <p:cNvPr id="11" name="Title 1">
            <a:extLst>
              <a:ext uri="{FF2B5EF4-FFF2-40B4-BE49-F238E27FC236}">
                <a16:creationId xmlns:a16="http://schemas.microsoft.com/office/drawing/2014/main" id="{4C738C14-967E-AA55-BE02-71AD8ED15EF3}"/>
              </a:ext>
            </a:extLst>
          </p:cNvPr>
          <p:cNvSpPr txBox="1">
            <a:spLocks/>
          </p:cNvSpPr>
          <p:nvPr/>
        </p:nvSpPr>
        <p:spPr>
          <a:xfrm>
            <a:off x="5043336" y="218044"/>
            <a:ext cx="6888136" cy="787314"/>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3400" b="1" kern="1200">
                <a:solidFill>
                  <a:schemeClr val="bg1"/>
                </a:solidFill>
                <a:latin typeface="+mn-lt"/>
                <a:ea typeface="+mj-ea"/>
                <a:cs typeface="+mj-cs"/>
              </a:defRPr>
            </a:lvl1pPr>
          </a:lstStyle>
          <a:p>
            <a:r>
              <a:rPr lang="en-GB" sz="1600" dirty="0">
                <a:solidFill>
                  <a:schemeClr val="bg2">
                    <a:lumMod val="10000"/>
                  </a:schemeClr>
                </a:solidFill>
                <a:highlight>
                  <a:srgbClr val="FFFF00"/>
                </a:highlight>
              </a:rPr>
              <a:t>Topology Optimized Design, Fabrication, and Characterization of a Soft Cable-Driven Gripper</a:t>
            </a:r>
            <a:r>
              <a:rPr lang="en-GB" sz="1600" dirty="0">
                <a:solidFill>
                  <a:schemeClr val="bg2">
                    <a:lumMod val="10000"/>
                  </a:schemeClr>
                </a:solidFill>
              </a:rPr>
              <a:t> </a:t>
            </a:r>
            <a:r>
              <a:rPr lang="en-GB" sz="1600" dirty="0" err="1">
                <a:solidFill>
                  <a:schemeClr val="bg2">
                    <a:lumMod val="10000"/>
                  </a:schemeClr>
                </a:solidFill>
              </a:rPr>
              <a:t>Feifei</a:t>
            </a:r>
            <a:r>
              <a:rPr lang="en-GB" sz="1600" dirty="0">
                <a:solidFill>
                  <a:schemeClr val="bg2">
                    <a:lumMod val="10000"/>
                  </a:schemeClr>
                </a:solidFill>
              </a:rPr>
              <a:t> Chen</a:t>
            </a:r>
            <a:endParaRPr lang="en-IE" sz="1600" b="0" dirty="0">
              <a:solidFill>
                <a:schemeClr val="bg2">
                  <a:lumMod val="10000"/>
                </a:schemeClr>
              </a:solidFill>
              <a:highlight>
                <a:srgbClr val="FFFF00"/>
              </a:highlight>
              <a:hlinkClick r:id="rId3">
                <a:extLst>
                  <a:ext uri="{A12FA001-AC4F-418D-AE19-62706E023703}">
                    <ahyp:hlinkClr xmlns:ahyp="http://schemas.microsoft.com/office/drawing/2018/hyperlinkcolor" val="tx"/>
                  </a:ext>
                </a:extLst>
              </a:hlinkClick>
            </a:endParaRPr>
          </a:p>
        </p:txBody>
      </p:sp>
      <p:sp>
        <p:nvSpPr>
          <p:cNvPr id="18" name="TextBox 17">
            <a:extLst>
              <a:ext uri="{FF2B5EF4-FFF2-40B4-BE49-F238E27FC236}">
                <a16:creationId xmlns:a16="http://schemas.microsoft.com/office/drawing/2014/main" id="{B21F8811-0529-93C0-501D-2482308BBABD}"/>
              </a:ext>
            </a:extLst>
          </p:cNvPr>
          <p:cNvSpPr txBox="1"/>
          <p:nvPr/>
        </p:nvSpPr>
        <p:spPr>
          <a:xfrm>
            <a:off x="260528" y="856624"/>
            <a:ext cx="7068312" cy="400110"/>
          </a:xfrm>
          <a:prstGeom prst="rect">
            <a:avLst/>
          </a:prstGeom>
          <a:noFill/>
        </p:spPr>
        <p:txBody>
          <a:bodyPr wrap="square">
            <a:spAutoFit/>
          </a:bodyPr>
          <a:lstStyle/>
          <a:p>
            <a:r>
              <a:rPr lang="en-US" sz="2000" b="1" dirty="0">
                <a:solidFill>
                  <a:schemeClr val="tx2"/>
                </a:solidFill>
              </a:rPr>
              <a:t>Question/Gap: </a:t>
            </a:r>
            <a:endParaRPr lang="en-IE" sz="2000" b="1" dirty="0">
              <a:solidFill>
                <a:schemeClr val="tx2"/>
              </a:solidFill>
            </a:endParaRPr>
          </a:p>
        </p:txBody>
      </p:sp>
      <p:sp>
        <p:nvSpPr>
          <p:cNvPr id="19" name="TextBox 18">
            <a:extLst>
              <a:ext uri="{FF2B5EF4-FFF2-40B4-BE49-F238E27FC236}">
                <a16:creationId xmlns:a16="http://schemas.microsoft.com/office/drawing/2014/main" id="{3F34A914-000C-6BBF-2043-CF1AC8605C61}"/>
              </a:ext>
            </a:extLst>
          </p:cNvPr>
          <p:cNvSpPr txBox="1"/>
          <p:nvPr/>
        </p:nvSpPr>
        <p:spPr>
          <a:xfrm>
            <a:off x="208464" y="2123416"/>
            <a:ext cx="7068312" cy="400110"/>
          </a:xfrm>
          <a:prstGeom prst="rect">
            <a:avLst/>
          </a:prstGeom>
          <a:noFill/>
        </p:spPr>
        <p:txBody>
          <a:bodyPr wrap="square">
            <a:spAutoFit/>
          </a:bodyPr>
          <a:lstStyle/>
          <a:p>
            <a:r>
              <a:rPr lang="en-US" sz="2000" b="1" dirty="0">
                <a:solidFill>
                  <a:schemeClr val="tx2"/>
                </a:solidFill>
              </a:rPr>
              <a:t>Method: </a:t>
            </a:r>
            <a:endParaRPr lang="en-IE" sz="2000" b="1" dirty="0">
              <a:solidFill>
                <a:schemeClr val="tx2"/>
              </a:solidFill>
            </a:endParaRPr>
          </a:p>
        </p:txBody>
      </p:sp>
      <p:sp>
        <p:nvSpPr>
          <p:cNvPr id="20" name="TextBox 19">
            <a:extLst>
              <a:ext uri="{FF2B5EF4-FFF2-40B4-BE49-F238E27FC236}">
                <a16:creationId xmlns:a16="http://schemas.microsoft.com/office/drawing/2014/main" id="{B141C9D7-112B-5677-22C1-D3B1DA7E61D0}"/>
              </a:ext>
            </a:extLst>
          </p:cNvPr>
          <p:cNvSpPr txBox="1"/>
          <p:nvPr/>
        </p:nvSpPr>
        <p:spPr>
          <a:xfrm>
            <a:off x="166087" y="3857481"/>
            <a:ext cx="7068312" cy="400110"/>
          </a:xfrm>
          <a:prstGeom prst="rect">
            <a:avLst/>
          </a:prstGeom>
          <a:noFill/>
        </p:spPr>
        <p:txBody>
          <a:bodyPr wrap="square">
            <a:spAutoFit/>
          </a:bodyPr>
          <a:lstStyle/>
          <a:p>
            <a:r>
              <a:rPr lang="en-US" sz="2000" b="1" dirty="0">
                <a:solidFill>
                  <a:schemeClr val="tx2"/>
                </a:solidFill>
              </a:rPr>
              <a:t>Results: </a:t>
            </a:r>
            <a:endParaRPr lang="en-IE" sz="2000" b="1" dirty="0">
              <a:solidFill>
                <a:schemeClr val="tx2"/>
              </a:solidFill>
            </a:endParaRPr>
          </a:p>
        </p:txBody>
      </p:sp>
      <p:sp>
        <p:nvSpPr>
          <p:cNvPr id="21" name="TextBox 20">
            <a:extLst>
              <a:ext uri="{FF2B5EF4-FFF2-40B4-BE49-F238E27FC236}">
                <a16:creationId xmlns:a16="http://schemas.microsoft.com/office/drawing/2014/main" id="{A0A4A721-5648-2CE7-429E-2AAF7C8E8ED5}"/>
              </a:ext>
            </a:extLst>
          </p:cNvPr>
          <p:cNvSpPr txBox="1"/>
          <p:nvPr/>
        </p:nvSpPr>
        <p:spPr>
          <a:xfrm>
            <a:off x="145200" y="5064400"/>
            <a:ext cx="7068312" cy="400110"/>
          </a:xfrm>
          <a:prstGeom prst="rect">
            <a:avLst/>
          </a:prstGeom>
          <a:noFill/>
        </p:spPr>
        <p:txBody>
          <a:bodyPr wrap="square">
            <a:spAutoFit/>
          </a:bodyPr>
          <a:lstStyle/>
          <a:p>
            <a:r>
              <a:rPr lang="en-US" sz="2000" b="1" dirty="0">
                <a:solidFill>
                  <a:schemeClr val="tx2"/>
                </a:solidFill>
              </a:rPr>
              <a:t>Limitations: </a:t>
            </a:r>
            <a:endParaRPr lang="en-IE" sz="2000" b="1" dirty="0">
              <a:solidFill>
                <a:schemeClr val="tx2"/>
              </a:solidFill>
            </a:endParaRPr>
          </a:p>
        </p:txBody>
      </p:sp>
      <p:pic>
        <p:nvPicPr>
          <p:cNvPr id="5" name="Picture 4">
            <a:extLst>
              <a:ext uri="{FF2B5EF4-FFF2-40B4-BE49-F238E27FC236}">
                <a16:creationId xmlns:a16="http://schemas.microsoft.com/office/drawing/2014/main" id="{C00B9F35-1671-617B-B4FC-07A178EDE9EC}"/>
              </a:ext>
            </a:extLst>
          </p:cNvPr>
          <p:cNvPicPr>
            <a:picLocks noChangeAspect="1"/>
          </p:cNvPicPr>
          <p:nvPr/>
        </p:nvPicPr>
        <p:blipFill>
          <a:blip r:embed="rId4"/>
          <a:srcRect t="9448"/>
          <a:stretch>
            <a:fillRect/>
          </a:stretch>
        </p:blipFill>
        <p:spPr>
          <a:xfrm>
            <a:off x="8023784" y="3629979"/>
            <a:ext cx="4168216" cy="2764628"/>
          </a:xfrm>
          <a:prstGeom prst="rect">
            <a:avLst/>
          </a:prstGeom>
        </p:spPr>
      </p:pic>
      <p:pic>
        <p:nvPicPr>
          <p:cNvPr id="12" name="Picture 11">
            <a:extLst>
              <a:ext uri="{FF2B5EF4-FFF2-40B4-BE49-F238E27FC236}">
                <a16:creationId xmlns:a16="http://schemas.microsoft.com/office/drawing/2014/main" id="{961DBA98-B7EC-908A-3767-92A25DCE842D}"/>
              </a:ext>
            </a:extLst>
          </p:cNvPr>
          <p:cNvPicPr>
            <a:picLocks noChangeAspect="1"/>
          </p:cNvPicPr>
          <p:nvPr/>
        </p:nvPicPr>
        <p:blipFill>
          <a:blip r:embed="rId5"/>
          <a:stretch>
            <a:fillRect/>
          </a:stretch>
        </p:blipFill>
        <p:spPr>
          <a:xfrm>
            <a:off x="5109879" y="778517"/>
            <a:ext cx="3666744" cy="2599892"/>
          </a:xfrm>
          <a:prstGeom prst="rect">
            <a:avLst/>
          </a:prstGeom>
        </p:spPr>
      </p:pic>
      <p:pic>
        <p:nvPicPr>
          <p:cNvPr id="23" name="Picture 22">
            <a:extLst>
              <a:ext uri="{FF2B5EF4-FFF2-40B4-BE49-F238E27FC236}">
                <a16:creationId xmlns:a16="http://schemas.microsoft.com/office/drawing/2014/main" id="{071FBF93-00B0-1552-3862-234202F48A8F}"/>
              </a:ext>
            </a:extLst>
          </p:cNvPr>
          <p:cNvPicPr>
            <a:picLocks noChangeAspect="1"/>
          </p:cNvPicPr>
          <p:nvPr/>
        </p:nvPicPr>
        <p:blipFill>
          <a:blip r:embed="rId6"/>
          <a:stretch>
            <a:fillRect/>
          </a:stretch>
        </p:blipFill>
        <p:spPr>
          <a:xfrm>
            <a:off x="5166360" y="3431589"/>
            <a:ext cx="3100509" cy="2039131"/>
          </a:xfrm>
          <a:prstGeom prst="rect">
            <a:avLst/>
          </a:prstGeom>
        </p:spPr>
      </p:pic>
    </p:spTree>
    <p:extLst>
      <p:ext uri="{BB962C8B-B14F-4D97-AF65-F5344CB8AC3E}">
        <p14:creationId xmlns:p14="http://schemas.microsoft.com/office/powerpoint/2010/main" val="10527554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21D2B6BC-41D3-0943-AD93-2275F6321721}"/>
              </a:ext>
            </a:extLst>
          </p:cNvPr>
          <p:cNvSpPr>
            <a:spLocks noGrp="1"/>
          </p:cNvSpPr>
          <p:nvPr>
            <p:ph type="subTitle" idx="1"/>
          </p:nvPr>
        </p:nvSpPr>
        <p:spPr/>
        <p:txBody>
          <a:bodyPr/>
          <a:lstStyle/>
          <a:p>
            <a:r>
              <a:rPr lang="en-US" dirty="0"/>
              <a:t>Tyndall National Institute, </a:t>
            </a:r>
          </a:p>
          <a:p>
            <a:r>
              <a:rPr lang="en-US" dirty="0"/>
              <a:t>Lee Maltings, </a:t>
            </a:r>
          </a:p>
          <a:p>
            <a:r>
              <a:rPr lang="en-US" dirty="0"/>
              <a:t>Dyke Parade, </a:t>
            </a:r>
          </a:p>
          <a:p>
            <a:r>
              <a:rPr lang="en-US" dirty="0"/>
              <a:t>Cork, </a:t>
            </a:r>
          </a:p>
          <a:p>
            <a:r>
              <a:rPr lang="en-US" dirty="0"/>
              <a:t>Ireland.</a:t>
            </a:r>
          </a:p>
          <a:p>
            <a:r>
              <a:rPr lang="en-US" dirty="0"/>
              <a:t>T12 R5CP</a:t>
            </a:r>
          </a:p>
          <a:p>
            <a:r>
              <a:rPr lang="en-US" dirty="0">
                <a:solidFill>
                  <a:schemeClr val="accent2"/>
                </a:solidFill>
              </a:rPr>
              <a:t>t: </a:t>
            </a:r>
            <a:r>
              <a:rPr lang="en-US" dirty="0"/>
              <a:t>+353 21 490 4177 </a:t>
            </a:r>
          </a:p>
          <a:p>
            <a:r>
              <a:rPr lang="en-US" dirty="0">
                <a:solidFill>
                  <a:schemeClr val="accent2"/>
                </a:solidFill>
              </a:rPr>
              <a:t>e: </a:t>
            </a:r>
            <a:r>
              <a:rPr lang="en-US" dirty="0"/>
              <a:t>info@tyndall.ie  </a:t>
            </a:r>
          </a:p>
          <a:p>
            <a:r>
              <a:rPr lang="en-US" dirty="0">
                <a:solidFill>
                  <a:schemeClr val="accent2"/>
                </a:solidFill>
              </a:rPr>
              <a:t>tyndall.ie</a:t>
            </a:r>
          </a:p>
          <a:p>
            <a:endParaRPr lang="en-US" dirty="0">
              <a:solidFill>
                <a:schemeClr val="accent2"/>
              </a:solidFill>
            </a:endParaRPr>
          </a:p>
          <a:p>
            <a:endParaRPr lang="en-US" dirty="0">
              <a:solidFill>
                <a:schemeClr val="accent2"/>
              </a:solidFill>
            </a:endParaRPr>
          </a:p>
          <a:p>
            <a:endParaRPr lang="en-US" dirty="0">
              <a:solidFill>
                <a:schemeClr val="accent2"/>
              </a:solidFill>
            </a:endParaRPr>
          </a:p>
          <a:p>
            <a:r>
              <a:rPr lang="en-IE" dirty="0"/>
              <a:t>@tyndall-national-institute</a:t>
            </a:r>
            <a:br>
              <a:rPr lang="en-IE" dirty="0"/>
            </a:br>
            <a:r>
              <a:rPr lang="en-IE" dirty="0"/>
              <a:t>@TyndallInstitut</a:t>
            </a:r>
          </a:p>
          <a:p>
            <a:r>
              <a:rPr lang="en-IE" dirty="0"/>
              <a:t>@tyndall_institute</a:t>
            </a:r>
          </a:p>
          <a:p>
            <a:r>
              <a:rPr lang="en-IE" dirty="0"/>
              <a:t>@TyndallInstitute</a:t>
            </a:r>
          </a:p>
          <a:p>
            <a:endParaRPr lang="en-US" dirty="0"/>
          </a:p>
        </p:txBody>
      </p:sp>
    </p:spTree>
    <p:extLst>
      <p:ext uri="{BB962C8B-B14F-4D97-AF65-F5344CB8AC3E}">
        <p14:creationId xmlns:p14="http://schemas.microsoft.com/office/powerpoint/2010/main" val="1094411011"/>
      </p:ext>
    </p:extLst>
  </p:cSld>
  <p:clrMapOvr>
    <a:masterClrMapping/>
  </p:clrMapOvr>
</p:sld>
</file>

<file path=ppt/theme/theme1.xml><?xml version="1.0" encoding="utf-8"?>
<a:theme xmlns:a="http://schemas.openxmlformats.org/drawingml/2006/main" name="Office Theme">
  <a:themeElements>
    <a:clrScheme name="Custom 3">
      <a:dk1>
        <a:srgbClr val="5B6770"/>
      </a:dk1>
      <a:lt1>
        <a:srgbClr val="FFFFFF"/>
      </a:lt1>
      <a:dk2>
        <a:srgbClr val="1D418A"/>
      </a:dk2>
      <a:lt2>
        <a:srgbClr val="EBEBEB"/>
      </a:lt2>
      <a:accent1>
        <a:srgbClr val="1D418A"/>
      </a:accent1>
      <a:accent2>
        <a:srgbClr val="7DBBE9"/>
      </a:accent2>
      <a:accent3>
        <a:srgbClr val="5B6770"/>
      </a:accent3>
      <a:accent4>
        <a:srgbClr val="A2AAAC"/>
      </a:accent4>
      <a:accent5>
        <a:srgbClr val="6EAA39"/>
      </a:accent5>
      <a:accent6>
        <a:srgbClr val="51284F"/>
      </a:accent6>
      <a:hlink>
        <a:srgbClr val="7DBBE9"/>
      </a:hlink>
      <a:folHlink>
        <a:srgbClr val="D62498"/>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F94A25860E5828459FC34C898F1068F9" ma:contentTypeVersion="12" ma:contentTypeDescription="Create a new document." ma:contentTypeScope="" ma:versionID="eca9c93b886b43e5d440d61c8b93522d">
  <xsd:schema xmlns:xsd="http://www.w3.org/2001/XMLSchema" xmlns:xs="http://www.w3.org/2001/XMLSchema" xmlns:p="http://schemas.microsoft.com/office/2006/metadata/properties" xmlns:ns2="1beebd5e-987e-4d55-af5a-5dd6868dc936" targetNamespace="http://schemas.microsoft.com/office/2006/metadata/properties" ma:root="true" ma:fieldsID="a6b44ccdfb40c173e42de08f0687c835" ns2:_="">
    <xsd:import namespace="1beebd5e-987e-4d55-af5a-5dd6868dc936"/>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2:MediaServiceOCR" minOccurs="0"/>
                <xsd:element ref="ns2:MediaServiceGenerationTime" minOccurs="0"/>
                <xsd:element ref="ns2:MediaServiceEventHashCode" minOccurs="0"/>
                <xsd:element ref="ns2:MediaLengthInSeconds" minOccurs="0"/>
                <xsd:element ref="ns2:MediaServiceBillingMetadata"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beebd5e-987e-4d55-af5a-5dd6868dc93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c859a5f0-c05d-42c8-96da-fe1ec9be4efb" ma:termSetId="09814cd3-568e-fe90-9814-8d621ff8fb84" ma:anchorId="fba54fb3-c3e1-fe81-a776-ca4b69148c4d" ma:open="true" ma:isKeyword="false">
      <xsd:complexType>
        <xsd:sequence>
          <xsd:element ref="pc:Terms" minOccurs="0" maxOccurs="1"/>
        </xsd:sequence>
      </xsd:complex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MediaServiceBillingMetadata" ma:index="18" nillable="true" ma:displayName="MediaServiceBillingMetadata" ma:hidden="true" ma:internalName="MediaServiceBillingMetadata" ma:readOnly="true">
      <xsd:simpleType>
        <xsd:restriction base="dms:Note"/>
      </xsd:simpleType>
    </xsd:element>
    <xsd:element name="MediaServiceLocation" ma:index="19" nillable="true" ma:displayName="Location" ma:indexed="true" ma:internalName="MediaServiceLocatio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1beebd5e-987e-4d55-af5a-5dd6868dc936">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DE74E8A9-522A-40DB-A42D-6D964AD7DF65}">
  <ds:schemaRefs>
    <ds:schemaRef ds:uri="http://schemas.microsoft.com/sharepoint/v3/contenttype/forms"/>
  </ds:schemaRefs>
</ds:datastoreItem>
</file>

<file path=customXml/itemProps2.xml><?xml version="1.0" encoding="utf-8"?>
<ds:datastoreItem xmlns:ds="http://schemas.openxmlformats.org/officeDocument/2006/customXml" ds:itemID="{AA460630-A6DB-4E78-A5FB-E6C86332FB9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beebd5e-987e-4d55-af5a-5dd6868dc93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016BA9B8-2D45-4907-A7A8-9324B2D9E931}">
  <ds:schemaRefs>
    <ds:schemaRef ds:uri="http://schemas.microsoft.com/office/2006/metadata/properties"/>
    <ds:schemaRef ds:uri="http://schemas.microsoft.com/office/infopath/2007/PartnerControls"/>
    <ds:schemaRef ds:uri="1beebd5e-987e-4d55-af5a-5dd6868dc936"/>
  </ds:schemaRefs>
</ds:datastoreItem>
</file>

<file path=docProps/app.xml><?xml version="1.0" encoding="utf-8"?>
<Properties xmlns="http://schemas.openxmlformats.org/officeDocument/2006/extended-properties" xmlns:vt="http://schemas.openxmlformats.org/officeDocument/2006/docPropsVTypes">
  <TotalTime>24539</TotalTime>
  <Words>4636</Words>
  <Application>Microsoft Office PowerPoint</Application>
  <PresentationFormat>Widescreen</PresentationFormat>
  <Paragraphs>553</Paragraphs>
  <Slides>58</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58</vt:i4>
      </vt:variant>
    </vt:vector>
  </HeadingPairs>
  <TitlesOfParts>
    <vt:vector size="62" baseType="lpstr">
      <vt:lpstr>Arial</vt:lpstr>
      <vt:lpstr>Calibri</vt:lpstr>
      <vt:lpstr>Calibri Light</vt:lpstr>
      <vt:lpstr>Office Theme</vt:lpstr>
      <vt:lpstr>Development of a Bioinspired Gripper for Soft Robotics with Tactile Capabilities   Literature</vt:lpstr>
      <vt:lpstr>Literature REPORT</vt:lpstr>
      <vt:lpstr>Most fluidic soft grippers copy animal hands but ignore the unique mechanics of plant-inspired continuum architectures like twisting. A clear taxonomy organized by biological impactive modes is missing.</vt:lpstr>
      <vt:lpstr>Classic robotic hands are fragile, heavy, and over-sensored.</vt:lpstr>
      <vt:lpstr>Anthropomorphic hands use too many motors (heavy + high energy drain).</vt:lpstr>
      <vt:lpstr>How do birds of prey hold prey without muscle fatigue?</vt:lpstr>
      <vt:lpstr>Drones waste battery hovering and can't grip natural surfaces.</vt:lpstr>
      <vt:lpstr>Industrial grippers drain power continuously to hold agricultural objects.</vt:lpstr>
      <vt:lpstr>Lack of data on what actually injures humans during cobot collisions.</vt:lpstr>
      <vt:lpstr>Joint locks are either too heavy (motors) or too rigid (dangerous in a crash).</vt:lpstr>
      <vt:lpstr>Silicone skins don't breathe and mix up static/dynamic pressure signals.</vt:lpstr>
      <vt:lpstr>Too many sensors = too many wires and data noise.</vt:lpstr>
      <vt:lpstr>Classic metal strain gauges break when stretched.</vt:lpstr>
      <vt:lpstr>E-textile tests ignore that threads permanently stretch, ruining sensor data.</vt:lpstr>
      <vt:lpstr>Soft grippers need complex vision and control to avoid breaking fragile items.</vt:lpstr>
      <vt:lpstr>No universal gripper design exists (soft for fragile, rigid for heavy).</vt:lpstr>
      <vt:lpstr>Rigid pincers break things; soft grippers struggle with size variety.</vt:lpstr>
      <vt:lpstr>Literature GRIPPER</vt:lpstr>
      <vt:lpstr>Non-backdrivable grippers (like worm gears) can't feel forces and easily crush objects. </vt:lpstr>
      <vt:lpstr>Industrial grippers use complex, heavy internal gears.</vt:lpstr>
      <vt:lpstr>Passive grippers usually need to crash into the ground to release an object.</vt:lpstr>
      <vt:lpstr>Standard grippers can't pick up flat things (like coins) from a table.</vt:lpstr>
      <vt:lpstr>Gluing sensors onto soft robots is difficult and they peel off easily.</vt:lpstr>
      <vt:lpstr>Complex molding processes limit the rapid prototyping of soft grippers for fragile objects. </vt:lpstr>
      <vt:lpstr>Pneumatics waste air and fatigue the material just to hold an object.</vt:lpstr>
      <vt:lpstr>Micro-spines get stuck in rocks and adapt poorly to shapes.</vt:lpstr>
      <vt:lpstr>Wires and batteries prevent the creation of micro-grippers.</vt:lpstr>
      <vt:lpstr>How to copy nature's multi-scale architectures for zero-energy adhesives.</vt:lpstr>
      <vt:lpstr>Elastomers are slow and constantly drain power.</vt:lpstr>
      <vt:lpstr>Underactuated kinematics are complex and manage grasping force poorly.</vt:lpstr>
      <vt:lpstr>Cast silicone is way too heavy.</vt:lpstr>
      <vt:lpstr>Adding a 6-axis force sensor to the wrist takes up too much space and weight.</vt:lpstr>
      <vt:lpstr>Granular jamming (like coffee grounds) doesn't mold well around ultra-fragile objects.</vt:lpstr>
      <vt:lpstr>Rigid arms can't stretch or coil around targets.</vt:lpstr>
      <vt:lpstr>Standard soft grippers lift very little weight.</vt:lpstr>
      <vt:lpstr>Changing the stiffness of a soft gripper usually requires heavy external power supplies.</vt:lpstr>
      <vt:lpstr>Pneumatics require loud, heavy external compressors.</vt:lpstr>
      <vt:lpstr>Plant-like morphing (tendrils) is expensive to manufacture.</vt:lpstr>
      <vt:lpstr>Rigid-arm mathematics completely fail on soft bodies.</vt:lpstr>
      <vt:lpstr>Gecko grippers require highly complex motions (stick flat, then peel away).</vt:lpstr>
      <vt:lpstr>Underactuation molds to the object but can't pull it into the palm.</vt:lpstr>
      <vt:lpstr>Grabbing fabric usually requires energy-hungry suction cups.</vt:lpstr>
      <vt:lpstr>Underactuated grippers waste time resetting after hitting the table.</vt:lpstr>
      <vt:lpstr>Adding dexterity means adding tons of motors, weight, and cost.</vt:lpstr>
      <vt:lpstr>Literature E-Textiles</vt:lpstr>
      <vt:lpstr>Soft robots bend unpredictably, making it hard to track their 3D shape or grip force.</vt:lpstr>
      <vt:lpstr>Standard elastomer conductive yarns have high friction, bad hysteresis, and poor sensitivity at low strains.</vt:lpstr>
      <vt:lpstr>Literature RATCHET</vt:lpstr>
      <vt:lpstr>Standard parallel grippers (open/close) can't screw a bolt.</vt:lpstr>
      <vt:lpstr>Tendon-driven underactuation handles impacts poorly, and classic brakes kill flexibility.</vt:lpstr>
      <vt:lpstr>Inflated silicone lifts very little weight and wastes air.</vt:lpstr>
      <vt:lpstr>Fluid fingertips mold well but fail at pinching flat paper.</vt:lpstr>
      <vt:lpstr>Literature Review</vt:lpstr>
      <vt:lpstr>Rigid grippers fail at handling unknown shapes without heavy computing.</vt:lpstr>
      <vt:lpstr>A strictly inflatable finger will never work on all real-world textures.</vt:lpstr>
      <vt:lpstr>Literature Assessment</vt:lpstr>
      <vt:lpstr>Too many robotic gripper designs are just guessed by engineers.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Kathryn O'Driscoll</dc:creator>
  <cp:lastModifiedBy>Julien Dubuc</cp:lastModifiedBy>
  <cp:revision>107</cp:revision>
  <dcterms:created xsi:type="dcterms:W3CDTF">2020-05-12T08:44:02Z</dcterms:created>
  <dcterms:modified xsi:type="dcterms:W3CDTF">2026-07-27T08:56:33Z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0x010100F94A25860E5828459FC34C898F1068F9</vt:lpwstr>
  </property>
  <property fmtid="{D5CDD505-2E9C-101B-9397-08002B2CF9AE}" pid="3" name="MediaServiceImageTags">
    <vt:lpwstr/>
  </property>
</Properties>
</file>