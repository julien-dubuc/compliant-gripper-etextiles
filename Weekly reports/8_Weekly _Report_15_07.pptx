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305" r:id="rId5"/>
    <p:sldId id="263" r:id="rId6"/>
    <p:sldId id="264" r:id="rId7"/>
    <p:sldId id="315" r:id="rId8"/>
    <p:sldId id="316" r:id="rId9"/>
    <p:sldId id="265" r:id="rId10"/>
    <p:sldId id="313" r:id="rId11"/>
    <p:sldId id="31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6"/>
    <p:restoredTop sz="95118" autoAdjust="0"/>
  </p:normalViewPr>
  <p:slideViewPr>
    <p:cSldViewPr snapToGrid="0" snapToObjects="1" showGuides="1">
      <p:cViewPr>
        <p:scale>
          <a:sx n="100" d="100"/>
          <a:sy n="100" d="100"/>
        </p:scale>
        <p:origin x="1146" y="19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8</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 Bioinspired Gripper for Soft Robotics with Tactile Capabilities</a:t>
            </a:r>
            <a:br>
              <a:rPr lang="en-GB" dirty="0"/>
            </a:br>
            <a:r>
              <a:rPr lang="en-GB" sz="1200" dirty="0"/>
              <a:t> </a:t>
            </a:r>
            <a:br>
              <a:rPr lang="en-GB" dirty="0"/>
            </a:br>
            <a:r>
              <a:rPr lang="en-US" sz="4000" dirty="0"/>
              <a:t>Weekly Report</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2CC-BB2E-FB44-A411-233F1859484C}"/>
              </a:ext>
            </a:extLst>
          </p:cNvPr>
          <p:cNvSpPr>
            <a:spLocks noGrp="1"/>
          </p:cNvSpPr>
          <p:nvPr>
            <p:ph type="title"/>
          </p:nvPr>
        </p:nvSpPr>
        <p:spPr/>
        <p:txBody>
          <a:bodyPr/>
          <a:lstStyle/>
          <a:p>
            <a:r>
              <a:rPr lang="en-US" dirty="0"/>
              <a:t>Project Objectives </a:t>
            </a:r>
            <a:r>
              <a:rPr lang="en-US" sz="2400" b="0" i="1" dirty="0"/>
              <a:t>(provisional)</a:t>
            </a:r>
            <a:endParaRPr lang="en-US" b="0" i="1" dirty="0"/>
          </a:p>
        </p:txBody>
      </p:sp>
      <p:sp>
        <p:nvSpPr>
          <p:cNvPr id="3" name="Content Placeholder 2">
            <a:extLst>
              <a:ext uri="{FF2B5EF4-FFF2-40B4-BE49-F238E27FC236}">
                <a16:creationId xmlns:a16="http://schemas.microsoft.com/office/drawing/2014/main" id="{4F630CC8-2AB3-8147-82D7-E10AD17F8AB6}"/>
              </a:ext>
            </a:extLst>
          </p:cNvPr>
          <p:cNvSpPr>
            <a:spLocks noGrp="1"/>
          </p:cNvSpPr>
          <p:nvPr>
            <p:ph idx="1"/>
          </p:nvPr>
        </p:nvSpPr>
        <p:spPr>
          <a:xfrm>
            <a:off x="450000" y="1029732"/>
            <a:ext cx="11259400" cy="5585850"/>
          </a:xfrm>
        </p:spPr>
        <p:txBody>
          <a:bodyPr>
            <a:normAutofit/>
          </a:bodyPr>
          <a:lstStyle/>
          <a:p>
            <a:r>
              <a:rPr lang="en-GB" sz="1800" b="1" dirty="0">
                <a:solidFill>
                  <a:schemeClr val="tx2"/>
                </a:solidFill>
                <a:latin typeface="+mn-lt"/>
              </a:rPr>
              <a:t>Objective 1 — Characterise e-textile sensing materials for robotic tactile applications</a:t>
            </a:r>
          </a:p>
          <a:p>
            <a:r>
              <a:rPr lang="en-GB" sz="1600" dirty="0">
                <a:solidFill>
                  <a:schemeClr val="tx2"/>
                </a:solidFill>
                <a:latin typeface="+mn-lt"/>
              </a:rPr>
              <a:t>Characterise the electromechanical response of selected e-textile materials under controlled loading conditions, with a focus on the relationship between applied force and electrical resistance. Assess repeatability, sensitivity, hysteresis, drift and practical suitability for integration into robotic tactile sensing systems.</a:t>
            </a:r>
          </a:p>
          <a:p>
            <a:endParaRPr lang="en-GB" sz="1200" dirty="0">
              <a:solidFill>
                <a:schemeClr val="tx2"/>
              </a:solidFill>
              <a:latin typeface="+mn-lt"/>
            </a:endParaRPr>
          </a:p>
          <a:p>
            <a:r>
              <a:rPr lang="en-GB" sz="1800" b="1" dirty="0">
                <a:solidFill>
                  <a:schemeClr val="tx2"/>
                </a:solidFill>
                <a:latin typeface="+mn-lt"/>
              </a:rPr>
              <a:t>Objective 2 — Develop an e-textile tactile sensing glove for a robotic gripper/finger</a:t>
            </a:r>
          </a:p>
          <a:p>
            <a:r>
              <a:rPr lang="en-GB" sz="1600" dirty="0">
                <a:solidFill>
                  <a:schemeClr val="tx2"/>
                </a:solidFill>
                <a:latin typeface="+mn-lt"/>
              </a:rPr>
              <a:t>Design and fabricate a tactile sensing layer or glove for a robotic gripper finger using the characterised e-textile material. The sensing element should be mechanically robust, easy to mount, and capable of detecting contact and relative force changes during object interaction.</a:t>
            </a:r>
          </a:p>
          <a:p>
            <a:endParaRPr lang="en-GB" sz="1200" dirty="0">
              <a:solidFill>
                <a:schemeClr val="tx2"/>
              </a:solidFill>
              <a:latin typeface="+mn-lt"/>
            </a:endParaRPr>
          </a:p>
          <a:p>
            <a:r>
              <a:rPr lang="en-GB" sz="1800" b="1" dirty="0">
                <a:solidFill>
                  <a:schemeClr val="tx2"/>
                </a:solidFill>
                <a:latin typeface="+mn-lt"/>
              </a:rPr>
              <a:t>Objective 3 — Build and validate a single-actuator robotic gripper prototype</a:t>
            </a:r>
          </a:p>
          <a:p>
            <a:r>
              <a:rPr lang="en-GB" sz="1600" dirty="0">
                <a:solidFill>
                  <a:schemeClr val="tx2"/>
                </a:solidFill>
                <a:latin typeface="+mn-lt"/>
              </a:rPr>
              <a:t>Produce a working single-actuator gripper that can close, lock and release objects consistently. The hardware should be clean, maintainable and suitable for repeated testing, with a short assembly, wiring and calibration guide provided.</a:t>
            </a:r>
          </a:p>
          <a:p>
            <a:endParaRPr lang="en-GB" sz="1200" dirty="0">
              <a:solidFill>
                <a:schemeClr val="tx2"/>
              </a:solidFill>
              <a:latin typeface="+mn-lt"/>
            </a:endParaRPr>
          </a:p>
          <a:p>
            <a:r>
              <a:rPr lang="en-GB" sz="1800" b="1" dirty="0">
                <a:solidFill>
                  <a:schemeClr val="tx2"/>
                </a:solidFill>
                <a:latin typeface="+mn-lt"/>
              </a:rPr>
              <a:t>Objective 4 — Define and execute the experimental test protocol</a:t>
            </a:r>
          </a:p>
          <a:p>
            <a:r>
              <a:rPr lang="en-GB" sz="1600" dirty="0">
                <a:solidFill>
                  <a:schemeClr val="tx2"/>
                </a:solidFill>
                <a:latin typeface="+mn-lt"/>
              </a:rPr>
              <a:t>Define a small but representative test set using common objects with different shapes, sizes, stiffness and surface properties. Establish clear success criteria, such as successful grasp, stable hold, release reliability, tactile response consistency and energy use, and execute repeated trials under controlled conditions.</a:t>
            </a:r>
            <a:endParaRPr lang="en-US" sz="1600" dirty="0">
              <a:solidFill>
                <a:schemeClr val="tx2"/>
              </a:solidFill>
              <a:latin typeface="+mn-lt"/>
            </a:endParaRPr>
          </a:p>
        </p:txBody>
      </p:sp>
    </p:spTree>
    <p:extLst>
      <p:ext uri="{BB962C8B-B14F-4D97-AF65-F5344CB8AC3E}">
        <p14:creationId xmlns:p14="http://schemas.microsoft.com/office/powerpoint/2010/main" val="27123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4F6969ED-5C8B-9E4E-A578-E94F1B530D59}"/>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Progress on the report</a:t>
            </a:r>
          </a:p>
          <a:p>
            <a:pPr marL="285750" indent="-285750">
              <a:buFontTx/>
              <a:buChar char="-"/>
            </a:pPr>
            <a:r>
              <a:rPr lang="en-GB" sz="1800" dirty="0">
                <a:solidFill>
                  <a:srgbClr val="002060"/>
                </a:solidFill>
              </a:rPr>
              <a:t>- Test A&amp;B deformation graphs</a:t>
            </a:r>
            <a:endParaRPr lang="en-US" sz="1800" dirty="0">
              <a:solidFill>
                <a:srgbClr val="002060"/>
              </a:solidFill>
            </a:endParaRPr>
          </a:p>
        </p:txBody>
      </p:sp>
      <p:pic>
        <p:nvPicPr>
          <p:cNvPr id="6" name="Picture 5">
            <a:extLst>
              <a:ext uri="{FF2B5EF4-FFF2-40B4-BE49-F238E27FC236}">
                <a16:creationId xmlns:a16="http://schemas.microsoft.com/office/drawing/2014/main" id="{41BB14DD-36B9-5991-8403-9800CFB947FC}"/>
              </a:ext>
            </a:extLst>
          </p:cNvPr>
          <p:cNvPicPr>
            <a:picLocks noChangeAspect="1"/>
          </p:cNvPicPr>
          <p:nvPr/>
        </p:nvPicPr>
        <p:blipFill>
          <a:blip r:embed="rId2"/>
          <a:stretch>
            <a:fillRect/>
          </a:stretch>
        </p:blipFill>
        <p:spPr>
          <a:xfrm>
            <a:off x="1050837" y="1638840"/>
            <a:ext cx="9626604" cy="4574406"/>
          </a:xfrm>
          <a:prstGeom prst="rect">
            <a:avLst/>
          </a:prstGeom>
        </p:spPr>
      </p:pic>
      <p:sp>
        <p:nvSpPr>
          <p:cNvPr id="8" name="TextBox 7">
            <a:extLst>
              <a:ext uri="{FF2B5EF4-FFF2-40B4-BE49-F238E27FC236}">
                <a16:creationId xmlns:a16="http://schemas.microsoft.com/office/drawing/2014/main" id="{CB438900-3255-B054-5000-104415F9CC54}"/>
              </a:ext>
            </a:extLst>
          </p:cNvPr>
          <p:cNvSpPr txBox="1"/>
          <p:nvPr/>
        </p:nvSpPr>
        <p:spPr>
          <a:xfrm>
            <a:off x="5160542" y="6213246"/>
            <a:ext cx="1699504" cy="369332"/>
          </a:xfrm>
          <a:prstGeom prst="rect">
            <a:avLst/>
          </a:prstGeom>
          <a:noFill/>
        </p:spPr>
        <p:txBody>
          <a:bodyPr wrap="none" rtlCol="0">
            <a:spAutoFit/>
          </a:bodyPr>
          <a:lstStyle/>
          <a:p>
            <a:r>
              <a:rPr lang="en-GB" b="1" dirty="0" err="1">
                <a:solidFill>
                  <a:srgbClr val="002060"/>
                </a:solidFill>
              </a:rPr>
              <a:t>Simscale</a:t>
            </a:r>
            <a:r>
              <a:rPr lang="en-GB" b="1" dirty="0">
                <a:solidFill>
                  <a:srgbClr val="002060"/>
                </a:solidFill>
              </a:rPr>
              <a:t> graphs</a:t>
            </a:r>
          </a:p>
        </p:txBody>
      </p:sp>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F9DA69-13AD-1DA3-38B2-6092435A1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31AF6-9F81-D5AB-CBC3-0C83D58AC3EC}"/>
              </a:ext>
            </a:extLst>
          </p:cNvPr>
          <p:cNvSpPr>
            <a:spLocks noGrp="1"/>
          </p:cNvSpPr>
          <p:nvPr>
            <p:ph type="title"/>
          </p:nvPr>
        </p:nvSpPr>
        <p:spPr/>
        <p:txBody>
          <a:bodyPr/>
          <a:lstStyle/>
          <a:p>
            <a:r>
              <a:rPr lang="en-US" dirty="0">
                <a:solidFill>
                  <a:srgbClr val="002060"/>
                </a:solidFill>
              </a:rPr>
              <a:t>Work Completed</a:t>
            </a:r>
          </a:p>
        </p:txBody>
      </p:sp>
      <p:pic>
        <p:nvPicPr>
          <p:cNvPr id="9" name="Picture 8">
            <a:extLst>
              <a:ext uri="{FF2B5EF4-FFF2-40B4-BE49-F238E27FC236}">
                <a16:creationId xmlns:a16="http://schemas.microsoft.com/office/drawing/2014/main" id="{A79EEC48-7451-CD8B-790F-08C5E93A7378}"/>
              </a:ext>
            </a:extLst>
          </p:cNvPr>
          <p:cNvPicPr>
            <a:picLocks noChangeAspect="1"/>
          </p:cNvPicPr>
          <p:nvPr/>
        </p:nvPicPr>
        <p:blipFill>
          <a:blip r:embed="rId2"/>
          <a:stretch>
            <a:fillRect/>
          </a:stretch>
        </p:blipFill>
        <p:spPr>
          <a:xfrm>
            <a:off x="3667124" y="0"/>
            <a:ext cx="6324600" cy="3633755"/>
          </a:xfrm>
          <a:prstGeom prst="rect">
            <a:avLst/>
          </a:prstGeom>
        </p:spPr>
      </p:pic>
      <p:pic>
        <p:nvPicPr>
          <p:cNvPr id="12" name="Picture 11">
            <a:extLst>
              <a:ext uri="{FF2B5EF4-FFF2-40B4-BE49-F238E27FC236}">
                <a16:creationId xmlns:a16="http://schemas.microsoft.com/office/drawing/2014/main" id="{B6C15DFD-98BC-7723-BFD0-99991EAECAB9}"/>
              </a:ext>
            </a:extLst>
          </p:cNvPr>
          <p:cNvPicPr>
            <a:picLocks noChangeAspect="1"/>
          </p:cNvPicPr>
          <p:nvPr/>
        </p:nvPicPr>
        <p:blipFill>
          <a:blip r:embed="rId3"/>
          <a:stretch>
            <a:fillRect/>
          </a:stretch>
        </p:blipFill>
        <p:spPr>
          <a:xfrm>
            <a:off x="4029076" y="3637950"/>
            <a:ext cx="5762624" cy="3220050"/>
          </a:xfrm>
          <a:prstGeom prst="rect">
            <a:avLst/>
          </a:prstGeom>
        </p:spPr>
      </p:pic>
      <p:sp>
        <p:nvSpPr>
          <p:cNvPr id="17" name="TextBox 16">
            <a:extLst>
              <a:ext uri="{FF2B5EF4-FFF2-40B4-BE49-F238E27FC236}">
                <a16:creationId xmlns:a16="http://schemas.microsoft.com/office/drawing/2014/main" id="{3ED54D21-7D02-C55C-F04D-65DA43413E94}"/>
              </a:ext>
            </a:extLst>
          </p:cNvPr>
          <p:cNvSpPr txBox="1"/>
          <p:nvPr/>
        </p:nvSpPr>
        <p:spPr>
          <a:xfrm>
            <a:off x="845232" y="3285578"/>
            <a:ext cx="2693814" cy="369332"/>
          </a:xfrm>
          <a:prstGeom prst="rect">
            <a:avLst/>
          </a:prstGeom>
          <a:noFill/>
        </p:spPr>
        <p:txBody>
          <a:bodyPr wrap="none" rtlCol="0">
            <a:spAutoFit/>
          </a:bodyPr>
          <a:lstStyle/>
          <a:p>
            <a:r>
              <a:rPr lang="en-GB" b="1" dirty="0">
                <a:solidFill>
                  <a:srgbClr val="002060"/>
                </a:solidFill>
              </a:rPr>
              <a:t>Test A deformation graphs</a:t>
            </a:r>
          </a:p>
        </p:txBody>
      </p:sp>
    </p:spTree>
    <p:extLst>
      <p:ext uri="{BB962C8B-B14F-4D97-AF65-F5344CB8AC3E}">
        <p14:creationId xmlns:p14="http://schemas.microsoft.com/office/powerpoint/2010/main" val="32779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CA837D-C12B-BA67-4AC9-EC647A881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63BE0-B3DC-7FB7-CC1A-182838AB7F7F}"/>
              </a:ext>
            </a:extLst>
          </p:cNvPr>
          <p:cNvSpPr>
            <a:spLocks noGrp="1"/>
          </p:cNvSpPr>
          <p:nvPr>
            <p:ph type="title"/>
          </p:nvPr>
        </p:nvSpPr>
        <p:spPr/>
        <p:txBody>
          <a:bodyPr/>
          <a:lstStyle/>
          <a:p>
            <a:r>
              <a:rPr lang="en-US" dirty="0">
                <a:solidFill>
                  <a:srgbClr val="002060"/>
                </a:solidFill>
              </a:rPr>
              <a:t>Work Completed</a:t>
            </a:r>
          </a:p>
        </p:txBody>
      </p:sp>
      <p:sp>
        <p:nvSpPr>
          <p:cNvPr id="17" name="TextBox 16">
            <a:extLst>
              <a:ext uri="{FF2B5EF4-FFF2-40B4-BE49-F238E27FC236}">
                <a16:creationId xmlns:a16="http://schemas.microsoft.com/office/drawing/2014/main" id="{3C6C6ECE-EA4A-0555-CDAD-EF06A35A5A26}"/>
              </a:ext>
            </a:extLst>
          </p:cNvPr>
          <p:cNvSpPr txBox="1"/>
          <p:nvPr/>
        </p:nvSpPr>
        <p:spPr>
          <a:xfrm>
            <a:off x="845232" y="3285578"/>
            <a:ext cx="2684196" cy="369332"/>
          </a:xfrm>
          <a:prstGeom prst="rect">
            <a:avLst/>
          </a:prstGeom>
          <a:noFill/>
        </p:spPr>
        <p:txBody>
          <a:bodyPr wrap="none" rtlCol="0">
            <a:spAutoFit/>
          </a:bodyPr>
          <a:lstStyle/>
          <a:p>
            <a:r>
              <a:rPr lang="en-GB" b="1" dirty="0">
                <a:solidFill>
                  <a:srgbClr val="002060"/>
                </a:solidFill>
              </a:rPr>
              <a:t>Test B deformation graphs</a:t>
            </a:r>
          </a:p>
        </p:txBody>
      </p:sp>
      <p:pic>
        <p:nvPicPr>
          <p:cNvPr id="4" name="Picture 3">
            <a:extLst>
              <a:ext uri="{FF2B5EF4-FFF2-40B4-BE49-F238E27FC236}">
                <a16:creationId xmlns:a16="http://schemas.microsoft.com/office/drawing/2014/main" id="{827E4F23-F65E-84DF-74E0-FD4DE9A0E658}"/>
              </a:ext>
            </a:extLst>
          </p:cNvPr>
          <p:cNvPicPr>
            <a:picLocks noChangeAspect="1"/>
          </p:cNvPicPr>
          <p:nvPr/>
        </p:nvPicPr>
        <p:blipFill>
          <a:blip r:embed="rId2"/>
          <a:stretch>
            <a:fillRect/>
          </a:stretch>
        </p:blipFill>
        <p:spPr>
          <a:xfrm>
            <a:off x="3642615" y="0"/>
            <a:ext cx="6491985" cy="3317163"/>
          </a:xfrm>
          <a:prstGeom prst="rect">
            <a:avLst/>
          </a:prstGeom>
        </p:spPr>
      </p:pic>
      <p:pic>
        <p:nvPicPr>
          <p:cNvPr id="6" name="Picture 5">
            <a:extLst>
              <a:ext uri="{FF2B5EF4-FFF2-40B4-BE49-F238E27FC236}">
                <a16:creationId xmlns:a16="http://schemas.microsoft.com/office/drawing/2014/main" id="{C39D915C-A342-3C00-43EE-37F8CFB8503E}"/>
              </a:ext>
            </a:extLst>
          </p:cNvPr>
          <p:cNvPicPr>
            <a:picLocks noChangeAspect="1"/>
          </p:cNvPicPr>
          <p:nvPr/>
        </p:nvPicPr>
        <p:blipFill>
          <a:blip r:embed="rId3"/>
          <a:stretch>
            <a:fillRect/>
          </a:stretch>
        </p:blipFill>
        <p:spPr>
          <a:xfrm>
            <a:off x="3448707" y="3285578"/>
            <a:ext cx="6965225" cy="3572422"/>
          </a:xfrm>
          <a:prstGeom prst="rect">
            <a:avLst/>
          </a:prstGeom>
        </p:spPr>
      </p:pic>
    </p:spTree>
    <p:extLst>
      <p:ext uri="{BB962C8B-B14F-4D97-AF65-F5344CB8AC3E}">
        <p14:creationId xmlns:p14="http://schemas.microsoft.com/office/powerpoint/2010/main" val="1165261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Problems/Challenges</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a:xfrm>
            <a:off x="450000" y="1152438"/>
            <a:ext cx="10349064" cy="5312369"/>
          </a:xfrm>
        </p:spPr>
        <p:txBody>
          <a:bodyPr>
            <a:normAutofit/>
          </a:bodyPr>
          <a:lstStyle/>
          <a:p>
            <a:pPr marL="285750" indent="-285750">
              <a:buFontTx/>
              <a:buChar char="-"/>
            </a:pPr>
            <a:r>
              <a:rPr lang="en-US" sz="2000" dirty="0">
                <a:solidFill>
                  <a:schemeClr val="tx2"/>
                </a:solidFill>
              </a:rPr>
              <a:t>Weight Precision Scale</a:t>
            </a:r>
          </a:p>
          <a:p>
            <a:pPr marL="285750" indent="-285750">
              <a:buFontTx/>
              <a:buChar char="-"/>
            </a:pPr>
            <a:r>
              <a:rPr lang="en-US" sz="2000" dirty="0">
                <a:solidFill>
                  <a:schemeClr val="tx2"/>
                </a:solidFill>
              </a:rPr>
              <a:t>E-textiles</a:t>
            </a:r>
          </a:p>
          <a:p>
            <a:pPr marL="285750" indent="-285750">
              <a:buFontTx/>
              <a:buChar char="-"/>
            </a:pPr>
            <a:r>
              <a:rPr lang="en-GB" sz="2000" dirty="0">
                <a:solidFill>
                  <a:schemeClr val="tx2"/>
                </a:solidFill>
              </a:rPr>
              <a:t>Test 4: Task-Level Grasping Benchmark with robotic arm</a:t>
            </a:r>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p>
          <a:p>
            <a:endParaRPr lang="en-US" sz="2000" dirty="0"/>
          </a:p>
        </p:txBody>
      </p:sp>
    </p:spTree>
    <p:extLst>
      <p:ext uri="{BB962C8B-B14F-4D97-AF65-F5344CB8AC3E}">
        <p14:creationId xmlns:p14="http://schemas.microsoft.com/office/powerpoint/2010/main" val="368864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Admin</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p:txBody>
          <a:bodyPr>
            <a:normAutofit/>
          </a:bodyPr>
          <a:lstStyle/>
          <a:p>
            <a:pPr marL="285750" indent="-285750">
              <a:buFontTx/>
              <a:buChar char="-"/>
            </a:pPr>
            <a:r>
              <a:rPr lang="en-US" sz="1800" dirty="0">
                <a:solidFill>
                  <a:schemeClr val="bg2">
                    <a:lumMod val="10000"/>
                  </a:schemeClr>
                </a:solidFill>
              </a:rPr>
              <a:t>x</a:t>
            </a:r>
          </a:p>
        </p:txBody>
      </p:sp>
    </p:spTree>
    <p:extLst>
      <p:ext uri="{BB962C8B-B14F-4D97-AF65-F5344CB8AC3E}">
        <p14:creationId xmlns:p14="http://schemas.microsoft.com/office/powerpoint/2010/main" val="14502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2.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docProps/app.xml><?xml version="1.0" encoding="utf-8"?>
<Properties xmlns="http://schemas.openxmlformats.org/officeDocument/2006/extended-properties" xmlns:vt="http://schemas.openxmlformats.org/officeDocument/2006/docPropsVTypes">
  <TotalTime>9607</TotalTime>
  <Words>352</Words>
  <Application>Microsoft Office PowerPoint</Application>
  <PresentationFormat>Widescreen</PresentationFormat>
  <Paragraphs>54</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Development of a Bioinspired Gripper for Soft Robotics with Tactile Capabilities   Weekly Report</vt:lpstr>
      <vt:lpstr>Project Objectives (provisional)</vt:lpstr>
      <vt:lpstr>Work Completed</vt:lpstr>
      <vt:lpstr>Work Completed</vt:lpstr>
      <vt:lpstr>Work Completed</vt:lpstr>
      <vt:lpstr>Problems/Challenges</vt:lpstr>
      <vt:lpstr>Admin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102</cp:revision>
  <dcterms:created xsi:type="dcterms:W3CDTF">2020-05-12T08:44:02Z</dcterms:created>
  <dcterms:modified xsi:type="dcterms:W3CDTF">2026-07-14T12:39:37Z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