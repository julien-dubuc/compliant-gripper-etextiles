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305" r:id="rId5"/>
    <p:sldId id="263" r:id="rId6"/>
    <p:sldId id="264" r:id="rId7"/>
    <p:sldId id="265" r:id="rId8"/>
    <p:sldId id="313" r:id="rId9"/>
    <p:sldId id="31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6"/>
    <p:restoredTop sz="95118" autoAdjust="0"/>
  </p:normalViewPr>
  <p:slideViewPr>
    <p:cSldViewPr snapToGrid="0" snapToObjects="1" showGuides="1">
      <p:cViewPr varScale="1">
        <p:scale>
          <a:sx n="105" d="100"/>
          <a:sy n="105" d="100"/>
        </p:scale>
        <p:origin x="984" y="10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6</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an Underactuated Gripper for Soft Robotics with Tactile Capabilities</a:t>
            </a:r>
            <a:br>
              <a:rPr lang="en-GB" dirty="0"/>
            </a:br>
            <a:r>
              <a:rPr lang="en-GB" sz="1200" dirty="0"/>
              <a:t> </a:t>
            </a:r>
            <a:br>
              <a:rPr lang="en-GB" dirty="0"/>
            </a:br>
            <a:r>
              <a:rPr lang="en-US" sz="4000" dirty="0"/>
              <a:t>Weekly Report</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2CC-BB2E-FB44-A411-233F1859484C}"/>
              </a:ext>
            </a:extLst>
          </p:cNvPr>
          <p:cNvSpPr>
            <a:spLocks noGrp="1"/>
          </p:cNvSpPr>
          <p:nvPr>
            <p:ph type="title"/>
          </p:nvPr>
        </p:nvSpPr>
        <p:spPr/>
        <p:txBody>
          <a:bodyPr/>
          <a:lstStyle/>
          <a:p>
            <a:r>
              <a:rPr lang="en-US" dirty="0"/>
              <a:t>Project Objectives </a:t>
            </a:r>
            <a:r>
              <a:rPr lang="en-US" sz="2400" b="0" i="1" dirty="0"/>
              <a:t>(provisional)</a:t>
            </a:r>
            <a:endParaRPr lang="en-US" b="0" i="1" dirty="0"/>
          </a:p>
        </p:txBody>
      </p:sp>
      <p:sp>
        <p:nvSpPr>
          <p:cNvPr id="3" name="Content Placeholder 2">
            <a:extLst>
              <a:ext uri="{FF2B5EF4-FFF2-40B4-BE49-F238E27FC236}">
                <a16:creationId xmlns:a16="http://schemas.microsoft.com/office/drawing/2014/main" id="{4F630CC8-2AB3-8147-82D7-E10AD17F8AB6}"/>
              </a:ext>
            </a:extLst>
          </p:cNvPr>
          <p:cNvSpPr>
            <a:spLocks noGrp="1"/>
          </p:cNvSpPr>
          <p:nvPr>
            <p:ph idx="1"/>
          </p:nvPr>
        </p:nvSpPr>
        <p:spPr>
          <a:xfrm>
            <a:off x="450000" y="1029732"/>
            <a:ext cx="11259400" cy="5585850"/>
          </a:xfrm>
        </p:spPr>
        <p:txBody>
          <a:bodyPr>
            <a:normAutofit/>
          </a:bodyPr>
          <a:lstStyle/>
          <a:p>
            <a:r>
              <a:rPr lang="en-GB" sz="1800" b="1" dirty="0">
                <a:solidFill>
                  <a:schemeClr val="tx2"/>
                </a:solidFill>
                <a:latin typeface="+mn-lt"/>
              </a:rPr>
              <a:t>Objective 1 - Characterise e-textile sensing materials for robotic tactile applications</a:t>
            </a:r>
          </a:p>
          <a:p>
            <a:r>
              <a:rPr lang="en-GB" sz="1600" dirty="0">
                <a:solidFill>
                  <a:schemeClr val="tx2"/>
                </a:solidFill>
                <a:latin typeface="+mn-lt"/>
              </a:rPr>
              <a:t>Characterise the electromechanical response of selected e-textile materials under controlled loading conditions, with a focus on the relationship between applied force and electrical resistance. Assess repeatability, sensitivity, hysteresis, drift and practical suitability for integration into robotic tactile sensing systems.</a:t>
            </a:r>
          </a:p>
          <a:p>
            <a:endParaRPr lang="en-GB" sz="1200" dirty="0">
              <a:solidFill>
                <a:schemeClr val="tx2"/>
              </a:solidFill>
              <a:latin typeface="+mn-lt"/>
            </a:endParaRPr>
          </a:p>
          <a:p>
            <a:r>
              <a:rPr lang="en-GB" sz="1800" b="1" dirty="0">
                <a:solidFill>
                  <a:schemeClr val="tx2"/>
                </a:solidFill>
                <a:latin typeface="+mn-lt"/>
              </a:rPr>
              <a:t>Objective 2 - Develop an e-textile tactile sensing glove for a robotic gripper/finger</a:t>
            </a:r>
          </a:p>
          <a:p>
            <a:r>
              <a:rPr lang="en-GB" sz="1600" dirty="0">
                <a:solidFill>
                  <a:schemeClr val="tx2"/>
                </a:solidFill>
                <a:latin typeface="+mn-lt"/>
              </a:rPr>
              <a:t>Design and fabricate a tactile sensing layer or glove for a robotic gripper finger using the characterised e-textile material. The sensing element should be mechanically robust, easy to mount, and capable of detecting contact and relative force changes during object interaction.</a:t>
            </a:r>
          </a:p>
          <a:p>
            <a:endParaRPr lang="en-GB" sz="1200" dirty="0">
              <a:solidFill>
                <a:schemeClr val="tx2"/>
              </a:solidFill>
              <a:latin typeface="+mn-lt"/>
            </a:endParaRPr>
          </a:p>
          <a:p>
            <a:r>
              <a:rPr lang="en-GB" sz="1800" b="1" dirty="0">
                <a:solidFill>
                  <a:schemeClr val="tx2"/>
                </a:solidFill>
                <a:latin typeface="+mn-lt"/>
              </a:rPr>
              <a:t>Objective 3 - Build and validate a single-actuator robotic gripper prototype</a:t>
            </a:r>
          </a:p>
          <a:p>
            <a:r>
              <a:rPr lang="en-GB" sz="1600" dirty="0">
                <a:solidFill>
                  <a:schemeClr val="tx2"/>
                </a:solidFill>
                <a:latin typeface="+mn-lt"/>
              </a:rPr>
              <a:t>Produce a working single-actuator gripper that can close, lock and release objects consistently. The hardware should be clean, maintainable and suitable for repeated testing, with a short assembly, wiring and calibration guide provided.</a:t>
            </a:r>
          </a:p>
          <a:p>
            <a:endParaRPr lang="en-GB" sz="1200" dirty="0">
              <a:solidFill>
                <a:schemeClr val="tx2"/>
              </a:solidFill>
              <a:latin typeface="+mn-lt"/>
            </a:endParaRPr>
          </a:p>
          <a:p>
            <a:r>
              <a:rPr lang="en-GB" sz="1800" b="1" dirty="0">
                <a:solidFill>
                  <a:schemeClr val="tx2"/>
                </a:solidFill>
                <a:latin typeface="+mn-lt"/>
              </a:rPr>
              <a:t>Objective 4 - Define and execute the experimental test protocol</a:t>
            </a:r>
          </a:p>
          <a:p>
            <a:r>
              <a:rPr lang="en-GB" sz="1600" dirty="0">
                <a:solidFill>
                  <a:schemeClr val="tx2"/>
                </a:solidFill>
                <a:latin typeface="+mn-lt"/>
              </a:rPr>
              <a:t>Define a small but representative test set using common objects with different shapes, sizes, stiffness and surface properties. Establish clear success criteria, such as successful grasp, stable hold, release reliability, tactile response consistency and energy use, and execute repeated trials under controlled conditions.</a:t>
            </a:r>
            <a:endParaRPr lang="en-US" sz="1600" dirty="0">
              <a:solidFill>
                <a:schemeClr val="tx2"/>
              </a:solidFill>
              <a:latin typeface="+mn-lt"/>
            </a:endParaRPr>
          </a:p>
        </p:txBody>
      </p:sp>
    </p:spTree>
    <p:extLst>
      <p:ext uri="{BB962C8B-B14F-4D97-AF65-F5344CB8AC3E}">
        <p14:creationId xmlns:p14="http://schemas.microsoft.com/office/powerpoint/2010/main" val="27123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4F6969ED-5C8B-9E4E-A578-E94F1B530D59}"/>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Progress on the report &amp; presentation</a:t>
            </a:r>
          </a:p>
          <a:p>
            <a:pPr marL="285750" indent="-285750">
              <a:buFontTx/>
              <a:buChar char="-"/>
            </a:pPr>
            <a:endParaRPr lang="en-US" sz="1800" dirty="0">
              <a:solidFill>
                <a:srgbClr val="002060"/>
              </a:solidFill>
            </a:endParaRPr>
          </a:p>
        </p:txBody>
      </p:sp>
      <p:sp>
        <p:nvSpPr>
          <p:cNvPr id="13" name="TextBox 12">
            <a:extLst>
              <a:ext uri="{FF2B5EF4-FFF2-40B4-BE49-F238E27FC236}">
                <a16:creationId xmlns:a16="http://schemas.microsoft.com/office/drawing/2014/main" id="{9BD3E3C3-98D1-8AED-E71C-16D20A6FC6B7}"/>
              </a:ext>
            </a:extLst>
          </p:cNvPr>
          <p:cNvSpPr txBox="1"/>
          <p:nvPr/>
        </p:nvSpPr>
        <p:spPr>
          <a:xfrm>
            <a:off x="929277" y="3461221"/>
            <a:ext cx="4015074" cy="369332"/>
          </a:xfrm>
          <a:prstGeom prst="rect">
            <a:avLst/>
          </a:prstGeom>
          <a:noFill/>
        </p:spPr>
        <p:txBody>
          <a:bodyPr wrap="square" rtlCol="0">
            <a:spAutoFit/>
          </a:bodyPr>
          <a:lstStyle/>
          <a:p>
            <a:r>
              <a:rPr lang="en-GB" b="1" dirty="0">
                <a:solidFill>
                  <a:srgbClr val="002060"/>
                </a:solidFill>
              </a:rPr>
              <a:t>2D Design of the gloves</a:t>
            </a:r>
          </a:p>
        </p:txBody>
      </p:sp>
      <p:pic>
        <p:nvPicPr>
          <p:cNvPr id="10" name="Picture 9">
            <a:extLst>
              <a:ext uri="{FF2B5EF4-FFF2-40B4-BE49-F238E27FC236}">
                <a16:creationId xmlns:a16="http://schemas.microsoft.com/office/drawing/2014/main" id="{95F865BC-F7F4-9A34-2C02-C09643F5D878}"/>
              </a:ext>
            </a:extLst>
          </p:cNvPr>
          <p:cNvPicPr>
            <a:picLocks noChangeAspect="1"/>
          </p:cNvPicPr>
          <p:nvPr/>
        </p:nvPicPr>
        <p:blipFill>
          <a:blip r:embed="rId2"/>
          <a:stretch>
            <a:fillRect/>
          </a:stretch>
        </p:blipFill>
        <p:spPr>
          <a:xfrm>
            <a:off x="1044837" y="1334289"/>
            <a:ext cx="1891977" cy="2118602"/>
          </a:xfrm>
          <a:prstGeom prst="rect">
            <a:avLst/>
          </a:prstGeom>
        </p:spPr>
      </p:pic>
      <p:pic>
        <p:nvPicPr>
          <p:cNvPr id="14" name="Picture 13">
            <a:extLst>
              <a:ext uri="{FF2B5EF4-FFF2-40B4-BE49-F238E27FC236}">
                <a16:creationId xmlns:a16="http://schemas.microsoft.com/office/drawing/2014/main" id="{F5A8CF36-5F27-DC73-7E3A-252B24B66448}"/>
              </a:ext>
            </a:extLst>
          </p:cNvPr>
          <p:cNvPicPr>
            <a:picLocks noChangeAspect="1"/>
          </p:cNvPicPr>
          <p:nvPr/>
        </p:nvPicPr>
        <p:blipFill>
          <a:blip r:embed="rId3"/>
          <a:stretch>
            <a:fillRect/>
          </a:stretch>
        </p:blipFill>
        <p:spPr>
          <a:xfrm>
            <a:off x="3890211" y="1929384"/>
            <a:ext cx="4381138" cy="2842603"/>
          </a:xfrm>
          <a:prstGeom prst="rect">
            <a:avLst/>
          </a:prstGeom>
        </p:spPr>
      </p:pic>
      <p:pic>
        <p:nvPicPr>
          <p:cNvPr id="17" name="Picture 16">
            <a:extLst>
              <a:ext uri="{FF2B5EF4-FFF2-40B4-BE49-F238E27FC236}">
                <a16:creationId xmlns:a16="http://schemas.microsoft.com/office/drawing/2014/main" id="{545D7BEB-A0A9-9142-6D3C-E3FF58F982FF}"/>
              </a:ext>
            </a:extLst>
          </p:cNvPr>
          <p:cNvPicPr>
            <a:picLocks noChangeAspect="1"/>
          </p:cNvPicPr>
          <p:nvPr/>
        </p:nvPicPr>
        <p:blipFill>
          <a:blip r:embed="rId4"/>
          <a:stretch>
            <a:fillRect/>
          </a:stretch>
        </p:blipFill>
        <p:spPr>
          <a:xfrm>
            <a:off x="8435069" y="1124713"/>
            <a:ext cx="3665491" cy="4199840"/>
          </a:xfrm>
          <a:prstGeom prst="rect">
            <a:avLst/>
          </a:prstGeom>
        </p:spPr>
      </p:pic>
      <p:sp>
        <p:nvSpPr>
          <p:cNvPr id="19" name="TextBox 18">
            <a:extLst>
              <a:ext uri="{FF2B5EF4-FFF2-40B4-BE49-F238E27FC236}">
                <a16:creationId xmlns:a16="http://schemas.microsoft.com/office/drawing/2014/main" id="{2704126B-99B9-01A6-C3F4-FA1426A3BE37}"/>
              </a:ext>
            </a:extLst>
          </p:cNvPr>
          <p:cNvSpPr txBox="1"/>
          <p:nvPr/>
        </p:nvSpPr>
        <p:spPr>
          <a:xfrm>
            <a:off x="5196518" y="4835347"/>
            <a:ext cx="4015074" cy="369332"/>
          </a:xfrm>
          <a:prstGeom prst="rect">
            <a:avLst/>
          </a:prstGeom>
          <a:noFill/>
        </p:spPr>
        <p:txBody>
          <a:bodyPr wrap="square" rtlCol="0">
            <a:spAutoFit/>
          </a:bodyPr>
          <a:lstStyle/>
          <a:p>
            <a:r>
              <a:rPr lang="en-GB" b="1" dirty="0">
                <a:solidFill>
                  <a:srgbClr val="002060"/>
                </a:solidFill>
              </a:rPr>
              <a:t>Design for gloves</a:t>
            </a:r>
          </a:p>
        </p:txBody>
      </p:sp>
      <p:sp>
        <p:nvSpPr>
          <p:cNvPr id="21" name="TextBox 20">
            <a:extLst>
              <a:ext uri="{FF2B5EF4-FFF2-40B4-BE49-F238E27FC236}">
                <a16:creationId xmlns:a16="http://schemas.microsoft.com/office/drawing/2014/main" id="{2B59EBF3-21A9-A790-600B-1395203789B0}"/>
              </a:ext>
            </a:extLst>
          </p:cNvPr>
          <p:cNvSpPr txBox="1"/>
          <p:nvPr/>
        </p:nvSpPr>
        <p:spPr>
          <a:xfrm>
            <a:off x="8271349" y="5307081"/>
            <a:ext cx="4015074" cy="646331"/>
          </a:xfrm>
          <a:prstGeom prst="rect">
            <a:avLst/>
          </a:prstGeom>
          <a:noFill/>
        </p:spPr>
        <p:txBody>
          <a:bodyPr wrap="square" rtlCol="0">
            <a:spAutoFit/>
          </a:bodyPr>
          <a:lstStyle/>
          <a:p>
            <a:pPr algn="ctr"/>
            <a:r>
              <a:rPr lang="en-GB" b="1" dirty="0">
                <a:solidFill>
                  <a:srgbClr val="002060"/>
                </a:solidFill>
              </a:rPr>
              <a:t>Design to attach the gripper to the robotic arm </a:t>
            </a:r>
          </a:p>
        </p:txBody>
      </p:sp>
      <p:pic>
        <p:nvPicPr>
          <p:cNvPr id="23" name="Picture 22">
            <a:extLst>
              <a:ext uri="{FF2B5EF4-FFF2-40B4-BE49-F238E27FC236}">
                <a16:creationId xmlns:a16="http://schemas.microsoft.com/office/drawing/2014/main" id="{AC89343D-CF15-E558-FBFA-7EEE59B03027}"/>
              </a:ext>
            </a:extLst>
          </p:cNvPr>
          <p:cNvPicPr>
            <a:picLocks noChangeAspect="1"/>
          </p:cNvPicPr>
          <p:nvPr/>
        </p:nvPicPr>
        <p:blipFill>
          <a:blip r:embed="rId5"/>
          <a:srcRect t="14661" r="43960" b="32553"/>
          <a:stretch>
            <a:fillRect/>
          </a:stretch>
        </p:blipFill>
        <p:spPr>
          <a:xfrm>
            <a:off x="677533" y="3838883"/>
            <a:ext cx="3026815" cy="2213808"/>
          </a:xfrm>
          <a:prstGeom prst="rect">
            <a:avLst/>
          </a:prstGeom>
        </p:spPr>
      </p:pic>
      <p:sp>
        <p:nvSpPr>
          <p:cNvPr id="25" name="TextBox 24">
            <a:extLst>
              <a:ext uri="{FF2B5EF4-FFF2-40B4-BE49-F238E27FC236}">
                <a16:creationId xmlns:a16="http://schemas.microsoft.com/office/drawing/2014/main" id="{12D1EA43-34F2-181B-B761-E1592493CC4C}"/>
              </a:ext>
            </a:extLst>
          </p:cNvPr>
          <p:cNvSpPr txBox="1"/>
          <p:nvPr/>
        </p:nvSpPr>
        <p:spPr>
          <a:xfrm>
            <a:off x="929277" y="6119158"/>
            <a:ext cx="4015074" cy="369332"/>
          </a:xfrm>
          <a:prstGeom prst="rect">
            <a:avLst/>
          </a:prstGeom>
          <a:noFill/>
        </p:spPr>
        <p:txBody>
          <a:bodyPr wrap="square" rtlCol="0">
            <a:spAutoFit/>
          </a:bodyPr>
          <a:lstStyle/>
          <a:p>
            <a:r>
              <a:rPr lang="en-GB" b="1" dirty="0">
                <a:solidFill>
                  <a:srgbClr val="002060"/>
                </a:solidFill>
              </a:rPr>
              <a:t>Cut the fabric on Cricut</a:t>
            </a:r>
          </a:p>
        </p:txBody>
      </p:sp>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Problems/Challenges</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a:xfrm>
            <a:off x="450000" y="865140"/>
            <a:ext cx="10349064" cy="5312369"/>
          </a:xfrm>
        </p:spPr>
        <p:txBody>
          <a:bodyPr>
            <a:normAutofit/>
          </a:bodyPr>
          <a:lstStyle/>
          <a:p>
            <a:pPr marL="285750" indent="-285750">
              <a:buFontTx/>
              <a:buChar char="-"/>
            </a:pPr>
            <a:r>
              <a:rPr lang="en-GB" sz="2000" dirty="0">
                <a:solidFill>
                  <a:schemeClr val="tx2"/>
                </a:solidFill>
              </a:rPr>
              <a:t>E-textiles</a:t>
            </a:r>
          </a:p>
          <a:p>
            <a:pPr marL="285750" indent="-285750">
              <a:buFontTx/>
              <a:buChar char="-"/>
            </a:pPr>
            <a:r>
              <a:rPr lang="en-GB" sz="2000" dirty="0">
                <a:solidFill>
                  <a:schemeClr val="tx2"/>
                </a:solidFill>
              </a:rPr>
              <a:t>What kind of fabric is used for the gloves? How to use the machines so I can start to build the gloves?</a:t>
            </a:r>
          </a:p>
          <a:p>
            <a:pPr marL="285750" indent="-285750">
              <a:buFontTx/>
              <a:buChar char="-"/>
            </a:pPr>
            <a:r>
              <a:rPr lang="en-GB" sz="2000" dirty="0">
                <a:solidFill>
                  <a:schemeClr val="tx2"/>
                </a:solidFill>
              </a:rPr>
              <a:t>Electronics for the robotic arm.</a:t>
            </a:r>
          </a:p>
          <a:p>
            <a:pPr marL="285750" indent="-285750">
              <a:buFontTx/>
              <a:buChar char="-"/>
            </a:pPr>
            <a:r>
              <a:rPr lang="en-GB" sz="2000" dirty="0">
                <a:solidFill>
                  <a:schemeClr val="tx2"/>
                </a:solidFill>
              </a:rPr>
              <a:t>After E-textiles, test the new idea design (if enough time)</a:t>
            </a:r>
          </a:p>
          <a:p>
            <a:pPr marL="285750" indent="-285750">
              <a:buFontTx/>
              <a:buChar char="-"/>
            </a:pPr>
            <a:r>
              <a:rPr lang="en-GB" sz="2000" dirty="0">
                <a:solidFill>
                  <a:schemeClr val="tx2"/>
                </a:solidFill>
              </a:rPr>
              <a:t>What do I need to do for the paper ? (Test, write </a:t>
            </a:r>
            <a:r>
              <a:rPr lang="en-GB" sz="2000" dirty="0" err="1">
                <a:solidFill>
                  <a:schemeClr val="tx2"/>
                </a:solidFill>
              </a:rPr>
              <a:t>sthg</a:t>
            </a:r>
            <a:r>
              <a:rPr lang="en-GB" sz="2000" dirty="0">
                <a:solidFill>
                  <a:schemeClr val="tx2"/>
                </a:solidFill>
              </a:rPr>
              <a:t>, create accounts on research sites, ..)</a:t>
            </a: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p>
          <a:p>
            <a:endParaRPr lang="en-US" sz="2000" dirty="0"/>
          </a:p>
        </p:txBody>
      </p:sp>
    </p:spTree>
    <p:extLst>
      <p:ext uri="{BB962C8B-B14F-4D97-AF65-F5344CB8AC3E}">
        <p14:creationId xmlns:p14="http://schemas.microsoft.com/office/powerpoint/2010/main" val="368864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Admin</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p:txBody>
          <a:bodyPr>
            <a:normAutofit/>
          </a:bodyPr>
          <a:lstStyle/>
          <a:p>
            <a:pPr marL="285750" indent="-285750">
              <a:buFontTx/>
              <a:buChar char="-"/>
            </a:pPr>
            <a:r>
              <a:rPr lang="en-US" sz="1800" dirty="0">
                <a:solidFill>
                  <a:schemeClr val="bg2">
                    <a:lumMod val="10000"/>
                  </a:schemeClr>
                </a:solidFill>
              </a:rPr>
              <a:t>x</a:t>
            </a:r>
          </a:p>
        </p:txBody>
      </p:sp>
    </p:spTree>
    <p:extLst>
      <p:ext uri="{BB962C8B-B14F-4D97-AF65-F5344CB8AC3E}">
        <p14:creationId xmlns:p14="http://schemas.microsoft.com/office/powerpoint/2010/main" val="14502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2.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customXml/itemProps3.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11527</TotalTime>
  <Words>409</Words>
  <Application>Microsoft Office PowerPoint</Application>
  <PresentationFormat>Widescreen</PresentationFormat>
  <Paragraphs>52</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Development of an Underactuated Gripper for Soft Robotics with Tactile Capabilities   Weekly Report</vt:lpstr>
      <vt:lpstr>Project Objectives (provisional)</vt:lpstr>
      <vt:lpstr>Work Completed</vt:lpstr>
      <vt:lpstr>Problems/Challenges</vt:lpstr>
      <vt:lpstr>Admin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114</cp:revision>
  <dcterms:created xsi:type="dcterms:W3CDTF">2020-05-12T08:44:02Z</dcterms:created>
  <dcterms:modified xsi:type="dcterms:W3CDTF">2026-08-05T13:25:44Z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