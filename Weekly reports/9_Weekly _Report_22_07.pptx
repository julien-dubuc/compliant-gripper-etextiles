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305" r:id="rId5"/>
    <p:sldId id="263" r:id="rId6"/>
    <p:sldId id="264" r:id="rId7"/>
    <p:sldId id="315" r:id="rId8"/>
    <p:sldId id="316" r:id="rId9"/>
    <p:sldId id="265" r:id="rId10"/>
    <p:sldId id="313" r:id="rId11"/>
    <p:sldId id="31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pos="279" userDrawn="1">
          <p15:clr>
            <a:srgbClr val="A4A3A4"/>
          </p15:clr>
        </p15:guide>
        <p15:guide id="3" pos="74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F2E"/>
    <a:srgbClr val="D62598"/>
    <a:srgbClr val="FFC72C"/>
    <a:srgbClr val="C8102E"/>
    <a:srgbClr val="5B6770"/>
    <a:srgbClr val="EBECEB"/>
    <a:srgbClr val="1D428B"/>
    <a:srgbClr val="EBEBEB"/>
    <a:srgbClr val="A2AAAD"/>
    <a:srgbClr val="FFEC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6"/>
    <p:restoredTop sz="95118" autoAdjust="0"/>
  </p:normalViewPr>
  <p:slideViewPr>
    <p:cSldViewPr snapToGrid="0" snapToObjects="1" showGuides="1">
      <p:cViewPr varScale="1">
        <p:scale>
          <a:sx n="105" d="100"/>
          <a:sy n="105" d="100"/>
        </p:scale>
        <p:origin x="984" y="108"/>
      </p:cViewPr>
      <p:guideLst>
        <p:guide orient="horz" pos="3884"/>
        <p:guide pos="279"/>
        <p:guide pos="74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734F5-C09C-034F-8C87-E65835ED0371}"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82E16-648E-924D-810D-2A5C398EE405}" type="slidenum">
              <a:rPr lang="en-US" smtClean="0"/>
              <a:t>‹#›</a:t>
            </a:fld>
            <a:endParaRPr lang="en-US"/>
          </a:p>
        </p:txBody>
      </p:sp>
    </p:spTree>
    <p:extLst>
      <p:ext uri="{BB962C8B-B14F-4D97-AF65-F5344CB8AC3E}">
        <p14:creationId xmlns:p14="http://schemas.microsoft.com/office/powerpoint/2010/main" val="199173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682E16-648E-924D-810D-2A5C398EE405}" type="slidenum">
              <a:rPr lang="en-US" smtClean="0"/>
              <a:t>1</a:t>
            </a:fld>
            <a:endParaRPr lang="en-US"/>
          </a:p>
        </p:txBody>
      </p:sp>
    </p:spTree>
    <p:extLst>
      <p:ext uri="{BB962C8B-B14F-4D97-AF65-F5344CB8AC3E}">
        <p14:creationId xmlns:p14="http://schemas.microsoft.com/office/powerpoint/2010/main" val="309970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682E16-648E-924D-810D-2A5C398EE405}" type="slidenum">
              <a:rPr lang="en-US" smtClean="0"/>
              <a:t>8</a:t>
            </a:fld>
            <a:endParaRPr lang="en-US"/>
          </a:p>
        </p:txBody>
      </p:sp>
    </p:spTree>
    <p:extLst>
      <p:ext uri="{BB962C8B-B14F-4D97-AF65-F5344CB8AC3E}">
        <p14:creationId xmlns:p14="http://schemas.microsoft.com/office/powerpoint/2010/main" val="3381283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1ACEB51D-E552-4F4F-815D-F9BA3D48EBE5}"/>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65564"/>
            <a:ext cx="10856635" cy="2202817"/>
          </a:xfrm>
        </p:spPr>
        <p:txBody>
          <a:bodyPr anchor="b">
            <a:normAutofit/>
          </a:bodyPr>
          <a:lstStyle>
            <a:lvl1pPr algn="l">
              <a:defRPr sz="3400">
                <a:solidFill>
                  <a:schemeClr val="bg1"/>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31980"/>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9" name="UCC-LOGO.png" descr="UCC-LOGO.png">
            <a:extLst>
              <a:ext uri="{FF2B5EF4-FFF2-40B4-BE49-F238E27FC236}">
                <a16:creationId xmlns:a16="http://schemas.microsoft.com/office/drawing/2014/main" id="{98781A96-A5A7-9D45-A592-C39ACFC96CE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0" name="Rectangle 19">
            <a:extLst>
              <a:ext uri="{FF2B5EF4-FFF2-40B4-BE49-F238E27FC236}">
                <a16:creationId xmlns:a16="http://schemas.microsoft.com/office/drawing/2014/main" id="{1D8CA0B7-02C2-984A-84A6-A897BA095057}"/>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4" name="Tyndall-Logo-RGB.png" descr="Tyndall-Logo-RGB.png">
            <a:extLst>
              <a:ext uri="{FF2B5EF4-FFF2-40B4-BE49-F238E27FC236}">
                <a16:creationId xmlns:a16="http://schemas.microsoft.com/office/drawing/2014/main" id="{D605E1BE-4593-B04D-8B62-5E07014A1648}"/>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193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ink">
    <p:spTree>
      <p:nvGrpSpPr>
        <p:cNvPr id="1" name=""/>
        <p:cNvGrpSpPr/>
        <p:nvPr/>
      </p:nvGrpSpPr>
      <p:grpSpPr>
        <a:xfrm>
          <a:off x="0" y="0"/>
          <a:ext cx="0" cy="0"/>
          <a:chOff x="0" y="0"/>
          <a:chExt cx="0" cy="0"/>
        </a:xfrm>
      </p:grpSpPr>
      <p:pic>
        <p:nvPicPr>
          <p:cNvPr id="12" name="Background.jpg" descr="Background.jpg">
            <a:extLst>
              <a:ext uri="{FF2B5EF4-FFF2-40B4-BE49-F238E27FC236}">
                <a16:creationId xmlns:a16="http://schemas.microsoft.com/office/drawing/2014/main" id="{6A4D3049-7738-4E42-9C10-5A8B6BC1A0CF}"/>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45139"/>
            <a:ext cx="10856635" cy="2223242"/>
          </a:xfrm>
        </p:spPr>
        <p:txBody>
          <a:bodyPr anchor="b">
            <a:normAutofit/>
          </a:bodyPr>
          <a:lstStyle>
            <a:lvl1pPr algn="l">
              <a:defRPr sz="3400">
                <a:solidFill>
                  <a:schemeClr val="bg1"/>
                </a:solidFill>
              </a:defRPr>
            </a:lvl1pPr>
          </a:lstStyle>
          <a:p>
            <a:r>
              <a:rPr lang="en-US" dirty="0"/>
              <a:t>Internal use only 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5240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3" name="UCC-LOGO.png" descr="UCC-LOGO.png">
            <a:extLst>
              <a:ext uri="{FF2B5EF4-FFF2-40B4-BE49-F238E27FC236}">
                <a16:creationId xmlns:a16="http://schemas.microsoft.com/office/drawing/2014/main" id="{C95DB139-0ED8-784A-B11D-FF3DEA6EBE3F}"/>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9" name="Rectangle 18">
            <a:extLst>
              <a:ext uri="{FF2B5EF4-FFF2-40B4-BE49-F238E27FC236}">
                <a16:creationId xmlns:a16="http://schemas.microsoft.com/office/drawing/2014/main" id="{BDB79E6E-09E6-6443-9F3C-76D446F344AD}"/>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0" name="Tyndall-Logo-RGB.png" descr="Tyndall-Logo-RGB.png">
            <a:extLst>
              <a:ext uri="{FF2B5EF4-FFF2-40B4-BE49-F238E27FC236}">
                <a16:creationId xmlns:a16="http://schemas.microsoft.com/office/drawing/2014/main" id="{420A3742-8376-6548-A166-BD396D88F21D}"/>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318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10856635" cy="2387600"/>
          </a:xfrm>
        </p:spPr>
        <p:txBody>
          <a:bodyPr anchor="b">
            <a:normAutofit/>
          </a:bodyPr>
          <a:lstStyle>
            <a:lvl1pPr algn="l">
              <a:defRPr sz="3400">
                <a:solidFill>
                  <a:srgbClr val="1D428B"/>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1" name="UCC-LOGO.png" descr="UCC-LOGO.png">
            <a:extLst>
              <a:ext uri="{FF2B5EF4-FFF2-40B4-BE49-F238E27FC236}">
                <a16:creationId xmlns:a16="http://schemas.microsoft.com/office/drawing/2014/main" id="{52CEE4B0-7E25-4142-8C62-9128E286F61E}"/>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19" name="Tyndall-Logo-RGB.png" descr="Tyndall-Logo-RGB.png">
            <a:extLst>
              <a:ext uri="{FF2B5EF4-FFF2-40B4-BE49-F238E27FC236}">
                <a16:creationId xmlns:a16="http://schemas.microsoft.com/office/drawing/2014/main" id="{DAEC9994-AE91-114A-805E-D1E5C02F91F5}"/>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618631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blue with imag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59255" y="1658687"/>
            <a:ext cx="6213008" cy="2109693"/>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59255" y="3860456"/>
            <a:ext cx="6213008" cy="1338857"/>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21" name="UCC-LOGO.png" descr="UCC-LOGO.png">
            <a:extLst>
              <a:ext uri="{FF2B5EF4-FFF2-40B4-BE49-F238E27FC236}">
                <a16:creationId xmlns:a16="http://schemas.microsoft.com/office/drawing/2014/main" id="{D15B8469-13C4-6A43-BC79-70B9DFD87C38}"/>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9B1692A4-8AD2-BC4C-B200-9058DFB38840}"/>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FC1726BB-E9A5-6A4F-BE11-FEA61B952A1E}"/>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4110443014"/>
      </p:ext>
    </p:extLst>
  </p:cSld>
  <p:clrMapOvr>
    <a:masterClrMapping/>
  </p:clrMapOvr>
  <p:extLst>
    <p:ext uri="{DCECCB84-F9BA-43D5-87BE-67443E8EF086}">
      <p15:sldGuideLst xmlns:p15="http://schemas.microsoft.com/office/powerpoint/2012/main">
        <p15:guide id="1" pos="279" userDrawn="1">
          <p15:clr>
            <a:srgbClr val="FBAE40"/>
          </p15:clr>
        </p15:guide>
        <p15:guide id="2" pos="42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with image 2">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BD3F9851-282A-E049-8513-E1AE70DA034E}"/>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0" name="Picture Placeholder 15">
            <a:extLst>
              <a:ext uri="{FF2B5EF4-FFF2-40B4-BE49-F238E27FC236}">
                <a16:creationId xmlns:a16="http://schemas.microsoft.com/office/drawing/2014/main" id="{545DEBC4-9299-0049-9D8A-AC3FBC5ADCE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95895"/>
            <a:ext cx="6187709" cy="2072485"/>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0164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54C3AF10-CFB3-6840-BB91-8F983828C37D}"/>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32596769-85CB-954E-8C52-199F9283526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034CD78D-C3DF-3B48-A339-FB04E0F1BC4C}"/>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388BDDF4-6E20-9A43-BF4F-0144502F620B}"/>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38E5F1C3-5F8F-2B4E-96D9-31DAACBFC86D}"/>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C0A878A5-406E-3147-9306-784B12C26156}"/>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1" name="Rectangle 20">
            <a:extLst>
              <a:ext uri="{FF2B5EF4-FFF2-40B4-BE49-F238E27FC236}">
                <a16:creationId xmlns:a16="http://schemas.microsoft.com/office/drawing/2014/main" id="{9E3075AC-945F-1B4F-9375-E5AEE66CED88}"/>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29C6501F-AC63-B449-8510-E9C3DCA04285}"/>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3724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ink with image">
    <p:spTree>
      <p:nvGrpSpPr>
        <p:cNvPr id="1" name=""/>
        <p:cNvGrpSpPr/>
        <p:nvPr/>
      </p:nvGrpSpPr>
      <p:grpSpPr>
        <a:xfrm>
          <a:off x="0" y="0"/>
          <a:ext cx="0" cy="0"/>
          <a:chOff x="0" y="0"/>
          <a:chExt cx="0" cy="0"/>
        </a:xfrm>
      </p:grpSpPr>
      <p:pic>
        <p:nvPicPr>
          <p:cNvPr id="14" name="Background.jpg" descr="Background.jpg">
            <a:extLst>
              <a:ext uri="{FF2B5EF4-FFF2-40B4-BE49-F238E27FC236}">
                <a16:creationId xmlns:a16="http://schemas.microsoft.com/office/drawing/2014/main" id="{9EA92D42-B1DE-5D44-ABFE-84993FDC333B}"/>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B99E1A16-150C-B845-8DBB-4683A547F369}"/>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708837"/>
            <a:ext cx="6187709" cy="2059543"/>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74927" y="3860457"/>
            <a:ext cx="6187709" cy="128870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2383DF64-48E3-3D41-A47E-507AAB375C2B}"/>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99B38AAB-5C7D-0843-9D2C-1FFB0618A16B}"/>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29C03A53-5A4B-6442-B6EE-138C5D934FC4}"/>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B4026CC8-C719-2F48-997A-A5A089CDC406}"/>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294FFCAD-4EDC-C743-95C0-8782AC9715D9}"/>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22CA3EEA-628F-7044-9A0F-8A936986BD7B}"/>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58786591-7914-6749-B0C7-CF97A8363951}"/>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D3D03194-4B33-804C-AA51-3B8B1BE622AC}"/>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010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ink with image 2">
    <p:spTree>
      <p:nvGrpSpPr>
        <p:cNvPr id="1" name=""/>
        <p:cNvGrpSpPr/>
        <p:nvPr/>
      </p:nvGrpSpPr>
      <p:grpSpPr>
        <a:xfrm>
          <a:off x="0" y="0"/>
          <a:ext cx="0" cy="0"/>
          <a:chOff x="0" y="0"/>
          <a:chExt cx="0" cy="0"/>
        </a:xfrm>
      </p:grpSpPr>
      <p:pic>
        <p:nvPicPr>
          <p:cNvPr id="13" name="Background.jpg" descr="Background.jpg">
            <a:extLst>
              <a:ext uri="{FF2B5EF4-FFF2-40B4-BE49-F238E27FC236}">
                <a16:creationId xmlns:a16="http://schemas.microsoft.com/office/drawing/2014/main" id="{67024D2E-B782-5B4D-B31D-1D2E4C725F62}"/>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71278A4F-C094-2447-9AC6-5B7C1EB8B6B1}"/>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62545"/>
            <a:ext cx="6187709" cy="2105836"/>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3499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047029A1-25DC-CC4B-8AAB-62F87D82EB47}"/>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B0D4ABC2-7CC3-6342-ADBE-93954C847ABA}"/>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F5E68E45-169E-A84F-93E3-E55537A9FCDA}"/>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28DD9994-2D4F-FA48-B816-59922049E961}"/>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6999AA18-4221-4E4C-B9C0-228F3C2A61E8}"/>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4" name="UCC-LOGO.png" descr="UCC-LOGO.png">
            <a:extLst>
              <a:ext uri="{FF2B5EF4-FFF2-40B4-BE49-F238E27FC236}">
                <a16:creationId xmlns:a16="http://schemas.microsoft.com/office/drawing/2014/main" id="{802B84D5-98BA-9944-ACF4-B6F14508898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6" name="Rectangle 15">
            <a:extLst>
              <a:ext uri="{FF2B5EF4-FFF2-40B4-BE49-F238E27FC236}">
                <a16:creationId xmlns:a16="http://schemas.microsoft.com/office/drawing/2014/main" id="{C3218B6E-8182-7C4C-9A4E-FF44DABB2C09}"/>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758EC6FC-55EA-B843-B80E-D306D4DEB761}"/>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8222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white with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6187709" cy="2387600"/>
          </a:xfrm>
        </p:spPr>
        <p:txBody>
          <a:bodyPr anchor="b">
            <a:normAutofit/>
          </a:bodyPr>
          <a:lstStyle>
            <a:lvl1pPr algn="l">
              <a:defRPr sz="3400">
                <a:solidFill>
                  <a:srgbClr val="1D428B"/>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2" name="UCC-LOGO.png" descr="UCC-LOGO.png">
            <a:extLst>
              <a:ext uri="{FF2B5EF4-FFF2-40B4-BE49-F238E27FC236}">
                <a16:creationId xmlns:a16="http://schemas.microsoft.com/office/drawing/2014/main" id="{17A64194-63D4-5045-A5DD-FE5D42D12E58}"/>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20" name="Tyndall-Logo-RGB.png" descr="Tyndall-Logo-RGB.png">
            <a:extLst>
              <a:ext uri="{FF2B5EF4-FFF2-40B4-BE49-F238E27FC236}">
                <a16:creationId xmlns:a16="http://schemas.microsoft.com/office/drawing/2014/main" id="{E27F25BD-9FD7-6F41-B4A9-8DCD51E459D9}"/>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1256042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latin typeface="+mj-lt"/>
              </a:defRPr>
            </a:lvl1pPr>
          </a:lstStyle>
          <a:p>
            <a:fld id="{8ABE9924-9C5E-0140-A59E-99F9AC1E36CD}" type="slidenum">
              <a:rPr lang="en-US" smtClean="0"/>
              <a:pPr/>
              <a:t>‹#›</a:t>
            </a:fld>
            <a:endParaRPr lang="en-US" dirty="0"/>
          </a:p>
        </p:txBody>
      </p:sp>
      <p:pic>
        <p:nvPicPr>
          <p:cNvPr id="9" name="Tyndall-Logo-RGB.png" descr="Tyndall-Logo-RGB.png">
            <a:extLst>
              <a:ext uri="{FF2B5EF4-FFF2-40B4-BE49-F238E27FC236}">
                <a16:creationId xmlns:a16="http://schemas.microsoft.com/office/drawing/2014/main" id="{87937261-52F6-344D-8C30-85EF59C507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4114153952"/>
      </p:ext>
    </p:extLst>
  </p:cSld>
  <p:clrMapOvr>
    <a:masterClrMapping/>
  </p:clrMapOvr>
  <p:extLst>
    <p:ext uri="{DCECCB84-F9BA-43D5-87BE-67443E8EF086}">
      <p15:sldGuideLst xmlns:p15="http://schemas.microsoft.com/office/powerpoint/2012/main">
        <p15:guide id="1" orient="horz" pos="2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9" name="Tyndall-Logo-White.png" descr="Tyndall-Logo-White.png">
            <a:extLst>
              <a:ext uri="{FF2B5EF4-FFF2-40B4-BE49-F238E27FC236}">
                <a16:creationId xmlns:a16="http://schemas.microsoft.com/office/drawing/2014/main" id="{F06E1B25-02A4-C24A-A4D0-5F60A61610C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54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10" name="Tyndall-Logo-White.png" descr="Tyndall-Logo-White.png">
            <a:extLst>
              <a:ext uri="{FF2B5EF4-FFF2-40B4-BE49-F238E27FC236}">
                <a16:creationId xmlns:a16="http://schemas.microsoft.com/office/drawing/2014/main" id="{DF7387B3-1C3E-2944-8DCF-257293C1ED7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817884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yellow">
    <p:bg>
      <p:bgPr>
        <a:solidFill>
          <a:srgbClr val="FFEC9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tx1"/>
                </a:solidFill>
              </a:defRPr>
            </a:lvl1pPr>
          </a:lstStyle>
          <a:p>
            <a:fld id="{8ABE9924-9C5E-0140-A59E-99F9AC1E36CD}" type="slidenum">
              <a:rPr lang="en-US" smtClean="0"/>
              <a:pPr/>
              <a:t>‹#›</a:t>
            </a:fld>
            <a:endParaRPr lang="en-US" dirty="0"/>
          </a:p>
        </p:txBody>
      </p:sp>
      <p:pic>
        <p:nvPicPr>
          <p:cNvPr id="11" name="Tyndall-Logo-RGB.png" descr="Tyndall-Logo-RGB.png">
            <a:extLst>
              <a:ext uri="{FF2B5EF4-FFF2-40B4-BE49-F238E27FC236}">
                <a16:creationId xmlns:a16="http://schemas.microsoft.com/office/drawing/2014/main" id="{624717C3-1E57-A44B-ACFF-6F3440D0E0B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398738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D8C498E-B84E-F04A-96D2-1FE5905C753B}"/>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611122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6111221"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Tree>
    <p:extLst>
      <p:ext uri="{BB962C8B-B14F-4D97-AF65-F5344CB8AC3E}">
        <p14:creationId xmlns:p14="http://schemas.microsoft.com/office/powerpoint/2010/main" val="2497861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image blu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4D321AA-831C-E348-9E4B-5A12B8DA63E2}"/>
              </a:ext>
            </a:extLst>
          </p:cNvPr>
          <p:cNvSpPr>
            <a:spLocks noGrp="1"/>
          </p:cNvSpPr>
          <p:nvPr>
            <p:ph type="pic" sz="quarter" idx="13"/>
          </p:nvPr>
        </p:nvSpPr>
        <p:spPr>
          <a:xfrm>
            <a:off x="7299325" y="0"/>
            <a:ext cx="4892675" cy="6858000"/>
          </a:xfrm>
        </p:spPr>
        <p:txBody>
          <a:bodyPr/>
          <a:lstStyle/>
          <a:p>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
        <p:nvSpPr>
          <p:cNvPr id="7" name="Title 1">
            <a:extLst>
              <a:ext uri="{FF2B5EF4-FFF2-40B4-BE49-F238E27FC236}">
                <a16:creationId xmlns:a16="http://schemas.microsoft.com/office/drawing/2014/main" id="{3201195E-2981-7B4A-811A-603C735FC2D2}"/>
              </a:ext>
            </a:extLst>
          </p:cNvPr>
          <p:cNvSpPr txBox="1">
            <a:spLocks/>
          </p:cNvSpPr>
          <p:nvPr userDrawn="1"/>
        </p:nvSpPr>
        <p:spPr>
          <a:xfrm>
            <a:off x="838200" y="365125"/>
            <a:ext cx="572302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mn-lt"/>
                <a:ea typeface="+mj-ea"/>
                <a:cs typeface="+mj-cs"/>
              </a:defRPr>
            </a:lvl1pPr>
          </a:lstStyle>
          <a:p>
            <a:endParaRPr lang="en-US" dirty="0"/>
          </a:p>
        </p:txBody>
      </p:sp>
      <p:sp>
        <p:nvSpPr>
          <p:cNvPr id="4" name="Title 3">
            <a:extLst>
              <a:ext uri="{FF2B5EF4-FFF2-40B4-BE49-F238E27FC236}">
                <a16:creationId xmlns:a16="http://schemas.microsoft.com/office/drawing/2014/main" id="{134A0026-7F86-4541-A0EE-1ECB1000FEA5}"/>
              </a:ext>
            </a:extLst>
          </p:cNvPr>
          <p:cNvSpPr>
            <a:spLocks noGrp="1"/>
          </p:cNvSpPr>
          <p:nvPr>
            <p:ph type="title"/>
          </p:nvPr>
        </p:nvSpPr>
        <p:spPr>
          <a:xfrm>
            <a:off x="450000" y="242418"/>
            <a:ext cx="6111221" cy="775084"/>
          </a:xfrm>
        </p:spPr>
        <p:txBody>
          <a:bodyPr/>
          <a:lstStyle/>
          <a:p>
            <a:r>
              <a:rPr lang="en-GB" dirty="0"/>
              <a:t>Click to edit Master title style</a:t>
            </a:r>
            <a:endParaRPr lang="en-US" dirty="0"/>
          </a:p>
        </p:txBody>
      </p:sp>
    </p:spTree>
    <p:extLst>
      <p:ext uri="{BB962C8B-B14F-4D97-AF65-F5344CB8AC3E}">
        <p14:creationId xmlns:p14="http://schemas.microsoft.com/office/powerpoint/2010/main" val="447942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green">
    <p:bg>
      <p:bgPr>
        <a:solidFill>
          <a:schemeClr val="accent5"/>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4C144F1-FD66-9044-97E9-C2BD851771D8}"/>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39342"/>
            <a:ext cx="6111221" cy="775084"/>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105959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49999" y="1152439"/>
            <a:ext cx="11305395" cy="5024524"/>
          </a:xfrm>
        </p:spPr>
        <p:txBody>
          <a:bodyPr numCol="2"/>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44794"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2C9E771C-E915-9B44-B8EE-47B4345A83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26956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9" name="Tyndall-Logo-RGB.png" descr="Tyndall-Logo-RGB.png">
            <a:extLst>
              <a:ext uri="{FF2B5EF4-FFF2-40B4-BE49-F238E27FC236}">
                <a16:creationId xmlns:a16="http://schemas.microsoft.com/office/drawing/2014/main" id="{CDB02896-C3AD-E146-A3E8-A1AFFA91DE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176253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8934631" cy="787314"/>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36604" y="1152439"/>
            <a:ext cx="11305395" cy="5024524"/>
          </a:xfrm>
        </p:spPr>
        <p:txBody>
          <a:bodyPr/>
          <a:lstStyle/>
          <a:p>
            <a:endParaRPr lang="en-US" dirty="0"/>
          </a:p>
        </p:txBody>
      </p:sp>
      <p:pic>
        <p:nvPicPr>
          <p:cNvPr id="10" name="Tyndall-Logo-RGB.png" descr="Tyndall-Logo-RGB.png">
            <a:extLst>
              <a:ext uri="{FF2B5EF4-FFF2-40B4-BE49-F238E27FC236}">
                <a16:creationId xmlns:a16="http://schemas.microsoft.com/office/drawing/2014/main" id="{6C595C07-28AC-5B44-A09E-F0A6D9F93CC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399601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1556"/>
            <a:ext cx="854643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3817202"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2"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748463" y="1152439"/>
            <a:ext cx="6993537" cy="5024524"/>
          </a:xfrm>
        </p:spPr>
        <p:txBody>
          <a:bodyPr/>
          <a:lstStyle/>
          <a:p>
            <a:endParaRPr lang="en-US" dirty="0"/>
          </a:p>
        </p:txBody>
      </p:sp>
      <p:pic>
        <p:nvPicPr>
          <p:cNvPr id="8" name="Tyndall-Logo-RGB.png" descr="Tyndall-Logo-RGB.png">
            <a:extLst>
              <a:ext uri="{FF2B5EF4-FFF2-40B4-BE49-F238E27FC236}">
                <a16:creationId xmlns:a16="http://schemas.microsoft.com/office/drawing/2014/main" id="{C5170D93-4B50-A842-BF1A-1837F31F81C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785135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A2B5B30-26E9-CB47-9FDF-3B8AAA83925F}"/>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2417"/>
            <a:ext cx="6398957" cy="787315"/>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51022" y="1152439"/>
            <a:ext cx="6398958" cy="5024524"/>
          </a:xfrm>
        </p:spPr>
        <p:txBody>
          <a:bodyPr/>
          <a:lstStyle/>
          <a:p>
            <a:endParaRPr lang="en-US" dirty="0"/>
          </a:p>
        </p:txBody>
      </p:sp>
    </p:spTree>
    <p:extLst>
      <p:ext uri="{BB962C8B-B14F-4D97-AF65-F5344CB8AC3E}">
        <p14:creationId xmlns:p14="http://schemas.microsoft.com/office/powerpoint/2010/main" val="182522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EFBF1593-9B7E-1A4B-B140-2F50E895E51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0137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pink">
    <p:bg>
      <p:bgPr>
        <a:solidFill>
          <a:schemeClr val="accent5"/>
        </a:solidFill>
        <a:effectLst/>
      </p:bgPr>
    </p:bg>
    <p:spTree>
      <p:nvGrpSpPr>
        <p:cNvPr id="1" name=""/>
        <p:cNvGrpSpPr/>
        <p:nvPr/>
      </p:nvGrpSpPr>
      <p:grpSpPr>
        <a:xfrm>
          <a:off x="0" y="0"/>
          <a:ext cx="0" cy="0"/>
          <a:chOff x="0" y="0"/>
          <a:chExt cx="0" cy="0"/>
        </a:xfrm>
      </p:grpSpPr>
      <p:pic>
        <p:nvPicPr>
          <p:cNvPr id="10" name="Background.jpg" descr="Background.jpg">
            <a:extLst>
              <a:ext uri="{FF2B5EF4-FFF2-40B4-BE49-F238E27FC236}">
                <a16:creationId xmlns:a16="http://schemas.microsoft.com/office/drawing/2014/main" id="{CC6DCAB7-69A6-9246-B23C-83B1776CED59}"/>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4225743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5"/>
        </a:solidFill>
        <a:effectLst/>
      </p:bgPr>
    </p:bg>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6753A41B-83B2-634D-A6D4-AF76EC3A6424}"/>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5317794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ving Divider">
    <p:bg>
      <p:bgPr>
        <a:solidFill>
          <a:schemeClr val="accent5"/>
        </a:solidFill>
        <a:effectLst/>
      </p:bgPr>
    </p:bg>
    <p:spTree>
      <p:nvGrpSpPr>
        <p:cNvPr id="1" name=""/>
        <p:cNvGrpSpPr/>
        <p:nvPr/>
      </p:nvGrpSpPr>
      <p:grpSpPr>
        <a:xfrm>
          <a:off x="0" y="0"/>
          <a:ext cx="0" cy="0"/>
          <a:chOff x="0" y="0"/>
          <a:chExt cx="0" cy="0"/>
        </a:xfrm>
      </p:grpSpPr>
      <p:pic>
        <p:nvPicPr>
          <p:cNvPr id="7" name="2025_Goals_values slides_vs.33.jpeg" descr="2025_Goals_values slides_vs.33.jpeg">
            <a:extLst>
              <a:ext uri="{FF2B5EF4-FFF2-40B4-BE49-F238E27FC236}">
                <a16:creationId xmlns:a16="http://schemas.microsoft.com/office/drawing/2014/main" id="{D327B661-AE1D-9B4D-BA7F-CE1980F006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5283199" y="-48048"/>
            <a:ext cx="17475200" cy="6905646"/>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0405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withEffect">
                                  <p:stCondLst>
                                    <p:cond delay="0"/>
                                  </p:stCondLst>
                                  <p:endCondLst>
                                    <p:cond evt="onNext" delay="0">
                                      <p:tgtEl>
                                        <p:sldTgt/>
                                      </p:tgtEl>
                                    </p:cond>
                                  </p:endCondLst>
                                  <p:childTnLst>
                                    <p:animMotion origin="layout" path="M -3.33333E-6 2.22222E-6 L 0.42292 2.22222E-6 " pathEditMode="relative" rAng="0" ptsTypes="AA">
                                      <p:cBhvr>
                                        <p:cTn id="6" dur="45000" fill="hold"/>
                                        <p:tgtEl>
                                          <p:spTgt spid="7"/>
                                        </p:tgtEl>
                                        <p:attrNameLst>
                                          <p:attrName>ppt_x</p:attrName>
                                          <p:attrName>ppt_y</p:attrName>
                                        </p:attrNameLst>
                                      </p:cBhvr>
                                      <p:rCtr x="2114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yellow">
    <p:bg>
      <p:bgPr>
        <a:solidFill>
          <a:schemeClr val="accent5"/>
        </a:solidFill>
        <a:effectLst/>
      </p:bgPr>
    </p:bg>
    <p:spTree>
      <p:nvGrpSpPr>
        <p:cNvPr id="1" name=""/>
        <p:cNvGrpSpPr/>
        <p:nvPr/>
      </p:nvGrpSpPr>
      <p:grpSpPr>
        <a:xfrm>
          <a:off x="0" y="0"/>
          <a:ext cx="0" cy="0"/>
          <a:chOff x="0" y="0"/>
          <a:chExt cx="0" cy="0"/>
        </a:xfrm>
      </p:grpSpPr>
      <p:pic>
        <p:nvPicPr>
          <p:cNvPr id="7" name="Picture 6" descr="A close up of a tree&#10;&#10;Description automatically generated">
            <a:extLst>
              <a:ext uri="{FF2B5EF4-FFF2-40B4-BE49-F238E27FC236}">
                <a16:creationId xmlns:a16="http://schemas.microsoft.com/office/drawing/2014/main" id="{784D917A-6BDA-364C-AD9D-90FE689733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40"/>
            <a:ext cx="12192000" cy="6857720"/>
          </a:xfrm>
          <a:prstGeom prst="rect">
            <a:avLst/>
          </a:prstGeom>
        </p:spPr>
      </p:pic>
      <p:sp>
        <p:nvSpPr>
          <p:cNvPr id="8" name="Rectangle 7">
            <a:extLst>
              <a:ext uri="{FF2B5EF4-FFF2-40B4-BE49-F238E27FC236}">
                <a16:creationId xmlns:a16="http://schemas.microsoft.com/office/drawing/2014/main" id="{7FAE6F72-25CC-E244-B01F-2F560C770203}"/>
              </a:ext>
            </a:extLst>
          </p:cNvPr>
          <p:cNvSpPr/>
          <p:nvPr userDrawn="1"/>
        </p:nvSpPr>
        <p:spPr>
          <a:xfrm>
            <a:off x="0" y="529389"/>
            <a:ext cx="9192126" cy="5277853"/>
          </a:xfrm>
          <a:prstGeom prst="rect">
            <a:avLst/>
          </a:prstGeom>
          <a:solidFill>
            <a:srgbClr val="FFEC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81265" y="952967"/>
            <a:ext cx="8325852" cy="4453222"/>
          </a:xfrm>
        </p:spPr>
        <p:txBody>
          <a:bodyPr anchor="ctr">
            <a:normAutofit/>
          </a:bodyPr>
          <a:lstStyle>
            <a:lvl1pPr marL="0" indent="0" algn="l">
              <a:buClr>
                <a:schemeClr val="accent2"/>
              </a:buClr>
              <a:buFont typeface="Arial" panose="020B0604020202020204" pitchFamily="34" charset="0"/>
              <a:buNone/>
              <a:defRPr sz="2800" b="1">
                <a:solidFill>
                  <a:schemeClr val="accent1"/>
                </a:solidFill>
                <a:latin typeface="+mn-lt"/>
              </a:defRPr>
            </a:lvl1pPr>
            <a:lvl2pPr marL="457200" indent="0" algn="l">
              <a:buClr>
                <a:schemeClr val="accent2"/>
              </a:buClr>
              <a:buFont typeface="Arial" panose="020B0604020202020204" pitchFamily="34" charset="0"/>
              <a:buNone/>
              <a:defRPr sz="2800" b="1">
                <a:solidFill>
                  <a:schemeClr val="accent1"/>
                </a:solidFill>
                <a:latin typeface="+mn-lt"/>
              </a:defRPr>
            </a:lvl2pPr>
            <a:lvl3pPr marL="914400" indent="0" algn="l">
              <a:buClr>
                <a:schemeClr val="accent2"/>
              </a:buClr>
              <a:buFont typeface="Arial" panose="020B0604020202020204" pitchFamily="34" charset="0"/>
              <a:buNone/>
              <a:defRPr sz="2800" b="1">
                <a:solidFill>
                  <a:schemeClr val="accent1"/>
                </a:solidFill>
                <a:latin typeface="+mn-lt"/>
              </a:defRPr>
            </a:lvl3pPr>
            <a:lvl4pPr marL="1371600" indent="0" algn="l">
              <a:buClr>
                <a:schemeClr val="accent2"/>
              </a:buClr>
              <a:buFont typeface="Arial" panose="020B0604020202020204" pitchFamily="34" charset="0"/>
              <a:buNone/>
              <a:defRPr sz="2800" b="1">
                <a:solidFill>
                  <a:schemeClr val="accent1"/>
                </a:solidFill>
                <a:latin typeface="+mn-lt"/>
              </a:defRPr>
            </a:lvl4pPr>
            <a:lvl5pPr marL="1828800" indent="0" algn="l">
              <a:buClr>
                <a:schemeClr val="accent2"/>
              </a:buClr>
              <a:buFont typeface="Arial" panose="020B0604020202020204" pitchFamily="34" charset="0"/>
              <a:buNone/>
              <a:defRPr sz="2800" b="1">
                <a:solidFill>
                  <a:schemeClr val="accent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81264" y="6356350"/>
            <a:ext cx="6079957"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17403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oving quote">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BC7DA2-A041-5947-A9E7-284E3D37142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4098140"/>
            <a:ext cx="12191999" cy="18281657"/>
          </a:xfrm>
          <a:prstGeom prst="rect">
            <a:avLst/>
          </a:prstGeom>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3600" b="1">
                <a:solidFill>
                  <a:schemeClr val="bg1"/>
                </a:solidFill>
                <a:latin typeface="+mn-lt"/>
              </a:defRPr>
            </a:lvl1pPr>
            <a:lvl2pPr algn="ctr">
              <a:buClr>
                <a:schemeClr val="bg1"/>
              </a:buClr>
              <a:defRPr sz="3600" b="1">
                <a:solidFill>
                  <a:schemeClr val="bg1"/>
                </a:solidFill>
                <a:latin typeface="+mn-lt"/>
              </a:defRPr>
            </a:lvl2pPr>
            <a:lvl3pPr algn="ctr">
              <a:buClr>
                <a:schemeClr val="bg1"/>
              </a:buClr>
              <a:defRPr sz="3600" b="1">
                <a:solidFill>
                  <a:schemeClr val="bg1"/>
                </a:solidFill>
                <a:latin typeface="+mn-lt"/>
              </a:defRPr>
            </a:lvl3pPr>
            <a:lvl4pPr algn="ctr">
              <a:buClr>
                <a:schemeClr val="bg1"/>
              </a:buClr>
              <a:defRPr sz="3600" b="1">
                <a:solidFill>
                  <a:schemeClr val="bg1"/>
                </a:solidFill>
                <a:latin typeface="+mn-lt"/>
              </a:defRPr>
            </a:lvl4pPr>
            <a:lvl5pPr algn="ctr">
              <a:buClr>
                <a:schemeClr val="bg1"/>
              </a:buClr>
              <a:defRPr sz="36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8004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remove" nodeType="withEffect">
                                  <p:stCondLst>
                                    <p:cond delay="0"/>
                                  </p:stCondLst>
                                  <p:endCondLst>
                                    <p:cond evt="onNext" delay="0">
                                      <p:tgtEl>
                                        <p:sldTgt/>
                                      </p:tgtEl>
                                    </p:cond>
                                  </p:endCondLst>
                                  <p:childTnLst>
                                    <p:animMotion origin="layout" path="M 0 4.81481E-6 L 0 0.57986 " pathEditMode="relative" rAng="0" ptsTypes="AA">
                                      <p:cBhvr>
                                        <p:cTn id="6" dur="90000" fill="hold"/>
                                        <p:tgtEl>
                                          <p:spTgt spid="7"/>
                                        </p:tgtEl>
                                        <p:attrNameLst>
                                          <p:attrName>ppt_x</p:attrName>
                                          <p:attrName>ppt_y</p:attrName>
                                        </p:attrNameLst>
                                      </p:cBhvr>
                                      <p:rCtr x="0" y="2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14" name="Subtitle 2">
            <a:extLst>
              <a:ext uri="{FF2B5EF4-FFF2-40B4-BE49-F238E27FC236}">
                <a16:creationId xmlns:a16="http://schemas.microsoft.com/office/drawing/2014/main" id="{70AB7283-9BD8-9F4F-896C-4DC51ED86A0A}"/>
              </a:ext>
            </a:extLst>
          </p:cNvPr>
          <p:cNvSpPr>
            <a:spLocks noGrp="1"/>
          </p:cNvSpPr>
          <p:nvPr>
            <p:ph type="subTitle" idx="1" hasCustomPrompt="1"/>
          </p:nvPr>
        </p:nvSpPr>
        <p:spPr>
          <a:xfrm>
            <a:off x="1360814" y="3441032"/>
            <a:ext cx="9836714" cy="1862488"/>
          </a:xfrm>
        </p:spPr>
        <p:txBody>
          <a:bodyPr numCol="3">
            <a:noAutofit/>
          </a:bodyPr>
          <a:lstStyle>
            <a:lvl1pPr marL="0" indent="0" algn="l">
              <a:lnSpc>
                <a:spcPct val="100000"/>
              </a:lnSpc>
              <a:spcBef>
                <a:spcPts val="400"/>
              </a:spcBef>
              <a:spcAft>
                <a:spcPts val="0"/>
              </a:spcAft>
              <a:buNone/>
              <a:defRPr lang="en-US" b="1" smtClean="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b="1" dirty="0">
                <a:solidFill>
                  <a:schemeClr val="accent2"/>
                </a:solidFill>
                <a:latin typeface="+mn-lt"/>
              </a:rPr>
              <a:t>t: </a:t>
            </a:r>
            <a:r>
              <a:rPr lang="en-US" dirty="0"/>
              <a:t>+353 21 490 4177 </a:t>
            </a:r>
          </a:p>
          <a:p>
            <a:r>
              <a:rPr lang="en-US" b="1" dirty="0">
                <a:solidFill>
                  <a:schemeClr val="accent2"/>
                </a:solidFill>
                <a:latin typeface="+mn-lt"/>
              </a:rPr>
              <a:t>e: </a:t>
            </a:r>
            <a:r>
              <a:rPr lang="en-US" dirty="0" err="1"/>
              <a:t>info@tyndall.ie</a:t>
            </a:r>
            <a:r>
              <a:rPr lang="en-US" dirty="0"/>
              <a:t>  </a:t>
            </a:r>
          </a:p>
          <a:p>
            <a:r>
              <a:rPr lang="en-US" b="1" dirty="0" err="1">
                <a:solidFill>
                  <a:schemeClr val="accent2"/>
                </a:solidFill>
                <a:latin typeface="+mn-lt"/>
              </a:rPr>
              <a:t>tyndall.ie</a:t>
            </a:r>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r>
              <a:rPr lang="en-IE" dirty="0"/>
              <a:t>@</a:t>
            </a:r>
            <a:r>
              <a:rPr lang="en-IE" dirty="0" err="1"/>
              <a:t>tyndall</a:t>
            </a:r>
            <a:r>
              <a:rPr lang="en-IE" dirty="0"/>
              <a:t>-national-institute</a:t>
            </a:r>
            <a:br>
              <a:rPr lang="en-IE" dirty="0"/>
            </a:br>
            <a:r>
              <a:rPr lang="en-IE" dirty="0"/>
              <a:t>@</a:t>
            </a:r>
            <a:r>
              <a:rPr lang="en-IE" dirty="0" err="1"/>
              <a:t>TyndallInstitut</a:t>
            </a:r>
            <a:endParaRPr lang="en-IE" dirty="0"/>
          </a:p>
          <a:p>
            <a:r>
              <a:rPr lang="en-IE" dirty="0"/>
              <a:t>@</a:t>
            </a:r>
            <a:r>
              <a:rPr lang="en-IE" dirty="0" err="1"/>
              <a:t>tyndall_institute</a:t>
            </a:r>
            <a:endParaRPr lang="en-IE" dirty="0"/>
          </a:p>
          <a:p>
            <a:r>
              <a:rPr lang="en-IE" dirty="0"/>
              <a:t>@</a:t>
            </a:r>
            <a:r>
              <a:rPr lang="en-IE" dirty="0" err="1"/>
              <a:t>TyndallInstitute</a:t>
            </a:r>
            <a:endParaRPr lang="en-IE" dirty="0"/>
          </a:p>
        </p:txBody>
      </p:sp>
      <p:pic>
        <p:nvPicPr>
          <p:cNvPr id="15" name="Tyndall-Logo-White.png" descr="Tyndall-Logo-White.png">
            <a:extLst>
              <a:ext uri="{FF2B5EF4-FFF2-40B4-BE49-F238E27FC236}">
                <a16:creationId xmlns:a16="http://schemas.microsoft.com/office/drawing/2014/main" id="{8DC6F2FA-4F26-4440-A47A-FC19B03ADA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3273" y="2005263"/>
            <a:ext cx="2298032" cy="889863"/>
          </a:xfrm>
          <a:prstGeom prst="rect">
            <a:avLst/>
          </a:prstGeom>
          <a:ln w="12700">
            <a:miter lim="400000"/>
          </a:ln>
        </p:spPr>
      </p:pic>
      <p:grpSp>
        <p:nvGrpSpPr>
          <p:cNvPr id="16" name="Group 15">
            <a:extLst>
              <a:ext uri="{FF2B5EF4-FFF2-40B4-BE49-F238E27FC236}">
                <a16:creationId xmlns:a16="http://schemas.microsoft.com/office/drawing/2014/main" id="{C523564C-754D-314F-8B6A-468E19D29185}"/>
              </a:ext>
            </a:extLst>
          </p:cNvPr>
          <p:cNvGrpSpPr/>
          <p:nvPr userDrawn="1"/>
        </p:nvGrpSpPr>
        <p:grpSpPr>
          <a:xfrm>
            <a:off x="7371732" y="5856270"/>
            <a:ext cx="4820268" cy="618382"/>
            <a:chOff x="7812442" y="7321127"/>
            <a:chExt cx="9899621" cy="1270001"/>
          </a:xfrm>
        </p:grpSpPr>
        <p:sp>
          <p:nvSpPr>
            <p:cNvPr id="17" name="Rectangle">
              <a:extLst>
                <a:ext uri="{FF2B5EF4-FFF2-40B4-BE49-F238E27FC236}">
                  <a16:creationId xmlns:a16="http://schemas.microsoft.com/office/drawing/2014/main" id="{47A53120-3237-9249-878F-EF5F2BFF70DF}"/>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8" name="LogoESIF_Col_Landscape.png" descr="LogoESIF_Col_Landscape.png">
              <a:extLst>
                <a:ext uri="{FF2B5EF4-FFF2-40B4-BE49-F238E27FC236}">
                  <a16:creationId xmlns:a16="http://schemas.microsoft.com/office/drawing/2014/main" id="{0B720D89-757C-9645-934C-98C5411FD50C}"/>
                </a:ext>
              </a:extLst>
            </p:cNvPr>
            <p:cNvPicPr>
              <a:picLocks noChangeAspect="1"/>
            </p:cNvPicPr>
            <p:nvPr/>
          </p:nvPicPr>
          <p:blipFill>
            <a:blip r:embed="rId4"/>
            <a:stretch>
              <a:fillRect/>
            </a:stretch>
          </p:blipFill>
          <p:spPr>
            <a:xfrm>
              <a:off x="13933383" y="7638102"/>
              <a:ext cx="2839675" cy="636051"/>
            </a:xfrm>
            <a:prstGeom prst="rect">
              <a:avLst/>
            </a:prstGeom>
            <a:ln w="12700">
              <a:miter lim="400000"/>
            </a:ln>
          </p:spPr>
        </p:pic>
        <p:pic>
          <p:nvPicPr>
            <p:cNvPr id="19" name="Irelands_EU_SIFP_2014_2020_CMYK_3-01.png" descr="Irelands_EU_SIFP_2014_2020_CMYK_3-01.png">
              <a:extLst>
                <a:ext uri="{FF2B5EF4-FFF2-40B4-BE49-F238E27FC236}">
                  <a16:creationId xmlns:a16="http://schemas.microsoft.com/office/drawing/2014/main" id="{D9DBAC69-CB2E-1A47-8BE9-F864BC3C6735}"/>
                </a:ext>
              </a:extLst>
            </p:cNvPr>
            <p:cNvPicPr>
              <a:picLocks noChangeAspect="1"/>
            </p:cNvPicPr>
            <p:nvPr/>
          </p:nvPicPr>
          <p:blipFill>
            <a:blip r:embed="rId5"/>
            <a:stretch>
              <a:fillRect/>
            </a:stretch>
          </p:blipFill>
          <p:spPr>
            <a:xfrm>
              <a:off x="11503903" y="7632092"/>
              <a:ext cx="2074965" cy="648072"/>
            </a:xfrm>
            <a:prstGeom prst="rect">
              <a:avLst/>
            </a:prstGeom>
            <a:ln w="12700">
              <a:miter lim="400000"/>
            </a:ln>
          </p:spPr>
        </p:pic>
        <p:pic>
          <p:nvPicPr>
            <p:cNvPr id="20" name="project 2040.png" descr="project 2040.png">
              <a:extLst>
                <a:ext uri="{FF2B5EF4-FFF2-40B4-BE49-F238E27FC236}">
                  <a16:creationId xmlns:a16="http://schemas.microsoft.com/office/drawing/2014/main" id="{13A012FB-A68F-254C-928E-2BDD1598B43F}"/>
                </a:ext>
              </a:extLst>
            </p:cNvPr>
            <p:cNvPicPr>
              <a:picLocks noChangeAspect="1"/>
            </p:cNvPicPr>
            <p:nvPr/>
          </p:nvPicPr>
          <p:blipFill>
            <a:blip r:embed="rId6"/>
            <a:stretch>
              <a:fillRect/>
            </a:stretch>
          </p:blipFill>
          <p:spPr>
            <a:xfrm>
              <a:off x="7869525" y="7414385"/>
              <a:ext cx="3321117" cy="1083486"/>
            </a:xfrm>
            <a:prstGeom prst="rect">
              <a:avLst/>
            </a:prstGeom>
            <a:ln w="12700">
              <a:miter lim="400000"/>
            </a:ln>
          </p:spPr>
        </p:pic>
      </p:grpSp>
      <p:pic>
        <p:nvPicPr>
          <p:cNvPr id="21" name="Picture 20" descr="Icon&#10;&#10;Description automatically generated">
            <a:extLst>
              <a:ext uri="{FF2B5EF4-FFF2-40B4-BE49-F238E27FC236}">
                <a16:creationId xmlns:a16="http://schemas.microsoft.com/office/drawing/2014/main" id="{F6F2183F-A6E3-7F47-8199-016F111DEB0A}"/>
              </a:ext>
            </a:extLst>
          </p:cNvPr>
          <p:cNvPicPr>
            <a:picLocks noChangeAspect="1"/>
          </p:cNvPicPr>
          <p:nvPr userDrawn="1"/>
        </p:nvPicPr>
        <p:blipFill>
          <a:blip r:embed="rId7"/>
          <a:stretch>
            <a:fillRect/>
          </a:stretch>
        </p:blipFill>
        <p:spPr>
          <a:xfrm>
            <a:off x="7598410" y="4246278"/>
            <a:ext cx="223390" cy="223390"/>
          </a:xfrm>
          <a:prstGeom prst="rect">
            <a:avLst/>
          </a:prstGeom>
        </p:spPr>
      </p:pic>
      <p:pic>
        <p:nvPicPr>
          <p:cNvPr id="22" name="Picture 21">
            <a:extLst>
              <a:ext uri="{FF2B5EF4-FFF2-40B4-BE49-F238E27FC236}">
                <a16:creationId xmlns:a16="http://schemas.microsoft.com/office/drawing/2014/main" id="{E808A698-DEBD-904D-8E1D-34BDF8F53878}"/>
              </a:ext>
            </a:extLst>
          </p:cNvPr>
          <p:cNvPicPr>
            <a:picLocks noChangeAspect="1"/>
          </p:cNvPicPr>
          <p:nvPr userDrawn="1"/>
        </p:nvPicPr>
        <p:blipFill>
          <a:blip r:embed="rId8"/>
          <a:stretch>
            <a:fillRect/>
          </a:stretch>
        </p:blipFill>
        <p:spPr>
          <a:xfrm>
            <a:off x="7598410" y="3733925"/>
            <a:ext cx="223390" cy="223390"/>
          </a:xfrm>
          <a:prstGeom prst="rect">
            <a:avLst/>
          </a:prstGeom>
        </p:spPr>
      </p:pic>
      <p:pic>
        <p:nvPicPr>
          <p:cNvPr id="23" name="Picture 22" descr="Icon&#10;&#10;Description automatically generated">
            <a:extLst>
              <a:ext uri="{FF2B5EF4-FFF2-40B4-BE49-F238E27FC236}">
                <a16:creationId xmlns:a16="http://schemas.microsoft.com/office/drawing/2014/main" id="{652E92EB-E71C-944C-A1A4-6FB3BF234D67}"/>
              </a:ext>
            </a:extLst>
          </p:cNvPr>
          <p:cNvPicPr>
            <a:picLocks noChangeAspect="1"/>
          </p:cNvPicPr>
          <p:nvPr userDrawn="1"/>
        </p:nvPicPr>
        <p:blipFill>
          <a:blip r:embed="rId9"/>
          <a:stretch>
            <a:fillRect/>
          </a:stretch>
        </p:blipFill>
        <p:spPr>
          <a:xfrm>
            <a:off x="7598410" y="3990101"/>
            <a:ext cx="223390" cy="223390"/>
          </a:xfrm>
          <a:prstGeom prst="rect">
            <a:avLst/>
          </a:prstGeom>
        </p:spPr>
      </p:pic>
      <p:pic>
        <p:nvPicPr>
          <p:cNvPr id="24" name="Picture 23" descr="Icon&#10;&#10;Description automatically generated">
            <a:extLst>
              <a:ext uri="{FF2B5EF4-FFF2-40B4-BE49-F238E27FC236}">
                <a16:creationId xmlns:a16="http://schemas.microsoft.com/office/drawing/2014/main" id="{CC5D8A47-920E-9F44-88C6-C925A9408D36}"/>
              </a:ext>
            </a:extLst>
          </p:cNvPr>
          <p:cNvPicPr>
            <a:picLocks noChangeAspect="1"/>
          </p:cNvPicPr>
          <p:nvPr userDrawn="1"/>
        </p:nvPicPr>
        <p:blipFill>
          <a:blip r:embed="rId10"/>
          <a:stretch>
            <a:fillRect/>
          </a:stretch>
        </p:blipFill>
        <p:spPr>
          <a:xfrm>
            <a:off x="7598410" y="3477749"/>
            <a:ext cx="223390" cy="223390"/>
          </a:xfrm>
          <a:prstGeom prst="rect">
            <a:avLst/>
          </a:prstGeom>
        </p:spPr>
      </p:pic>
      <p:pic>
        <p:nvPicPr>
          <p:cNvPr id="25" name="Picture 24" descr="Text, logo, company name&#10;&#10;Description automatically generated">
            <a:extLst>
              <a:ext uri="{FF2B5EF4-FFF2-40B4-BE49-F238E27FC236}">
                <a16:creationId xmlns:a16="http://schemas.microsoft.com/office/drawing/2014/main" id="{7A4B3A66-BEF8-6D4E-AF76-9277E82E59A6}"/>
              </a:ext>
            </a:extLst>
          </p:cNvPr>
          <p:cNvPicPr>
            <a:picLocks noChangeAspect="1"/>
          </p:cNvPicPr>
          <p:nvPr userDrawn="1"/>
        </p:nvPicPr>
        <p:blipFill>
          <a:blip r:embed="rId11"/>
          <a:stretch>
            <a:fillRect/>
          </a:stretch>
        </p:blipFill>
        <p:spPr>
          <a:xfrm>
            <a:off x="471404" y="5974611"/>
            <a:ext cx="983884" cy="469488"/>
          </a:xfrm>
          <a:prstGeom prst="rect">
            <a:avLst/>
          </a:prstGeom>
        </p:spPr>
      </p:pic>
    </p:spTree>
    <p:extLst>
      <p:ext uri="{BB962C8B-B14F-4D97-AF65-F5344CB8AC3E}">
        <p14:creationId xmlns:p14="http://schemas.microsoft.com/office/powerpoint/2010/main" val="2761761759"/>
      </p:ext>
    </p:extLst>
  </p:cSld>
  <p:clrMapOvr>
    <a:masterClrMapping/>
  </p:clrMapOvr>
  <p:extLst>
    <p:ext uri="{DCECCB84-F9BA-43D5-87BE-67443E8EF086}">
      <p15:sldGuideLst xmlns:p15="http://schemas.microsoft.com/office/powerpoint/2012/main">
        <p15:guide id="1" orient="horz" pos="3974" userDrawn="1">
          <p15:clr>
            <a:srgbClr val="FBAE40"/>
          </p15:clr>
        </p15:guide>
        <p15:guide id="2" pos="27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BCFF2-CCD6-E543-A578-4941CFE0660D}"/>
              </a:ext>
            </a:extLst>
          </p:cNvPr>
          <p:cNvSpPr>
            <a:spLocks noGrp="1"/>
          </p:cNvSpPr>
          <p:nvPr>
            <p:ph type="title"/>
          </p:nvPr>
        </p:nvSpPr>
        <p:spPr>
          <a:xfrm>
            <a:off x="450000" y="242418"/>
            <a:ext cx="9064390" cy="787314"/>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F99044BE-3E67-7B4A-84E2-206AFA3A6784}"/>
              </a:ext>
            </a:extLst>
          </p:cNvPr>
          <p:cNvSpPr>
            <a:spLocks noGrp="1"/>
          </p:cNvSpPr>
          <p:nvPr>
            <p:ph type="body" idx="1"/>
          </p:nvPr>
        </p:nvSpPr>
        <p:spPr>
          <a:xfrm>
            <a:off x="450000" y="1152439"/>
            <a:ext cx="9064390" cy="502452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43605894-96E7-344E-98EC-93726ADE49D4}"/>
              </a:ext>
            </a:extLst>
          </p:cNvPr>
          <p:cNvSpPr>
            <a:spLocks noGrp="1"/>
          </p:cNvSpPr>
          <p:nvPr>
            <p:ph type="ftr" sz="quarter" idx="3"/>
          </p:nvPr>
        </p:nvSpPr>
        <p:spPr>
          <a:xfrm>
            <a:off x="450000" y="6356350"/>
            <a:ext cx="7703400" cy="365125"/>
          </a:xfrm>
          <a:prstGeom prst="rect">
            <a:avLst/>
          </a:prstGeom>
        </p:spPr>
        <p:txBody>
          <a:bodyPr vert="horz" lIns="91440" tIns="45720" rIns="91440" bIns="45720" rtlCol="0" anchor="ctr"/>
          <a:lstStyle>
            <a:lvl1pPr algn="l">
              <a:defRPr sz="1000">
                <a:solidFill>
                  <a:schemeClr val="accent2"/>
                </a:solidFill>
                <a:latin typeface="+mj-lt"/>
              </a:defRPr>
            </a:lvl1pPr>
          </a:lstStyle>
          <a:p>
            <a:endParaRPr lang="en-US" sz="1000" dirty="0"/>
          </a:p>
        </p:txBody>
      </p:sp>
      <p:sp>
        <p:nvSpPr>
          <p:cNvPr id="6" name="Slide Number Placeholder 5">
            <a:extLst>
              <a:ext uri="{FF2B5EF4-FFF2-40B4-BE49-F238E27FC236}">
                <a16:creationId xmlns:a16="http://schemas.microsoft.com/office/drawing/2014/main" id="{A0481772-3EC6-8945-AFFB-4D562BA7592E}"/>
              </a:ext>
            </a:extLst>
          </p:cNvPr>
          <p:cNvSpPr>
            <a:spLocks noGrp="1"/>
          </p:cNvSpPr>
          <p:nvPr>
            <p:ph type="sldNum" sz="quarter" idx="4"/>
          </p:nvPr>
        </p:nvSpPr>
        <p:spPr>
          <a:xfrm>
            <a:off x="8610600" y="6356350"/>
            <a:ext cx="3131400" cy="365125"/>
          </a:xfrm>
          <a:prstGeom prst="rect">
            <a:avLst/>
          </a:prstGeom>
        </p:spPr>
        <p:txBody>
          <a:bodyPr vert="horz" lIns="91440" tIns="45720" rIns="91440" bIns="45720" rtlCol="0" anchor="ctr"/>
          <a:lstStyle>
            <a:lvl1pPr algn="r">
              <a:defRPr sz="1000">
                <a:solidFill>
                  <a:schemeClr val="accent2"/>
                </a:solidFill>
                <a:latin typeface="+mj-lt"/>
              </a:defRPr>
            </a:lvl1pPr>
          </a:lstStyle>
          <a:p>
            <a:fld id="{8ABE9924-9C5E-0140-A59E-99F9AC1E36CD}" type="slidenum">
              <a:rPr lang="en-US" smtClean="0"/>
              <a:pPr/>
              <a:t>‹#›</a:t>
            </a:fld>
            <a:endParaRPr lang="en-US" sz="1000" dirty="0"/>
          </a:p>
        </p:txBody>
      </p:sp>
    </p:spTree>
    <p:extLst>
      <p:ext uri="{BB962C8B-B14F-4D97-AF65-F5344CB8AC3E}">
        <p14:creationId xmlns:p14="http://schemas.microsoft.com/office/powerpoint/2010/main" val="227118711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7" r:id="rId3"/>
    <p:sldLayoutId id="2147483649" r:id="rId4"/>
    <p:sldLayoutId id="2147483660" r:id="rId5"/>
    <p:sldLayoutId id="2147483661" r:id="rId6"/>
    <p:sldLayoutId id="2147483662" r:id="rId7"/>
    <p:sldLayoutId id="2147483686" r:id="rId8"/>
    <p:sldLayoutId id="2147483650" r:id="rId9"/>
    <p:sldLayoutId id="2147483664" r:id="rId10"/>
    <p:sldLayoutId id="2147483665" r:id="rId11"/>
    <p:sldLayoutId id="2147483666" r:id="rId12"/>
    <p:sldLayoutId id="2147483667" r:id="rId13"/>
    <p:sldLayoutId id="2147483668" r:id="rId14"/>
    <p:sldLayoutId id="2147483669"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1" r:id="rId25"/>
    <p:sldLayoutId id="2147483680" r:id="rId26"/>
    <p:sldLayoutId id="2147483684" r:id="rId27"/>
  </p:sldLayoutIdLst>
  <p:txStyles>
    <p:titleStyle>
      <a:lvl1pPr algn="l" defTabSz="914400" rtl="0" eaLnBrk="1" latinLnBrk="0" hangingPunct="1">
        <a:lnSpc>
          <a:spcPct val="90000"/>
        </a:lnSpc>
        <a:spcBef>
          <a:spcPct val="0"/>
        </a:spcBef>
        <a:buNone/>
        <a:defRPr sz="3400" b="1" kern="1200">
          <a:solidFill>
            <a:schemeClr val="accent1"/>
          </a:solidFill>
          <a:latin typeface="+mn-lt"/>
          <a:ea typeface="+mj-ea"/>
          <a:cs typeface="+mj-cs"/>
        </a:defRPr>
      </a:lvl1pPr>
    </p:titleStyle>
    <p:bodyStyle>
      <a:lvl1pPr marL="0" indent="0" algn="l" defTabSz="914400" rtl="0" eaLnBrk="1" latinLnBrk="0" hangingPunct="1">
        <a:lnSpc>
          <a:spcPct val="90000"/>
        </a:lnSpc>
        <a:spcBef>
          <a:spcPts val="1000"/>
        </a:spcBef>
        <a:buClr>
          <a:schemeClr val="accent2"/>
        </a:buClr>
        <a:buSzPct val="120000"/>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2pPr>
      <a:lvl3pPr marL="9144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3pPr>
      <a:lvl4pPr marL="13716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4pPr>
      <a:lvl5pPr marL="18288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3F093E7-9D12-4A4E-A16B-61804483B2C5}"/>
              </a:ext>
            </a:extLst>
          </p:cNvPr>
          <p:cNvSpPr>
            <a:spLocks noGrp="1"/>
          </p:cNvSpPr>
          <p:nvPr>
            <p:ph type="pic" sz="quarter" idx="10"/>
          </p:nvPr>
        </p:nvSpPr>
        <p:spPr/>
        <p:txBody>
          <a:bodyPr/>
          <a:lstStyle/>
          <a:p>
            <a:endParaRPr lang="en-GB"/>
          </a:p>
        </p:txBody>
      </p:sp>
      <p:sp>
        <p:nvSpPr>
          <p:cNvPr id="3" name="Title 2">
            <a:extLst>
              <a:ext uri="{FF2B5EF4-FFF2-40B4-BE49-F238E27FC236}">
                <a16:creationId xmlns:a16="http://schemas.microsoft.com/office/drawing/2014/main" id="{7302C98C-CFEF-BC47-AB9C-316A5552A955}"/>
              </a:ext>
            </a:extLst>
          </p:cNvPr>
          <p:cNvSpPr>
            <a:spLocks noGrp="1"/>
          </p:cNvSpPr>
          <p:nvPr>
            <p:ph type="ctrTitle"/>
          </p:nvPr>
        </p:nvSpPr>
        <p:spPr>
          <a:xfrm>
            <a:off x="459255" y="1770981"/>
            <a:ext cx="6213008" cy="2109693"/>
          </a:xfrm>
        </p:spPr>
        <p:txBody>
          <a:bodyPr>
            <a:normAutofit fontScale="90000"/>
          </a:bodyPr>
          <a:lstStyle/>
          <a:p>
            <a:pPr>
              <a:spcBef>
                <a:spcPts val="2400"/>
              </a:spcBef>
              <a:spcAft>
                <a:spcPts val="2400"/>
              </a:spcAft>
            </a:pPr>
            <a:r>
              <a:rPr lang="en-GB" dirty="0"/>
              <a:t>Development of a Bioinspired Gripper for Soft Robotics with Tactile Capabilities</a:t>
            </a:r>
            <a:br>
              <a:rPr lang="en-GB" dirty="0"/>
            </a:br>
            <a:r>
              <a:rPr lang="en-GB" sz="1200" dirty="0"/>
              <a:t> </a:t>
            </a:r>
            <a:br>
              <a:rPr lang="en-GB" dirty="0"/>
            </a:br>
            <a:r>
              <a:rPr lang="en-US" sz="4000" dirty="0"/>
              <a:t>Weekly Report</a:t>
            </a:r>
            <a:endParaRPr lang="en-US" dirty="0"/>
          </a:p>
        </p:txBody>
      </p:sp>
      <p:sp>
        <p:nvSpPr>
          <p:cNvPr id="4" name="Subtitle 3">
            <a:extLst>
              <a:ext uri="{FF2B5EF4-FFF2-40B4-BE49-F238E27FC236}">
                <a16:creationId xmlns:a16="http://schemas.microsoft.com/office/drawing/2014/main" id="{D9CE2026-9D76-D445-9906-0F7AF29AA2D1}"/>
              </a:ext>
            </a:extLst>
          </p:cNvPr>
          <p:cNvSpPr>
            <a:spLocks noGrp="1"/>
          </p:cNvSpPr>
          <p:nvPr>
            <p:ph type="subTitle" idx="1"/>
          </p:nvPr>
        </p:nvSpPr>
        <p:spPr>
          <a:xfrm>
            <a:off x="459254" y="3956708"/>
            <a:ext cx="7139410" cy="1338857"/>
          </a:xfrm>
        </p:spPr>
        <p:txBody>
          <a:bodyPr>
            <a:normAutofit/>
          </a:bodyPr>
          <a:lstStyle/>
          <a:p>
            <a:r>
              <a:rPr lang="en-US" sz="2400" dirty="0"/>
              <a:t>Julien Dubuc – BE at </a:t>
            </a:r>
            <a:r>
              <a:rPr lang="en-US" sz="2400" dirty="0" err="1"/>
              <a:t>SeaTech</a:t>
            </a:r>
            <a:r>
              <a:rPr lang="en-US" sz="2400" dirty="0"/>
              <a:t> (University of Toulon)</a:t>
            </a:r>
          </a:p>
          <a:p>
            <a:endParaRPr lang="en-US" sz="2400" dirty="0"/>
          </a:p>
        </p:txBody>
      </p:sp>
      <p:pic>
        <p:nvPicPr>
          <p:cNvPr id="5" name="Picture Placeholder 5" descr="A large room&#10;&#10;Description automatically generated">
            <a:extLst>
              <a:ext uri="{FF2B5EF4-FFF2-40B4-BE49-F238E27FC236}">
                <a16:creationId xmlns:a16="http://schemas.microsoft.com/office/drawing/2014/main" id="{51DE7352-EC9D-7D40-94F9-34A4BDDBB96C}"/>
              </a:ext>
            </a:extLst>
          </p:cNvPr>
          <p:cNvPicPr>
            <a:picLocks noChangeAspect="1"/>
          </p:cNvPicPr>
          <p:nvPr/>
        </p:nvPicPr>
        <p:blipFill rotWithShape="1">
          <a:blip r:embed="rId3" cstate="print">
            <a:alphaModFix/>
            <a:extLst>
              <a:ext uri="{28A0092B-C50C-407E-A947-70E740481C1C}">
                <a14:useLocalDpi xmlns:a14="http://schemas.microsoft.com/office/drawing/2010/main"/>
              </a:ext>
            </a:extLst>
          </a:blip>
          <a:srcRect t="15102" b="15102"/>
          <a:stretch/>
        </p:blipFill>
        <p:spPr>
          <a:xfrm>
            <a:off x="7036904" y="0"/>
            <a:ext cx="5155096" cy="5516218"/>
          </a:xfrm>
          <a:prstGeom prst="rect">
            <a:avLst/>
          </a:prstGeom>
        </p:spPr>
      </p:pic>
    </p:spTree>
    <p:extLst>
      <p:ext uri="{BB962C8B-B14F-4D97-AF65-F5344CB8AC3E}">
        <p14:creationId xmlns:p14="http://schemas.microsoft.com/office/powerpoint/2010/main" val="226912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C2CC-BB2E-FB44-A411-233F1859484C}"/>
              </a:ext>
            </a:extLst>
          </p:cNvPr>
          <p:cNvSpPr>
            <a:spLocks noGrp="1"/>
          </p:cNvSpPr>
          <p:nvPr>
            <p:ph type="title"/>
          </p:nvPr>
        </p:nvSpPr>
        <p:spPr/>
        <p:txBody>
          <a:bodyPr/>
          <a:lstStyle/>
          <a:p>
            <a:r>
              <a:rPr lang="en-US" dirty="0"/>
              <a:t>Project Objectives </a:t>
            </a:r>
            <a:r>
              <a:rPr lang="en-US" sz="2400" b="0" i="1" dirty="0"/>
              <a:t>(provisional)</a:t>
            </a:r>
            <a:endParaRPr lang="en-US" b="0" i="1" dirty="0"/>
          </a:p>
        </p:txBody>
      </p:sp>
      <p:sp>
        <p:nvSpPr>
          <p:cNvPr id="3" name="Content Placeholder 2">
            <a:extLst>
              <a:ext uri="{FF2B5EF4-FFF2-40B4-BE49-F238E27FC236}">
                <a16:creationId xmlns:a16="http://schemas.microsoft.com/office/drawing/2014/main" id="{4F630CC8-2AB3-8147-82D7-E10AD17F8AB6}"/>
              </a:ext>
            </a:extLst>
          </p:cNvPr>
          <p:cNvSpPr>
            <a:spLocks noGrp="1"/>
          </p:cNvSpPr>
          <p:nvPr>
            <p:ph idx="1"/>
          </p:nvPr>
        </p:nvSpPr>
        <p:spPr>
          <a:xfrm>
            <a:off x="450000" y="1029732"/>
            <a:ext cx="11259400" cy="5585850"/>
          </a:xfrm>
        </p:spPr>
        <p:txBody>
          <a:bodyPr>
            <a:normAutofit/>
          </a:bodyPr>
          <a:lstStyle/>
          <a:p>
            <a:r>
              <a:rPr lang="en-GB" sz="1800" b="1" dirty="0">
                <a:solidFill>
                  <a:schemeClr val="tx2"/>
                </a:solidFill>
                <a:latin typeface="+mn-lt"/>
              </a:rPr>
              <a:t>Objective 1 — Characterise e-textile sensing materials for robotic tactile applications</a:t>
            </a:r>
          </a:p>
          <a:p>
            <a:r>
              <a:rPr lang="en-GB" sz="1600" dirty="0">
                <a:solidFill>
                  <a:schemeClr val="tx2"/>
                </a:solidFill>
                <a:latin typeface="+mn-lt"/>
              </a:rPr>
              <a:t>Characterise the electromechanical response of selected e-textile materials under controlled loading conditions, with a focus on the relationship between applied force and electrical resistance. Assess repeatability, sensitivity, hysteresis, drift and practical suitability for integration into robotic tactile sensing systems.</a:t>
            </a:r>
          </a:p>
          <a:p>
            <a:endParaRPr lang="en-GB" sz="1200" dirty="0">
              <a:solidFill>
                <a:schemeClr val="tx2"/>
              </a:solidFill>
              <a:latin typeface="+mn-lt"/>
            </a:endParaRPr>
          </a:p>
          <a:p>
            <a:r>
              <a:rPr lang="en-GB" sz="1800" b="1" dirty="0">
                <a:solidFill>
                  <a:schemeClr val="tx2"/>
                </a:solidFill>
                <a:latin typeface="+mn-lt"/>
              </a:rPr>
              <a:t>Objective 2 — Develop an e-textile tactile sensing glove for a robotic gripper/finger</a:t>
            </a:r>
          </a:p>
          <a:p>
            <a:r>
              <a:rPr lang="en-GB" sz="1600" dirty="0">
                <a:solidFill>
                  <a:schemeClr val="tx2"/>
                </a:solidFill>
                <a:latin typeface="+mn-lt"/>
              </a:rPr>
              <a:t>Design and fabricate a tactile sensing layer or glove for a robotic gripper finger using the characterised e-textile material. The sensing element should be mechanically robust, easy to mount, and capable of detecting contact and relative force changes during object interaction.</a:t>
            </a:r>
          </a:p>
          <a:p>
            <a:endParaRPr lang="en-GB" sz="1200" dirty="0">
              <a:solidFill>
                <a:schemeClr val="tx2"/>
              </a:solidFill>
              <a:latin typeface="+mn-lt"/>
            </a:endParaRPr>
          </a:p>
          <a:p>
            <a:r>
              <a:rPr lang="en-GB" sz="1800" b="1" dirty="0">
                <a:solidFill>
                  <a:schemeClr val="tx2"/>
                </a:solidFill>
                <a:latin typeface="+mn-lt"/>
              </a:rPr>
              <a:t>Objective 3 — Build and validate a single-actuator robotic gripper prototype</a:t>
            </a:r>
          </a:p>
          <a:p>
            <a:r>
              <a:rPr lang="en-GB" sz="1600" dirty="0">
                <a:solidFill>
                  <a:schemeClr val="tx2"/>
                </a:solidFill>
                <a:latin typeface="+mn-lt"/>
              </a:rPr>
              <a:t>Produce a working single-actuator gripper that can close, lock and release objects consistently. The hardware should be clean, maintainable and suitable for repeated testing, with a short assembly, wiring and calibration guide provided.</a:t>
            </a:r>
          </a:p>
          <a:p>
            <a:endParaRPr lang="en-GB" sz="1200" dirty="0">
              <a:solidFill>
                <a:schemeClr val="tx2"/>
              </a:solidFill>
              <a:latin typeface="+mn-lt"/>
            </a:endParaRPr>
          </a:p>
          <a:p>
            <a:r>
              <a:rPr lang="en-GB" sz="1800" b="1" dirty="0">
                <a:solidFill>
                  <a:schemeClr val="tx2"/>
                </a:solidFill>
                <a:latin typeface="+mn-lt"/>
              </a:rPr>
              <a:t>Objective 4 — Define and execute the experimental test protocol</a:t>
            </a:r>
          </a:p>
          <a:p>
            <a:r>
              <a:rPr lang="en-GB" sz="1600" dirty="0">
                <a:solidFill>
                  <a:schemeClr val="tx2"/>
                </a:solidFill>
                <a:latin typeface="+mn-lt"/>
              </a:rPr>
              <a:t>Define a small but representative test set using common objects with different shapes, sizes, stiffness and surface properties. Establish clear success criteria, such as successful grasp, stable hold, release reliability, tactile response consistency and energy use, and execute repeated trials under controlled conditions.</a:t>
            </a:r>
            <a:endParaRPr lang="en-US" sz="1600" dirty="0">
              <a:solidFill>
                <a:schemeClr val="tx2"/>
              </a:solidFill>
              <a:latin typeface="+mn-lt"/>
            </a:endParaRPr>
          </a:p>
        </p:txBody>
      </p:sp>
    </p:spTree>
    <p:extLst>
      <p:ext uri="{BB962C8B-B14F-4D97-AF65-F5344CB8AC3E}">
        <p14:creationId xmlns:p14="http://schemas.microsoft.com/office/powerpoint/2010/main" val="2712304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4E46-4CBC-0641-A29A-45C9F14FAF14}"/>
              </a:ext>
            </a:extLst>
          </p:cNvPr>
          <p:cNvSpPr>
            <a:spLocks noGrp="1"/>
          </p:cNvSpPr>
          <p:nvPr>
            <p:ph type="title"/>
          </p:nvPr>
        </p:nvSpPr>
        <p:spPr/>
        <p:txBody>
          <a:bodyPr/>
          <a:lstStyle/>
          <a:p>
            <a:r>
              <a:rPr lang="en-US" dirty="0">
                <a:solidFill>
                  <a:srgbClr val="002060"/>
                </a:solidFill>
              </a:rPr>
              <a:t>Work Completed</a:t>
            </a:r>
          </a:p>
        </p:txBody>
      </p:sp>
      <p:sp>
        <p:nvSpPr>
          <p:cNvPr id="3" name="Content Placeholder 2">
            <a:extLst>
              <a:ext uri="{FF2B5EF4-FFF2-40B4-BE49-F238E27FC236}">
                <a16:creationId xmlns:a16="http://schemas.microsoft.com/office/drawing/2014/main" id="{4F6969ED-5C8B-9E4E-A578-E94F1B530D59}"/>
              </a:ext>
            </a:extLst>
          </p:cNvPr>
          <p:cNvSpPr>
            <a:spLocks noGrp="1"/>
          </p:cNvSpPr>
          <p:nvPr>
            <p:ph idx="1"/>
          </p:nvPr>
        </p:nvSpPr>
        <p:spPr>
          <a:xfrm>
            <a:off x="91440" y="851526"/>
            <a:ext cx="9422949" cy="5024524"/>
          </a:xfrm>
        </p:spPr>
        <p:txBody>
          <a:bodyPr>
            <a:normAutofit/>
          </a:bodyPr>
          <a:lstStyle/>
          <a:p>
            <a:pPr marL="285750" indent="-285750">
              <a:buFontTx/>
              <a:buChar char="-"/>
            </a:pPr>
            <a:r>
              <a:rPr lang="en-GB" sz="1800" dirty="0">
                <a:solidFill>
                  <a:srgbClr val="002060"/>
                </a:solidFill>
              </a:rPr>
              <a:t>- Progress on the report</a:t>
            </a:r>
          </a:p>
          <a:p>
            <a:pPr marL="285750" indent="-285750">
              <a:buFontTx/>
              <a:buChar char="-"/>
            </a:pPr>
            <a:endParaRPr lang="en-US" sz="1800" dirty="0">
              <a:solidFill>
                <a:srgbClr val="002060"/>
              </a:solidFill>
            </a:endParaRPr>
          </a:p>
        </p:txBody>
      </p:sp>
      <p:sp>
        <p:nvSpPr>
          <p:cNvPr id="8" name="TextBox 7">
            <a:extLst>
              <a:ext uri="{FF2B5EF4-FFF2-40B4-BE49-F238E27FC236}">
                <a16:creationId xmlns:a16="http://schemas.microsoft.com/office/drawing/2014/main" id="{CB438900-3255-B054-5000-104415F9CC54}"/>
              </a:ext>
            </a:extLst>
          </p:cNvPr>
          <p:cNvSpPr txBox="1"/>
          <p:nvPr/>
        </p:nvSpPr>
        <p:spPr>
          <a:xfrm>
            <a:off x="1730406" y="5686608"/>
            <a:ext cx="3072508" cy="369332"/>
          </a:xfrm>
          <a:prstGeom prst="rect">
            <a:avLst/>
          </a:prstGeom>
          <a:noFill/>
        </p:spPr>
        <p:txBody>
          <a:bodyPr wrap="none" rtlCol="0">
            <a:spAutoFit/>
          </a:bodyPr>
          <a:lstStyle/>
          <a:p>
            <a:r>
              <a:rPr lang="en-GB" dirty="0">
                <a:solidFill>
                  <a:srgbClr val="002060"/>
                </a:solidFill>
              </a:rPr>
              <a:t>Fatigue Test : PLA Transmission</a:t>
            </a:r>
            <a:endParaRPr lang="en-GB" b="1" dirty="0">
              <a:solidFill>
                <a:srgbClr val="002060"/>
              </a:solidFill>
            </a:endParaRPr>
          </a:p>
        </p:txBody>
      </p:sp>
      <p:pic>
        <p:nvPicPr>
          <p:cNvPr id="5" name="Picture 4">
            <a:extLst>
              <a:ext uri="{FF2B5EF4-FFF2-40B4-BE49-F238E27FC236}">
                <a16:creationId xmlns:a16="http://schemas.microsoft.com/office/drawing/2014/main" id="{D30004D5-026F-8DA2-5739-F1136D30CBDA}"/>
              </a:ext>
            </a:extLst>
          </p:cNvPr>
          <p:cNvPicPr>
            <a:picLocks noChangeAspect="1"/>
          </p:cNvPicPr>
          <p:nvPr/>
        </p:nvPicPr>
        <p:blipFill>
          <a:blip r:embed="rId2"/>
          <a:stretch>
            <a:fillRect/>
          </a:stretch>
        </p:blipFill>
        <p:spPr>
          <a:xfrm>
            <a:off x="57765" y="1638840"/>
            <a:ext cx="6038235" cy="4025490"/>
          </a:xfrm>
          <a:prstGeom prst="rect">
            <a:avLst/>
          </a:prstGeom>
        </p:spPr>
      </p:pic>
      <p:pic>
        <p:nvPicPr>
          <p:cNvPr id="11" name="Picture 10">
            <a:extLst>
              <a:ext uri="{FF2B5EF4-FFF2-40B4-BE49-F238E27FC236}">
                <a16:creationId xmlns:a16="http://schemas.microsoft.com/office/drawing/2014/main" id="{90A80D47-FE4A-B38C-DC5F-0B69023E4901}"/>
              </a:ext>
            </a:extLst>
          </p:cNvPr>
          <p:cNvPicPr>
            <a:picLocks noChangeAspect="1"/>
          </p:cNvPicPr>
          <p:nvPr/>
        </p:nvPicPr>
        <p:blipFill>
          <a:blip r:embed="rId3"/>
          <a:stretch>
            <a:fillRect/>
          </a:stretch>
        </p:blipFill>
        <p:spPr>
          <a:xfrm>
            <a:off x="6129675" y="1757448"/>
            <a:ext cx="5821871" cy="3193586"/>
          </a:xfrm>
          <a:prstGeom prst="rect">
            <a:avLst/>
          </a:prstGeom>
        </p:spPr>
      </p:pic>
      <p:sp>
        <p:nvSpPr>
          <p:cNvPr id="13" name="TextBox 12">
            <a:extLst>
              <a:ext uri="{FF2B5EF4-FFF2-40B4-BE49-F238E27FC236}">
                <a16:creationId xmlns:a16="http://schemas.microsoft.com/office/drawing/2014/main" id="{9BD3E3C3-98D1-8AED-E71C-16D20A6FC6B7}"/>
              </a:ext>
            </a:extLst>
          </p:cNvPr>
          <p:cNvSpPr txBox="1"/>
          <p:nvPr/>
        </p:nvSpPr>
        <p:spPr>
          <a:xfrm>
            <a:off x="7643526" y="5044209"/>
            <a:ext cx="2766463" cy="369332"/>
          </a:xfrm>
          <a:prstGeom prst="rect">
            <a:avLst/>
          </a:prstGeom>
          <a:noFill/>
        </p:spPr>
        <p:txBody>
          <a:bodyPr wrap="square" rtlCol="0">
            <a:spAutoFit/>
          </a:bodyPr>
          <a:lstStyle/>
          <a:p>
            <a:r>
              <a:rPr lang="en-GB" dirty="0">
                <a:solidFill>
                  <a:srgbClr val="002060"/>
                </a:solidFill>
              </a:rPr>
              <a:t>Metal Transmission Gripper</a:t>
            </a:r>
            <a:endParaRPr lang="en-GB" b="1" dirty="0">
              <a:solidFill>
                <a:srgbClr val="002060"/>
              </a:solidFill>
            </a:endParaRPr>
          </a:p>
        </p:txBody>
      </p:sp>
    </p:spTree>
    <p:extLst>
      <p:ext uri="{BB962C8B-B14F-4D97-AF65-F5344CB8AC3E}">
        <p14:creationId xmlns:p14="http://schemas.microsoft.com/office/powerpoint/2010/main" val="326933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F9DA69-13AD-1DA3-38B2-6092435A1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31AF6-9F81-D5AB-CBC3-0C83D58AC3EC}"/>
              </a:ext>
            </a:extLst>
          </p:cNvPr>
          <p:cNvSpPr>
            <a:spLocks noGrp="1"/>
          </p:cNvSpPr>
          <p:nvPr>
            <p:ph type="title"/>
          </p:nvPr>
        </p:nvSpPr>
        <p:spPr/>
        <p:txBody>
          <a:bodyPr/>
          <a:lstStyle/>
          <a:p>
            <a:r>
              <a:rPr lang="en-US" dirty="0">
                <a:solidFill>
                  <a:srgbClr val="002060"/>
                </a:solidFill>
              </a:rPr>
              <a:t>Work Completed</a:t>
            </a:r>
          </a:p>
        </p:txBody>
      </p:sp>
      <p:pic>
        <p:nvPicPr>
          <p:cNvPr id="4" name="Picture 3">
            <a:extLst>
              <a:ext uri="{FF2B5EF4-FFF2-40B4-BE49-F238E27FC236}">
                <a16:creationId xmlns:a16="http://schemas.microsoft.com/office/drawing/2014/main" id="{CF06C2E9-C797-1E3C-FAE0-37CD8C7B496F}"/>
              </a:ext>
            </a:extLst>
          </p:cNvPr>
          <p:cNvPicPr>
            <a:picLocks noChangeAspect="1"/>
          </p:cNvPicPr>
          <p:nvPr/>
        </p:nvPicPr>
        <p:blipFill>
          <a:blip r:embed="rId2"/>
          <a:srcRect l="7022" r="6314"/>
          <a:stretch>
            <a:fillRect/>
          </a:stretch>
        </p:blipFill>
        <p:spPr>
          <a:xfrm>
            <a:off x="7150281" y="2119784"/>
            <a:ext cx="5169408" cy="3902614"/>
          </a:xfrm>
          <a:prstGeom prst="rect">
            <a:avLst/>
          </a:prstGeom>
        </p:spPr>
      </p:pic>
      <p:pic>
        <p:nvPicPr>
          <p:cNvPr id="6" name="Picture 5">
            <a:extLst>
              <a:ext uri="{FF2B5EF4-FFF2-40B4-BE49-F238E27FC236}">
                <a16:creationId xmlns:a16="http://schemas.microsoft.com/office/drawing/2014/main" id="{89C5F33F-0624-63AE-3E56-37C9F9729CB2}"/>
              </a:ext>
            </a:extLst>
          </p:cNvPr>
          <p:cNvPicPr>
            <a:picLocks noChangeAspect="1"/>
          </p:cNvPicPr>
          <p:nvPr/>
        </p:nvPicPr>
        <p:blipFill>
          <a:blip r:embed="rId3"/>
          <a:stretch>
            <a:fillRect/>
          </a:stretch>
        </p:blipFill>
        <p:spPr>
          <a:xfrm>
            <a:off x="4836305" y="576376"/>
            <a:ext cx="5902669" cy="1091379"/>
          </a:xfrm>
          <a:prstGeom prst="rect">
            <a:avLst/>
          </a:prstGeom>
        </p:spPr>
      </p:pic>
      <p:sp>
        <p:nvSpPr>
          <p:cNvPr id="8" name="TextBox 7">
            <a:extLst>
              <a:ext uri="{FF2B5EF4-FFF2-40B4-BE49-F238E27FC236}">
                <a16:creationId xmlns:a16="http://schemas.microsoft.com/office/drawing/2014/main" id="{18B74C69-AB6F-6C1B-9572-05C573469BC7}"/>
              </a:ext>
            </a:extLst>
          </p:cNvPr>
          <p:cNvSpPr txBox="1"/>
          <p:nvPr/>
        </p:nvSpPr>
        <p:spPr>
          <a:xfrm>
            <a:off x="7878365" y="6135016"/>
            <a:ext cx="3272050" cy="369332"/>
          </a:xfrm>
          <a:prstGeom prst="rect">
            <a:avLst/>
          </a:prstGeom>
          <a:noFill/>
        </p:spPr>
        <p:txBody>
          <a:bodyPr wrap="none" rtlCol="0">
            <a:spAutoFit/>
          </a:bodyPr>
          <a:lstStyle/>
          <a:p>
            <a:r>
              <a:rPr lang="en-GB" dirty="0">
                <a:solidFill>
                  <a:srgbClr val="002060"/>
                </a:solidFill>
              </a:rPr>
              <a:t>Fatigue Test : Metal Transmission</a:t>
            </a:r>
            <a:endParaRPr lang="en-GB" b="1" dirty="0">
              <a:solidFill>
                <a:srgbClr val="002060"/>
              </a:solidFill>
            </a:endParaRPr>
          </a:p>
        </p:txBody>
      </p:sp>
      <p:sp>
        <p:nvSpPr>
          <p:cNvPr id="11" name="TextBox 10">
            <a:extLst>
              <a:ext uri="{FF2B5EF4-FFF2-40B4-BE49-F238E27FC236}">
                <a16:creationId xmlns:a16="http://schemas.microsoft.com/office/drawing/2014/main" id="{F1D299D3-EE83-3000-AB1B-5B0FD3262CAE}"/>
              </a:ext>
            </a:extLst>
          </p:cNvPr>
          <p:cNvSpPr txBox="1"/>
          <p:nvPr/>
        </p:nvSpPr>
        <p:spPr>
          <a:xfrm>
            <a:off x="7056445" y="1671143"/>
            <a:ext cx="1462388" cy="369332"/>
          </a:xfrm>
          <a:prstGeom prst="rect">
            <a:avLst/>
          </a:prstGeom>
          <a:noFill/>
        </p:spPr>
        <p:txBody>
          <a:bodyPr wrap="none" rtlCol="0">
            <a:spAutoFit/>
          </a:bodyPr>
          <a:lstStyle/>
          <a:p>
            <a:r>
              <a:rPr lang="en-GB" dirty="0">
                <a:solidFill>
                  <a:srgbClr val="002060"/>
                </a:solidFill>
              </a:rPr>
              <a:t>Test A Results</a:t>
            </a:r>
            <a:endParaRPr lang="en-GB" b="1" dirty="0">
              <a:solidFill>
                <a:srgbClr val="002060"/>
              </a:solidFill>
            </a:endParaRPr>
          </a:p>
        </p:txBody>
      </p:sp>
      <p:pic>
        <p:nvPicPr>
          <p:cNvPr id="16" name="Picture 15">
            <a:extLst>
              <a:ext uri="{FF2B5EF4-FFF2-40B4-BE49-F238E27FC236}">
                <a16:creationId xmlns:a16="http://schemas.microsoft.com/office/drawing/2014/main" id="{58856C21-E7F7-5010-51B6-5765E27D78D8}"/>
              </a:ext>
            </a:extLst>
          </p:cNvPr>
          <p:cNvPicPr>
            <a:picLocks noChangeAspect="1"/>
          </p:cNvPicPr>
          <p:nvPr/>
        </p:nvPicPr>
        <p:blipFill>
          <a:blip r:embed="rId4"/>
          <a:stretch>
            <a:fillRect/>
          </a:stretch>
        </p:blipFill>
        <p:spPr>
          <a:xfrm>
            <a:off x="0" y="2476880"/>
            <a:ext cx="7073373" cy="3329560"/>
          </a:xfrm>
          <a:prstGeom prst="rect">
            <a:avLst/>
          </a:prstGeom>
        </p:spPr>
      </p:pic>
      <p:sp>
        <p:nvSpPr>
          <p:cNvPr id="19" name="TextBox 18">
            <a:extLst>
              <a:ext uri="{FF2B5EF4-FFF2-40B4-BE49-F238E27FC236}">
                <a16:creationId xmlns:a16="http://schemas.microsoft.com/office/drawing/2014/main" id="{729421BD-4A3D-7D12-9BAF-08C8ADD2DC35}"/>
              </a:ext>
            </a:extLst>
          </p:cNvPr>
          <p:cNvSpPr txBox="1"/>
          <p:nvPr/>
        </p:nvSpPr>
        <p:spPr>
          <a:xfrm>
            <a:off x="944165" y="5873513"/>
            <a:ext cx="6357061" cy="369332"/>
          </a:xfrm>
          <a:prstGeom prst="rect">
            <a:avLst/>
          </a:prstGeom>
          <a:noFill/>
        </p:spPr>
        <p:txBody>
          <a:bodyPr wrap="none" rtlCol="0">
            <a:spAutoFit/>
          </a:bodyPr>
          <a:lstStyle/>
          <a:p>
            <a:r>
              <a:rPr lang="en-GB" dirty="0">
                <a:solidFill>
                  <a:srgbClr val="002060"/>
                </a:solidFill>
              </a:rPr>
              <a:t>Hysteresis and Cumulative Drift (5 trials) on C2 Metal Transmission</a:t>
            </a:r>
            <a:endParaRPr lang="en-GB" b="1" dirty="0">
              <a:solidFill>
                <a:srgbClr val="002060"/>
              </a:solidFill>
            </a:endParaRPr>
          </a:p>
        </p:txBody>
      </p:sp>
    </p:spTree>
    <p:extLst>
      <p:ext uri="{BB962C8B-B14F-4D97-AF65-F5344CB8AC3E}">
        <p14:creationId xmlns:p14="http://schemas.microsoft.com/office/powerpoint/2010/main" val="32779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112455-1BD2-BE6D-B3E5-BB1D2DAB4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DDDEC-C6DA-0526-36F3-F84E78625BB2}"/>
              </a:ext>
            </a:extLst>
          </p:cNvPr>
          <p:cNvSpPr>
            <a:spLocks noGrp="1"/>
          </p:cNvSpPr>
          <p:nvPr>
            <p:ph type="title"/>
          </p:nvPr>
        </p:nvSpPr>
        <p:spPr/>
        <p:txBody>
          <a:bodyPr/>
          <a:lstStyle/>
          <a:p>
            <a:r>
              <a:rPr lang="en-US" dirty="0">
                <a:solidFill>
                  <a:srgbClr val="002060"/>
                </a:solidFill>
              </a:rPr>
              <a:t>Work Completed</a:t>
            </a:r>
          </a:p>
        </p:txBody>
      </p:sp>
      <p:sp>
        <p:nvSpPr>
          <p:cNvPr id="5" name="TextBox 4">
            <a:extLst>
              <a:ext uri="{FF2B5EF4-FFF2-40B4-BE49-F238E27FC236}">
                <a16:creationId xmlns:a16="http://schemas.microsoft.com/office/drawing/2014/main" id="{0AC71DC7-9A70-AD58-5C1B-0B309A21EE77}"/>
              </a:ext>
            </a:extLst>
          </p:cNvPr>
          <p:cNvSpPr txBox="1"/>
          <p:nvPr/>
        </p:nvSpPr>
        <p:spPr>
          <a:xfrm>
            <a:off x="48917" y="6427511"/>
            <a:ext cx="6210418" cy="369332"/>
          </a:xfrm>
          <a:prstGeom prst="rect">
            <a:avLst/>
          </a:prstGeom>
          <a:noFill/>
        </p:spPr>
        <p:txBody>
          <a:bodyPr wrap="none" rtlCol="0">
            <a:spAutoFit/>
          </a:bodyPr>
          <a:lstStyle/>
          <a:p>
            <a:r>
              <a:rPr lang="en-GB" dirty="0">
                <a:solidFill>
                  <a:srgbClr val="002060"/>
                </a:solidFill>
              </a:rPr>
              <a:t>Hysteresis and Cumulative Drift (5 trials) on C2 PLA Transmission</a:t>
            </a:r>
            <a:endParaRPr lang="en-GB" b="1" dirty="0">
              <a:solidFill>
                <a:srgbClr val="002060"/>
              </a:solidFill>
            </a:endParaRPr>
          </a:p>
        </p:txBody>
      </p:sp>
      <p:pic>
        <p:nvPicPr>
          <p:cNvPr id="9" name="Picture 8">
            <a:extLst>
              <a:ext uri="{FF2B5EF4-FFF2-40B4-BE49-F238E27FC236}">
                <a16:creationId xmlns:a16="http://schemas.microsoft.com/office/drawing/2014/main" id="{58D6FD45-9BB3-EFC8-7159-217F71548F94}"/>
              </a:ext>
            </a:extLst>
          </p:cNvPr>
          <p:cNvPicPr>
            <a:picLocks noChangeAspect="1"/>
          </p:cNvPicPr>
          <p:nvPr/>
        </p:nvPicPr>
        <p:blipFill>
          <a:blip r:embed="rId2"/>
          <a:stretch>
            <a:fillRect/>
          </a:stretch>
        </p:blipFill>
        <p:spPr>
          <a:xfrm>
            <a:off x="3986246" y="174457"/>
            <a:ext cx="6210418" cy="2910557"/>
          </a:xfrm>
          <a:prstGeom prst="rect">
            <a:avLst/>
          </a:prstGeom>
        </p:spPr>
      </p:pic>
      <p:pic>
        <p:nvPicPr>
          <p:cNvPr id="12" name="Picture 11">
            <a:extLst>
              <a:ext uri="{FF2B5EF4-FFF2-40B4-BE49-F238E27FC236}">
                <a16:creationId xmlns:a16="http://schemas.microsoft.com/office/drawing/2014/main" id="{E971C443-DE22-DFED-F7AD-89C6540304D4}"/>
              </a:ext>
            </a:extLst>
          </p:cNvPr>
          <p:cNvPicPr>
            <a:picLocks noChangeAspect="1"/>
          </p:cNvPicPr>
          <p:nvPr/>
        </p:nvPicPr>
        <p:blipFill>
          <a:blip r:embed="rId3"/>
          <a:stretch>
            <a:fillRect/>
          </a:stretch>
        </p:blipFill>
        <p:spPr>
          <a:xfrm>
            <a:off x="0" y="3460190"/>
            <a:ext cx="6277777" cy="2942125"/>
          </a:xfrm>
          <a:prstGeom prst="rect">
            <a:avLst/>
          </a:prstGeom>
        </p:spPr>
      </p:pic>
      <p:pic>
        <p:nvPicPr>
          <p:cNvPr id="14" name="Picture 13">
            <a:extLst>
              <a:ext uri="{FF2B5EF4-FFF2-40B4-BE49-F238E27FC236}">
                <a16:creationId xmlns:a16="http://schemas.microsoft.com/office/drawing/2014/main" id="{AB0D4C12-2CA9-8E42-ED78-1B797A3315CB}"/>
              </a:ext>
            </a:extLst>
          </p:cNvPr>
          <p:cNvPicPr>
            <a:picLocks noChangeAspect="1"/>
          </p:cNvPicPr>
          <p:nvPr/>
        </p:nvPicPr>
        <p:blipFill>
          <a:blip r:embed="rId4"/>
          <a:stretch>
            <a:fillRect/>
          </a:stretch>
        </p:blipFill>
        <p:spPr>
          <a:xfrm>
            <a:off x="6213165" y="3485386"/>
            <a:ext cx="5978836" cy="2802025"/>
          </a:xfrm>
          <a:prstGeom prst="rect">
            <a:avLst/>
          </a:prstGeom>
        </p:spPr>
      </p:pic>
      <p:sp>
        <p:nvSpPr>
          <p:cNvPr id="17" name="TextBox 16">
            <a:extLst>
              <a:ext uri="{FF2B5EF4-FFF2-40B4-BE49-F238E27FC236}">
                <a16:creationId xmlns:a16="http://schemas.microsoft.com/office/drawing/2014/main" id="{FBC78A4C-D78E-D495-77D1-D6ABA619E22C}"/>
              </a:ext>
            </a:extLst>
          </p:cNvPr>
          <p:cNvSpPr txBox="1"/>
          <p:nvPr/>
        </p:nvSpPr>
        <p:spPr>
          <a:xfrm>
            <a:off x="3975999" y="3065662"/>
            <a:ext cx="6210418" cy="369332"/>
          </a:xfrm>
          <a:prstGeom prst="rect">
            <a:avLst/>
          </a:prstGeom>
          <a:noFill/>
        </p:spPr>
        <p:txBody>
          <a:bodyPr wrap="none" rtlCol="0">
            <a:spAutoFit/>
          </a:bodyPr>
          <a:lstStyle/>
          <a:p>
            <a:r>
              <a:rPr lang="en-GB" dirty="0">
                <a:solidFill>
                  <a:srgbClr val="002060"/>
                </a:solidFill>
              </a:rPr>
              <a:t>Hysteresis and Cumulative Drift (5 trials) on C1 PLA Transmission</a:t>
            </a:r>
            <a:endParaRPr lang="en-GB" b="1" dirty="0">
              <a:solidFill>
                <a:srgbClr val="002060"/>
              </a:solidFill>
            </a:endParaRPr>
          </a:p>
        </p:txBody>
      </p:sp>
      <p:sp>
        <p:nvSpPr>
          <p:cNvPr id="20" name="TextBox 19">
            <a:extLst>
              <a:ext uri="{FF2B5EF4-FFF2-40B4-BE49-F238E27FC236}">
                <a16:creationId xmlns:a16="http://schemas.microsoft.com/office/drawing/2014/main" id="{08B96F9E-9B9C-1FFE-E7D5-E9B8601B273E}"/>
              </a:ext>
            </a:extLst>
          </p:cNvPr>
          <p:cNvSpPr txBox="1"/>
          <p:nvPr/>
        </p:nvSpPr>
        <p:spPr>
          <a:xfrm>
            <a:off x="6144919" y="6312607"/>
            <a:ext cx="6210418" cy="369332"/>
          </a:xfrm>
          <a:prstGeom prst="rect">
            <a:avLst/>
          </a:prstGeom>
          <a:noFill/>
        </p:spPr>
        <p:txBody>
          <a:bodyPr wrap="none" rtlCol="0">
            <a:spAutoFit/>
          </a:bodyPr>
          <a:lstStyle/>
          <a:p>
            <a:r>
              <a:rPr lang="en-GB" dirty="0">
                <a:solidFill>
                  <a:srgbClr val="002060"/>
                </a:solidFill>
              </a:rPr>
              <a:t>Hysteresis and Cumulative Drift (5 trials) on C3 PLA Transmission</a:t>
            </a:r>
            <a:endParaRPr lang="en-GB" b="1" dirty="0">
              <a:solidFill>
                <a:srgbClr val="002060"/>
              </a:solidFill>
            </a:endParaRPr>
          </a:p>
        </p:txBody>
      </p:sp>
    </p:spTree>
    <p:extLst>
      <p:ext uri="{BB962C8B-B14F-4D97-AF65-F5344CB8AC3E}">
        <p14:creationId xmlns:p14="http://schemas.microsoft.com/office/powerpoint/2010/main" val="3339286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Problems/Challenges</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a:xfrm>
            <a:off x="450000" y="1152438"/>
            <a:ext cx="10349064" cy="5312369"/>
          </a:xfrm>
        </p:spPr>
        <p:txBody>
          <a:bodyPr>
            <a:normAutofit/>
          </a:bodyPr>
          <a:lstStyle/>
          <a:p>
            <a:pPr marL="285750" indent="-285750">
              <a:buFontTx/>
              <a:buChar char="-"/>
            </a:pPr>
            <a:r>
              <a:rPr lang="en-GB" sz="2000" dirty="0">
                <a:solidFill>
                  <a:schemeClr val="tx2"/>
                </a:solidFill>
              </a:rPr>
              <a:t>Fatigue Test with Metal Transmission are very long and I can't automate them because there is mechanical buckling. At maximum torque, the tension causes the connections (between TL/MLL and TR/MRR) to bend into a U-shape. This deformation sometimes creates a blockage when the motor attempts to open the gripper due to the reversal of force vectors. Unlocking requires jerky joystick movements to overcome this anomaly.</a:t>
            </a:r>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pPr marL="285750" indent="-285750">
              <a:buFontTx/>
              <a:buChar char="-"/>
            </a:pPr>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p>
          <a:p>
            <a:endParaRPr lang="en-US" sz="2000" dirty="0"/>
          </a:p>
        </p:txBody>
      </p:sp>
    </p:spTree>
    <p:extLst>
      <p:ext uri="{BB962C8B-B14F-4D97-AF65-F5344CB8AC3E}">
        <p14:creationId xmlns:p14="http://schemas.microsoft.com/office/powerpoint/2010/main" val="3688646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Admin</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p:txBody>
          <a:bodyPr>
            <a:normAutofit/>
          </a:bodyPr>
          <a:lstStyle/>
          <a:p>
            <a:pPr marL="285750" indent="-285750">
              <a:buFontTx/>
              <a:buChar char="-"/>
            </a:pPr>
            <a:r>
              <a:rPr lang="en-US" sz="1800" dirty="0">
                <a:solidFill>
                  <a:schemeClr val="bg2">
                    <a:lumMod val="10000"/>
                  </a:schemeClr>
                </a:solidFill>
              </a:rPr>
              <a:t>x</a:t>
            </a:r>
          </a:p>
        </p:txBody>
      </p:sp>
    </p:spTree>
    <p:extLst>
      <p:ext uri="{BB962C8B-B14F-4D97-AF65-F5344CB8AC3E}">
        <p14:creationId xmlns:p14="http://schemas.microsoft.com/office/powerpoint/2010/main" val="145027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D2B6BC-41D3-0943-AD93-2275F6321721}"/>
              </a:ext>
            </a:extLst>
          </p:cNvPr>
          <p:cNvSpPr>
            <a:spLocks noGrp="1"/>
          </p:cNvSpPr>
          <p:nvPr>
            <p:ph type="subTitle" idx="1"/>
          </p:nvPr>
        </p:nvSpPr>
        <p:spPr/>
        <p:txBody>
          <a:body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dirty="0">
                <a:solidFill>
                  <a:schemeClr val="accent2"/>
                </a:solidFill>
              </a:rPr>
              <a:t>t: </a:t>
            </a:r>
            <a:r>
              <a:rPr lang="en-US" dirty="0"/>
              <a:t>+353 21 490 4177 </a:t>
            </a:r>
          </a:p>
          <a:p>
            <a:r>
              <a:rPr lang="en-US" dirty="0">
                <a:solidFill>
                  <a:schemeClr val="accent2"/>
                </a:solidFill>
              </a:rPr>
              <a:t>e: </a:t>
            </a:r>
            <a:r>
              <a:rPr lang="en-US" dirty="0"/>
              <a:t>info@tyndall.ie  </a:t>
            </a:r>
          </a:p>
          <a:p>
            <a:r>
              <a:rPr lang="en-US" dirty="0">
                <a:solidFill>
                  <a:schemeClr val="accent2"/>
                </a:solidFill>
              </a:rPr>
              <a:t>tyndall.ie</a:t>
            </a:r>
          </a:p>
          <a:p>
            <a:endParaRPr lang="en-US" dirty="0">
              <a:solidFill>
                <a:schemeClr val="accent2"/>
              </a:solidFill>
            </a:endParaRPr>
          </a:p>
          <a:p>
            <a:endParaRPr lang="en-US" dirty="0">
              <a:solidFill>
                <a:schemeClr val="accent2"/>
              </a:solidFill>
            </a:endParaRPr>
          </a:p>
          <a:p>
            <a:endParaRPr lang="en-US" dirty="0">
              <a:solidFill>
                <a:schemeClr val="accent2"/>
              </a:solidFill>
            </a:endParaRPr>
          </a:p>
          <a:p>
            <a:r>
              <a:rPr lang="en-IE" dirty="0"/>
              <a:t>@tyndall-national-institute</a:t>
            </a:r>
            <a:br>
              <a:rPr lang="en-IE" dirty="0"/>
            </a:br>
            <a:r>
              <a:rPr lang="en-IE" dirty="0"/>
              <a:t>@TyndallInstitut</a:t>
            </a:r>
          </a:p>
          <a:p>
            <a:r>
              <a:rPr lang="en-IE" dirty="0"/>
              <a:t>@tyndall_institute</a:t>
            </a:r>
          </a:p>
          <a:p>
            <a:r>
              <a:rPr lang="en-IE" dirty="0"/>
              <a:t>@TyndallInstitute</a:t>
            </a:r>
          </a:p>
          <a:p>
            <a:endParaRPr lang="en-US" dirty="0"/>
          </a:p>
        </p:txBody>
      </p:sp>
    </p:spTree>
    <p:extLst>
      <p:ext uri="{BB962C8B-B14F-4D97-AF65-F5344CB8AC3E}">
        <p14:creationId xmlns:p14="http://schemas.microsoft.com/office/powerpoint/2010/main" val="1094411011"/>
      </p:ext>
    </p:extLst>
  </p:cSld>
  <p:clrMapOvr>
    <a:masterClrMapping/>
  </p:clrMapOvr>
</p:sld>
</file>

<file path=ppt/theme/theme1.xml><?xml version="1.0" encoding="utf-8"?>
<a:theme xmlns:a="http://schemas.openxmlformats.org/drawingml/2006/main" name="Office Theme">
  <a:themeElements>
    <a:clrScheme name="Custom 3">
      <a:dk1>
        <a:srgbClr val="5B6770"/>
      </a:dk1>
      <a:lt1>
        <a:srgbClr val="FFFFFF"/>
      </a:lt1>
      <a:dk2>
        <a:srgbClr val="1D418A"/>
      </a:dk2>
      <a:lt2>
        <a:srgbClr val="EBEBEB"/>
      </a:lt2>
      <a:accent1>
        <a:srgbClr val="1D418A"/>
      </a:accent1>
      <a:accent2>
        <a:srgbClr val="7DBBE9"/>
      </a:accent2>
      <a:accent3>
        <a:srgbClr val="5B6770"/>
      </a:accent3>
      <a:accent4>
        <a:srgbClr val="A2AAAC"/>
      </a:accent4>
      <a:accent5>
        <a:srgbClr val="6EAA39"/>
      </a:accent5>
      <a:accent6>
        <a:srgbClr val="51284F"/>
      </a:accent6>
      <a:hlink>
        <a:srgbClr val="7DBBE9"/>
      </a:hlink>
      <a:folHlink>
        <a:srgbClr val="D6249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4A25860E5828459FC34C898F1068F9" ma:contentTypeVersion="12" ma:contentTypeDescription="Create a new document." ma:contentTypeScope="" ma:versionID="eca9c93b886b43e5d440d61c8b93522d">
  <xsd:schema xmlns:xsd="http://www.w3.org/2001/XMLSchema" xmlns:xs="http://www.w3.org/2001/XMLSchema" xmlns:p="http://schemas.microsoft.com/office/2006/metadata/properties" xmlns:ns2="1beebd5e-987e-4d55-af5a-5dd6868dc936" targetNamespace="http://schemas.microsoft.com/office/2006/metadata/properties" ma:root="true" ma:fieldsID="a6b44ccdfb40c173e42de08f0687c835" ns2:_="">
    <xsd:import namespace="1beebd5e-987e-4d55-af5a-5dd6868dc93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eebd5e-987e-4d55-af5a-5dd6868dc9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859a5f0-c05d-42c8-96da-fe1ec9be4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eebd5e-987e-4d55-af5a-5dd6868dc93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A460630-A6DB-4E78-A5FB-E6C86332F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eebd5e-987e-4d55-af5a-5dd6868dc9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E74E8A9-522A-40DB-A42D-6D964AD7DF65}">
  <ds:schemaRefs>
    <ds:schemaRef ds:uri="http://schemas.microsoft.com/sharepoint/v3/contenttype/forms"/>
  </ds:schemaRefs>
</ds:datastoreItem>
</file>

<file path=customXml/itemProps3.xml><?xml version="1.0" encoding="utf-8"?>
<ds:datastoreItem xmlns:ds="http://schemas.openxmlformats.org/officeDocument/2006/customXml" ds:itemID="{016BA9B8-2D45-4907-A7A8-9324B2D9E931}">
  <ds:schemaRefs>
    <ds:schemaRef ds:uri="http://schemas.microsoft.com/office/2006/metadata/properties"/>
    <ds:schemaRef ds:uri="http://schemas.microsoft.com/office/infopath/2007/PartnerControls"/>
    <ds:schemaRef ds:uri="1beebd5e-987e-4d55-af5a-5dd6868dc936"/>
  </ds:schemaRefs>
</ds:datastoreItem>
</file>

<file path=docProps/app.xml><?xml version="1.0" encoding="utf-8"?>
<Properties xmlns="http://schemas.openxmlformats.org/officeDocument/2006/extended-properties" xmlns:vt="http://schemas.openxmlformats.org/officeDocument/2006/docPropsVTypes">
  <TotalTime>9758</TotalTime>
  <Words>462</Words>
  <Application>Microsoft Office PowerPoint</Application>
  <PresentationFormat>Widescreen</PresentationFormat>
  <Paragraphs>55</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Development of a Bioinspired Gripper for Soft Robotics with Tactile Capabilities   Weekly Report</vt:lpstr>
      <vt:lpstr>Project Objectives (provisional)</vt:lpstr>
      <vt:lpstr>Work Completed</vt:lpstr>
      <vt:lpstr>Work Completed</vt:lpstr>
      <vt:lpstr>Work Completed</vt:lpstr>
      <vt:lpstr>Problems/Challenges</vt:lpstr>
      <vt:lpstr>Admin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O'Driscoll</dc:creator>
  <cp:lastModifiedBy>Julien Dubuc</cp:lastModifiedBy>
  <cp:revision>104</cp:revision>
  <dcterms:created xsi:type="dcterms:W3CDTF">2020-05-12T08:44:02Z</dcterms:created>
  <dcterms:modified xsi:type="dcterms:W3CDTF">2026-07-22T10:42:43Z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0x010100F94A25860E5828459FC34C898F1068F9</vt:lpwstr>
  </property>
  <property fmtid="{D5CDD505-2E9C-101B-9397-08002B2CF9AE}" pid="3" name="MediaServiceImageTags">
    <vt:lpwstr/>
  </property>
</Properties>
</file>